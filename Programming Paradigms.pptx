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7/5/2024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7/5/2024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www.voelter.de/data/pub/ProgramGeneration.pdf"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a:solidFill>
                  <a:schemeClr val="accent6"/>
                </a:solidFill>
              </a:rPr>
              <a:t>        </a:t>
            </a:r>
            <a:r>
              <a:rPr lang="en-US" sz="2400" kern="0" spc="-220" dirty="0">
                <a:solidFill>
                  <a:schemeClr val="accent6"/>
                </a:solidFill>
              </a:rPr>
              <a:t>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676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3276600"/>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828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Roslyn API/ Source Generators– </a:t>
            </a:r>
          </a:p>
          <a:p>
            <a:pPr algn="l"/>
            <a:r>
              <a:rPr lang="en-US" sz="1600" kern="0" spc="-220" dirty="0">
                <a:solidFill>
                  <a:schemeClr val="accent6"/>
                </a:solidFill>
              </a:rPr>
              <a:t> </a:t>
            </a:r>
            <a:r>
              <a:rPr lang="en-US" sz="1600" kern="0" spc="-220" dirty="0">
                <a:solidFill>
                  <a:schemeClr val="accent6"/>
                </a:solidFill>
                <a:hlinkClick r:id="rId7"/>
              </a:rPr>
              <a:t>https://www.thinktecture.com/en/net/roslyn-source-generators-introduction/</a:t>
            </a:r>
            <a:endParaRPr lang="en-US" sz="1600" kern="0" spc="-220" dirty="0">
              <a:solidFill>
                <a:schemeClr val="accent6"/>
              </a:solidFill>
            </a:endParaRPr>
          </a:p>
          <a:p>
            <a:pPr algn="l"/>
            <a:r>
              <a:rPr lang="en-US" sz="1600" kern="0" spc="-220" dirty="0">
                <a:solidFill>
                  <a:schemeClr val="accent6"/>
                </a:solidFill>
              </a:rPr>
              <a:t> </a:t>
            </a:r>
            <a:r>
              <a:rPr lang="en-US" sz="1600" kern="0" spc="-220" dirty="0">
                <a:solidFill>
                  <a:schemeClr val="accent6"/>
                </a:solidFill>
                <a:hlinkClick r:id="rId8"/>
              </a:rPr>
              <a:t>https://code-maze.com/csharp-source-generators/</a:t>
            </a:r>
            <a:r>
              <a:rPr lang="en-US" sz="1600" kern="0" spc="-220" dirty="0">
                <a:solidFill>
                  <a:schemeClr val="accent6"/>
                </a:solidFill>
              </a:rPr>
              <a:t> </a:t>
            </a:r>
          </a:p>
          <a:p>
            <a:pPr algn="l"/>
            <a:r>
              <a:rPr lang="en-US" sz="1600" kern="0" spc="-220" dirty="0">
                <a:solidFill>
                  <a:schemeClr val="accent6"/>
                </a:solidFill>
                <a:hlinkClick r:id="rId9"/>
              </a:rPr>
              <a:t> https://learn.microsoft.com/en-us/dotnet/csharp/roslyn-sdk/source-generators-</a:t>
            </a:r>
          </a:p>
          <a:p>
            <a:pPr algn="l"/>
            <a:r>
              <a:rPr lang="en-US" sz="1600" kern="0" spc="-220" dirty="0">
                <a:solidFill>
                  <a:schemeClr val="accent6"/>
                </a:solidFill>
                <a:hlinkClick r:id="rId9"/>
              </a:rPr>
              <a:t> overview</a:t>
            </a:r>
            <a:r>
              <a:rPr lang="en-US" sz="1600" kern="0" spc="-220" dirty="0">
                <a:solidFill>
                  <a:schemeClr val="accent6"/>
                </a:solidFill>
              </a:rPr>
              <a:t> </a:t>
            </a:r>
          </a:p>
          <a:p>
            <a:r>
              <a:rPr lang="en-US" sz="1600" kern="0" spc="-220" dirty="0">
                <a:solidFill>
                  <a:schemeClr val="accent6"/>
                </a:solidFill>
              </a:rPr>
              <a:t> </a:t>
            </a:r>
            <a:r>
              <a:rPr lang="en-US" sz="1600" kern="0" spc="-220" dirty="0">
                <a:solidFill>
                  <a:schemeClr val="accent6"/>
                </a:solidFill>
                <a:hlinkClick r:id="rId10"/>
              </a:rPr>
              <a:t>https://www.syncfusion.com/succinctly-free-ebooks/roslyn</a:t>
            </a:r>
            <a:r>
              <a:rPr lang="en-US" sz="16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505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143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ExpressionTree</a:t>
            </a:r>
            <a:r>
              <a:rPr lang="en-US" sz="2000" kern="0" spc="-220" dirty="0">
                <a:solidFill>
                  <a:schemeClr val="accent6"/>
                </a:solidFill>
              </a:rPr>
              <a:t>– </a:t>
            </a:r>
          </a:p>
          <a:p>
            <a:pPr algn="l"/>
            <a:r>
              <a:rPr lang="en-US" sz="1600" kern="0" spc="-220" dirty="0">
                <a:solidFill>
                  <a:schemeClr val="accent6"/>
                </a:solidFill>
                <a:hlinkClick r:id="rId12"/>
              </a:rPr>
              <a:t>https://bagoum.medium.com/dynamic-code-generation-in-c-with-expression-trees-2ec4eebcb8ec</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42672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Performance Improvement –</a:t>
            </a:r>
          </a:p>
          <a:p>
            <a:pPr algn="l"/>
            <a:r>
              <a:rPr lang="en-US" sz="2000" kern="0" spc="-220" dirty="0">
                <a:solidFill>
                  <a:schemeClr val="accent6"/>
                </a:solidFill>
              </a:rPr>
              <a:t>Mainly done via some In-Memory Caching </a:t>
            </a:r>
          </a:p>
          <a:p>
            <a:pPr algn="l"/>
            <a:endParaRPr lang="en-US" sz="2000" kern="0" spc="-220" dirty="0">
              <a:solidFill>
                <a:schemeClr val="accent6"/>
              </a:solidFill>
            </a:endParaRPr>
          </a:p>
          <a:p>
            <a:pPr algn="l"/>
            <a:r>
              <a:rPr lang="en-US" sz="2000" kern="0" spc="-220" dirty="0">
                <a:solidFill>
                  <a:schemeClr val="accent6"/>
                </a:solidFill>
              </a:rPr>
              <a:t>For Further Exploration – </a:t>
            </a:r>
          </a:p>
          <a:p>
            <a:pPr algn="l"/>
            <a:r>
              <a:rPr lang="en-US" sz="2000" kern="0" spc="-220" dirty="0">
                <a:solidFill>
                  <a:schemeClr val="accent6"/>
                </a:solidFill>
                <a:hlinkClick r:id="rId13"/>
              </a:rPr>
              <a:t>http://www.voelter.de/data/pub/ProgramGeneration.pdf</a:t>
            </a:r>
            <a:r>
              <a:rPr lang="en-US" sz="20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2561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3" name="object 2">
            <a:extLst>
              <a:ext uri="{FF2B5EF4-FFF2-40B4-BE49-F238E27FC236}">
                <a16:creationId xmlns:a16="http://schemas.microsoft.com/office/drawing/2014/main" id="{DB207D1C-BC73-D631-D1CB-FD1B6BC44723}"/>
              </a:ext>
            </a:extLst>
          </p:cNvPr>
          <p:cNvSpPr txBox="1">
            <a:spLocks/>
          </p:cNvSpPr>
          <p:nvPr/>
        </p:nvSpPr>
        <p:spPr>
          <a:xfrm>
            <a:off x="126274"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44958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COM </a:t>
            </a:r>
            <a:r>
              <a:rPr lang="en-US" sz="2400" kern="0" spc="-220" dirty="0" err="1">
                <a:solidFill>
                  <a:schemeClr val="accent6"/>
                </a:solidFill>
              </a:rPr>
              <a:t>InterOperability</a:t>
            </a:r>
            <a:r>
              <a:rPr lang="en-US" sz="2400" kern="0" spc="-220" dirty="0">
                <a:solidFill>
                  <a:schemeClr val="accent6"/>
                </a:solidFill>
              </a:rPr>
              <a:t>(fetch as much data as possible from COM &amp; then do further processing)</a:t>
            </a:r>
          </a:p>
          <a:p>
            <a:pPr marL="12700" marR="5080"/>
            <a:r>
              <a:rPr lang="en-US" sz="2400" kern="0" spc="-220" dirty="0" err="1">
                <a:solidFill>
                  <a:schemeClr val="accent6"/>
                </a:solidFill>
              </a:rPr>
              <a:t>NodeJs</a:t>
            </a:r>
            <a:r>
              <a:rPr lang="en-US" sz="2400" kern="0" spc="-220" dirty="0">
                <a:solidFill>
                  <a:schemeClr val="accent6"/>
                </a:solidFill>
              </a:rPr>
              <a:t>(by default async &amp; only partly STA[Single Threaded Application] – mainly used in IO intensive apps &amp; not much suitable for Compute[/CPU] intensive apps)</a:t>
            </a:r>
          </a:p>
          <a:p>
            <a:pPr marL="12700" marR="5080"/>
            <a:r>
              <a:rPr lang="en-US" sz="2400" kern="0" spc="-220" dirty="0">
                <a:solidFill>
                  <a:schemeClr val="accent6"/>
                </a:solidFill>
              </a:rPr>
              <a:t>Python(check List Comprehension &amp; </a:t>
            </a:r>
            <a:r>
              <a:rPr lang="en-US" sz="2400" kern="0" spc="-220" dirty="0" err="1">
                <a:solidFill>
                  <a:schemeClr val="accent6"/>
                </a:solidFill>
              </a:rPr>
              <a:t>Numpy</a:t>
            </a:r>
            <a:r>
              <a:rPr lang="en-US" sz="2400" kern="0" spc="-220" dirty="0">
                <a:solidFill>
                  <a:schemeClr val="accent6"/>
                </a:solidFill>
              </a:rPr>
              <a:t> Multi-Dimensional Array)</a:t>
            </a:r>
          </a:p>
          <a:p>
            <a:pPr marL="12700" marR="5080"/>
            <a:r>
              <a:rPr lang="en-US" sz="2400" kern="0" spc="-220" dirty="0">
                <a:solidFill>
                  <a:schemeClr val="accent6"/>
                </a:solidFill>
              </a:rPr>
              <a:t>Java(doesn’t have Exception Bubbling &amp; async-await </a:t>
            </a:r>
            <a:r>
              <a:rPr lang="en-US" sz="2400" kern="0" spc="-220" dirty="0">
                <a:solidFill>
                  <a:schemeClr val="tx2">
                    <a:lumMod val="60000"/>
                    <a:lumOff val="40000"/>
                  </a:schemeClr>
                </a:solidFill>
              </a:rPr>
              <a:t>by default</a:t>
            </a:r>
            <a:r>
              <a:rPr lang="en-US" sz="2400" kern="0" spc="-220" dirty="0">
                <a:solidFill>
                  <a:schemeClr val="accent6"/>
                </a:solidFill>
              </a:rPr>
              <a:t>)</a:t>
            </a:r>
          </a:p>
          <a:p>
            <a:pPr marL="12700" marR="5080"/>
            <a:r>
              <a:rPr lang="en-US" sz="24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2400" kern="0" spc="-220" dirty="0" err="1">
                <a:solidFill>
                  <a:schemeClr val="accent6"/>
                </a:solidFill>
              </a:rPr>
              <a:t>Systems.A</a:t>
            </a:r>
            <a:r>
              <a:rPr lang="en-US" sz="2400" kern="0" spc="-220" dirty="0">
                <a:solidFill>
                  <a:schemeClr val="accent6"/>
                </a:solidFill>
              </a:rPr>
              <a:t> good C++ reference for .NET Developers is </a:t>
            </a:r>
            <a:r>
              <a:rPr lang="en-US" sz="2400" kern="0" spc="-220" dirty="0">
                <a:solidFill>
                  <a:schemeClr val="accent6"/>
                </a:solidFill>
                <a:hlinkClick r:id="rId7"/>
              </a:rPr>
              <a:t>https://www.syncfusion.com/succinctly-free-ebooks/cplusplus</a:t>
            </a:r>
            <a:r>
              <a:rPr lang="en-US" sz="24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15032</TotalTime>
  <Words>8415</Words>
  <Application>Microsoft Office PowerPoint</Application>
  <PresentationFormat>Custom</PresentationFormat>
  <Paragraphs>1035</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894</cp:revision>
  <dcterms:created xsi:type="dcterms:W3CDTF">2020-11-03T17:16:52Z</dcterms:created>
  <dcterms:modified xsi:type="dcterms:W3CDTF">2024-07-05T13:24:10Z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