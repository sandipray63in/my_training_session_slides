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63" d="100"/>
          <a:sy n="63" d="100"/>
        </p:scale>
        <p:origin x="704" y="272"/>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Classes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Topics </a:t>
          </a:r>
          <a:r>
            <a:rPr lang="en-US" dirty="0"/>
            <a:t>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Classes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08"/>
          <a:ext cx="8716300" cy="28781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90000"/>
            </a:lnSpc>
            <a:spcBef>
              <a:spcPct val="0"/>
            </a:spcBef>
            <a:spcAft>
              <a:spcPct val="35000"/>
            </a:spcAft>
            <a:buNone/>
          </a:pPr>
          <a:r>
            <a:rPr lang="en-US" sz="1200" kern="1200" dirty="0"/>
            <a:t>Coding &amp; Low Level Design Katas &amp; Beyond</a:t>
          </a:r>
        </a:p>
      </dsp:txBody>
      <dsp:txXfrm>
        <a:off x="14050" y="17258"/>
        <a:ext cx="8688200" cy="259719"/>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Topics </a:t>
          </a:r>
          <a:r>
            <a:rPr lang="en-US" sz="3100" kern="1200" dirty="0"/>
            <a:t>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2/12/2025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2/12/2025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2/12/2025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2/12/2025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2/12/2025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2/12/2025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2/12/2025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hyperlink" Target="https://www.linkedin.com/posts/sina-riyahi_backend-fullstack-developer-activity-7250402225380876289-qtW3/" TargetMode="Externa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functionalprogrammingcsharp.com/functors-monads" TargetMode="External"/><Relationship Id="rId3" Type="http://schemas.openxmlformats.org/officeDocument/2006/relationships/diagramLayout" Target="../diagrams/layout21.xml"/><Relationship Id="rId7" Type="http://schemas.openxmlformats.org/officeDocument/2006/relationships/hyperlink" Target="https://www.linkedin.com/advice/1/whats-best-way-balance-functional-programming-design"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11" Type="http://schemas.openxmlformats.org/officeDocument/2006/relationships/hyperlink" Target="https://fsharpforfunandprofit.com/fppatterns/" TargetMode="External"/><Relationship Id="rId5" Type="http://schemas.openxmlformats.org/officeDocument/2006/relationships/diagramColors" Target="../diagrams/colors21.xml"/><Relationship Id="rId10" Type="http://schemas.openxmlformats.org/officeDocument/2006/relationships/hyperlink" Target="https://github.com/caiorss/Functional-Programming/blob/master/haskell/Functional_Programming_Concepts.org" TargetMode="External"/><Relationship Id="rId4" Type="http://schemas.openxmlformats.org/officeDocument/2006/relationships/diagramQuickStyle" Target="../diagrams/quickStyle21.xml"/><Relationship Id="rId9" Type="http://schemas.openxmlformats.org/officeDocument/2006/relationships/hyperlink" Target="https://weblogs.asp.net/dixin/category-theory-via-csharp-2-monoid"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vikutech.blogspot.com/2018/03/making-fluentvalidation-compatible-with-swagger-including-enum-or-fixed-list-support.html" TargetMode="External"/><Relationship Id="rId5" Type="http://schemas.openxmlformats.org/officeDocument/2006/relationships/diagramColors" Target="../diagrams/colors41.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stackoverflow.com/questions/2257563/what-are-the-generations-in-garbage-collection" TargetMode="External"/><Relationship Id="rId5" Type="http://schemas.openxmlformats.org/officeDocument/2006/relationships/diagramColors" Target="../diagrams/colors46.xml"/><Relationship Id="rId10" Type="http://schemas.openxmlformats.org/officeDocument/2006/relationships/hyperlink" Target="https://stackify.com/c-garbage-collection/" TargetMode="External"/><Relationship Id="rId4" Type="http://schemas.openxmlformats.org/officeDocument/2006/relationships/diagramQuickStyle" Target="../diagrams/quickStyle46.xml"/><Relationship Id="rId9" Type="http://schemas.openxmlformats.org/officeDocument/2006/relationships/hyperlink" Target="https://blog.bytebytego.com/p/ep125-how-does-garbage-collection?open=false#%C2%A7how-does-garbage-collection-work"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google_vignette"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 Id="rId9" Type="http://schemas.openxmlformats.org/officeDocument/2006/relationships/hyperlink" Target="https://blog.bytebytego.com/p/ep112-what-is-a-deadlock" TargetMode="Externa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stackoverflow.com/questions/1795143/synchronization-between-two-processes-in-c"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2336878/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stackoverflow.com/questions/19459905/locks-vs-compare-and-swap" TargetMode="External"/><Relationship Id="rId13" Type="http://schemas.openxmlformats.org/officeDocument/2006/relationships/hyperlink" Target="https://github.com/Wintellect/PowerThreading" TargetMode="External"/><Relationship Id="rId18" Type="http://schemas.openxmlformats.org/officeDocument/2006/relationships/hyperlink" Target="https://dev.to/lucasnscr/multithreading-and-patterns-4nmk" TargetMode="External"/><Relationship Id="rId3" Type="http://schemas.openxmlformats.org/officeDocument/2006/relationships/diagramLayout" Target="../diagrams/layout60.xml"/><Relationship Id="rId21" Type="http://schemas.openxmlformats.org/officeDocument/2006/relationships/hyperlink" Target="https://www.udemy.com/course/multithreading-design-patterns/" TargetMode="Externa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MikeMKH/concurrency-in-csharp-cookbook" TargetMode="External"/><Relationship Id="rId17" Type="http://schemas.openxmlformats.org/officeDocument/2006/relationships/hyperlink" Target="https://tamerlan.dev/multithreading-principles-and-patterns/" TargetMode="External"/><Relationship Id="rId2" Type="http://schemas.openxmlformats.org/officeDocument/2006/relationships/diagramData" Target="../diagrams/data60.xml"/><Relationship Id="rId16" Type="http://schemas.openxmlformats.org/officeDocument/2006/relationships/hyperlink" Target="https://github.com/rikace/fConcBook" TargetMode="External"/><Relationship Id="rId20" Type="http://schemas.openxmlformats.org/officeDocument/2006/relationships/hyperlink" Target="https://learn.microsoft.com/en-us/visualstudio/profiling/common-patterns-for-poorly-behaved-multithreaded-applications?view=vs-2022&amp;viewFallbackFrom=vs-202" TargetMode="Externa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stackoverflow.com/questions/37787954/check-the-number-of-threads-available-in-threadpool-at-any-time" TargetMode="External"/><Relationship Id="rId5" Type="http://schemas.openxmlformats.org/officeDocument/2006/relationships/diagramColors" Target="../diagrams/colors60.xml"/><Relationship Id="rId15" Type="http://schemas.openxmlformats.org/officeDocument/2006/relationships/hyperlink" Target="https://github.com/2DGD-F0TH/2DGD_F0TH/blob/master/chapters/001_Introduction/001_Introduction.md" TargetMode="External"/><Relationship Id="rId23" Type="http://schemas.openxmlformats.org/officeDocument/2006/relationships/hyperlink" Target="https://github.com/sundaygeek/design-patterns-for-embedded-system-in-c" TargetMode="External"/><Relationship Id="rId10" Type="http://schemas.openxmlformats.org/officeDocument/2006/relationships/hyperlink" Target="https://github.com/PacktPublishing/MultithreadingwithCSharpCookbookSecondEdition_Code" TargetMode="External"/><Relationship Id="rId19" Type="http://schemas.openxmlformats.org/officeDocument/2006/relationships/hyperlink" Target="https://web.stanford.edu/class/archive/cs/cs110/cs110.1202/static/lectures/12-multithreading-patterns-data-structures.pdf" TargetMode="External"/><Relationship Id="rId4" Type="http://schemas.openxmlformats.org/officeDocument/2006/relationships/diagramQuickStyle" Target="../diagrams/quickStyle60.xml"/><Relationship Id="rId9" Type="http://schemas.openxmlformats.org/officeDocument/2006/relationships/hyperlink" Target="https://stackoverflow.com/questions/44123180/lock-splitting-vs-lock-striping" TargetMode="External"/><Relationship Id="rId14" Type="http://schemas.openxmlformats.org/officeDocument/2006/relationships/hyperlink" Target="https://www.syncfusion.com/succinctly-free-ebooks/webservers" TargetMode="External"/><Relationship Id="rId22" Type="http://schemas.openxmlformats.org/officeDocument/2006/relationships/hyperlink" Target="https://www.amazon.in/gp/product/B0BWSHK2M5/ref=ox_sc_act_title_?smid=A3SI5I1JWQ14PC&amp;psc=1"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13" Type="http://schemas.openxmlformats.org/officeDocument/2006/relationships/hyperlink" Target="https://stackoverflow.com/questions/17804004/how-to-set-maximum-concurrent-threads-using-task" TargetMode="External"/><Relationship Id="rId18" Type="http://schemas.openxmlformats.org/officeDocument/2006/relationships/hyperlink" Target="https://learn.microsoft.com/en-us/dotnet/standard/parallel-programming/for-further-reading-parallel-programming" TargetMode="External"/><Relationship Id="rId3" Type="http://schemas.openxmlformats.org/officeDocument/2006/relationships/diagramLayout" Target="../diagrams/layout62.xml"/><Relationship Id="rId21" Type="http://schemas.openxmlformats.org/officeDocument/2006/relationships/hyperlink" Target="https://www.udemy.com/course/rtos-building-from-ground-up-on-arm-processors/?couponCode=NVDIN35" TargetMode="External"/><Relationship Id="rId7" Type="http://schemas.openxmlformats.org/officeDocument/2006/relationships/hyperlink" Target="https://www.albahari.com/threading/part5.aspx#_Concurrent_Collections" TargetMode="External"/><Relationship Id="rId12" Type="http://schemas.openxmlformats.org/officeDocument/2006/relationships/hyperlink" Target="https://stackoverflow.com/questions/16420470/can-you-force-parallel-invoke-to-use-multiple-threads" TargetMode="External"/><Relationship Id="rId17" Type="http://schemas.openxmlformats.org/officeDocument/2006/relationships/hyperlink" Target="https://github.com/ChadBurggraf/parallel-extensions-extras" TargetMode="External"/><Relationship Id="rId2" Type="http://schemas.openxmlformats.org/officeDocument/2006/relationships/diagramData" Target="../diagrams/data62.xml"/><Relationship Id="rId16" Type="http://schemas.openxmlformats.org/officeDocument/2006/relationships/hyperlink" Target="https://devblogs.microsoft.com/pfxteam/a-tour-of-parallelextensionsextras/" TargetMode="External"/><Relationship Id="rId20" Type="http://schemas.openxmlformats.org/officeDocument/2006/relationships/hyperlink" Target="https://www.oreilly.com/library/view/patterns-for-parallel/0321228111/" TargetMode="External"/><Relationship Id="rId1" Type="http://schemas.openxmlformats.org/officeDocument/2006/relationships/slideLayout" Target="../slideLayouts/slideLayout2.xml"/><Relationship Id="rId6" Type="http://schemas.microsoft.com/office/2007/relationships/diagramDrawing" Target="../diagrams/drawing62.xml"/><Relationship Id="rId11" Type="http://schemas.openxmlformats.org/officeDocument/2006/relationships/hyperlink" Target="https://stackoverflow.com/questions/32343/how-do-i-spawn-threads-on-different-cpu-cores" TargetMode="External"/><Relationship Id="rId5" Type="http://schemas.openxmlformats.org/officeDocument/2006/relationships/diagramColors" Target="../diagrams/colors62.xml"/><Relationship Id="rId15" Type="http://schemas.openxmlformats.org/officeDocument/2006/relationships/hyperlink" Target="https://stackoverflow.com/questions/26734893/limited-concurrency-taskscheduler-that-can-interleave-tasks-to-be-explicitly-ord" TargetMode="External"/><Relationship Id="rId23" Type="http://schemas.openxmlformats.org/officeDocument/2006/relationships/hyperlink" Target="https://www.udemy.com/course/mastering-rtos-hands-on-with-freertos-arduino-and-stm32fx/?couponCode=NVDIN35" TargetMode="External"/><Relationship Id="rId10" Type="http://schemas.openxmlformats.org/officeDocument/2006/relationships/hyperlink" Target="https://github.com/PacktPublishing/Parallel-Programming-and-Concurrency-with-C-sharp-10-and-.NET-6" TargetMode="External"/><Relationship Id="rId19" Type="http://schemas.openxmlformats.org/officeDocument/2006/relationships/hyperlink" Target="https://github.com/rikace/parallel-patterns" TargetMode="External"/><Relationship Id="rId4" Type="http://schemas.openxmlformats.org/officeDocument/2006/relationships/diagramQuickStyle" Target="../diagrams/quickStyle62.xml"/><Relationship Id="rId9" Type="http://schemas.openxmlformats.org/officeDocument/2006/relationships/hyperlink" Target="https://github.com/PacktPublishing/Hands-On-Parallel-Programming-with-C-8-and-.NET-Core-3" TargetMode="External"/><Relationship Id="rId14" Type="http://schemas.openxmlformats.org/officeDocument/2006/relationships/hyperlink" Target="https://devblogs.microsoft.com/premier-developer/limiting-concurrency-for-faster-and-more-responsive-apps/" TargetMode="External"/><Relationship Id="rId22" Type="http://schemas.openxmlformats.org/officeDocument/2006/relationships/hyperlink" Target="https://www.udemy.com/course/build-your-own-realtime-os-rtos-from-ground-uptm-on-arm-2/?couponCode=BFCPSALE24"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12" Type="http://schemas.openxmlformats.org/officeDocument/2006/relationships/hyperlink" Target="https://code-maze.com/csharp-parallel-foreachasync-and-task-run-with-when-all/"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stackoverflow.com/questions/2161895/reading-large-text-files-with-streams-in-c-sharp"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11" Type="http://schemas.openxmlformats.org/officeDocument/2006/relationships/hyperlink" Target="https://learn.microsoft.com/en-us/dotnet/standard/io/memory-mapped-files" TargetMode="External"/><Relationship Id="rId5" Type="http://schemas.openxmlformats.org/officeDocument/2006/relationships/diagramColors" Target="../diagrams/colors70.xml"/><Relationship Id="rId10" Type="http://schemas.openxmlformats.org/officeDocument/2006/relationships/hyperlink" Target="https://learn.microsoft.com/en-us/dotnet/api/system.environment.specialfolder?view=net-8.0"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io?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blog.bytebytego.com/p/http1-vs-http2-vs-http3-a-deep-dive" TargetMode="External"/><Relationship Id="rId13" Type="http://schemas.openxmlformats.org/officeDocument/2006/relationships/hyperlink" Target="https://github.com/PacktPublishing/Hands-On-Network-Programming-with-CSharp-and-.NET-Core" TargetMode="External"/><Relationship Id="rId3" Type="http://schemas.openxmlformats.org/officeDocument/2006/relationships/diagramLayout" Target="../diagrams/layout72.xml"/><Relationship Id="rId7" Type="http://schemas.openxmlformats.org/officeDocument/2006/relationships/image" Target="../media/image15.png"/><Relationship Id="rId12" Type="http://schemas.openxmlformats.org/officeDocument/2006/relationships/hyperlink" Target="https://github.com/VasanthVanan/computer-networking-top-down-approach-notes" TargetMode="External"/><Relationship Id="rId17" Type="http://schemas.openxmlformats.org/officeDocument/2006/relationships/hyperlink" Target="https://stackoverflow.com/questions/4263116/wireshark-vs-firebug-vs-fiddler-pros-and-cons" TargetMode="External"/><Relationship Id="rId2" Type="http://schemas.openxmlformats.org/officeDocument/2006/relationships/diagramData" Target="../diagrams/data72.xml"/><Relationship Id="rId16" Type="http://schemas.openxmlformats.org/officeDocument/2006/relationships/hyperlink" Target="https://www.simplilearn.com/tutorials/cyber-security-tutorial/what-is-checksum" TargetMode="Externa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stackoverflow.com/questions/107668/what-do-you-use-when-you-need-reliable-udp" TargetMode="External"/><Relationship Id="rId5" Type="http://schemas.openxmlformats.org/officeDocument/2006/relationships/diagramColors" Target="../diagrams/colors72.xml"/><Relationship Id="rId15" Type="http://schemas.openxmlformats.org/officeDocument/2006/relationships/hyperlink" Target="https://hpbn.co/" TargetMode="External"/><Relationship Id="rId10" Type="http://schemas.openxmlformats.org/officeDocument/2006/relationships/hyperlink" Target="https://en.wikipedia.org/wiki/Reliable_User_Datagram_Protocol" TargetMode="External"/><Relationship Id="rId4" Type="http://schemas.openxmlformats.org/officeDocument/2006/relationships/diagramQuickStyle" Target="../diagrams/quickStyle72.xml"/><Relationship Id="rId9" Type="http://schemas.openxmlformats.org/officeDocument/2006/relationships/hyperlink" Target="https://www.linkedin.com/posts/curiouslearner_softwaredevelopment-network-technology-activity-7186228909519077376-PMns/" TargetMode="External"/><Relationship Id="rId14" Type="http://schemas.openxmlformats.org/officeDocument/2006/relationships/hyperlink" Target="https://learn.microsoft.com/en-us/dotnet/fundamentals/networking/overview"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 Id="rId14" Type="http://schemas.openxmlformats.org/officeDocument/2006/relationships/hyperlink" Target="https://bagoum.medium.com/dynamic-code-generation-in-c-with-expression-trees-2ec4eebcb8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www.freecodecamp.org/news/how-to-automatically-generate-code-snippets-visual-studio/"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syncfusion.com/succinctly-free-ebooks/roslyn" TargetMode="External"/><Relationship Id="rId5" Type="http://schemas.openxmlformats.org/officeDocument/2006/relationships/diagramColors" Target="../diagrams/colors76.xml"/><Relationship Id="rId15" Type="http://schemas.openxmlformats.org/officeDocument/2006/relationships/hyperlink" Target="http://www.voelter.de/data/pub/ProgramGeneration.pdf" TargetMode="External"/><Relationship Id="rId10" Type="http://schemas.openxmlformats.org/officeDocument/2006/relationships/hyperlink" Target="https://learn.microsoft.com/en-us/dotnet/csharp/roslyn-sdk/#source-generators" TargetMode="External"/><Relationship Id="rId4" Type="http://schemas.openxmlformats.org/officeDocument/2006/relationships/diagramQuickStyle" Target="../diagrams/quickStyle76.xml"/><Relationship Id="rId9" Type="http://schemas.openxmlformats.org/officeDocument/2006/relationships/hyperlink" Target="https://thecodeman.net/posts/source-generators-deep-dive" TargetMode="External"/><Relationship Id="rId14" Type="http://schemas.openxmlformats.org/officeDocument/2006/relationships/hyperlink" Target="https://stackoverflow.com/questions/44435759/automapper-map-if-source-member-is-null"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 TargetMode="External"/><Relationship Id="rId3" Type="http://schemas.openxmlformats.org/officeDocument/2006/relationships/diagramLayout" Target="../diagrams/layout77.xml"/><Relationship Id="rId7" Type="http://schemas.openxmlformats.org/officeDocument/2006/relationships/hyperlink" Target="https://blog.georgekosmidis.net/early-vs-late-binding-reflection-and-type-dynamic-in-csharp.html"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solutions/msil-rewriting"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solutions/middleware"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Lazy_initializatio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Abstract_factory_patter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Prototype_pattern" TargetMode="External"/><Relationship Id="rId5" Type="http://schemas.openxmlformats.org/officeDocument/2006/relationships/diagramColors" Target="../diagrams/colors85.xml"/><Relationship Id="rId10" Type="http://schemas.openxmlformats.org/officeDocument/2006/relationships/hyperlink" Target="https://en.wikipedia.org/wiki/Multiton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 Id="rId14" Type="http://schemas.openxmlformats.org/officeDocument/2006/relationships/hyperlink" Target="https://en.wikipedia.org/wiki/Object_pool_pattern"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refactoring.guru/design-patterns/bridge" TargetMode="External"/><Relationship Id="rId13" Type="http://schemas.openxmlformats.org/officeDocument/2006/relationships/hyperlink" Target="https://stackoverflow.com/questions/4380658/what-is-the-reason-for-the-name-of-the-flyweight-design-pattern"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12" Type="http://schemas.openxmlformats.org/officeDocument/2006/relationships/hyperlink" Target="https://en.wikipedia.org/wiki/Flyweight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Decorator_pattern" TargetMode="External"/><Relationship Id="rId5" Type="http://schemas.openxmlformats.org/officeDocument/2006/relationships/diagramColors" Target="../diagrams/colors86.xml"/><Relationship Id="rId15" Type="http://schemas.openxmlformats.org/officeDocument/2006/relationships/hyperlink" Target="https://en.wikipedia.org/wiki/Proxy_pattern" TargetMode="External"/><Relationship Id="rId10" Type="http://schemas.openxmlformats.org/officeDocument/2006/relationships/hyperlink" Target="https://refactoring.guru/design-patterns/composite" TargetMode="External"/><Relationship Id="rId4" Type="http://schemas.openxmlformats.org/officeDocument/2006/relationships/diagramQuickStyle" Target="../diagrams/quickStyle86.xml"/><Relationship Id="rId9" Type="http://schemas.openxmlformats.org/officeDocument/2006/relationships/hyperlink" Target="https://github.com/sandipray63in/DDD-Based-Enterprise-Application-Framework/blob/master/Repository/Base/IQueryableRepository.cs" TargetMode="External"/><Relationship Id="rId14" Type="http://schemas.openxmlformats.org/officeDocument/2006/relationships/hyperlink" Target="https://en.wikipedia.org/wiki/Facade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thecodeman.net/posts/chain-responsibility-pattern" TargetMode="External"/><Relationship Id="rId3" Type="http://schemas.openxmlformats.org/officeDocument/2006/relationships/diagramLayout" Target="../diagrams/layout87.xml"/><Relationship Id="rId7" Type="http://schemas.openxmlformats.org/officeDocument/2006/relationships/hyperlink" Target="https://en.wikipedia.org/wiki/Chain-of-responsibility_pattern" TargetMode="External"/><Relationship Id="rId12" Type="http://schemas.openxmlformats.org/officeDocument/2006/relationships/hyperlink" Target="https://github.com/sandipray63in/DDD-Based-Enterprise-Application-Framework/blob/master/ApplicationAndInfrastructureServices/BatchProcessing/BaseBatchSeedSelector.cs"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11" Type="http://schemas.openxmlformats.org/officeDocument/2006/relationships/hyperlink" Target="https://en.wikipedia.org/wiki/Aggregate_pattern" TargetMode="External"/><Relationship Id="rId5" Type="http://schemas.openxmlformats.org/officeDocument/2006/relationships/diagramColors" Target="../diagrams/colors87.xml"/><Relationship Id="rId10" Type="http://schemas.openxmlformats.org/officeDocument/2006/relationships/hyperlink" Target="https://en.wikipedia.org/wiki/Interpreter_pattern" TargetMode="External"/><Relationship Id="rId4" Type="http://schemas.openxmlformats.org/officeDocument/2006/relationships/diagramQuickStyle" Target="../diagrams/quickStyle87.xml"/><Relationship Id="rId9" Type="http://schemas.openxmlformats.org/officeDocument/2006/relationships/hyperlink" Target="https://refactoring.guru/design-patterns/command" TargetMode="External"/></Relationships>
</file>

<file path=ppt/slides/_rels/slide88.xml.rels><?xml version="1.0" encoding="UTF-8" standalone="yes"?>
<Relationships xmlns="http://schemas.openxmlformats.org/package/2006/relationships"><Relationship Id="rId8" Type="http://schemas.openxmlformats.org/officeDocument/2006/relationships/hyperlink" Target="https://www.milanjovanovic.tech/blog/cqrs-pattern-with-mediatr" TargetMode="External"/><Relationship Id="rId13" Type="http://schemas.openxmlformats.org/officeDocument/2006/relationships/hyperlink" Target="https://refactoring.guru/design-patterns/state" TargetMode="External"/><Relationship Id="rId18" Type="http://schemas.openxmlformats.org/officeDocument/2006/relationships/hyperlink" Target="https://en.wikipedia.org/wiki/Strategy_pattern"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www.codeproject.com/Articles/851437/SignalR-plus-RX-Streaming-Data-Demo-App-of" TargetMode="External"/><Relationship Id="rId17" Type="http://schemas.openxmlformats.org/officeDocument/2006/relationships/hyperlink" Target="https://www.udemy.com/course/embedded-system-design-using-uml-state-machines/" TargetMode="External"/><Relationship Id="rId2" Type="http://schemas.openxmlformats.org/officeDocument/2006/relationships/diagramData" Target="../diagrams/data88.xml"/><Relationship Id="rId16" Type="http://schemas.openxmlformats.org/officeDocument/2006/relationships/hyperlink" Target="https://www.informit.com/articles/article.aspx?p=1592379" TargetMode="External"/><Relationship Id="rId20" Type="http://schemas.openxmlformats.org/officeDocument/2006/relationships/hyperlink" Target="https://www.linkedin.com/pulse/book-review-software-architecture-juval-lowy-michael-rarela-fiabf/" TargetMode="Externa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github.com/sandipray63in/DDD-Based-Enterprise-Application-Framework/tree/master/Infrastructure/Observers" TargetMode="External"/><Relationship Id="rId5" Type="http://schemas.openxmlformats.org/officeDocument/2006/relationships/diagramColors" Target="../diagrams/colors88.xml"/><Relationship Id="rId15" Type="http://schemas.openxmlformats.org/officeDocument/2006/relationships/hyperlink" Target="https://docs.mlrun.org/en/latest/serving/realtime-pipelines.html" TargetMode="External"/><Relationship Id="rId10" Type="http://schemas.openxmlformats.org/officeDocument/2006/relationships/hyperlink" Target="https://refactoring.guru/design-patterns/observer" TargetMode="External"/><Relationship Id="rId19" Type="http://schemas.openxmlformats.org/officeDocument/2006/relationships/hyperlink" Target="https://www.linkedin.com/pulse/book-review-software-architecture-juval-lowy-michael-rarela-fiabf"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memento" TargetMode="External"/><Relationship Id="rId14" Type="http://schemas.openxmlformats.org/officeDocument/2006/relationships/hyperlink" Target="https://blog.ploeh.dk/2015/08/10/type-driven-development/"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refactoring.guru/design-patterns/visitor" TargetMode="External"/><Relationship Id="rId3" Type="http://schemas.openxmlformats.org/officeDocument/2006/relationships/diagramLayout" Target="../diagrams/layout89.xml"/><Relationship Id="rId7" Type="http://schemas.openxmlformats.org/officeDocument/2006/relationships/hyperlink" Target="https://en.wikipedia.org/wiki/Template_method_pattern"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11" Type="http://schemas.openxmlformats.org/officeDocument/2006/relationships/hyperlink" Target="https://www.linkedin.com/posts/dinesh-varyani_design-patterns-ugcPost-7273302040896823296-fJyN/?utm_source=share&amp;utm_medium=member_desktop" TargetMode="External"/><Relationship Id="rId5" Type="http://schemas.openxmlformats.org/officeDocument/2006/relationships/diagramColors" Target="../diagrams/colors89.xml"/><Relationship Id="rId10" Type="http://schemas.openxmlformats.org/officeDocument/2006/relationships/hyperlink" Target="https://refactoring.guru/design-patterns" TargetMode="External"/><Relationship Id="rId4" Type="http://schemas.openxmlformats.org/officeDocument/2006/relationships/diagramQuickStyle" Target="../diagrams/quickStyle89.xml"/><Relationship Id="rId9" Type="http://schemas.openxmlformats.org/officeDocument/2006/relationships/hyperlink" Target="https://en.wikipedia.org/wiki/Software_design_pattern"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anuraj.dev/blog/using-mef-in-dotnet-core/"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stackoverflow.com/questions/59019761/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5" Type="http://schemas.openxmlformats.org/officeDocument/2006/relationships/diagramColors" Target="../diagrams/colors94.xml"/><Relationship Id="rId4" Type="http://schemas.openxmlformats.org/officeDocument/2006/relationships/diagramQuickStyle" Target="../diagrams/quickStyle94.xml"/><Relationship Id="rId9" Type="http://schemas.openxmlformats.org/officeDocument/2006/relationships/hyperlink" Target="https://medium.com/@rajeshdavid/how-does-a-graphql-service-work-internally-496dc9264096"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13" Type="http://schemas.openxmlformats.org/officeDocument/2006/relationships/hyperlink" Target="https://www.albahari.com/nutshell/" TargetMode="External"/><Relationship Id="rId18" Type="http://schemas.openxmlformats.org/officeDocument/2006/relationships/hyperlink" Target="https://stackoverflow.com/questions/12389203/how-do-i-chunk-an-enumerable" TargetMode="External"/><Relationship Id="rId26" Type="http://schemas.openxmlformats.org/officeDocument/2006/relationships/hyperlink" Target="https://stackoverflow.com/questions/65585395/specification-pattern-vs-fluent-validation" TargetMode="External"/><Relationship Id="rId39" Type="http://schemas.openxmlformats.org/officeDocument/2006/relationships/hyperlink" Target="https://www.oreilly.com/library/view/regular-expressions-cookbook/9781449327453/" TargetMode="External"/><Relationship Id="rId21" Type="http://schemas.openxmlformats.org/officeDocument/2006/relationships/hyperlink" Target="https://learn.microsoft.com/en-us/dotnet/csharp/fundamentals/functional/deconstruct" TargetMode="External"/><Relationship Id="rId34" Type="http://schemas.openxmlformats.org/officeDocument/2006/relationships/hyperlink" Target="https://www.techinterviewhandbook.org/" TargetMode="External"/><Relationship Id="rId42" Type="http://schemas.openxmlformats.org/officeDocument/2006/relationships/hyperlink" Target="https://www.linkedin.com/posts/maheshma_postgresql-sql-systemdesign-activity-7167707514266996736-HqMi/" TargetMode="External"/><Relationship Id="rId47" Type="http://schemas.openxmlformats.org/officeDocument/2006/relationships/hyperlink" Target="https://github.com/jwasham/coding-interview-university" TargetMode="External"/><Relationship Id="rId50" Type="http://schemas.openxmlformats.org/officeDocument/2006/relationships/hyperlink" Target="https://stackoverflow.com/questions/790542/replacing-net-webbrowser-control-with-a-better-browser-like-chrome" TargetMode="External"/><Relationship Id="rId7" Type="http://schemas.openxmlformats.org/officeDocument/2006/relationships/hyperlink" Target="https://rosettacode.org/wiki/Category:Programming_Tasks" TargetMode="External"/><Relationship Id="rId2" Type="http://schemas.openxmlformats.org/officeDocument/2006/relationships/diagramData" Target="../diagrams/data96.xml"/><Relationship Id="rId16" Type="http://schemas.openxmlformats.org/officeDocument/2006/relationships/hyperlink" Target="https://www.geeksforgeeks.org/c-sharp-version-history/" TargetMode="External"/><Relationship Id="rId29" Type="http://schemas.openxmlformats.org/officeDocument/2006/relationships/hyperlink" Target="https://www.linkedin.com/posts/ray-rahul_%3F%3F%3F%3F%3F-%3F%3F%3F%3F%3F%3F%3F%3F-%3F%3F%3F%3F-%3F%3F-activity-7231616658820251651-FMD-/" TargetMode="External"/><Relationship Id="rId11" Type="http://schemas.openxmlformats.org/officeDocument/2006/relationships/hyperlink" Target="https://github.com/ashishps1/awesome-low-level-design" TargetMode="External"/><Relationship Id="rId24" Type="http://schemas.openxmlformats.org/officeDocument/2006/relationships/hyperlink" Target="https://www.linkedin.com/posts/shivkoirala_200-c-interview-questions-ugcPost-7285626212419325954-8zyj/" TargetMode="External"/><Relationship Id="rId32" Type="http://schemas.openxmlformats.org/officeDocument/2006/relationships/hyperlink" Target="https://www.linkedin.com/posts/akashsinnghh_dsa-dsaquestions-datastructures-activity-7231521586510479361-hTqM/?utm_source=share&amp;utm_medium=member_desktop" TargetMode="External"/><Relationship Id="rId37" Type="http://schemas.openxmlformats.org/officeDocument/2006/relationships/hyperlink" Target="https://github.com/ziishaned/learn-regex" TargetMode="External"/><Relationship Id="rId40" Type="http://schemas.openxmlformats.org/officeDocument/2006/relationships/hyperlink" Target="https://github.com/PacktPublishing/High-Performance-Programming-in-C-Sharp-and-.NET" TargetMode="External"/><Relationship Id="rId45" Type="http://schemas.openxmlformats.org/officeDocument/2006/relationships/hyperlink" Target="https://en.wikipedia.org/wiki/Automata_theory" TargetMode="External"/><Relationship Id="rId5" Type="http://schemas.openxmlformats.org/officeDocument/2006/relationships/diagramColors" Target="../diagrams/colors96.xml"/><Relationship Id="rId15" Type="http://schemas.openxmlformats.org/officeDocument/2006/relationships/hyperlink" Target="https://github.com/markjprice/cs12dotnet8" TargetMode="External"/><Relationship Id="rId23" Type="http://schemas.openxmlformats.org/officeDocument/2006/relationships/hyperlink" Target="https://medium.com/@KeyurRamoliya/c-optimize-performance-with-span-and-memory-84c3e6583885" TargetMode="External"/><Relationship Id="rId28" Type="http://schemas.openxmlformats.org/officeDocument/2006/relationships/hyperlink" Target="https://cronitor.io/guides/kubernetes-cron-jobs" TargetMode="External"/><Relationship Id="rId36" Type="http://schemas.openxmlformats.org/officeDocument/2006/relationships/hyperlink" Target="https://learn.microsoft.com/en-us/dotnet/standard/native-interop/" TargetMode="External"/><Relationship Id="rId49" Type="http://schemas.openxmlformats.org/officeDocument/2006/relationships/hyperlink" Target="https://browser.engineering/" TargetMode="External"/><Relationship Id="rId10" Type="http://schemas.openxmlformats.org/officeDocument/2006/relationships/hyperlink" Target="https://www.planetgeek.ch/2013/06/05/clean-code-cheat-sheet/" TargetMode="External"/><Relationship Id="rId19" Type="http://schemas.openxmlformats.org/officeDocument/2006/relationships/hyperlink" Target="https://antondevtips.com/blog/how-to-write-elegant-code-with-csharp-switch-expressions" TargetMode="External"/><Relationship Id="rId31" Type="http://schemas.openxmlformats.org/officeDocument/2006/relationships/hyperlink" Target="https://www.linkedin.com/posts/alexxubyte_systemdesign-coding-interviewtips-activity-7272659891511558144-qf1O/" TargetMode="External"/><Relationship Id="rId44" Type="http://schemas.openxmlformats.org/officeDocument/2006/relationships/hyperlink" Target="https://www.geeksforgeeks.org/gate-cs-notes-gq/"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github.com/markjprice/apps-services-net8/tree/main" TargetMode="External"/><Relationship Id="rId22" Type="http://schemas.openxmlformats.org/officeDocument/2006/relationships/hyperlink" Target="https://stackoverflow.com/questions/43000520/why-would-one-use-taskt-over-valuetaskt-in-c" TargetMode="External"/><Relationship Id="rId27" Type="http://schemas.openxmlformats.org/officeDocument/2006/relationships/hyperlink" Target="https://benbrougher.tech/posts/kubernetes-cron-job/" TargetMode="External"/><Relationship Id="rId30" Type="http://schemas.openxmlformats.org/officeDocument/2006/relationships/hyperlink" Target="https://roadmap.sh/datastructures-and-algorithms" TargetMode="External"/><Relationship Id="rId35" Type="http://schemas.openxmlformats.org/officeDocument/2006/relationships/hyperlink" Target="https://github.com/PacktPublishing/Systems-Programming-with-C-Sharp-and-.NET" TargetMode="External"/><Relationship Id="rId43" Type="http://schemas.openxmlformats.org/officeDocument/2006/relationships/hyperlink" Target="https://postgrespro.com/community/books/internals" TargetMode="External"/><Relationship Id="rId48" Type="http://schemas.openxmlformats.org/officeDocument/2006/relationships/hyperlink" Target="https://daily.dev/blog/make-a-web-browser-beginners-guide" TargetMode="External"/><Relationship Id="rId8" Type="http://schemas.openxmlformats.org/officeDocument/2006/relationships/hyperlink" Target="https://github.com/gamontal/awesome-katas" TargetMode="External"/><Relationship Id="rId51" Type="http://schemas.openxmlformats.org/officeDocument/2006/relationships/hyperlink" Target="https://build-your-own-x.vercel.app/" TargetMode="External"/><Relationship Id="rId3" Type="http://schemas.openxmlformats.org/officeDocument/2006/relationships/diagramLayout" Target="../diagrams/layout96.xml"/><Relationship Id="rId12" Type="http://schemas.openxmlformats.org/officeDocument/2006/relationships/hyperlink" Target="https://github.com/prasadgujar/low-level-design-primer" TargetMode="External"/><Relationship Id="rId17" Type="http://schemas.openxmlformats.org/officeDocument/2006/relationships/hyperlink" Target="https://learn.microsoft.com/en-us/dotnet/csharp/whats-new/csharp-13" TargetMode="External"/><Relationship Id="rId25" Type="http://schemas.openxmlformats.org/officeDocument/2006/relationships/hyperlink" Target="https://github.com/miholler/NSpecifications" TargetMode="External"/><Relationship Id="rId33" Type="http://schemas.openxmlformats.org/officeDocument/2006/relationships/hyperlink" Target="https://github.com/ashishps1/awesome-leetcode-resources" TargetMode="External"/><Relationship Id="rId38" Type="http://schemas.openxmlformats.org/officeDocument/2006/relationships/hyperlink" Target="https://books.goalkicker.com/" TargetMode="External"/><Relationship Id="rId46" Type="http://schemas.openxmlformats.org/officeDocument/2006/relationships/hyperlink" Target="https://roadmap.sh/computer-science" TargetMode="External"/><Relationship Id="rId20" Type="http://schemas.openxmlformats.org/officeDocument/2006/relationships/hyperlink" Target="https://learn.microsoft.com/en-us/dotnet/csharp/whats-new/tutorials/primary-constructors" TargetMode="External"/><Relationship Id="rId41" Type="http://schemas.openxmlformats.org/officeDocument/2006/relationships/hyperlink" Target="https://github.com/milanm/DotNet-Developer-Roadmap" TargetMode="External"/><Relationship Id="rId1" Type="http://schemas.openxmlformats.org/officeDocument/2006/relationships/slideLayout" Target="../slideLayouts/slideLayout2.xml"/><Relationship Id="rId6" Type="http://schemas.microsoft.com/office/2007/relationships/diagramDrawing" Target="../diagrams/drawing96.xm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115741"/>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038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
        <p:nvSpPr>
          <p:cNvPr id="3" name="object 2">
            <a:extLst>
              <a:ext uri="{FF2B5EF4-FFF2-40B4-BE49-F238E27FC236}">
                <a16:creationId xmlns:a16="http://schemas.microsoft.com/office/drawing/2014/main" id="{683B5D7E-6BFE-F8D9-9689-369269279AA6}"/>
              </a:ext>
            </a:extLst>
          </p:cNvPr>
          <p:cNvSpPr txBox="1">
            <a:spLocks/>
          </p:cNvSpPr>
          <p:nvPr/>
        </p:nvSpPr>
        <p:spPr>
          <a:xfrm>
            <a:off x="366663" y="502027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For Further Exploration - </a:t>
            </a:r>
            <a:r>
              <a:rPr lang="en-US" sz="2000" kern="0" spc="-220" dirty="0">
                <a:solidFill>
                  <a:schemeClr val="accent6"/>
                </a:solidFill>
              </a:rPr>
              <a:t> </a:t>
            </a:r>
          </a:p>
          <a:p>
            <a:pPr marL="12700" marR="5080"/>
            <a:r>
              <a:rPr lang="en-US" sz="2000" kern="0" spc="-220" dirty="0">
                <a:solidFill>
                  <a:schemeClr val="accent6"/>
                </a:solidFill>
              </a:rPr>
              <a:t> </a:t>
            </a:r>
            <a:r>
              <a:rPr lang="en-IN" sz="1200" dirty="0">
                <a:hlinkClick r:id="rId7"/>
              </a:rPr>
              <a:t> Software Principles Post | LinkedIn</a:t>
            </a:r>
            <a:r>
              <a:rPr lang="en-US" sz="2000" kern="0" spc="-220" dirty="0">
                <a:solidFill>
                  <a:schemeClr val="accent6"/>
                </a:solidFill>
              </a:rPr>
              <a:t> </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Immutability in C# using Record Type</a:t>
            </a:r>
          </a:p>
          <a:p>
            <a:pPr marL="12700" marR="5080"/>
            <a:r>
              <a:rPr lang="en-US" sz="1200" dirty="0">
                <a:hlinkClick r:id="rId7"/>
              </a:rPr>
              <a:t>Immutability, Record types and with keyword in C# | LinkedIn</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59531" y="268525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ReadOnly</a:t>
            </a:r>
            <a:r>
              <a:rPr lang="en-US" sz="2400" kern="0" spc="-220" dirty="0">
                <a:solidFill>
                  <a:schemeClr val="accent2"/>
                </a:solidFill>
              </a:rPr>
              <a:t> vs Immutable Collections –</a:t>
            </a:r>
            <a:r>
              <a:rPr lang="en-US" sz="2400" kern="0" spc="-220" dirty="0">
                <a:solidFill>
                  <a:schemeClr val="accent6"/>
                </a:solidFill>
              </a:rPr>
              <a:t> </a:t>
            </a:r>
          </a:p>
          <a:p>
            <a:pPr marL="12700" marR="5080"/>
            <a:r>
              <a:rPr lang="en-US" sz="1200" dirty="0" err="1">
                <a:hlinkClick r:id="rId8"/>
              </a:rPr>
              <a:t>c#</a:t>
            </a:r>
            <a:r>
              <a:rPr lang="en-US" sz="1200" dirty="0">
                <a:hlinkClick r:id="rId8"/>
              </a:rPr>
              <a:t> - Why use </a:t>
            </a:r>
            <a:r>
              <a:rPr lang="en-US" sz="1200" dirty="0" err="1">
                <a:hlinkClick r:id="rId8"/>
              </a:rPr>
              <a:t>ImmutableList</a:t>
            </a:r>
            <a:r>
              <a:rPr lang="en-US" sz="1200" dirty="0">
                <a:hlinkClick r:id="rId8"/>
              </a:rPr>
              <a:t> over </a:t>
            </a:r>
            <a:r>
              <a:rPr lang="en-US" sz="1200" dirty="0" err="1">
                <a:hlinkClick r:id="rId8"/>
              </a:rPr>
              <a:t>ReadOnlyCollection</a:t>
            </a:r>
            <a:r>
              <a:rPr lang="en-US" sz="1200" dirty="0">
                <a:hlinkClick r:id="rId8"/>
              </a:rPr>
              <a:t>? - Stack Overflow</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Eric Lippert’s Immutability Series –</a:t>
            </a:r>
          </a:p>
          <a:p>
            <a:pPr marL="12700" marR="5080"/>
            <a:r>
              <a:rPr lang="en-IN" sz="1200" dirty="0">
                <a:hlinkClick r:id="rId9"/>
              </a:rPr>
              <a:t>Immutability | Fabulous adventures in coding | Page 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more practical Example –</a:t>
            </a:r>
            <a:r>
              <a:rPr lang="en-US" sz="2400" kern="0" spc="-220" dirty="0">
                <a:solidFill>
                  <a:schemeClr val="accent6"/>
                </a:solidFill>
              </a:rPr>
              <a:t>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2"/>
                </a:solidFill>
              </a:rPr>
              <a:t>Currying –</a:t>
            </a:r>
            <a:r>
              <a:rPr lang="en-US" sz="2400" kern="0" spc="-220" dirty="0">
                <a:solidFill>
                  <a:schemeClr val="accent6"/>
                </a:solidFill>
              </a:rPr>
              <a:t>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more practical example – </a:t>
            </a:r>
          </a:p>
          <a:p>
            <a:pPr marL="12700" marR="5080"/>
            <a:r>
              <a:rPr lang="en-IN" sz="1200" dirty="0">
                <a:hlinkClick r:id="rId7"/>
              </a:rPr>
              <a:t>DDD-Based-Enterprise-Application-Framework/Infrastructure/Concurrency/Synchronization/</a:t>
            </a:r>
            <a:r>
              <a:rPr lang="en-IN" sz="1200" dirty="0" err="1">
                <a:hlinkClick r:id="rId7"/>
              </a:rPr>
              <a:t>SharedDataProtection</a:t>
            </a:r>
            <a:r>
              <a:rPr lang="en-IN" sz="1200" dirty="0">
                <a:hlinkClick r:id="rId7"/>
              </a:rPr>
              <a:t>/</a:t>
            </a:r>
            <a:r>
              <a:rPr lang="en-IN" sz="1200" dirty="0" err="1">
                <a:hlinkClick r:id="rId7"/>
              </a:rPr>
              <a:t>BaseLocking.cs</a:t>
            </a:r>
            <a:r>
              <a:rPr lang="en-IN" sz="1200" dirty="0">
                <a:hlinkClick r:id="rId7"/>
              </a:rPr>
              <a:t> at master · sandipray63in/DDD-Based-Enterprise-Application-Framework · GitHub</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366663" y="2971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practical example – </a:t>
            </a:r>
          </a:p>
          <a:p>
            <a:pPr marL="12700" marR="5080"/>
            <a:r>
              <a:rPr lang="en-US" sz="1200" dirty="0" err="1">
                <a:hlinkClick r:id="rId7"/>
              </a:rPr>
              <a:t>Memoization</a:t>
            </a:r>
            <a:r>
              <a:rPr lang="en-US" sz="1200" dirty="0">
                <a:hlinkClick r:id="rId7"/>
              </a:rPr>
              <a:t>, a useful pattern for quick optimization - Event-Driven.io</a:t>
            </a:r>
            <a:r>
              <a:rPr lang="en-US" sz="1200" dirty="0"/>
              <a:t> </a:t>
            </a:r>
            <a:endParaRPr lang="en-US" sz="2400" kern="0" spc="-220" dirty="0">
              <a:solidFill>
                <a:schemeClr val="accent6"/>
              </a:solidFill>
            </a:endParaRP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66226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 References – </a:t>
            </a:r>
          </a:p>
          <a:p>
            <a:pPr marL="12700" marR="5080"/>
            <a:r>
              <a:rPr lang="en-US" sz="2400" kern="0" spc="-220" dirty="0">
                <a:solidFill>
                  <a:schemeClr val="accent2"/>
                </a:solidFill>
              </a:rPr>
              <a:t> </a:t>
            </a:r>
            <a:r>
              <a:rPr lang="en-US" sz="1400" dirty="0">
                <a:hlinkClick r:id="rId7"/>
              </a:rPr>
              <a:t>What's the best way to balance functional programming design trade-offs?</a:t>
            </a:r>
            <a:r>
              <a:rPr lang="en-US" sz="1400" dirty="0"/>
              <a:t>                                                                                                   </a:t>
            </a:r>
            <a:endParaRPr lang="en-US" sz="2400" kern="0" spc="-220" dirty="0">
              <a:solidFill>
                <a:schemeClr val="accent2"/>
              </a:solidFill>
            </a:endParaRPr>
          </a:p>
          <a:p>
            <a:pPr marL="12700" marR="5080"/>
            <a:r>
              <a:rPr lang="en-US" sz="2000" kern="0" spc="-220">
                <a:solidFill>
                  <a:schemeClr val="accent6"/>
                </a:solidFill>
              </a:rPr>
              <a:t> </a:t>
            </a:r>
            <a:r>
              <a:rPr lang="en-US" sz="1500" dirty="0">
                <a:hlinkClick r:id="rId8"/>
              </a:rPr>
              <a:t>Functors and Monads in C#</a:t>
            </a:r>
            <a:endParaRPr lang="en-US" sz="1500" dirty="0"/>
          </a:p>
          <a:p>
            <a:pPr marL="12700" marR="5080"/>
            <a:endParaRPr lang="en-US" sz="1500" kern="0" spc="-220" dirty="0">
              <a:solidFill>
                <a:schemeClr val="accent6"/>
              </a:solidFill>
            </a:endParaRPr>
          </a:p>
          <a:p>
            <a:pPr marL="12700" marR="5080"/>
            <a:r>
              <a:rPr lang="en-US" sz="1500" kern="0" spc="-220" dirty="0">
                <a:solidFill>
                  <a:schemeClr val="accent6"/>
                </a:solidFill>
              </a:rPr>
              <a:t>  </a:t>
            </a:r>
            <a:r>
              <a:rPr lang="en-US" sz="1500" dirty="0" err="1">
                <a:hlinkClick r:id="rId9"/>
              </a:rPr>
              <a:t>Dixin's</a:t>
            </a:r>
            <a:r>
              <a:rPr lang="en-US" sz="1500" dirty="0">
                <a:hlinkClick r:id="rId9"/>
              </a:rPr>
              <a:t> Blog - Category Theory via C# (2) Monoid</a:t>
            </a:r>
            <a:endParaRPr lang="en-US" sz="1500" dirty="0"/>
          </a:p>
          <a:p>
            <a:pPr marL="12700" marR="5080"/>
            <a:endParaRPr lang="en-US" sz="1500" dirty="0"/>
          </a:p>
          <a:p>
            <a:pPr marL="12700" marR="5080"/>
            <a:r>
              <a:rPr lang="en-US" sz="1500" kern="0" spc="-220" dirty="0">
                <a:solidFill>
                  <a:schemeClr val="accent6"/>
                </a:solidFill>
              </a:rPr>
              <a:t>  </a:t>
            </a:r>
            <a:r>
              <a:rPr lang="en-IN" sz="1500" dirty="0">
                <a:hlinkClick r:id="rId10"/>
              </a:rPr>
              <a:t>Functional-Programming/haskell/Functional_Programming_Concepts.org at master · </a:t>
            </a:r>
            <a:r>
              <a:rPr lang="en-IN" sz="1500" dirty="0" err="1">
                <a:hlinkClick r:id="rId10"/>
              </a:rPr>
              <a:t>caiorss</a:t>
            </a:r>
            <a:r>
              <a:rPr lang="en-IN" sz="1500" dirty="0">
                <a:hlinkClick r:id="rId10"/>
              </a:rPr>
              <a:t>/Functional-Programming · GitHub</a:t>
            </a:r>
            <a:endParaRPr lang="en-IN" sz="1500" dirty="0"/>
          </a:p>
          <a:p>
            <a:pPr marL="12700" marR="5080"/>
            <a:endParaRPr lang="en-US" sz="1500" kern="0" spc="-220" dirty="0">
              <a:solidFill>
                <a:schemeClr val="accent6"/>
              </a:solidFill>
            </a:endParaRPr>
          </a:p>
          <a:p>
            <a:pPr marL="12700" marR="5080"/>
            <a:r>
              <a:rPr lang="en-US" sz="1500" dirty="0">
                <a:hlinkClick r:id="rId11"/>
              </a:rPr>
              <a:t> Functional Programming Design Patterns | F# for fun and profit</a:t>
            </a:r>
            <a:r>
              <a:rPr lang="en-US" sz="1500" dirty="0"/>
              <a:t>  </a:t>
            </a:r>
            <a:endParaRPr lang="en-US" sz="1500" kern="0" spc="-220" dirty="0">
              <a:solidFill>
                <a:schemeClr val="accent6"/>
              </a:solidFill>
            </a:endParaRP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Const –</a:t>
            </a:r>
            <a:r>
              <a:rPr lang="en-US" sz="2400" kern="0" spc="-220" dirty="0">
                <a:solidFill>
                  <a:schemeClr val="accent6"/>
                </a:solidFill>
              </a:rPr>
              <a:t>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ReadOnly</a:t>
            </a:r>
            <a:r>
              <a:rPr lang="en-US" sz="2400" kern="0" spc="-220" dirty="0">
                <a:solidFill>
                  <a:schemeClr val="accent2"/>
                </a:solidFill>
              </a:rPr>
              <a:t>–</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Some custom </a:t>
            </a:r>
            <a:r>
              <a:rPr lang="en-US" sz="2400" kern="0" spc="-220" dirty="0" err="1">
                <a:solidFill>
                  <a:schemeClr val="accent2"/>
                </a:solidFill>
              </a:rPr>
              <a:t>AppDomain</a:t>
            </a:r>
            <a:r>
              <a:rPr lang="en-US" sz="2400" kern="0" spc="-220" dirty="0">
                <a:solidFill>
                  <a:schemeClr val="accent2"/>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1500" kern="0" spc="-220" dirty="0">
                <a:solidFill>
                  <a:schemeClr val="accent6"/>
                </a:solidFill>
              </a:rPr>
              <a:t> </a:t>
            </a:r>
            <a:r>
              <a:rPr lang="en-US" sz="1500" dirty="0" err="1">
                <a:hlinkClick r:id="rId7"/>
              </a:rPr>
              <a:t>c#</a:t>
            </a:r>
            <a:r>
              <a:rPr lang="en-US" sz="1500" dirty="0">
                <a:hlinkClick r:id="rId7"/>
              </a:rPr>
              <a:t> - Loading Assembly in sandbox </a:t>
            </a:r>
            <a:r>
              <a:rPr lang="en-US" sz="1500" dirty="0" err="1">
                <a:hlinkClick r:id="rId7"/>
              </a:rPr>
              <a:t>Appdomain</a:t>
            </a:r>
            <a:r>
              <a:rPr lang="en-US" sz="1500" dirty="0">
                <a:hlinkClick r:id="rId7"/>
              </a:rPr>
              <a:t> - </a:t>
            </a:r>
            <a:r>
              <a:rPr lang="en-US" sz="1500" dirty="0" err="1">
                <a:hlinkClick r:id="rId7"/>
              </a:rPr>
              <a:t>SecurityException</a:t>
            </a:r>
            <a:r>
              <a:rPr lang="en-US" sz="1500" dirty="0">
                <a:hlinkClick r:id="rId7"/>
              </a:rPr>
              <a:t> - Stack Overflow</a:t>
            </a:r>
            <a:r>
              <a:rPr lang="en-US" sz="15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how to 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1273585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Main Usage is in Nested Classes</a:t>
            </a:r>
          </a:p>
          <a:p>
            <a:pPr marL="12700" marR="5080"/>
            <a:r>
              <a:rPr lang="en-US" sz="2000" kern="0" spc="-220" dirty="0">
                <a:solidFill>
                  <a:schemeClr val="accent6"/>
                </a:solidFill>
              </a:rPr>
              <a:t>Example – </a:t>
            </a:r>
          </a:p>
          <a:p>
            <a:pPr marL="12700" marR="5080"/>
            <a:r>
              <a:rPr lang="en-US" sz="2000" kern="0" spc="-220" dirty="0">
                <a:solidFill>
                  <a:schemeClr val="accent6"/>
                </a:solidFill>
              </a:rPr>
              <a:t>public class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public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a:t>
            </a:r>
            <a:r>
              <a:rPr lang="en-US" sz="2000" kern="0" spc="-220" dirty="0" err="1">
                <a:solidFill>
                  <a:schemeClr val="accent6"/>
                </a:solidFill>
              </a:rPr>
              <a:t>InnerClass</a:t>
            </a:r>
            <a:r>
              <a:rPr lang="en-US" sz="2000" kern="0" spc="-220" dirty="0">
                <a:solidFill>
                  <a:schemeClr val="accent6"/>
                </a:solidFill>
              </a:rPr>
              <a:t> </a:t>
            </a:r>
            <a:r>
              <a:rPr lang="en-US" sz="2000" kern="0" spc="-220" dirty="0" err="1">
                <a:solidFill>
                  <a:schemeClr val="accent6"/>
                </a:solidFill>
              </a:rPr>
              <a:t>ic</a:t>
            </a:r>
            <a:r>
              <a:rPr lang="en-US" sz="2000" kern="0" spc="-220" dirty="0">
                <a:solidFill>
                  <a:schemeClr val="accent6"/>
                </a:solidFill>
              </a:rPr>
              <a:t> = new </a:t>
            </a:r>
            <a:r>
              <a:rPr lang="en-US" sz="2000" kern="0" spc="-220" dirty="0" err="1">
                <a:solidFill>
                  <a:schemeClr val="accent6"/>
                </a:solidFill>
              </a:rPr>
              <a:t>InnerClass</a:t>
            </a:r>
            <a:r>
              <a:rPr lang="en-US" sz="2000" kern="0" spc="-220" dirty="0">
                <a:solidFill>
                  <a:schemeClr val="accent6"/>
                </a:solidFill>
              </a:rPr>
              <a:t>{Name=“</a:t>
            </a:r>
            <a:r>
              <a:rPr lang="en-US" sz="2000" kern="0" spc="-220" dirty="0" err="1">
                <a:solidFill>
                  <a:schemeClr val="accent6"/>
                </a:solidFill>
              </a:rPr>
              <a:t>abc</a:t>
            </a:r>
            <a:r>
              <a:rPr lang="en-US" sz="2000" kern="0" spc="-220" dirty="0">
                <a:solidFill>
                  <a:schemeClr val="accent6"/>
                </a:solidFill>
              </a:rPr>
              <a:t>”, Email=“x@y.com”};</a:t>
            </a:r>
          </a:p>
          <a:p>
            <a:pPr marL="12700" marR="5080"/>
            <a:r>
              <a:rPr lang="en-US" sz="2000" kern="0" spc="-220" dirty="0">
                <a:solidFill>
                  <a:schemeClr val="accent6"/>
                </a:solidFill>
              </a:rPr>
              <a:t>   }</a:t>
            </a:r>
          </a:p>
          <a:p>
            <a:pPr marL="12700" marR="5080"/>
            <a:r>
              <a:rPr lang="en-US" sz="2000" kern="0" spc="-220" dirty="0">
                <a:solidFill>
                  <a:schemeClr val="accent6"/>
                </a:solidFill>
              </a:rPr>
              <a:t>   private class </a:t>
            </a:r>
            <a:r>
              <a:rPr lang="en-US" sz="2000" kern="0" spc="-220" dirty="0" err="1">
                <a:solidFill>
                  <a:schemeClr val="accent6"/>
                </a:solidFill>
              </a:rPr>
              <a:t>InnerClass</a:t>
            </a:r>
            <a:r>
              <a:rPr lang="en-US" sz="2000" kern="0" spc="-220" dirty="0">
                <a:solidFill>
                  <a:schemeClr val="accent6"/>
                </a:solidFill>
              </a:rPr>
              <a:t>{</a:t>
            </a:r>
          </a:p>
          <a:p>
            <a:pPr marL="12700" marR="5080"/>
            <a:r>
              <a:rPr lang="en-US" sz="2000" kern="0" spc="-220" dirty="0">
                <a:solidFill>
                  <a:schemeClr val="accent6"/>
                </a:solidFill>
              </a:rPr>
              <a:t>       public string Name{</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public string Email{</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a:t>
            </a:r>
          </a:p>
          <a:p>
            <a:pPr marL="12700" marR="5080"/>
            <a:r>
              <a:rPr lang="en-US" sz="2000" kern="0" spc="-220" dirty="0">
                <a:solidFill>
                  <a:schemeClr val="accent6"/>
                </a:solidFill>
              </a:rPr>
              <a:t>}</a:t>
            </a:r>
          </a:p>
          <a:p>
            <a:pPr marL="12700" marR="5080"/>
            <a:r>
              <a:rPr lang="en-US" sz="2000" kern="0" spc="-220" dirty="0">
                <a:solidFill>
                  <a:schemeClr val="accent6"/>
                </a:solidFill>
              </a:rPr>
              <a:t>But after introduction of Tuples in .NET, Tuples are more cleaner way to handle such stuffs instead of private class. But only problem is Tuples are immutable &amp; if you need a mutable private class then Tuples will not work.</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 name="Picture 2">
            <a:extLst>
              <a:ext uri="{FF2B5EF4-FFF2-40B4-BE49-F238E27FC236}">
                <a16:creationId xmlns:a16="http://schemas.microsoft.com/office/drawing/2014/main" id="{A9559BD1-4DCA-53E0-1EF1-95DA64603471}"/>
              </a:ext>
            </a:extLst>
          </p:cNvPr>
          <p:cNvPicPr>
            <a:picLocks noChangeAspect="1"/>
          </p:cNvPicPr>
          <p:nvPr/>
        </p:nvPicPr>
        <p:blipFill>
          <a:blip r:embed="rId7"/>
          <a:stretch>
            <a:fillRect/>
          </a:stretch>
        </p:blipFill>
        <p:spPr>
          <a:xfrm>
            <a:off x="76200" y="1143000"/>
            <a:ext cx="8915400" cy="4800600"/>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a:t>
            </a:r>
            <a:r>
              <a:rPr lang="en-US" sz="2000" kern="0" spc="-220" dirty="0" err="1">
                <a:solidFill>
                  <a:schemeClr val="accent6"/>
                </a:solidFill>
              </a:rPr>
              <a:t>chatGPT</a:t>
            </a:r>
            <a:r>
              <a:rPr lang="en-US" sz="2000" kern="0" spc="-220" dirty="0">
                <a:solidFill>
                  <a:schemeClr val="accent6"/>
                </a:solidFill>
              </a:rPr>
              <a:t>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2"/>
                </a:solidFill>
              </a:rPr>
              <a:t>A practical Example – </a:t>
            </a:r>
          </a:p>
          <a:p>
            <a:pPr marL="12700" marR="5080"/>
            <a:r>
              <a:rPr lang="en-US" sz="2400" kern="0" spc="-220" dirty="0">
                <a:solidFill>
                  <a:schemeClr val="accent6"/>
                </a:solidFill>
              </a:rPr>
              <a:t> </a:t>
            </a:r>
            <a:r>
              <a:rPr lang="en-IN" sz="1200" dirty="0">
                <a:hlinkClick r:id="rId7"/>
              </a:rPr>
              <a:t>DDD-Based-Enterprise-Application-Framework/Repository/</a:t>
            </a:r>
            <a:r>
              <a:rPr lang="en-IN" sz="1200" dirty="0" err="1">
                <a:hlinkClick r:id="rId7"/>
              </a:rPr>
              <a:t>UnitOfWork</a:t>
            </a:r>
            <a:r>
              <a:rPr lang="en-IN" sz="1200" dirty="0">
                <a:hlinkClick r:id="rId7"/>
              </a:rPr>
              <a:t>/</a:t>
            </a:r>
            <a:r>
              <a:rPr lang="en-IN" sz="1200" dirty="0" err="1">
                <a:hlinkClick r:id="rId7"/>
              </a:rPr>
              <a:t>IUnitOfWork.cs</a:t>
            </a:r>
            <a:r>
              <a:rPr lang="en-IN" sz="1200" dirty="0">
                <a:hlinkClick r:id="rId7"/>
              </a:rPr>
              <a:t> at master · sandipray63in/DDD-Based-Enterprise-Application-Framework · GitHub</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practical Example – </a:t>
            </a:r>
          </a:p>
          <a:p>
            <a:pPr marL="12700" marR="5080"/>
            <a:r>
              <a:rPr lang="en-IN" sz="1200" dirty="0">
                <a:hlinkClick r:id="rId7"/>
              </a:rPr>
              <a:t>DDD-Based-Enterprise-Application-Framework/Repository/Base/</a:t>
            </a:r>
            <a:r>
              <a:rPr lang="en-IN" sz="1200" dirty="0" err="1">
                <a:hlinkClick r:id="rId7"/>
              </a:rPr>
              <a:t>BaseUnitOfWorkRepository.cs</a:t>
            </a:r>
            <a:r>
              <a:rPr lang="en-IN" sz="1200" dirty="0">
                <a:hlinkClick r:id="rId7"/>
              </a:rPr>
              <a:t> at master · sandipray63in/DDD-Based-Enterprise-Application-Framework · GitHub</a:t>
            </a: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2"/>
                </a:solidFill>
              </a:rPr>
              <a:t>Multicast Delegates &amp; Events Example –</a:t>
            </a:r>
            <a:r>
              <a:rPr lang="en-US" sz="2400" kern="0" spc="-220" dirty="0">
                <a:solidFill>
                  <a:schemeClr val="accent6"/>
                </a:solidFill>
              </a:rPr>
              <a:t>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Binary –</a:t>
            </a:r>
            <a:r>
              <a:rPr lang="en-US" sz="2400" kern="0" spc="-220" dirty="0">
                <a:solidFill>
                  <a:schemeClr val="accent6"/>
                </a:solidFill>
              </a:rPr>
              <a:t>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2"/>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2"/>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4932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2"/>
                </a:solidFill>
              </a:rPr>
              <a:t>Cloning(/Prototype Pattern) – </a:t>
            </a:r>
          </a:p>
          <a:p>
            <a:pPr marL="12700" marR="5080"/>
            <a:r>
              <a:rPr lang="en-US" sz="1500" dirty="0" err="1">
                <a:hlinkClick r:id="rId7"/>
              </a:rPr>
              <a:t>c#</a:t>
            </a:r>
            <a:r>
              <a:rPr lang="en-US" sz="1500" dirty="0">
                <a:hlinkClick r:id="rId7"/>
              </a:rPr>
              <a:t> - How do you do a deep copy of an object in .NET? - Stack Overflow</a:t>
            </a:r>
            <a:r>
              <a:rPr lang="en-US" sz="1200" dirty="0"/>
              <a:t> </a:t>
            </a:r>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2"/>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2"/>
                </a:solidFill>
              </a:rPr>
              <a:t>Example –</a:t>
            </a:r>
            <a:r>
              <a:rPr lang="en-US" sz="2200" kern="0" spc="-220" dirty="0">
                <a:solidFill>
                  <a:schemeClr val="accent6"/>
                </a:solidFill>
              </a:rPr>
              <a:t>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2"/>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in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2"/>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400" kern="0" spc="-220" dirty="0">
                <a:solidFill>
                  <a:schemeClr val="accent2"/>
                </a:solidFill>
              </a:rPr>
              <a:t>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Class Implementation Example </a:t>
            </a:r>
            <a:r>
              <a:rPr lang="en-US" sz="2400" kern="0" spc="-220" dirty="0" err="1">
                <a:solidFill>
                  <a:schemeClr val="accent2"/>
                </a:solidFill>
              </a:rPr>
              <a:t>contd</a:t>
            </a:r>
            <a:r>
              <a:rPr lang="en-US" sz="2400" kern="0" spc="-220" dirty="0">
                <a:solidFill>
                  <a:schemeClr val="accent2"/>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Interface based Implementation </a:t>
            </a:r>
            <a:r>
              <a:rPr lang="en-US" sz="2400" kern="0" spc="-220" dirty="0" err="1">
                <a:solidFill>
                  <a:schemeClr val="accent2"/>
                </a:solidFill>
              </a:rPr>
              <a:t>contd</a:t>
            </a:r>
            <a:r>
              <a:rPr lang="en-US" sz="2400" kern="0" spc="-220" dirty="0">
                <a:solidFill>
                  <a:schemeClr val="accent2"/>
                </a:solidFill>
              </a:rPr>
              <a:t>…</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668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Extension Method Implementation – </a:t>
            </a:r>
          </a:p>
          <a:p>
            <a:pPr marL="12700" marR="5080"/>
            <a:r>
              <a:rPr lang="en-US" sz="1500" dirty="0">
                <a:hlinkClick r:id="rId7"/>
              </a:rPr>
              <a:t>Using Extension Methods in C# to Build Fluent Code - Kill All Defects</a:t>
            </a:r>
            <a:endParaRPr lang="en-US" sz="1500" kern="0" spc="-220" dirty="0">
              <a:solidFill>
                <a:schemeClr val="accent6"/>
              </a:solidFill>
            </a:endParaRP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133600"/>
            <a:ext cx="8624937" cy="37087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real world example built using Fluent API –</a:t>
            </a:r>
          </a:p>
          <a:p>
            <a:pPr marL="12700" marR="5080"/>
            <a:r>
              <a:rPr lang="en-US" sz="2000" kern="0" spc="-220" dirty="0">
                <a:solidFill>
                  <a:schemeClr val="accent6"/>
                </a:solidFill>
              </a:rPr>
              <a:t> </a:t>
            </a:r>
            <a:r>
              <a:rPr lang="en-US" sz="1500" dirty="0">
                <a:hlinkClick r:id="rId8"/>
              </a:rPr>
              <a:t>DDD-Based-Enterprise-Application-Framework/</a:t>
            </a:r>
            <a:r>
              <a:rPr lang="en-US" sz="1500" dirty="0" err="1">
                <a:hlinkClick r:id="rId8"/>
              </a:rPr>
              <a:t>FluentRepository</a:t>
            </a:r>
            <a:r>
              <a:rPr lang="en-US" sz="1500" dirty="0">
                <a:hlinkClick r:id="rId8"/>
              </a:rPr>
              <a:t> at master · sandipray63in/DDD-Based-Enterprise-Application-Framework · GitHub</a:t>
            </a:r>
            <a:r>
              <a:rPr lang="en-US" sz="2400" kern="0" spc="-220" dirty="0">
                <a:solidFill>
                  <a:schemeClr val="accent6"/>
                </a:solidFill>
              </a:rPr>
              <a:t>  </a:t>
            </a:r>
          </a:p>
          <a:p>
            <a:pPr marL="12700" marR="5080"/>
            <a:endParaRPr lang="en-US" sz="2400" kern="0" spc="-220" dirty="0">
              <a:solidFill>
                <a:schemeClr val="accent6"/>
              </a:solidFill>
            </a:endParaRPr>
          </a:p>
          <a:p>
            <a:pPr marL="12700" marR="5080"/>
            <a:r>
              <a:rPr lang="en-US" sz="2400" kern="0" spc="-220" dirty="0">
                <a:solidFill>
                  <a:schemeClr val="accent2"/>
                </a:solidFill>
              </a:rPr>
              <a:t>Corresponding Unit Tests for Fluent </a:t>
            </a:r>
            <a:r>
              <a:rPr lang="en-US" sz="2400" kern="0" spc="-220" dirty="0" err="1">
                <a:solidFill>
                  <a:schemeClr val="accent2"/>
                </a:solidFill>
              </a:rPr>
              <a:t>Repositoy</a:t>
            </a:r>
            <a:r>
              <a:rPr lang="en-US" sz="2400" kern="0" spc="-220" dirty="0">
                <a:solidFill>
                  <a:schemeClr val="accent2"/>
                </a:solidFill>
              </a:rPr>
              <a:t>- </a:t>
            </a:r>
          </a:p>
          <a:p>
            <a:pPr marL="12700" marR="5080"/>
            <a:r>
              <a:rPr lang="en-US" sz="1500" kern="0" spc="-220" dirty="0">
                <a:solidFill>
                  <a:schemeClr val="accent6"/>
                </a:solidFill>
              </a:rPr>
              <a:t> </a:t>
            </a:r>
            <a:r>
              <a:rPr lang="en-US" sz="1500" dirty="0">
                <a:hlinkClick r:id="rId9"/>
              </a:rPr>
              <a:t>DDD-Based-Enterprise-Application-Framework/</a:t>
            </a:r>
            <a:r>
              <a:rPr lang="en-US" sz="1500" dirty="0" err="1">
                <a:hlinkClick r:id="rId9"/>
              </a:rPr>
              <a:t>Testing.FluentRepository</a:t>
            </a:r>
            <a:r>
              <a:rPr lang="en-US" sz="1500" dirty="0">
                <a:hlinkClick r:id="rId9"/>
              </a:rPr>
              <a:t> at master · sandipray63in/DDD-Based-Enterprise-Application-Framework · GitHub</a:t>
            </a:r>
            <a:endParaRPr lang="en-US" sz="1500" kern="0" spc="-220" dirty="0">
              <a:solidFill>
                <a:schemeClr val="accent6"/>
              </a:solidFill>
            </a:endParaRPr>
          </a:p>
          <a:p>
            <a:pPr marL="12700" marR="5080"/>
            <a:endParaRPr lang="en-US" sz="1600" kern="0" spc="-220" dirty="0">
              <a:solidFill>
                <a:schemeClr val="accent6"/>
              </a:solidFill>
            </a:endParaRPr>
          </a:p>
          <a:p>
            <a:pPr marL="12700" marR="5080"/>
            <a:r>
              <a:rPr lang="en-US" sz="1600" kern="0" spc="-220" dirty="0" err="1">
                <a:solidFill>
                  <a:schemeClr val="accent6"/>
                </a:solidFill>
              </a:rPr>
              <a:t>FluentValidations</a:t>
            </a:r>
            <a:r>
              <a:rPr lang="en-US" sz="1600" kern="0" spc="-220" dirty="0">
                <a:solidFill>
                  <a:schemeClr val="accent6"/>
                </a:solidFill>
              </a:rPr>
              <a:t>(</a:t>
            </a:r>
            <a:r>
              <a:rPr lang="en-IN" sz="1500" dirty="0" err="1">
                <a:hlinkClick r:id="rId10"/>
              </a:rPr>
              <a:t>FluentValidation</a:t>
            </a:r>
            <a:r>
              <a:rPr lang="en-IN" sz="1500" dirty="0">
                <a:hlinkClick r:id="rId10"/>
              </a:rPr>
              <a:t> — </a:t>
            </a:r>
            <a:r>
              <a:rPr lang="en-IN" sz="1500" dirty="0" err="1">
                <a:hlinkClick r:id="rId10"/>
              </a:rPr>
              <a:t>FluentValidation</a:t>
            </a:r>
            <a:r>
              <a:rPr lang="en-IN" sz="1500" dirty="0">
                <a:hlinkClick r:id="rId10"/>
              </a:rPr>
              <a:t> documentation</a:t>
            </a:r>
            <a:r>
              <a:rPr lang="en-US" sz="1600" kern="0" spc="-220" dirty="0">
                <a:solidFill>
                  <a:schemeClr val="accent6"/>
                </a:solidFill>
              </a:rPr>
              <a:t>) is another library built using Fluent API concepts mainly for validations. Its something similar to </a:t>
            </a:r>
            <a:r>
              <a:rPr lang="en-US" sz="1600" kern="0" spc="-220" dirty="0" err="1">
                <a:solidFill>
                  <a:schemeClr val="accent6"/>
                </a:solidFill>
              </a:rPr>
              <a:t>Persistance</a:t>
            </a:r>
            <a:r>
              <a:rPr lang="en-US" sz="1600" kern="0" spc="-220" dirty="0">
                <a:solidFill>
                  <a:schemeClr val="accent6"/>
                </a:solidFill>
              </a:rPr>
              <a:t> Ignorance since it provides Validation Ignorance w.r.t domain </a:t>
            </a:r>
            <a:r>
              <a:rPr lang="en-US" sz="1600" kern="0" spc="-220" dirty="0" err="1">
                <a:solidFill>
                  <a:schemeClr val="accent6"/>
                </a:solidFill>
              </a:rPr>
              <a:t>objects.By</a:t>
            </a:r>
            <a:r>
              <a:rPr lang="en-US" sz="1600" kern="0" spc="-220" dirty="0">
                <a:solidFill>
                  <a:schemeClr val="accent6"/>
                </a:solidFill>
              </a:rPr>
              <a:t> the way, there are some inherent issues of Fluent Validations w.r.t </a:t>
            </a:r>
            <a:r>
              <a:rPr lang="en-US" sz="1600" kern="0" spc="-220" dirty="0" err="1">
                <a:solidFill>
                  <a:schemeClr val="accent6"/>
                </a:solidFill>
              </a:rPr>
              <a:t>OpenAPI</a:t>
            </a:r>
            <a:r>
              <a:rPr lang="en-US" sz="1600" kern="0" spc="-220" dirty="0">
                <a:solidFill>
                  <a:schemeClr val="accent6"/>
                </a:solidFill>
              </a:rPr>
              <a:t> but there are workarounds for the same &amp; for that an example that can be referred is</a:t>
            </a:r>
          </a:p>
          <a:p>
            <a:pPr marL="12700" marR="5080"/>
            <a:r>
              <a:rPr lang="en-US" sz="1500" dirty="0">
                <a:hlinkClick r:id="rId11"/>
              </a:rPr>
              <a:t>Making </a:t>
            </a:r>
            <a:r>
              <a:rPr lang="en-US" sz="1500" dirty="0" err="1">
                <a:hlinkClick r:id="rId11"/>
              </a:rPr>
              <a:t>FluentValidation</a:t>
            </a:r>
            <a:r>
              <a:rPr lang="en-US" sz="1500" dirty="0">
                <a:hlinkClick r:id="rId11"/>
              </a:rPr>
              <a:t> compatible with Swagger including Enum or fixed List support</a:t>
            </a:r>
            <a:endParaRPr lang="en-US" sz="1500" kern="0" spc="-220" dirty="0">
              <a:solidFill>
                <a:schemeClr val="accent6"/>
              </a:solidFill>
            </a:endParaRP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 For the interfaces, which provides the </a:t>
            </a:r>
            <a:r>
              <a:rPr lang="en-US" sz="2000" kern="0" spc="-220" dirty="0" err="1">
                <a:solidFill>
                  <a:schemeClr val="accent6"/>
                </a:solidFill>
              </a:rPr>
              <a:t>mixin's</a:t>
            </a:r>
            <a:r>
              <a:rPr lang="en-US" sz="2000" kern="0" spc="-220" dirty="0">
                <a:solidFill>
                  <a:schemeClr val="accent6"/>
                </a:solidFill>
              </a:rPr>
              <a:t> actual methods, </a:t>
            </a:r>
            <a:r>
              <a:rPr lang="en-US" sz="2000" kern="0" spc="-220" dirty="0" err="1">
                <a:solidFill>
                  <a:schemeClr val="accent6"/>
                </a:solidFill>
              </a:rPr>
              <a:t>mixins</a:t>
            </a:r>
            <a:r>
              <a:rPr lang="en-US" sz="2000" kern="0" spc="-220" dirty="0">
                <a:solidFill>
                  <a:schemeClr val="accent6"/>
                </a:solidFill>
              </a:rPr>
              <a:t>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2"/>
                </a:solidFill>
              </a:rPr>
              <a:t>Example –</a:t>
            </a:r>
          </a:p>
          <a:p>
            <a:pPr marL="12700" marR="5080"/>
            <a:r>
              <a:rPr lang="en-US" sz="1500" kern="0" spc="-220" dirty="0">
                <a:solidFill>
                  <a:schemeClr val="accent6"/>
                </a:solidFill>
              </a:rPr>
              <a:t> </a:t>
            </a:r>
            <a:r>
              <a:rPr lang="en-US" sz="1500" dirty="0">
                <a:hlinkClick r:id="rId7"/>
              </a:rPr>
              <a:t>How To Create </a:t>
            </a:r>
            <a:r>
              <a:rPr lang="en-US" sz="1500" dirty="0" err="1">
                <a:hlinkClick r:id="rId7"/>
              </a:rPr>
              <a:t>Mixin</a:t>
            </a:r>
            <a:r>
              <a:rPr lang="en-US" sz="1500" dirty="0">
                <a:hlinkClick r:id="rId7"/>
              </a:rPr>
              <a:t> Using C# 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Implementing </a:t>
            </a:r>
            <a:r>
              <a:rPr lang="en-US" sz="2400" kern="0" spc="-220" dirty="0" err="1">
                <a:solidFill>
                  <a:schemeClr val="accent2"/>
                </a:solidFill>
              </a:rPr>
              <a:t>Mixin</a:t>
            </a:r>
            <a:r>
              <a:rPr lang="en-US" sz="2400" kern="0" spc="-220" dirty="0">
                <a:solidFill>
                  <a:schemeClr val="accent2"/>
                </a:solidFill>
              </a:rPr>
              <a:t> in &gt; C# 8 –</a:t>
            </a:r>
          </a:p>
          <a:p>
            <a:pPr algn="l"/>
            <a:endParaRPr lang="en-US" sz="2400" kern="0" spc="-220" dirty="0">
              <a:solidFill>
                <a:schemeClr val="accent6"/>
              </a:solidFill>
            </a:endParaRPr>
          </a:p>
          <a:p>
            <a:pPr algn="l"/>
            <a:r>
              <a:rPr lang="en-US" sz="2400" kern="0" spc="-220" dirty="0">
                <a:solidFill>
                  <a:schemeClr val="accent2"/>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2"/>
                </a:solidFill>
              </a:rPr>
              <a:t>Mixin</a:t>
            </a:r>
            <a:r>
              <a:rPr lang="en-US" sz="2400" kern="0" spc="-220" dirty="0">
                <a:solidFill>
                  <a:schemeClr val="accent2"/>
                </a:solidFill>
              </a:rPr>
              <a:t> Implementation Example Using Default Interfaces Implementations– </a:t>
            </a:r>
          </a:p>
          <a:p>
            <a:pPr algn="l"/>
            <a:r>
              <a:rPr lang="en-US" sz="1500" dirty="0">
                <a:hlinkClick r:id="rId7"/>
              </a:rPr>
              <a:t>Create </a:t>
            </a:r>
            <a:r>
              <a:rPr lang="en-US" sz="1500" dirty="0" err="1">
                <a:hlinkClick r:id="rId7"/>
              </a:rPr>
              <a:t>mixin</a:t>
            </a:r>
            <a:r>
              <a:rPr lang="en-US" sz="1500" dirty="0">
                <a:hlinkClick r:id="rId7"/>
              </a:rPr>
              <a:t> types using default interface methods - C# | Microsoft Learn</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20981" y="286813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An Example(with explanation) - </a:t>
            </a:r>
          </a:p>
          <a:p>
            <a:pPr algn="l"/>
            <a:r>
              <a:rPr lang="en-US" sz="1500" kern="0" spc="-220" dirty="0">
                <a:solidFill>
                  <a:schemeClr val="accent6"/>
                </a:solidFill>
              </a:rPr>
              <a:t> </a:t>
            </a:r>
            <a:r>
              <a:rPr lang="en-IN" sz="1500" dirty="0">
                <a:hlinkClick r:id="rId7"/>
              </a:rPr>
              <a:t>Descriptor_Pattern.md · GitHub</a:t>
            </a:r>
            <a:endParaRPr lang="en-US" sz="15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Memory Leaks in Managed Code- </a:t>
            </a:r>
          </a:p>
          <a:p>
            <a:pPr algn="l"/>
            <a:r>
              <a:rPr lang="en-US" sz="1500" kern="0" spc="-220" dirty="0">
                <a:solidFill>
                  <a:schemeClr val="accent6"/>
                </a:solidFill>
              </a:rPr>
              <a:t> </a:t>
            </a:r>
            <a:r>
              <a:rPr lang="en-US" sz="1500" dirty="0">
                <a:hlinkClick r:id="rId7"/>
              </a:rPr>
              <a:t>Find, Fix, and Avoid Memory Leaks in C# .NET: 8 Best Practices | Michael's Coding Spot</a:t>
            </a:r>
            <a:endParaRPr lang="en-US" sz="1500" kern="0" spc="-220" dirty="0">
              <a:solidFill>
                <a:schemeClr val="accent6"/>
              </a:solidFill>
            </a:endParaRP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156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An </a:t>
            </a:r>
            <a:r>
              <a:rPr lang="en-US" sz="2000" kern="0" spc="-220" dirty="0" err="1">
                <a:solidFill>
                  <a:schemeClr val="accent2"/>
                </a:solidFill>
              </a:rPr>
              <a:t>IDisposable</a:t>
            </a:r>
            <a:r>
              <a:rPr lang="en-US" sz="2000" kern="0" spc="-220" dirty="0">
                <a:solidFill>
                  <a:schemeClr val="accent2"/>
                </a:solidFill>
              </a:rPr>
              <a:t> Example - </a:t>
            </a:r>
          </a:p>
          <a:p>
            <a:pPr algn="l"/>
            <a:r>
              <a:rPr lang="en-US" sz="1800" kern="0" spc="-220" dirty="0">
                <a:solidFill>
                  <a:schemeClr val="accent6"/>
                </a:solidFill>
              </a:rPr>
              <a:t> </a:t>
            </a:r>
            <a:r>
              <a:rPr lang="en-IN" sz="1500" dirty="0">
                <a:hlinkClick r:id="rId8"/>
              </a:rPr>
              <a:t>DDD-Based-Enterprise-Application-Framework/Infrastructure/</a:t>
            </a:r>
            <a:r>
              <a:rPr lang="en-IN" sz="1500" dirty="0" err="1">
                <a:hlinkClick r:id="rId8"/>
              </a:rPr>
              <a:t>DisposableClass.cs</a:t>
            </a:r>
            <a:r>
              <a:rPr lang="en-IN" sz="1500" dirty="0">
                <a:hlinkClick r:id="rId8"/>
              </a:rPr>
              <a:t> at master · sandipray63in/DDD-Based-Enterprise-Application-Framework · GitHub</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Weak References-</a:t>
            </a:r>
          </a:p>
          <a:p>
            <a:pPr algn="l"/>
            <a:r>
              <a:rPr lang="en-US" sz="1500" kern="0" spc="-220" dirty="0">
                <a:solidFill>
                  <a:schemeClr val="accent6"/>
                </a:solidFill>
              </a:rPr>
              <a:t> </a:t>
            </a:r>
            <a:r>
              <a:rPr lang="en-IN" sz="1500" dirty="0">
                <a:hlinkClick r:id="rId9"/>
              </a:rPr>
              <a:t>Understanding weak references in .NET- </a:t>
            </a:r>
            <a:r>
              <a:rPr lang="en-IN" sz="1500" dirty="0" err="1">
                <a:hlinkClick r:id="rId9"/>
              </a:rPr>
              <a:t>CodeProject</a:t>
            </a:r>
            <a:endParaRPr lang="en-IN" sz="1500" dirty="0"/>
          </a:p>
          <a:p>
            <a:pPr algn="l"/>
            <a:r>
              <a:rPr lang="en-IN" sz="1500" kern="0" spc="-220" dirty="0">
                <a:solidFill>
                  <a:schemeClr val="accent6"/>
                </a:solidFill>
              </a:rPr>
              <a:t>  </a:t>
            </a:r>
            <a:r>
              <a:rPr lang="en-US" sz="1500" dirty="0" err="1">
                <a:hlinkClick r:id="rId10"/>
              </a:rPr>
              <a:t>.net</a:t>
            </a:r>
            <a:r>
              <a:rPr lang="en-US" sz="1500" dirty="0">
                <a:hlinkClick r:id="rId10"/>
              </a:rPr>
              <a:t> - Understanding </a:t>
            </a:r>
            <a:r>
              <a:rPr lang="en-US" sz="1500" dirty="0" err="1">
                <a:hlinkClick r:id="rId10"/>
              </a:rPr>
              <a:t>ConditionalWeakTable</a:t>
            </a:r>
            <a:r>
              <a:rPr lang="en-US" sz="1500" dirty="0">
                <a:hlinkClick r:id="rId10"/>
              </a:rPr>
              <a:t> - Stack Overflow</a:t>
            </a:r>
            <a:endParaRPr lang="en-US" sz="1500" dirty="0"/>
          </a:p>
          <a:p>
            <a:pPr algn="l"/>
            <a:r>
              <a:rPr lang="en-US" sz="1500" kern="0" spc="-220" dirty="0">
                <a:solidFill>
                  <a:schemeClr val="accent6"/>
                </a:solidFill>
              </a:rPr>
              <a:t>  </a:t>
            </a:r>
            <a:r>
              <a:rPr lang="en-IN" sz="1500" dirty="0" err="1">
                <a:hlinkClick r:id="rId11"/>
              </a:rPr>
              <a:t>WeakReference</a:t>
            </a:r>
            <a:r>
              <a:rPr lang="en-IN" sz="1500" dirty="0">
                <a:hlinkClick r:id="rId11"/>
              </a:rPr>
              <a:t> Event Handlers</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8463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Memory Cache (An alternative to “</a:t>
            </a:r>
            <a:r>
              <a:rPr lang="en-US" sz="2000" kern="0" spc="-220" dirty="0" err="1">
                <a:solidFill>
                  <a:schemeClr val="accent2"/>
                </a:solidFill>
              </a:rPr>
              <a:t>ConditionalWeakTable</a:t>
            </a:r>
            <a:r>
              <a:rPr lang="en-US" sz="2000" kern="0" spc="-220" dirty="0">
                <a:solidFill>
                  <a:schemeClr val="accent2"/>
                </a:solidFill>
              </a:rPr>
              <a:t> based cache”) - </a:t>
            </a:r>
          </a:p>
          <a:p>
            <a:pPr algn="l"/>
            <a:r>
              <a:rPr lang="en-US" sz="1500" dirty="0">
                <a:hlinkClick r:id="rId12"/>
              </a:rPr>
              <a:t>In-memory caching in </a:t>
            </a:r>
            <a:r>
              <a:rPr lang="en-US" sz="1500" dirty="0" err="1">
                <a:hlinkClick r:id="rId12"/>
              </a:rPr>
              <a:t>.Net</a:t>
            </a:r>
            <a:r>
              <a:rPr lang="en-US" sz="1500" dirty="0">
                <a:hlinkClick r:id="rId12"/>
              </a:rPr>
              <a:t>. In-memory caching is a common technique… | by Josiah T Mahachi | Medium</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Resurrection- </a:t>
            </a:r>
          </a:p>
          <a:p>
            <a:pPr algn="l"/>
            <a:r>
              <a:rPr lang="en-US" sz="1500" dirty="0" err="1">
                <a:hlinkClick r:id="rId7"/>
              </a:rPr>
              <a:t>c#</a:t>
            </a:r>
            <a:r>
              <a:rPr lang="en-US" sz="1500" dirty="0">
                <a:hlinkClick r:id="rId7"/>
              </a:rPr>
              <a:t> - Usages of object resurrection - Stack Overflow</a:t>
            </a:r>
            <a:endParaRPr lang="en-US" sz="1500" kern="0" spc="-220" dirty="0">
              <a:solidFill>
                <a:schemeClr val="accent6"/>
              </a:solidFill>
            </a:endParaRP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4038362"/>
            <a:ext cx="8624937" cy="17697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Mark &amp; Sweep Algorithm- </a:t>
            </a:r>
          </a:p>
          <a:p>
            <a:pPr algn="l"/>
            <a:r>
              <a:rPr lang="en-US" sz="1500" dirty="0">
                <a:hlinkClick r:id="rId8"/>
              </a:rPr>
              <a:t>Mark and Sweep Garbage Collection Algorithm | LinkedIn</a:t>
            </a:r>
            <a:endParaRPr lang="en-US" sz="1500" dirty="0"/>
          </a:p>
          <a:p>
            <a:pPr algn="l"/>
            <a:r>
              <a:rPr lang="en-US" sz="1800" kern="0" spc="-220" dirty="0">
                <a:solidFill>
                  <a:schemeClr val="accent6"/>
                </a:solidFill>
              </a:rPr>
              <a:t>By the way, in the above article I love the way how Tom is applying “Mark &amp; Sweep Algorithm” , all in parallel </a:t>
            </a:r>
            <a:r>
              <a:rPr lang="en-US" sz="1800" kern="0" spc="-220" dirty="0">
                <a:solidFill>
                  <a:schemeClr val="accent6"/>
                </a:solidFill>
                <a:sym typeface="Wingdings" panose="05000000000000000000" pitchFamily="2" charset="2"/>
              </a:rPr>
              <a:t></a:t>
            </a:r>
            <a:endParaRPr lang="en-US" sz="1800" kern="0" spc="-220" dirty="0">
              <a:solidFill>
                <a:schemeClr val="accent6"/>
              </a:solidFill>
            </a:endParaRPr>
          </a:p>
          <a:p>
            <a:pPr algn="l"/>
            <a:endParaRPr lang="en-US" sz="2000" kern="0" spc="-220" dirty="0">
              <a:solidFill>
                <a:schemeClr val="accent6"/>
              </a:solidFill>
            </a:endParaRPr>
          </a:p>
          <a:p>
            <a:pPr algn="l"/>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259531" y="2353559"/>
            <a:ext cx="8624937" cy="1077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 Garbage Collection &amp; Generations- </a:t>
            </a:r>
          </a:p>
          <a:p>
            <a:pPr algn="l"/>
            <a:r>
              <a:rPr lang="en-US" sz="2000" kern="0" spc="-220" dirty="0">
                <a:solidFill>
                  <a:schemeClr val="accent6"/>
                </a:solidFill>
              </a:rPr>
              <a:t> </a:t>
            </a:r>
            <a:r>
              <a:rPr lang="en-US" sz="1500" dirty="0">
                <a:hlinkClick r:id="rId9"/>
              </a:rPr>
              <a:t>EP125: How does Garbage Collection work?</a:t>
            </a:r>
            <a:r>
              <a:rPr lang="en-US" sz="1500" dirty="0"/>
              <a:t> </a:t>
            </a:r>
            <a:r>
              <a:rPr lang="en-US" sz="1500" kern="0" spc="-220" dirty="0">
                <a:solidFill>
                  <a:schemeClr val="accent6"/>
                </a:solidFill>
              </a:rPr>
              <a:t> </a:t>
            </a:r>
          </a:p>
          <a:p>
            <a:pPr algn="l"/>
            <a:r>
              <a:rPr lang="en-US" sz="1500" kern="0" spc="-220" dirty="0">
                <a:solidFill>
                  <a:schemeClr val="accent6"/>
                </a:solidFill>
              </a:rPr>
              <a:t> </a:t>
            </a:r>
            <a:r>
              <a:rPr lang="en-IN" sz="1500" dirty="0">
                <a:hlinkClick r:id="rId10"/>
              </a:rPr>
              <a:t>C# Garbage Collection Tutorial – </a:t>
            </a:r>
            <a:r>
              <a:rPr lang="en-IN" sz="1500" dirty="0" err="1">
                <a:hlinkClick r:id="rId10"/>
              </a:rPr>
              <a:t>Stackify</a:t>
            </a:r>
            <a:r>
              <a:rPr lang="en-US" sz="1500" kern="0" spc="-220" dirty="0">
                <a:solidFill>
                  <a:schemeClr val="accent6"/>
                </a:solidFill>
              </a:rPr>
              <a:t> </a:t>
            </a:r>
          </a:p>
          <a:p>
            <a:pPr algn="l"/>
            <a:r>
              <a:rPr lang="en-US" sz="1500" kern="0" spc="-220" dirty="0">
                <a:solidFill>
                  <a:schemeClr val="accent6"/>
                </a:solidFill>
              </a:rPr>
              <a:t> </a:t>
            </a:r>
            <a:r>
              <a:rPr lang="en-US" sz="1500" dirty="0" err="1">
                <a:hlinkClick r:id="rId11"/>
              </a:rPr>
              <a:t>.net</a:t>
            </a:r>
            <a:r>
              <a:rPr lang="en-US" sz="1500" dirty="0">
                <a:hlinkClick r:id="rId11"/>
              </a:rPr>
              <a:t> - What are the Generations in Garbage Collection? - Stack Overflow</a:t>
            </a:r>
            <a:r>
              <a:rPr lang="en-US" sz="1500" dirty="0"/>
              <a:t> </a:t>
            </a:r>
            <a:endParaRPr lang="en-US" sz="1500" kern="0" spc="-220" dirty="0">
              <a:solidFill>
                <a:schemeClr val="accent6"/>
              </a:solidFill>
            </a:endParaRP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IEnumerable</a:t>
            </a:r>
            <a:r>
              <a:rPr lang="en-US" sz="2000" kern="0" spc="-220" dirty="0">
                <a:solidFill>
                  <a:schemeClr val="accent2"/>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IQueryable</a:t>
            </a:r>
            <a:r>
              <a:rPr lang="en-US" sz="2000" kern="0" spc="-220" dirty="0">
                <a:solidFill>
                  <a:schemeClr val="accent2"/>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Fluent Syntax vs Query Syntax - </a:t>
            </a:r>
            <a:r>
              <a:rPr lang="en-US" sz="2000" kern="0" spc="-220" dirty="0">
                <a:solidFill>
                  <a:schemeClr val="accent6"/>
                </a:solidFill>
              </a:rPr>
              <a:t>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IQueryable</a:t>
            </a:r>
            <a:r>
              <a:rPr lang="en-US" sz="2000" kern="0" spc="-220" dirty="0">
                <a:solidFill>
                  <a:schemeClr val="accent2"/>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IN" sz="1500" dirty="0" err="1">
                <a:hlinkClick r:id="rId7"/>
              </a:rPr>
              <a:t>Mehfuz's</a:t>
            </a:r>
            <a:r>
              <a:rPr lang="en-IN" sz="1500" dirty="0">
                <a:hlinkClick r:id="rId7"/>
              </a:rPr>
              <a:t> </a:t>
            </a:r>
            <a:r>
              <a:rPr lang="en-IN" sz="1500" dirty="0" err="1">
                <a:hlinkClick r:id="rId7"/>
              </a:rPr>
              <a:t>WebLog</a:t>
            </a:r>
            <a:r>
              <a:rPr lang="en-IN" sz="1500" dirty="0">
                <a:hlinkClick r:id="rId7"/>
              </a:rPr>
              <a:t> - Creating </a:t>
            </a:r>
            <a:r>
              <a:rPr lang="en-IN" sz="1500" dirty="0" err="1">
                <a:hlinkClick r:id="rId7"/>
              </a:rPr>
              <a:t>LINQToTwitter</a:t>
            </a:r>
            <a:r>
              <a:rPr lang="en-IN" sz="1500" dirty="0">
                <a:hlinkClick r:id="rId7"/>
              </a:rPr>
              <a:t> library using </a:t>
            </a:r>
            <a:r>
              <a:rPr lang="en-IN" sz="1500" dirty="0" err="1">
                <a:hlinkClick r:id="rId7"/>
              </a:rPr>
              <a:t>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500" dirty="0">
                <a:hlinkClick r:id="rId8"/>
              </a:rPr>
              <a:t>Processes, Threads, </a:t>
            </a:r>
            <a:r>
              <a:rPr lang="en-US" sz="1500" dirty="0" err="1">
                <a:hlinkClick r:id="rId8"/>
              </a:rPr>
              <a:t>AppDomains</a:t>
            </a:r>
            <a:r>
              <a:rPr lang="en-US" sz="1500" dirty="0">
                <a:hlinkClick r:id="rId8"/>
              </a:rPr>
              <a:t> And Object Contexts | </a:t>
            </a:r>
            <a:r>
              <a:rPr lang="en-US" sz="1500" dirty="0" err="1">
                <a:hlinkClick r:id="rId8"/>
              </a:rPr>
              <a:t>luke</a:t>
            </a:r>
            <a:r>
              <a:rPr lang="en-US" sz="1500" dirty="0">
                <a:hlinkClick r:id="rId8"/>
              </a:rPr>
              <a:t> </a:t>
            </a:r>
            <a:r>
              <a:rPr lang="en-US" sz="1500" dirty="0" err="1">
                <a:hlinkClick r:id="rId8"/>
              </a:rPr>
              <a:t>wickstead</a:t>
            </a:r>
            <a:endParaRPr lang="en-US" sz="15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787147295"/>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dirty="0"/>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US" sz="1600" dirty="0">
                          <a:hlinkClick r:id="rId7"/>
                        </a:rPr>
                        <a:t>How to Pass Data Thread Function in Type-Safe Manner in C#</a:t>
                      </a:r>
                      <a:endParaRPr lang="en-US" sz="1600" dirty="0"/>
                    </a:p>
                    <a:p>
                      <a:r>
                        <a:rPr lang="en-US" sz="1600" dirty="0">
                          <a:hlinkClick r:id="rId8"/>
                        </a:rPr>
                        <a:t>How to Retrieve Data from a Thread Function in C# - Dot Net Tutorials</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US" sz="1600" dirty="0">
                          <a:hlinkClick r:id="rId9"/>
                        </a:rPr>
                        <a:t>Thread Pools - Win32 apps | Microsoft Learn</a:t>
                      </a:r>
                      <a:endParaRPr lang="en-IN" sz="1600" dirty="0"/>
                    </a:p>
                    <a:p>
                      <a:r>
                        <a:rPr lang="en-IN" sz="1600" dirty="0"/>
                        <a:t>(check/google/</a:t>
                      </a:r>
                      <a:r>
                        <a:rPr lang="en-IN" sz="1600" dirty="0" err="1"/>
                        <a:t>chaptGPT</a:t>
                      </a:r>
                      <a:r>
                        <a:rPr lang="en-IN" sz="1600" dirty="0"/>
                        <a:t>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 by default.</a:t>
                      </a:r>
                    </a:p>
                    <a:p>
                      <a:endParaRPr lang="en-IN" sz="1600" dirty="0"/>
                    </a:p>
                  </a:txBody>
                  <a:tcPr/>
                </a:tc>
                <a:tc>
                  <a:txBody>
                    <a:bodyPr/>
                    <a:lstStyle/>
                    <a:p>
                      <a:r>
                        <a:rPr lang="en-US" sz="1600" dirty="0" err="1">
                          <a:hlinkClick r:id="rId10"/>
                        </a:rPr>
                        <a:t>c#</a:t>
                      </a:r>
                      <a:r>
                        <a:rPr lang="en-US" sz="1600" dirty="0">
                          <a:hlinkClick r:id="rId10"/>
                        </a:rPr>
                        <a:t> - What is the difference between task and thread? - Stack Overflow</a:t>
                      </a:r>
                      <a:endParaRPr lang="en-US" sz="1600" dirty="0"/>
                    </a:p>
                    <a:p>
                      <a:r>
                        <a:rPr lang="en-US" sz="1600" dirty="0">
                          <a:hlinkClick r:id="rId11"/>
                        </a:rPr>
                        <a:t>Task Class (</a:t>
                      </a:r>
                      <a:r>
                        <a:rPr lang="en-US" sz="1600" dirty="0" err="1">
                          <a:hlinkClick r:id="rId11"/>
                        </a:rPr>
                        <a:t>System.Threading.Tasks</a:t>
                      </a:r>
                      <a:r>
                        <a:rPr lang="en-US" sz="1600" dirty="0">
                          <a:hlinkClick r:id="rId11"/>
                        </a:rPr>
                        <a:t>) | Microsoft Learn</a:t>
                      </a:r>
                      <a:endParaRPr lang="en-IN" sz="1600" dirty="0"/>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(check/google/</a:t>
                      </a:r>
                      <a:r>
                        <a:rPr lang="en-IN" sz="1600" dirty="0" err="1"/>
                        <a:t>chatGPT</a:t>
                      </a:r>
                      <a:r>
                        <a:rPr lang="en-IN" sz="1600" dirty="0"/>
                        <a:t>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20774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1500" dirty="0">
                <a:hlinkClick r:id="rId7"/>
              </a:rPr>
              <a:t>What is a Race Condition? Vulnerability and Attack</a:t>
            </a:r>
            <a:endParaRPr lang="en-US" sz="1500" dirty="0"/>
          </a:p>
          <a:p>
            <a:pPr algn="l"/>
            <a:r>
              <a:rPr lang="en-US" sz="2000" kern="0" spc="-220" dirty="0">
                <a:solidFill>
                  <a:schemeClr val="accent2"/>
                </a:solidFill>
              </a:rPr>
              <a:t>Dead Lock – </a:t>
            </a:r>
          </a:p>
          <a:p>
            <a:pPr algn="l"/>
            <a:r>
              <a:rPr lang="en-US" sz="2000" kern="0" spc="-220" dirty="0">
                <a:solidFill>
                  <a:schemeClr val="accent6"/>
                </a:solidFill>
              </a:rPr>
              <a:t>Mainly happens when multiple threads are waiting for other threads to release some shared resource</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3144292"/>
            <a:ext cx="5639090" cy="2489060"/>
          </a:xfrm>
          <a:prstGeom prst="rect">
            <a:avLst/>
          </a:prstGeom>
        </p:spPr>
      </p:pic>
      <p:sp>
        <p:nvSpPr>
          <p:cNvPr id="12" name="TextBox 11">
            <a:extLst>
              <a:ext uri="{FF2B5EF4-FFF2-40B4-BE49-F238E27FC236}">
                <a16:creationId xmlns:a16="http://schemas.microsoft.com/office/drawing/2014/main" id="{7238456B-9289-E569-E6BF-290013E4B791}"/>
              </a:ext>
            </a:extLst>
          </p:cNvPr>
          <p:cNvSpPr txBox="1"/>
          <p:nvPr/>
        </p:nvSpPr>
        <p:spPr>
          <a:xfrm>
            <a:off x="66040" y="5653444"/>
            <a:ext cx="8915400" cy="369332"/>
          </a:xfrm>
          <a:prstGeom prst="rect">
            <a:avLst/>
          </a:prstGeom>
          <a:noFill/>
        </p:spPr>
        <p:txBody>
          <a:bodyPr wrap="square">
            <a:spAutoFit/>
          </a:bodyPr>
          <a:lstStyle/>
          <a:p>
            <a:r>
              <a:rPr lang="en-US" dirty="0">
                <a:hlinkClick r:id="rId9"/>
              </a:rPr>
              <a:t>EP112: What is a deadlock? - </a:t>
            </a:r>
            <a:r>
              <a:rPr lang="en-US" dirty="0" err="1">
                <a:hlinkClick r:id="rId9"/>
              </a:rPr>
              <a:t>ByteByteGo</a:t>
            </a:r>
            <a:r>
              <a:rPr lang="en-US" dirty="0">
                <a:hlinkClick r:id="rId9"/>
              </a:rPr>
              <a:t> Newsletter</a:t>
            </a:r>
            <a:endParaRPr lang="en-IN" dirty="0"/>
          </a:p>
        </p:txBody>
      </p:sp>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8915400"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500" dirty="0" err="1">
                <a:hlinkClick r:id="rId8"/>
              </a:rPr>
              <a:t>.net</a:t>
            </a:r>
            <a:r>
              <a:rPr lang="en-US" sz="1500" dirty="0">
                <a:hlinkClick r:id="rId8"/>
              </a:rPr>
              <a:t> - Synchronization between two processes in C#.? - Stack Overflow</a:t>
            </a:r>
            <a:endParaRPr lang="en-US" sz="1500" dirty="0"/>
          </a:p>
          <a:p>
            <a:pPr algn="just" fontAlgn="base"/>
            <a:r>
              <a:rPr lang="en-US" sz="1500" dirty="0">
                <a:hlinkClick r:id="rId9"/>
              </a:rPr>
              <a:t>Using C# Mutexes for </a:t>
            </a:r>
            <a:r>
              <a:rPr lang="en-US" sz="1500" dirty="0" err="1">
                <a:hlinkClick r:id="rId9"/>
              </a:rPr>
              <a:t>interprocess</a:t>
            </a:r>
            <a:r>
              <a:rPr lang="en-US" sz="1500" dirty="0">
                <a:hlinkClick r:id="rId9"/>
              </a:rPr>
              <a:t> synchronization</a:t>
            </a:r>
            <a:endParaRPr lang="en-US" sz="15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2934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1500" dirty="0">
                <a:hlinkClick r:id="rId7"/>
              </a:rPr>
              <a:t>Lock vs monitor in c#. Lock:- In C#, the lock keyword is used… | by Kamlesh Singh | Medium</a:t>
            </a:r>
            <a:endParaRPr lang="en-US" sz="15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can use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IN" sz="1500" dirty="0">
                <a:hlinkClick r:id="rId8"/>
              </a:rPr>
              <a:t>Async Waiting inside C# 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500" dirty="0">
                <a:hlinkClick r:id="rId9"/>
              </a:rPr>
              <a:t>Threading in C# - Part 3 - Using Threads</a:t>
            </a:r>
            <a:r>
              <a:rPr lang="en-US" sz="1500" kern="0" spc="-220" dirty="0">
                <a:solidFill>
                  <a:schemeClr val="accent2"/>
                </a:solidFill>
              </a:rPr>
              <a:t>  </a:t>
            </a:r>
          </a:p>
          <a:p>
            <a:pPr algn="just" fontAlgn="base"/>
            <a:r>
              <a:rPr lang="en-US" sz="1500" dirty="0">
                <a:hlinkClick r:id="rId10"/>
              </a:rPr>
              <a:t>How to use cancellation tokens in ASP.NET Core 7 | InfoWorld</a:t>
            </a:r>
            <a:endParaRPr lang="en-US" sz="1500" dirty="0"/>
          </a:p>
          <a:p>
            <a:pPr algn="just" fontAlgn="base"/>
            <a:r>
              <a:rPr lang="en-US" sz="1900" kern="0" spc="-220" dirty="0">
                <a:solidFill>
                  <a:schemeClr val="accent6"/>
                </a:solidFill>
              </a:rPr>
              <a:t>For Web API, if the client is some Web UI or Non .NET 3rd party API, use a custom Middleware[or Filter] based on command(‘cancel’) pattern </a:t>
            </a:r>
            <a:r>
              <a:rPr lang="en-US" sz="1900" kern="0" spc="-220" dirty="0" err="1">
                <a:solidFill>
                  <a:schemeClr val="accent6"/>
                </a:solidFill>
              </a:rPr>
              <a:t>alongwith</a:t>
            </a:r>
            <a:r>
              <a:rPr lang="en-US" sz="1900" kern="0" spc="-220" dirty="0">
                <a:solidFill>
                  <a:schemeClr val="accent6"/>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 </a:t>
            </a:r>
            <a:r>
              <a:rPr lang="en-US" sz="2000" kern="0" spc="-220" dirty="0">
                <a:solidFill>
                  <a:schemeClr val="accent2"/>
                </a:solidFill>
              </a:rPr>
              <a:t>Mainly needed for Thread(s) based Orchestration </a:t>
            </a:r>
            <a:r>
              <a:rPr lang="en-US" sz="2000" kern="0" spc="-220">
                <a:solidFill>
                  <a:schemeClr val="accent2"/>
                </a:solidFill>
              </a:rPr>
              <a:t>&amp; most Orchestrations </a:t>
            </a:r>
            <a:r>
              <a:rPr lang="en-US" sz="2000" kern="0" spc="-220" dirty="0">
                <a:solidFill>
                  <a:schemeClr val="accent2"/>
                </a:solidFill>
              </a:rPr>
              <a:t>can be implemented using FSM(Finite State Machine) Techniques.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971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28523" y="1001228"/>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500" dirty="0">
                <a:hlinkClick r:id="rId7"/>
              </a:rPr>
              <a:t>multithreading - What are atomic operations for newbies? - Stack Overflow</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500" dirty="0" err="1">
                <a:hlinkClick r:id="rId8"/>
              </a:rPr>
              <a:t>c#</a:t>
            </a:r>
            <a:r>
              <a:rPr lang="en-US" sz="1500" dirty="0">
                <a:hlinkClick r:id="rId8"/>
              </a:rPr>
              <a:t> - Locks vs Compare-and-swap - Stack Overflow</a:t>
            </a:r>
            <a:endParaRPr lang="en-US" sz="15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1500" dirty="0">
                <a:hlinkClick r:id="rId9"/>
              </a:rPr>
              <a:t>java - Lock splitting vs lock striping - Stack Overflow</a:t>
            </a:r>
            <a:endParaRPr lang="en-US" sz="1500" dirty="0"/>
          </a:p>
          <a:p>
            <a:pPr algn="just" fontAlgn="base"/>
            <a:endParaRPr lang="en-US" sz="1500" dirty="0"/>
          </a:p>
          <a:p>
            <a:pPr algn="just" fontAlgn="base"/>
            <a:r>
              <a:rPr lang="en-US" sz="1500" kern="0" spc="-220" dirty="0">
                <a:solidFill>
                  <a:schemeClr val="accent2"/>
                </a:solidFill>
              </a:rPr>
              <a:t>For Further Exploration – </a:t>
            </a:r>
          </a:p>
          <a:p>
            <a:pPr algn="just" fontAlgn="base"/>
            <a:r>
              <a:rPr lang="en-US" sz="900" dirty="0">
                <a:hlinkClick r:id="rId10"/>
              </a:rPr>
              <a:t>GitHub - </a:t>
            </a:r>
            <a:r>
              <a:rPr lang="en-US" sz="900" dirty="0" err="1">
                <a:hlinkClick r:id="rId10"/>
              </a:rPr>
              <a:t>PacktPublishing</a:t>
            </a:r>
            <a:r>
              <a:rPr lang="en-US" sz="900" dirty="0">
                <a:hlinkClick r:id="rId10"/>
              </a:rPr>
              <a:t>/</a:t>
            </a:r>
            <a:r>
              <a:rPr lang="en-US" sz="900" dirty="0" err="1">
                <a:hlinkClick r:id="rId10"/>
              </a:rPr>
              <a:t>MultithreadingwithCSharpCookbookSecondEdition_Code</a:t>
            </a:r>
            <a:r>
              <a:rPr lang="en-US" sz="900" dirty="0">
                <a:hlinkClick r:id="rId10"/>
              </a:rPr>
              <a:t>: Multithreading with C# Cookbook Second Edition</a:t>
            </a:r>
            <a:endParaRPr lang="en-US" sz="900" dirty="0"/>
          </a:p>
          <a:p>
            <a:pPr algn="just" fontAlgn="base"/>
            <a:r>
              <a:rPr lang="en-US" sz="900" dirty="0" err="1">
                <a:hlinkClick r:id="rId11"/>
              </a:rPr>
              <a:t>c#</a:t>
            </a:r>
            <a:r>
              <a:rPr lang="en-US" sz="900" dirty="0">
                <a:hlinkClick r:id="rId11"/>
              </a:rPr>
              <a:t> - Check the Number of threads available in </a:t>
            </a:r>
            <a:r>
              <a:rPr lang="en-US" sz="900" dirty="0" err="1">
                <a:hlinkClick r:id="rId11"/>
              </a:rPr>
              <a:t>ThreadPool</a:t>
            </a:r>
            <a:r>
              <a:rPr lang="en-US" sz="900" dirty="0">
                <a:hlinkClick r:id="rId11"/>
              </a:rPr>
              <a:t> at any time - Stack Overflow</a:t>
            </a:r>
            <a:endParaRPr lang="en-US" sz="900" dirty="0"/>
          </a:p>
          <a:p>
            <a:pPr algn="just" fontAlgn="base"/>
            <a:r>
              <a:rPr lang="en-US" sz="900" dirty="0">
                <a:hlinkClick r:id="rId12"/>
              </a:rPr>
              <a:t>GitHub - </a:t>
            </a:r>
            <a:r>
              <a:rPr lang="en-US" sz="900" dirty="0" err="1">
                <a:hlinkClick r:id="rId12"/>
              </a:rPr>
              <a:t>MikeMKH</a:t>
            </a:r>
            <a:r>
              <a:rPr lang="en-US" sz="900" dirty="0">
                <a:hlinkClick r:id="rId12"/>
              </a:rPr>
              <a:t>/concurrency-in-</a:t>
            </a:r>
            <a:r>
              <a:rPr lang="en-US" sz="900" dirty="0" err="1">
                <a:hlinkClick r:id="rId12"/>
              </a:rPr>
              <a:t>csharp</a:t>
            </a:r>
            <a:r>
              <a:rPr lang="en-US" sz="900" dirty="0">
                <a:hlinkClick r:id="rId12"/>
              </a:rPr>
              <a:t>-cookbook: Daily kata from Concurrency in C# Cookbook</a:t>
            </a:r>
            <a:endParaRPr lang="en-US" sz="900" dirty="0"/>
          </a:p>
          <a:p>
            <a:pPr algn="just" fontAlgn="base"/>
            <a:r>
              <a:rPr lang="en-US" sz="900" dirty="0">
                <a:hlinkClick r:id="rId13"/>
              </a:rPr>
              <a:t>GitHub - </a:t>
            </a:r>
            <a:r>
              <a:rPr lang="en-US" sz="900" dirty="0" err="1">
                <a:hlinkClick r:id="rId13"/>
              </a:rPr>
              <a:t>Wintellect</a:t>
            </a:r>
            <a:r>
              <a:rPr lang="en-US" sz="900" dirty="0">
                <a:hlinkClick r:id="rId13"/>
              </a:rPr>
              <a:t>/</a:t>
            </a:r>
            <a:r>
              <a:rPr lang="en-US" sz="900" dirty="0" err="1">
                <a:hlinkClick r:id="rId13"/>
              </a:rPr>
              <a:t>PowerThreading</a:t>
            </a:r>
            <a:r>
              <a:rPr lang="en-US" sz="900" dirty="0">
                <a:hlinkClick r:id="rId13"/>
              </a:rPr>
              <a:t>: Jeffrey Richter's Power Threading Library</a:t>
            </a:r>
            <a:endParaRPr lang="en-US" sz="900" dirty="0"/>
          </a:p>
          <a:p>
            <a:pPr algn="just" fontAlgn="base"/>
            <a:r>
              <a:rPr lang="en-US" sz="900" dirty="0">
                <a:hlinkClick r:id="rId14"/>
              </a:rPr>
              <a:t>Free </a:t>
            </a:r>
            <a:r>
              <a:rPr lang="en-US" sz="900" dirty="0" err="1">
                <a:hlinkClick r:id="rId14"/>
              </a:rPr>
              <a:t>Ebook</a:t>
            </a:r>
            <a:r>
              <a:rPr lang="en-US" sz="900" dirty="0">
                <a:hlinkClick r:id="rId14"/>
              </a:rPr>
              <a:t> - Web Servers Succinctly</a:t>
            </a:r>
            <a:endParaRPr lang="en-US" sz="900" dirty="0"/>
          </a:p>
          <a:p>
            <a:pPr algn="just" fontAlgn="base"/>
            <a:r>
              <a:rPr lang="en-US" sz="900" dirty="0">
                <a:hlinkClick r:id="rId15"/>
              </a:rPr>
              <a:t>2DGD_F0TH/chapters/001_Introduction/001_Introduction.md at master · 2DGD-F0TH/2DGD_F0TH · GitHub</a:t>
            </a:r>
            <a:endParaRPr lang="en-US" sz="900" dirty="0"/>
          </a:p>
          <a:p>
            <a:pPr algn="just" fontAlgn="base"/>
            <a:r>
              <a:rPr lang="en-US" sz="900" dirty="0">
                <a:hlinkClick r:id="rId16"/>
              </a:rPr>
              <a:t>GitHub - </a:t>
            </a:r>
            <a:r>
              <a:rPr lang="en-US" sz="900" dirty="0" err="1">
                <a:hlinkClick r:id="rId16"/>
              </a:rPr>
              <a:t>rikace</a:t>
            </a:r>
            <a:r>
              <a:rPr lang="en-US" sz="900" dirty="0">
                <a:hlinkClick r:id="rId16"/>
              </a:rPr>
              <a:t>/</a:t>
            </a:r>
            <a:r>
              <a:rPr lang="en-US" sz="900" dirty="0" err="1">
                <a:hlinkClick r:id="rId16"/>
              </a:rPr>
              <a:t>fConcBook</a:t>
            </a:r>
            <a:r>
              <a:rPr lang="en-US" sz="900" dirty="0">
                <a:hlinkClick r:id="rId16"/>
              </a:rPr>
              <a:t>: Source code for "Concurrency in .NET" book Manning publisher</a:t>
            </a:r>
            <a:endParaRPr lang="en-US" sz="900" dirty="0"/>
          </a:p>
          <a:p>
            <a:pPr algn="just" fontAlgn="base"/>
            <a:r>
              <a:rPr lang="en-IN" sz="900" dirty="0">
                <a:hlinkClick r:id="rId17"/>
              </a:rPr>
              <a:t>Multithreading Principles and Patterns</a:t>
            </a:r>
            <a:endParaRPr lang="en-IN" sz="900" dirty="0"/>
          </a:p>
          <a:p>
            <a:pPr algn="just" fontAlgn="base"/>
            <a:r>
              <a:rPr lang="en-US" sz="900" dirty="0">
                <a:hlinkClick r:id="rId18"/>
              </a:rPr>
              <a:t>Multithreading and Patterns - DEV Community</a:t>
            </a:r>
            <a:endParaRPr lang="en-US" sz="900" dirty="0"/>
          </a:p>
          <a:p>
            <a:pPr algn="just" fontAlgn="base"/>
            <a:r>
              <a:rPr lang="en-IN" sz="900" dirty="0">
                <a:hlinkClick r:id="rId19"/>
              </a:rPr>
              <a:t>web.stanford.edu/class/archive/cs/cs110/cs110.1202/static/lectures/12-multithreading-patterns-data-structures.pdf</a:t>
            </a:r>
            <a:endParaRPr lang="en-IN" sz="900" dirty="0"/>
          </a:p>
          <a:p>
            <a:pPr algn="just" fontAlgn="base"/>
            <a:r>
              <a:rPr lang="en-US" sz="900" dirty="0">
                <a:hlinkClick r:id="rId20"/>
              </a:rPr>
              <a:t>Common patterns for poorly-behaved multithreaded apps - Visual Studio (Windows) | Microsoft Learn</a:t>
            </a:r>
            <a:endParaRPr lang="en-US" sz="900" dirty="0"/>
          </a:p>
          <a:p>
            <a:pPr algn="just" fontAlgn="base"/>
            <a:r>
              <a:rPr lang="en-US" sz="900" dirty="0">
                <a:hlinkClick r:id="rId21"/>
              </a:rPr>
              <a:t>Part B (ADVANCE) Multithreading Design Patterns ( </a:t>
            </a:r>
            <a:r>
              <a:rPr lang="en-US" sz="900" dirty="0" err="1">
                <a:hlinkClick r:id="rId21"/>
              </a:rPr>
              <a:t>pthreads</a:t>
            </a:r>
            <a:r>
              <a:rPr lang="en-US" sz="900" dirty="0">
                <a:hlinkClick r:id="rId21"/>
              </a:rPr>
              <a:t> ) | Udemy</a:t>
            </a:r>
            <a:endParaRPr lang="en-US" sz="900" dirty="0"/>
          </a:p>
          <a:p>
            <a:pPr algn="just" fontAlgn="base"/>
            <a:r>
              <a:rPr lang="en-IN" sz="900" dirty="0">
                <a:hlinkClick r:id="rId22"/>
              </a:rPr>
              <a:t>Embedded C Programming Design Patterns: Essential design patterns for clean, maintainable and robust firmware development. eBook : Schröder, Martin: Amazon.in: Books</a:t>
            </a:r>
            <a:endParaRPr lang="en-IN" sz="900" dirty="0"/>
          </a:p>
          <a:p>
            <a:pPr algn="just" fontAlgn="base"/>
            <a:r>
              <a:rPr lang="en-IN" sz="900" dirty="0">
                <a:hlinkClick r:id="rId23"/>
              </a:rPr>
              <a:t>GitHub - </a:t>
            </a:r>
            <a:r>
              <a:rPr lang="en-IN" sz="900" dirty="0" err="1">
                <a:hlinkClick r:id="rId23"/>
              </a:rPr>
              <a:t>sundaygeek</a:t>
            </a:r>
            <a:r>
              <a:rPr lang="en-IN" sz="900" dirty="0">
                <a:hlinkClick r:id="rId23"/>
              </a:rPr>
              <a:t>/design-patterns-for-embedded-system-in-c: &lt;design-patterns-for-embedded-system-in-c&gt;</a:t>
            </a:r>
            <a:endParaRPr lang="en-IN" sz="900" dirty="0"/>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600" kern="0" spc="-220" dirty="0">
                <a:solidFill>
                  <a:schemeClr val="accent2"/>
                </a:solidFill>
              </a:rPr>
              <a:t>Assigning a Thread to a specific core – </a:t>
            </a:r>
          </a:p>
          <a:p>
            <a:pPr algn="just" fontAlgn="base"/>
            <a:r>
              <a:rPr lang="en-US" sz="1500" dirty="0" err="1">
                <a:hlinkClick r:id="rId7"/>
              </a:rPr>
              <a:t>c#</a:t>
            </a:r>
            <a:r>
              <a:rPr lang="en-US" sz="1500" dirty="0">
                <a:hlinkClick r:id="rId7"/>
              </a:rPr>
              <a:t> - How can I set processor affinity to a thread or a Task in .NET? - Stack Overflow</a:t>
            </a:r>
            <a:endParaRPr lang="en-US" sz="1500" dirty="0"/>
          </a:p>
          <a:p>
            <a:pPr algn="just" fontAlgn="base"/>
            <a:r>
              <a:rPr lang="en-US" sz="1600" kern="0" spc="-220" dirty="0" err="1">
                <a:solidFill>
                  <a:schemeClr val="accent2"/>
                </a:solidFill>
              </a:rPr>
              <a:t>MultiCore_Locking_constructs</a:t>
            </a:r>
            <a:r>
              <a:rPr lang="en-US" sz="1600" kern="0" spc="-220" dirty="0">
                <a:solidFill>
                  <a:schemeClr val="accent2"/>
                </a:solidFill>
              </a:rPr>
              <a:t>– </a:t>
            </a:r>
            <a:r>
              <a:rPr lang="en-US" sz="1500" dirty="0">
                <a:hlinkClick r:id="rId8"/>
              </a:rPr>
              <a:t>Threading in C# - Part 5 - Parallel Programming</a:t>
            </a:r>
            <a:endParaRPr lang="en-US" sz="1500" kern="0" spc="-220" dirty="0">
              <a:solidFill>
                <a:schemeClr val="accent2"/>
              </a:solidFill>
            </a:endParaRPr>
          </a:p>
          <a:p>
            <a:pPr algn="just" fontAlgn="base"/>
            <a:r>
              <a:rPr lang="en-US" sz="1600" kern="0" spc="-220" dirty="0">
                <a:solidFill>
                  <a:schemeClr val="accent2"/>
                </a:solidFill>
              </a:rPr>
              <a:t>Some usual Parallel constructs – </a:t>
            </a:r>
          </a:p>
          <a:p>
            <a:pPr algn="just" fontAlgn="base"/>
            <a:r>
              <a:rPr lang="en-US" sz="1600" kern="0" spc="-220" dirty="0" err="1">
                <a:solidFill>
                  <a:schemeClr val="accent6"/>
                </a:solidFill>
              </a:rPr>
              <a:t>Parallel.Invoke</a:t>
            </a:r>
            <a:r>
              <a:rPr lang="en-US" sz="1600" kern="0" spc="-220" dirty="0">
                <a:solidFill>
                  <a:schemeClr val="accent6"/>
                </a:solidFill>
              </a:rPr>
              <a:t> –  </a:t>
            </a:r>
            <a:r>
              <a:rPr lang="en-US" sz="1600" kern="0" spc="-220" dirty="0">
                <a:solidFill>
                  <a:schemeClr val="tx2">
                    <a:lumMod val="60000"/>
                    <a:lumOff val="40000"/>
                  </a:schemeClr>
                </a:solidFill>
              </a:rPr>
              <a:t>equivalent to </a:t>
            </a:r>
            <a:r>
              <a:rPr lang="en-US" sz="1600" kern="0" spc="-220" dirty="0" err="1">
                <a:solidFill>
                  <a:schemeClr val="tx2">
                    <a:lumMod val="60000"/>
                    <a:lumOff val="40000"/>
                  </a:schemeClr>
                </a:solidFill>
              </a:rPr>
              <a:t>Task.WhenAll</a:t>
            </a:r>
            <a:r>
              <a:rPr lang="en-US" sz="16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but for this if you want to use multiple cores optimally, you will have to build some wrapper over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using the above 2 links/resources(Processor Affinity based Thread [&amp;  </a:t>
            </a:r>
            <a:r>
              <a:rPr lang="en-US" sz="1600" kern="0" spc="-220" dirty="0" err="1">
                <a:solidFill>
                  <a:schemeClr val="tx2">
                    <a:lumMod val="60000"/>
                    <a:lumOff val="40000"/>
                  </a:schemeClr>
                </a:solidFill>
              </a:rPr>
              <a:t>SpinWait</a:t>
            </a:r>
            <a:r>
              <a:rPr lang="en-US" sz="1600" kern="0" spc="-220" dirty="0">
                <a:solidFill>
                  <a:schemeClr val="tx2">
                    <a:lumMod val="60000"/>
                    <a:lumOff val="40000"/>
                  </a:schemeClr>
                </a:solidFill>
              </a:rPr>
              <a:t>]). For Sequential API calls better to use </a:t>
            </a:r>
            <a:r>
              <a:rPr lang="en-US" sz="1600" kern="0" spc="-220" dirty="0" err="1">
                <a:solidFill>
                  <a:schemeClr val="tx2">
                    <a:lumMod val="60000"/>
                    <a:lumOff val="40000"/>
                  </a:schemeClr>
                </a:solidFill>
              </a:rPr>
              <a:t>Task.ContinueWith</a:t>
            </a:r>
            <a:r>
              <a:rPr lang="en-US" sz="1600" kern="0" spc="-220" dirty="0">
                <a:solidFill>
                  <a:schemeClr val="tx2">
                    <a:lumMod val="60000"/>
                    <a:lumOff val="40000"/>
                  </a:schemeClr>
                </a:solidFill>
              </a:rPr>
              <a:t> for better readability. </a:t>
            </a:r>
          </a:p>
          <a:p>
            <a:pPr algn="just" fontAlgn="base"/>
            <a:r>
              <a:rPr lang="en-US" sz="1600" kern="0" spc="-220" dirty="0" err="1">
                <a:solidFill>
                  <a:schemeClr val="accent6"/>
                </a:solidFill>
              </a:rPr>
              <a:t>Parallel.For</a:t>
            </a:r>
            <a:endParaRPr lang="en-US" sz="1600" kern="0" spc="-220" dirty="0">
              <a:solidFill>
                <a:schemeClr val="accent6"/>
              </a:solidFill>
            </a:endParaRPr>
          </a:p>
          <a:p>
            <a:pPr algn="just" fontAlgn="base"/>
            <a:r>
              <a:rPr lang="en-US" sz="1600" kern="0" spc="-220" dirty="0" err="1">
                <a:solidFill>
                  <a:schemeClr val="accent6"/>
                </a:solidFill>
              </a:rPr>
              <a:t>Parallel.ForEach</a:t>
            </a:r>
            <a:endParaRPr lang="en-US" sz="1600" kern="0" spc="-220" dirty="0">
              <a:solidFill>
                <a:schemeClr val="accent6"/>
              </a:solidFill>
            </a:endParaRPr>
          </a:p>
          <a:p>
            <a:pPr algn="just" fontAlgn="base"/>
            <a:r>
              <a:rPr lang="en-US" sz="1600" kern="0" spc="-220" dirty="0">
                <a:solidFill>
                  <a:schemeClr val="accent6">
                    <a:lumMod val="75000"/>
                  </a:schemeClr>
                </a:solidFill>
              </a:rPr>
              <a:t>Parallel Constructs can be used to fire calls to multiple APIs or  DB Tables or any external resource for single or multiple(Bulk/Batch) items in each API or DB or some other external call.</a:t>
            </a:r>
          </a:p>
          <a:p>
            <a:pPr algn="just" fontAlgn="base"/>
            <a:r>
              <a:rPr lang="en-US" sz="1500" dirty="0">
                <a:hlinkClick r:id="rId9"/>
              </a:rPr>
              <a:t>Threading in C# - Part 5 - Parallel Programming</a:t>
            </a:r>
            <a:endParaRPr lang="en-US" sz="1500" dirty="0"/>
          </a:p>
          <a:p>
            <a:pPr algn="just" fontAlgn="base"/>
            <a:endParaRPr lang="en-US" sz="1600" kern="0" spc="-220" dirty="0">
              <a:solidFill>
                <a:schemeClr val="accent6"/>
              </a:solidFill>
            </a:endParaRPr>
          </a:p>
          <a:p>
            <a:pPr algn="just" fontAlgn="base"/>
            <a:r>
              <a:rPr lang="en-US" sz="1600" kern="0" spc="-220" dirty="0" err="1">
                <a:solidFill>
                  <a:schemeClr val="accent2"/>
                </a:solidFill>
              </a:rPr>
              <a:t>Plinq</a:t>
            </a:r>
            <a:r>
              <a:rPr lang="en-US" sz="1600" kern="0" spc="-220" dirty="0">
                <a:solidFill>
                  <a:schemeClr val="accent2"/>
                </a:solidFill>
              </a:rPr>
              <a:t> – </a:t>
            </a:r>
          </a:p>
          <a:p>
            <a:pPr algn="just" fontAlgn="base"/>
            <a:r>
              <a:rPr lang="en-US" sz="1600" kern="0" spc="-220" dirty="0" err="1">
                <a:solidFill>
                  <a:schemeClr val="accent6"/>
                </a:solidFill>
              </a:rPr>
              <a:t>AsParallel</a:t>
            </a:r>
            <a:r>
              <a:rPr lang="en-US" sz="1600" kern="0" spc="-220" dirty="0">
                <a:solidFill>
                  <a:schemeClr val="accent6"/>
                </a:solidFill>
              </a:rPr>
              <a:t> is applicable only on </a:t>
            </a:r>
            <a:r>
              <a:rPr lang="en-US" sz="1600" kern="0" spc="-220" dirty="0" err="1">
                <a:solidFill>
                  <a:schemeClr val="accent6"/>
                </a:solidFill>
              </a:rPr>
              <a:t>IEnumerable</a:t>
            </a:r>
            <a:r>
              <a:rPr lang="en-US" sz="1600" kern="0" spc="-220" dirty="0">
                <a:solidFill>
                  <a:schemeClr val="accent6"/>
                </a:solidFill>
              </a:rPr>
              <a:t> and not </a:t>
            </a:r>
            <a:r>
              <a:rPr lang="en-US" sz="1600" kern="0" spc="-220" dirty="0" err="1">
                <a:solidFill>
                  <a:schemeClr val="accent6"/>
                </a:solidFill>
              </a:rPr>
              <a:t>IQueryable</a:t>
            </a:r>
            <a:r>
              <a:rPr lang="en-US" sz="1600" kern="0" spc="-220" dirty="0">
                <a:solidFill>
                  <a:schemeClr val="accent6"/>
                </a:solidFill>
              </a:rPr>
              <a:t>.</a:t>
            </a:r>
          </a:p>
          <a:p>
            <a:pPr algn="just" fontAlgn="base"/>
            <a:r>
              <a:rPr lang="en-US" sz="1500" dirty="0">
                <a:hlinkClick r:id="rId10"/>
              </a:rPr>
              <a:t>Threading in C# - Part 5 - Parallel Programming</a:t>
            </a:r>
            <a:endParaRPr lang="en-US" sz="1500" kern="0" spc="-220" dirty="0">
              <a:solidFill>
                <a:schemeClr val="accent6"/>
              </a:solidFill>
            </a:endParaRP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51552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1500" dirty="0">
                <a:hlinkClick r:id="rId7"/>
              </a:rPr>
              <a:t>Threading in C# - Part 5 - Parallel Programming</a:t>
            </a:r>
            <a:endParaRPr lang="en-US" sz="1500" dirty="0"/>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1500" dirty="0" err="1">
                <a:hlinkClick r:id="rId8"/>
              </a:rPr>
              <a:t>c#</a:t>
            </a:r>
            <a:r>
              <a:rPr lang="en-US" sz="1500" dirty="0">
                <a:hlinkClick r:id="rId8"/>
              </a:rPr>
              <a:t> - When immutable collections are preferable than concurrent - Stack Overflow</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a:t>
            </a:r>
          </a:p>
          <a:p>
            <a:pPr algn="just" fontAlgn="base"/>
            <a:r>
              <a:rPr lang="en-US" sz="1200" dirty="0">
                <a:hlinkClick r:id="rId9"/>
              </a:rPr>
              <a:t>GitHub - </a:t>
            </a:r>
            <a:r>
              <a:rPr lang="en-US" sz="1200" dirty="0" err="1">
                <a:hlinkClick r:id="rId9"/>
              </a:rPr>
              <a:t>PacktPublishing</a:t>
            </a:r>
            <a:r>
              <a:rPr lang="en-US" sz="1200" dirty="0">
                <a:hlinkClick r:id="rId9"/>
              </a:rPr>
              <a:t>/Hands-On-Parallel-Programming-with-C-8-and-.NET-Core-3</a:t>
            </a:r>
            <a:endParaRPr lang="en-US" sz="1200" dirty="0"/>
          </a:p>
          <a:p>
            <a:pPr algn="just" fontAlgn="base"/>
            <a:r>
              <a:rPr lang="en-US" sz="1200" dirty="0">
                <a:hlinkClick r:id="rId10"/>
              </a:rPr>
              <a:t>GitHub - </a:t>
            </a:r>
            <a:r>
              <a:rPr lang="en-US" sz="1200" dirty="0" err="1">
                <a:hlinkClick r:id="rId10"/>
              </a:rPr>
              <a:t>PacktPublishing</a:t>
            </a:r>
            <a:r>
              <a:rPr lang="en-US" sz="1200" dirty="0">
                <a:hlinkClick r:id="rId10"/>
              </a:rPr>
              <a:t>/Parallel-Programming-and-Concurrency-with-C-sharp-10-and-.NET-6</a:t>
            </a:r>
            <a:endParaRPr lang="en-US" sz="1200" dirty="0"/>
          </a:p>
          <a:p>
            <a:pPr algn="just" fontAlgn="base"/>
            <a:r>
              <a:rPr lang="en-US" sz="1200" dirty="0" err="1">
                <a:hlinkClick r:id="rId11"/>
              </a:rPr>
              <a:t>c#</a:t>
            </a:r>
            <a:r>
              <a:rPr lang="en-US" sz="1200" dirty="0">
                <a:hlinkClick r:id="rId11"/>
              </a:rPr>
              <a:t> - How do I spawn threads on different CPU cores? - Stack Overflow</a:t>
            </a:r>
            <a:endParaRPr lang="en-US" sz="1200" dirty="0"/>
          </a:p>
          <a:p>
            <a:pPr algn="just" fontAlgn="base"/>
            <a:r>
              <a:rPr lang="en-US" sz="1200" dirty="0" err="1">
                <a:hlinkClick r:id="rId12"/>
              </a:rPr>
              <a:t>c#</a:t>
            </a:r>
            <a:r>
              <a:rPr lang="en-US" sz="1200" dirty="0">
                <a:hlinkClick r:id="rId12"/>
              </a:rPr>
              <a:t> - Can you force </a:t>
            </a:r>
            <a:r>
              <a:rPr lang="en-US" sz="1200" dirty="0" err="1">
                <a:hlinkClick r:id="rId12"/>
              </a:rPr>
              <a:t>Parallel.Invoke</a:t>
            </a:r>
            <a:r>
              <a:rPr lang="en-US" sz="1200" dirty="0">
                <a:hlinkClick r:id="rId12"/>
              </a:rPr>
              <a:t> to use multiple threads? - Stack Overflow</a:t>
            </a:r>
            <a:endParaRPr lang="en-US" sz="1200" dirty="0"/>
          </a:p>
          <a:p>
            <a:pPr algn="just" fontAlgn="base"/>
            <a:r>
              <a:rPr lang="en-US" sz="1200" dirty="0" err="1">
                <a:hlinkClick r:id="rId13"/>
              </a:rPr>
              <a:t>c#</a:t>
            </a:r>
            <a:r>
              <a:rPr lang="en-US" sz="1200" dirty="0">
                <a:hlinkClick r:id="rId13"/>
              </a:rPr>
              <a:t> - How to set maximum concurrent threads using Task - Stack Overflow</a:t>
            </a:r>
            <a:endParaRPr lang="en-US" sz="1200" dirty="0"/>
          </a:p>
          <a:p>
            <a:pPr algn="just" fontAlgn="base"/>
            <a:r>
              <a:rPr lang="en-US" sz="1200" dirty="0">
                <a:hlinkClick r:id="rId14"/>
              </a:rPr>
              <a:t>Limiting concurrency for faster and more responsive apps - Developer Support</a:t>
            </a:r>
            <a:endParaRPr lang="en-US" sz="1200" dirty="0"/>
          </a:p>
          <a:p>
            <a:pPr algn="just" fontAlgn="base"/>
            <a:r>
              <a:rPr lang="en-US" sz="1200" dirty="0" err="1">
                <a:hlinkClick r:id="rId15"/>
              </a:rPr>
              <a:t>c#</a:t>
            </a:r>
            <a:r>
              <a:rPr lang="en-US" sz="1200" dirty="0">
                <a:hlinkClick r:id="rId15"/>
              </a:rPr>
              <a:t> - Limited concurrency </a:t>
            </a:r>
            <a:r>
              <a:rPr lang="en-US" sz="1200" dirty="0" err="1">
                <a:hlinkClick r:id="rId15"/>
              </a:rPr>
              <a:t>TaskScheduler</a:t>
            </a:r>
            <a:r>
              <a:rPr lang="en-US" sz="1200" dirty="0">
                <a:hlinkClick r:id="rId15"/>
              </a:rPr>
              <a:t> that can interleave tasks to be explicitly ordered - Stack Overflow</a:t>
            </a:r>
            <a:endParaRPr lang="en-US" sz="1200" dirty="0"/>
          </a:p>
          <a:p>
            <a:pPr algn="just" fontAlgn="base"/>
            <a:r>
              <a:rPr lang="en-IN" sz="1200" dirty="0">
                <a:hlinkClick r:id="rId16"/>
              </a:rPr>
              <a:t>A Tour of </a:t>
            </a:r>
            <a:r>
              <a:rPr lang="en-IN" sz="1200" dirty="0" err="1">
                <a:hlinkClick r:id="rId16"/>
              </a:rPr>
              <a:t>ParallelExtensionsExtras</a:t>
            </a:r>
            <a:r>
              <a:rPr lang="en-IN" sz="1200" dirty="0">
                <a:hlinkClick r:id="rId16"/>
              </a:rPr>
              <a:t> - .NET Parallel Programming</a:t>
            </a:r>
            <a:endParaRPr lang="en-IN" sz="1200" dirty="0"/>
          </a:p>
          <a:p>
            <a:pPr algn="just" fontAlgn="base"/>
            <a:r>
              <a:rPr lang="en-IN" sz="1200" dirty="0">
                <a:hlinkClick r:id="rId17"/>
              </a:rPr>
              <a:t>GitHub - </a:t>
            </a:r>
            <a:r>
              <a:rPr lang="en-IN" sz="1200" dirty="0" err="1">
                <a:hlinkClick r:id="rId17"/>
              </a:rPr>
              <a:t>ChadBurggraf</a:t>
            </a:r>
            <a:r>
              <a:rPr lang="en-IN" sz="1200" dirty="0">
                <a:hlinkClick r:id="rId17"/>
              </a:rPr>
              <a:t>/parallel-extensions-extras</a:t>
            </a:r>
            <a:endParaRPr lang="en-IN" sz="1200" dirty="0"/>
          </a:p>
          <a:p>
            <a:pPr algn="just" fontAlgn="base"/>
            <a:r>
              <a:rPr lang="en-US" sz="1200" dirty="0">
                <a:hlinkClick r:id="rId18"/>
              </a:rPr>
              <a:t>For Further Reading (Parallel Programming) - .NET | Microsoft Learn</a:t>
            </a:r>
            <a:endParaRPr lang="en-US" sz="1200" dirty="0"/>
          </a:p>
          <a:p>
            <a:pPr algn="just" fontAlgn="base"/>
            <a:r>
              <a:rPr lang="en-IN" sz="1200" dirty="0">
                <a:hlinkClick r:id="rId19"/>
              </a:rPr>
              <a:t>GitHub - </a:t>
            </a:r>
            <a:r>
              <a:rPr lang="en-IN" sz="1200" dirty="0" err="1">
                <a:hlinkClick r:id="rId19"/>
              </a:rPr>
              <a:t>rikace</a:t>
            </a:r>
            <a:r>
              <a:rPr lang="en-IN" sz="1200" dirty="0">
                <a:hlinkClick r:id="rId19"/>
              </a:rPr>
              <a:t>/parallel-patterns</a:t>
            </a:r>
            <a:endParaRPr lang="en-IN" sz="1200" dirty="0"/>
          </a:p>
          <a:p>
            <a:pPr algn="just" fontAlgn="base"/>
            <a:r>
              <a:rPr lang="en-IN" sz="1200" dirty="0">
                <a:hlinkClick r:id="rId20"/>
              </a:rPr>
              <a:t>Patterns for Parallel Programming[Book]</a:t>
            </a:r>
            <a:endParaRPr lang="en-IN" sz="1200" dirty="0"/>
          </a:p>
          <a:p>
            <a:pPr algn="just" fontAlgn="base"/>
            <a:r>
              <a:rPr lang="en-US" sz="1200" dirty="0">
                <a:hlinkClick r:id="rId21"/>
              </a:rPr>
              <a:t>Build Your Own RealTime OS (RTOS) From Ground Up™ on ARM 1 | Udemy</a:t>
            </a:r>
            <a:endParaRPr lang="en-US" sz="1200" dirty="0"/>
          </a:p>
          <a:p>
            <a:pPr algn="just" fontAlgn="base"/>
            <a:r>
              <a:rPr lang="en-US" sz="1200" dirty="0">
                <a:hlinkClick r:id="rId22"/>
              </a:rPr>
              <a:t>Build Your Own RealTime OS (RTOS) From Ground Up™ on ARM 2 | Udemy</a:t>
            </a:r>
            <a:endParaRPr lang="en-US" sz="1200" dirty="0"/>
          </a:p>
          <a:p>
            <a:pPr algn="just" fontAlgn="base"/>
            <a:r>
              <a:rPr lang="en-IN" sz="1200" dirty="0">
                <a:hlinkClick r:id="rId23"/>
              </a:rPr>
              <a:t>"DIY RTOS Made Easy: Mastering Microcontrollers " | Udemy</a:t>
            </a:r>
            <a:endParaRPr lang="en-US" sz="12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Async Programming Best Practices -  </a:t>
            </a:r>
          </a:p>
          <a:p>
            <a:pPr algn="l"/>
            <a:r>
              <a:rPr lang="en-US" sz="1500" dirty="0">
                <a:hlinkClick r:id="rId7"/>
              </a:rPr>
              <a:t>Async/Await - Best Practices in Asynchronous Programming | Microsoft Learn</a:t>
            </a:r>
            <a:endParaRPr lang="en-US" sz="1500" kern="0" spc="-220" dirty="0">
              <a:solidFill>
                <a:schemeClr val="accent6"/>
              </a:solidFill>
            </a:endParaRPr>
          </a:p>
          <a:p>
            <a:pPr algn="l"/>
            <a:r>
              <a:rPr lang="en-IN" sz="1500" dirty="0">
                <a:hlinkClick r:id="rId8"/>
              </a:rPr>
              <a:t>Patterns &amp; Practices for efficiently handling C# async/await cancel processing and timeouts | by Yoshifumi Kawai | Medium</a:t>
            </a:r>
            <a:endParaRPr lang="en-US" sz="1500" kern="0" spc="-220" dirty="0">
              <a:solidFill>
                <a:schemeClr val="accent6"/>
              </a:solidFill>
            </a:endParaRP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Advantages -</a:t>
            </a:r>
            <a:r>
              <a:rPr lang="en-US" sz="1800" kern="0" spc="-220" dirty="0">
                <a:solidFill>
                  <a:schemeClr val="accent6"/>
                </a:solidFill>
              </a:rPr>
              <a:t>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Custom </a:t>
            </a:r>
            <a:r>
              <a:rPr lang="en-US" sz="1800" kern="0" spc="-220" dirty="0" err="1">
                <a:solidFill>
                  <a:schemeClr val="accent2"/>
                </a:solidFill>
              </a:rPr>
              <a:t>Awaitables</a:t>
            </a:r>
            <a:r>
              <a:rPr lang="en-US" sz="1800" kern="0" spc="-220" dirty="0">
                <a:solidFill>
                  <a:schemeClr val="accent2"/>
                </a:solidFill>
              </a:rPr>
              <a:t> -</a:t>
            </a:r>
            <a:r>
              <a:rPr lang="en-US" sz="1800" kern="0" spc="-220" dirty="0">
                <a:solidFill>
                  <a:schemeClr val="accent6"/>
                </a:solidFill>
              </a:rPr>
              <a:t>  </a:t>
            </a:r>
          </a:p>
          <a:p>
            <a:pPr algn="l"/>
            <a:r>
              <a:rPr lang="en-US" sz="1500" dirty="0">
                <a:hlinkClick r:id="rId9"/>
              </a:rPr>
              <a:t>await anything; - .NET Parallel Programming</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26873" y="3462783"/>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2"/>
                </a:solidFill>
              </a:rPr>
              <a:t>Asynchronous Patterns -  </a:t>
            </a:r>
          </a:p>
          <a:p>
            <a:pPr algn="l"/>
            <a:r>
              <a:rPr lang="en-IN" sz="1500" dirty="0">
                <a:hlinkClick r:id="rId10"/>
              </a:rPr>
              <a:t>Asynchronous programming patterns - .NET | Microsoft Learn</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500" dirty="0">
                <a:hlinkClick r:id="rId11"/>
              </a:rPr>
              <a:t>Async in C# 5.0[Book]</a:t>
            </a:r>
            <a:endParaRPr lang="en-US" sz="1500" dirty="0"/>
          </a:p>
          <a:p>
            <a:pPr algn="l"/>
            <a:r>
              <a:rPr lang="en-US" sz="1500" dirty="0" err="1">
                <a:hlinkClick r:id="rId12"/>
              </a:rPr>
              <a:t>Parallel.ForEachAsync</a:t>
            </a:r>
            <a:r>
              <a:rPr lang="en-US" sz="1500" dirty="0">
                <a:hlinkClick r:id="rId12"/>
              </a:rPr>
              <a:t>() and </a:t>
            </a:r>
            <a:r>
              <a:rPr lang="en-US" sz="1500" dirty="0" err="1">
                <a:hlinkClick r:id="rId12"/>
              </a:rPr>
              <a:t>Task.Run</a:t>
            </a:r>
            <a:r>
              <a:rPr lang="en-US" sz="1500" dirty="0">
                <a:hlinkClick r:id="rId12"/>
              </a:rPr>
              <a:t>() With </a:t>
            </a:r>
            <a:r>
              <a:rPr lang="en-US" sz="1500" dirty="0" err="1">
                <a:hlinkClick r:id="rId12"/>
              </a:rPr>
              <a:t>When.All</a:t>
            </a:r>
            <a:r>
              <a:rPr lang="en-US" sz="1500" dirty="0">
                <a:hlinkClick r:id="rId12"/>
              </a:rPr>
              <a:t> in C# - Code Maze</a:t>
            </a:r>
            <a:endParaRPr lang="en-US" sz="1500" kern="0" spc="-220" dirty="0">
              <a:solidFill>
                <a:schemeClr val="accent6"/>
              </a:solidFill>
            </a:endParaRP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300" kern="0" spc="-220" dirty="0">
                <a:solidFill>
                  <a:schemeClr val="accent2"/>
                </a:solidFill>
              </a:rPr>
              <a:t> Why/When do you need Stream(s) </a:t>
            </a:r>
            <a:r>
              <a:rPr lang="en-US" sz="2300" kern="0" spc="-220" dirty="0">
                <a:solidFill>
                  <a:schemeClr val="accent6"/>
                </a:solidFill>
              </a:rPr>
              <a:t>–</a:t>
            </a:r>
          </a:p>
          <a:p>
            <a:r>
              <a:rPr lang="en-US" sz="2250" kern="0" spc="-220" dirty="0">
                <a:solidFill>
                  <a:schemeClr val="accent6"/>
                </a:solidFill>
              </a:rPr>
              <a:t>Say you want to transfer a large file array/list/object from one server to another but your intermediate server(which will get the data from source &amp; process it &amp; then transfer &amp; store to destination) has  RAM(/memory) limitations &amp; the large array/list/file/object needs to be processed &amp; so only option left is to then divide the large array/list/file/object into chunks &amp; then it can be a stream of chunks which is in general easier to be processed. </a:t>
            </a:r>
            <a:r>
              <a:rPr lang="en-US" sz="2250" kern="0" spc="-220" dirty="0">
                <a:solidFill>
                  <a:schemeClr val="accent1"/>
                </a:solidFill>
              </a:rPr>
              <a:t>The chunk in general is in the form of byte(s) &amp; can be a single byte or a block of byte(s)(although chunks can be some text[character or string], XML, JSON </a:t>
            </a:r>
            <a:r>
              <a:rPr lang="en-US" sz="2250" kern="0" spc="-220" dirty="0" err="1">
                <a:solidFill>
                  <a:schemeClr val="accent1"/>
                </a:solidFill>
              </a:rPr>
              <a:t>etc</a:t>
            </a:r>
            <a:r>
              <a:rPr lang="en-US" sz="2250" kern="0" spc="-220" dirty="0">
                <a:solidFill>
                  <a:schemeClr val="accent1"/>
                </a:solidFill>
              </a:rPr>
              <a:t> as well).Streaming is a real good technique to solve such problems.</a:t>
            </a:r>
          </a:p>
          <a:p>
            <a:pPr algn="l"/>
            <a:r>
              <a:rPr lang="en-US" sz="225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500" dirty="0" err="1">
                <a:hlinkClick r:id="rId8"/>
              </a:rPr>
              <a:t>c#</a:t>
            </a:r>
            <a:r>
              <a:rPr lang="en-US" sz="1500" dirty="0">
                <a:hlinkClick r:id="rId8"/>
              </a:rPr>
              <a:t> - </a:t>
            </a:r>
            <a:r>
              <a:rPr lang="en-US" sz="1500" dirty="0" err="1">
                <a:hlinkClick r:id="rId8"/>
              </a:rPr>
              <a:t>Stream.Seek</a:t>
            </a:r>
            <a:r>
              <a:rPr lang="en-US" sz="1500" dirty="0">
                <a:hlinkClick r:id="rId8"/>
              </a:rPr>
              <a:t>(0, </a:t>
            </a:r>
            <a:r>
              <a:rPr lang="en-US" sz="1500" dirty="0" err="1">
                <a:hlinkClick r:id="rId8"/>
              </a:rPr>
              <a:t>SeekOrigin.Begin</a:t>
            </a:r>
            <a:r>
              <a:rPr lang="en-US" sz="1500" dirty="0">
                <a:hlinkClick r:id="rId8"/>
              </a:rPr>
              <a:t>) or Position = 0 - Stack Overflow</a:t>
            </a:r>
            <a:endParaRPr lang="en-US" sz="1500" dirty="0"/>
          </a:p>
          <a:p>
            <a:pPr algn="l"/>
            <a:r>
              <a:rPr lang="en-IN" sz="1500" dirty="0" err="1">
                <a:hlinkClick r:id="rId9"/>
              </a:rPr>
              <a:t>StreamReader.Peek</a:t>
            </a:r>
            <a:r>
              <a:rPr lang="en-IN" sz="1500" dirty="0">
                <a:hlinkClick r:id="rId9"/>
              </a:rPr>
              <a:t> Method (System.IO) | Microsoft Learn</a:t>
            </a:r>
            <a:endParaRPr lang="en-US" sz="1500" kern="0" spc="-220" dirty="0">
              <a:solidFill>
                <a:schemeClr val="accent2"/>
              </a:solidFill>
            </a:endParaRP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Anonymous Pipes Made Easy- </a:t>
            </a:r>
            <a:r>
              <a:rPr lang="en-US" sz="1500" dirty="0" err="1">
                <a:hlinkClick r:id="rId8"/>
              </a:rPr>
              <a:t>CodeProject</a:t>
            </a:r>
            <a:endParaRPr lang="en-US" sz="1500" kern="0" spc="-220" dirty="0">
              <a:solidFill>
                <a:schemeClr val="accent2"/>
              </a:solidFill>
            </a:endParaRP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1695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300" dirty="0">
                <a:hlinkClick r:id="rId8"/>
              </a:rPr>
              <a:t>Reading large text files with streams in C# - Stack Overflow</a:t>
            </a:r>
            <a:endParaRPr lang="en-US" sz="1300" dirty="0"/>
          </a:p>
          <a:p>
            <a:pPr algn="l"/>
            <a:r>
              <a:rPr lang="en-IN" sz="1300" dirty="0">
                <a:hlinkClick r:id="rId9"/>
              </a:rPr>
              <a:t>System.IO Namespace | Microsoft Learn</a:t>
            </a:r>
            <a:endParaRPr lang="en-IN" sz="1300" dirty="0"/>
          </a:p>
          <a:p>
            <a:pPr algn="l"/>
            <a:r>
              <a:rPr lang="en-IN" sz="1300" dirty="0" err="1">
                <a:hlinkClick r:id="rId10"/>
              </a:rPr>
              <a:t>Environment.SpecialFolder</a:t>
            </a:r>
            <a:r>
              <a:rPr lang="en-IN" sz="1300" dirty="0">
                <a:hlinkClick r:id="rId10"/>
              </a:rPr>
              <a:t> Enum (System) | Microsoft Learn</a:t>
            </a:r>
            <a:endParaRPr lang="en-IN" sz="1300" dirty="0"/>
          </a:p>
          <a:p>
            <a:pPr algn="l"/>
            <a:r>
              <a:rPr lang="en-US" sz="1300" dirty="0">
                <a:hlinkClick r:id="rId11"/>
              </a:rPr>
              <a:t>Memory-Mapped Files - .NET | Microsoft Learn</a:t>
            </a:r>
            <a:endParaRPr lang="en-US" sz="1300" kern="0" spc="-220" dirty="0">
              <a:solidFill>
                <a:schemeClr val="accent2"/>
              </a:solidFill>
            </a:endParaRP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In the OSI layers, in what format would the data or message be in each layer? - Quora</a:t>
            </a:r>
            <a:endParaRPr lang="en-US" sz="1500" kern="0" spc="-220" dirty="0">
              <a:solidFill>
                <a:schemeClr val="accent2"/>
              </a:solidFill>
            </a:endParaRP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238254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038600"/>
            <a:ext cx="8624937" cy="19082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IN" sz="1000" dirty="0">
                <a:hlinkClick r:id="rId8"/>
              </a:rPr>
              <a:t>HTTP1 vs HTTP2 vs HTTP3 - A Deep Dive</a:t>
            </a:r>
            <a:endParaRPr lang="en-US" sz="1000" kern="0" spc="-220" dirty="0">
              <a:solidFill>
                <a:schemeClr val="accent2"/>
              </a:solidFill>
            </a:endParaRPr>
          </a:p>
          <a:p>
            <a:pPr algn="l"/>
            <a:r>
              <a:rPr lang="en-IN" sz="1000" dirty="0">
                <a:hlinkClick r:id="rId9"/>
              </a:rPr>
              <a:t>TCP vs UDP | LinkedIn</a:t>
            </a:r>
            <a:endParaRPr lang="en-IN" sz="1000" dirty="0"/>
          </a:p>
          <a:p>
            <a:pPr algn="l"/>
            <a:r>
              <a:rPr lang="pt-BR" sz="1000" dirty="0">
                <a:hlinkClick r:id="rId10"/>
              </a:rPr>
              <a:t>Reliable User Datagram Protocol – Wikipedia</a:t>
            </a:r>
            <a:endParaRPr lang="pt-BR" sz="1000" dirty="0"/>
          </a:p>
          <a:p>
            <a:pPr algn="l"/>
            <a:r>
              <a:rPr lang="en-US" sz="1000" dirty="0">
                <a:hlinkClick r:id="rId11"/>
              </a:rPr>
              <a:t>sockets - What do you use when you need reliable UDP? - Stack Overflow</a:t>
            </a:r>
            <a:endParaRPr lang="en-IN" sz="1000" dirty="0"/>
          </a:p>
          <a:p>
            <a:pPr algn="l"/>
            <a:r>
              <a:rPr lang="en-US" sz="1000" dirty="0">
                <a:hlinkClick r:id="rId12"/>
              </a:rPr>
              <a:t>GitHub - </a:t>
            </a:r>
            <a:r>
              <a:rPr lang="en-US" sz="1000" dirty="0" err="1">
                <a:hlinkClick r:id="rId12"/>
              </a:rPr>
              <a:t>VasanthVanan</a:t>
            </a:r>
            <a:r>
              <a:rPr lang="en-US" sz="1000" dirty="0">
                <a:hlinkClick r:id="rId12"/>
              </a:rPr>
              <a:t>/computer-networking-top-down-approach-notes</a:t>
            </a:r>
            <a:endParaRPr lang="en-US" sz="1000" dirty="0"/>
          </a:p>
          <a:p>
            <a:pPr algn="l"/>
            <a:r>
              <a:rPr lang="en-US" sz="1000" dirty="0">
                <a:hlinkClick r:id="rId13"/>
              </a:rPr>
              <a:t>GitHub - </a:t>
            </a:r>
            <a:r>
              <a:rPr lang="en-US" sz="1000" dirty="0" err="1">
                <a:hlinkClick r:id="rId13"/>
              </a:rPr>
              <a:t>PacktPublishing</a:t>
            </a:r>
            <a:r>
              <a:rPr lang="en-US" sz="1000" dirty="0">
                <a:hlinkClick r:id="rId13"/>
              </a:rPr>
              <a:t>/Hands-On-Network-Programming-with-CSharp-and-.NET-Core</a:t>
            </a:r>
            <a:endParaRPr lang="en-US" sz="1000" dirty="0"/>
          </a:p>
          <a:p>
            <a:pPr algn="l"/>
            <a:r>
              <a:rPr lang="nl-NL" sz="1000" dirty="0">
                <a:hlinkClick r:id="rId14"/>
              </a:rPr>
              <a:t>Network programming in .NET - .NET | Microsoft Learn</a:t>
            </a:r>
            <a:endParaRPr lang="nl-NL" sz="1000" dirty="0"/>
          </a:p>
          <a:p>
            <a:pPr algn="l"/>
            <a:r>
              <a:rPr lang="en-US" sz="1000" dirty="0">
                <a:hlinkClick r:id="rId15"/>
              </a:rPr>
              <a:t>High Performance Browser Networking (O'Reilly)</a:t>
            </a:r>
            <a:endParaRPr lang="en-US" sz="1000" dirty="0"/>
          </a:p>
          <a:p>
            <a:pPr algn="l"/>
            <a:r>
              <a:rPr lang="en-US" sz="1000" dirty="0">
                <a:hlinkClick r:id="rId16"/>
              </a:rPr>
              <a:t>What Is Checksum? Guide to Learn Checksum | Simplilearn</a:t>
            </a:r>
            <a:endParaRPr lang="en-US" sz="1000" dirty="0"/>
          </a:p>
          <a:p>
            <a:pPr algn="l"/>
            <a:r>
              <a:rPr lang="en-IN" sz="1000" dirty="0">
                <a:hlinkClick r:id="rId17"/>
              </a:rPr>
              <a:t>debugging - Wireshark vs Firebug vs Fiddler - pros and cons? - Stack Overflow</a:t>
            </a:r>
            <a:endParaRPr lang="en-US" sz="1000" kern="0" spc="-220" dirty="0">
              <a:solidFill>
                <a:schemeClr val="accent2"/>
              </a:solidFill>
            </a:endParaRP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2"/>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23520" y="3716178"/>
            <a:ext cx="8624937" cy="24006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Some Reflection Use Cases –</a:t>
            </a:r>
            <a:r>
              <a:rPr lang="en-US" sz="2000" kern="0" spc="-220" dirty="0">
                <a:solidFill>
                  <a:schemeClr val="accent6"/>
                </a:solidFill>
              </a:rPr>
              <a:t> </a:t>
            </a:r>
          </a:p>
          <a:p>
            <a:pPr marL="457200" indent="-457200" algn="l">
              <a:buAutoNum type="arabicParenR"/>
            </a:pPr>
            <a:r>
              <a:rPr lang="en-US" sz="1700" kern="0" spc="-220" dirty="0">
                <a:solidFill>
                  <a:schemeClr val="accent6"/>
                </a:solidFill>
              </a:rPr>
              <a:t>To execute a private member(/get/set) of the class</a:t>
            </a:r>
          </a:p>
          <a:p>
            <a:pPr marL="457200" indent="-457200" algn="l">
              <a:buAutoNum type="arabicParenR"/>
            </a:pPr>
            <a:r>
              <a:rPr lang="en-US" sz="1700" kern="0" spc="-220" dirty="0">
                <a:solidFill>
                  <a:schemeClr val="accent6"/>
                </a:solidFill>
              </a:rPr>
              <a:t>Determining dependencies of an assembly </a:t>
            </a:r>
          </a:p>
          <a:p>
            <a:pPr marL="457200" indent="-457200" algn="l">
              <a:buAutoNum type="arabicParenR"/>
            </a:pPr>
            <a:r>
              <a:rPr lang="en-US" sz="17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700" kern="0" spc="-220" dirty="0">
                <a:solidFill>
                  <a:schemeClr val="accent6"/>
                </a:solidFill>
              </a:rPr>
              <a:t>Building Unit Testing, Mocking &amp; BDD Frameworks</a:t>
            </a:r>
          </a:p>
          <a:p>
            <a:pPr marL="457200" indent="-457200" algn="l">
              <a:buAutoNum type="arabicParenR"/>
            </a:pPr>
            <a:r>
              <a:rPr lang="en-US" sz="1700" kern="0" spc="-220" dirty="0">
                <a:solidFill>
                  <a:schemeClr val="accent6"/>
                </a:solidFill>
              </a:rPr>
              <a:t>Building Code Analysis Tools</a:t>
            </a:r>
          </a:p>
          <a:p>
            <a:pPr marL="457200" indent="-457200" algn="l">
              <a:buAutoNum type="arabicParenR"/>
            </a:pPr>
            <a:r>
              <a:rPr lang="en-US" sz="1700" kern="0" spc="-220" dirty="0">
                <a:solidFill>
                  <a:schemeClr val="accent6"/>
                </a:solidFill>
              </a:rPr>
              <a:t>Building </a:t>
            </a:r>
            <a:r>
              <a:rPr lang="en-US" sz="1700" kern="0" spc="-220" dirty="0" err="1">
                <a:solidFill>
                  <a:schemeClr val="accent6"/>
                </a:solidFill>
              </a:rPr>
              <a:t>AoP</a:t>
            </a:r>
            <a:r>
              <a:rPr lang="en-US" sz="1700" kern="0" spc="-220" dirty="0">
                <a:solidFill>
                  <a:schemeClr val="accent6"/>
                </a:solidFill>
              </a:rPr>
              <a:t> Frameworks</a:t>
            </a:r>
          </a:p>
          <a:p>
            <a:pPr algn="l"/>
            <a:r>
              <a:rPr lang="en-US" sz="17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Reflection Overview –</a:t>
            </a:r>
          </a:p>
          <a:p>
            <a:pPr algn="l"/>
            <a:r>
              <a:rPr lang="en-IN" sz="1500" dirty="0">
                <a:hlinkClick r:id="rId7"/>
              </a:rPr>
              <a:t>Reflection Overview | Microsoft Learn</a:t>
            </a:r>
            <a:endParaRPr lang="en-US" sz="1500" kern="0" spc="-220" dirty="0">
              <a:solidFill>
                <a:schemeClr val="accent6"/>
              </a:solidFill>
            </a:endParaRP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T4 Template – </a:t>
            </a:r>
          </a:p>
          <a:p>
            <a:pPr algn="l"/>
            <a:r>
              <a:rPr lang="en-IN" sz="1500" dirty="0">
                <a:hlinkClick r:id="rId7"/>
              </a:rPr>
              <a:t>T4 (Text Template Transformation Toolkit) Code Generation - Best Kept Visual Studio Secret - Scott Hanselman's Blog</a:t>
            </a:r>
            <a:endParaRPr lang="en-IN" sz="1500" dirty="0"/>
          </a:p>
          <a:p>
            <a:pPr algn="l"/>
            <a:r>
              <a:rPr lang="en-IN" sz="1500" dirty="0">
                <a:hlinkClick r:id="rId8"/>
              </a:rPr>
              <a:t>Free </a:t>
            </a:r>
            <a:r>
              <a:rPr lang="en-IN" sz="1500" dirty="0" err="1">
                <a:hlinkClick r:id="rId8"/>
              </a:rPr>
              <a:t>Ebook</a:t>
            </a:r>
            <a:r>
              <a:rPr lang="en-IN" sz="1500" dirty="0">
                <a:hlinkClick r:id="rId8"/>
              </a:rPr>
              <a:t> - T4 Succinctly</a:t>
            </a:r>
            <a:endParaRPr lang="en-US" sz="1500" kern="0" spc="-220" dirty="0">
              <a:solidFill>
                <a:schemeClr val="accent6"/>
              </a:solidFill>
            </a:endParaRP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CodeDom</a:t>
            </a:r>
            <a:r>
              <a:rPr lang="en-US" sz="2000" kern="0" spc="-220" dirty="0">
                <a:solidFill>
                  <a:schemeClr val="accent2"/>
                </a:solidFill>
              </a:rPr>
              <a:t> – </a:t>
            </a:r>
          </a:p>
          <a:p>
            <a:pPr algn="l"/>
            <a:r>
              <a:rPr lang="en-US" sz="1500" dirty="0" err="1">
                <a:hlinkClick r:id="rId9"/>
              </a:rPr>
              <a:t>CodeDOM</a:t>
            </a:r>
            <a:r>
              <a:rPr lang="en-US" sz="1500" dirty="0">
                <a:hlinkClick r:id="rId9"/>
              </a:rPr>
              <a:t> Go Kit: The </a:t>
            </a:r>
            <a:r>
              <a:rPr lang="en-US" sz="1500" dirty="0" err="1">
                <a:hlinkClick r:id="rId9"/>
              </a:rPr>
              <a:t>CodeDOM</a:t>
            </a:r>
            <a:r>
              <a:rPr lang="en-US" sz="1500" dirty="0">
                <a:hlinkClick r:id="rId9"/>
              </a:rPr>
              <a:t> is Dead, Long Live the </a:t>
            </a:r>
            <a:r>
              <a:rPr lang="en-US" sz="1500" dirty="0" err="1">
                <a:hlinkClick r:id="rId9"/>
              </a:rPr>
              <a:t>CodeDOM</a:t>
            </a:r>
            <a:r>
              <a:rPr lang="en-US" sz="1500" dirty="0">
                <a:hlinkClick r:id="rId9"/>
              </a:rPr>
              <a:t>- </a:t>
            </a:r>
            <a:r>
              <a:rPr lang="en-US" sz="1500" dirty="0" err="1">
                <a:hlinkClick r:id="rId9"/>
              </a:rPr>
              <a:t>CodeProject</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Techniques Comparison –</a:t>
            </a:r>
          </a:p>
          <a:p>
            <a:pPr algn="l"/>
            <a:r>
              <a:rPr lang="en-IN" sz="1500" dirty="0">
                <a:hlinkClick r:id="rId10"/>
              </a:rPr>
              <a:t>Code Generation Technology-</a:t>
            </a:r>
            <a:r>
              <a:rPr lang="en-IN" sz="1500" dirty="0" err="1">
                <a:hlinkClick r:id="rId10"/>
              </a:rPr>
              <a:t>CodeDom</a:t>
            </a:r>
            <a:r>
              <a:rPr lang="en-IN" sz="1500" dirty="0">
                <a:hlinkClick r:id="rId10"/>
              </a:rPr>
              <a:t> VS T4</a:t>
            </a:r>
            <a:endParaRPr lang="en-IN" sz="1500" dirty="0"/>
          </a:p>
          <a:p>
            <a:pPr algn="l"/>
            <a:r>
              <a:rPr lang="en-IN" sz="1500" dirty="0" err="1">
                <a:hlinkClick r:id="rId11"/>
              </a:rPr>
              <a:t>c#</a:t>
            </a:r>
            <a:r>
              <a:rPr lang="en-IN" sz="1500" dirty="0">
                <a:hlinkClick r:id="rId11"/>
              </a:rPr>
              <a:t> - </a:t>
            </a:r>
            <a:r>
              <a:rPr lang="en-IN" sz="1500" dirty="0" err="1">
                <a:hlinkClick r:id="rId11"/>
              </a:rPr>
              <a:t>Reflection.Emit</a:t>
            </a:r>
            <a:r>
              <a:rPr lang="en-IN" sz="1500" dirty="0">
                <a:hlinkClick r:id="rId11"/>
              </a:rPr>
              <a:t> vs </a:t>
            </a:r>
            <a:r>
              <a:rPr lang="en-IN" sz="1500" dirty="0" err="1">
                <a:hlinkClick r:id="rId11"/>
              </a:rPr>
              <a:t>CodeDOM</a:t>
            </a:r>
            <a:r>
              <a:rPr lang="en-IN" sz="1500" dirty="0">
                <a:hlinkClick r:id="rId11"/>
              </a:rPr>
              <a:t> - Stack Overflow</a:t>
            </a:r>
            <a:endParaRPr lang="en-IN" sz="1500" dirty="0"/>
          </a:p>
          <a:p>
            <a:pPr algn="l"/>
            <a:r>
              <a:rPr lang="en-US" sz="1500" dirty="0">
                <a:hlinkClick r:id="rId12"/>
              </a:rPr>
              <a:t>Using Roslyn for Runtime Code Generation in Marten – The Shade Tree Developer</a:t>
            </a:r>
            <a:endParaRPr lang="en-US" sz="1500" kern="0" spc="-220" dirty="0">
              <a:solidFill>
                <a:schemeClr val="accent6"/>
              </a:solidFill>
            </a:endParaRP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Reflection.Emit</a:t>
            </a:r>
            <a:r>
              <a:rPr lang="en-US" sz="2000" kern="0" spc="-220" dirty="0">
                <a:solidFill>
                  <a:schemeClr val="accent2"/>
                </a:solidFill>
              </a:rPr>
              <a:t> –</a:t>
            </a:r>
            <a:r>
              <a:rPr lang="en-US" sz="2000" kern="0" spc="-220" dirty="0">
                <a:solidFill>
                  <a:schemeClr val="accent6"/>
                </a:solidFill>
              </a:rPr>
              <a:t> </a:t>
            </a:r>
          </a:p>
          <a:p>
            <a:pPr algn="l"/>
            <a:r>
              <a:rPr lang="en-US" sz="1500" dirty="0">
                <a:hlinkClick r:id="rId13"/>
              </a:rPr>
              <a:t>DOT NET TRICKS: DLR using </a:t>
            </a:r>
            <a:r>
              <a:rPr lang="en-US" sz="1500" dirty="0" err="1">
                <a:hlinkClick r:id="rId13"/>
              </a:rPr>
              <a:t>Reflection.Emit</a:t>
            </a:r>
            <a:r>
              <a:rPr lang="en-US" sz="1500" dirty="0">
                <a:hlinkClick r:id="rId13"/>
              </a:rPr>
              <a:t> (In Depth) Part 2</a:t>
            </a:r>
            <a:endParaRPr lang="en-US" sz="1500" kern="0" spc="-220" dirty="0">
              <a:solidFill>
                <a:schemeClr val="accent6"/>
              </a:solidFill>
            </a:endParaRP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259531" y="5404991"/>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err="1">
                <a:solidFill>
                  <a:schemeClr val="accent2"/>
                </a:solidFill>
              </a:rPr>
              <a:t>ExpressionTree</a:t>
            </a:r>
            <a:r>
              <a:rPr lang="en-US" sz="1800" kern="0" spc="-220" dirty="0">
                <a:solidFill>
                  <a:schemeClr val="accent2"/>
                </a:solidFill>
              </a:rPr>
              <a:t>–</a:t>
            </a:r>
            <a:r>
              <a:rPr lang="en-US" sz="2000" kern="0" spc="-220" dirty="0">
                <a:solidFill>
                  <a:schemeClr val="accent2"/>
                </a:solidFill>
              </a:rPr>
              <a:t> </a:t>
            </a:r>
          </a:p>
          <a:p>
            <a:pPr algn="l"/>
            <a:r>
              <a:rPr lang="en-US" sz="1500" dirty="0">
                <a:hlinkClick r:id="rId14"/>
              </a:rPr>
              <a:t>Dynamic Code Generation in C# With Expression Trees | by </a:t>
            </a:r>
            <a:r>
              <a:rPr lang="en-US" sz="1500" dirty="0" err="1">
                <a:hlinkClick r:id="rId14"/>
              </a:rPr>
              <a:t>Bagoum</a:t>
            </a:r>
            <a:r>
              <a:rPr lang="en-US" sz="1500" dirty="0">
                <a:hlinkClick r:id="rId14"/>
              </a:rPr>
              <a:t> | Medium</a:t>
            </a:r>
            <a:endParaRPr lang="en-US" sz="1500" kern="0" spc="-220" dirty="0">
              <a:solidFill>
                <a:schemeClr val="accent6"/>
              </a:solidFill>
            </a:endParaRP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314960" y="1313288"/>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Roslyn API/ Source Generators– </a:t>
            </a:r>
          </a:p>
          <a:p>
            <a:pPr algn="l"/>
            <a:r>
              <a:rPr lang="en-US" sz="1300" dirty="0">
                <a:hlinkClick r:id="rId7"/>
              </a:rPr>
              <a:t>Incremental Roslyn Source Generators In .NET 6: Code Sharing Of The Future - Part 1 - </a:t>
            </a:r>
            <a:r>
              <a:rPr lang="en-US" sz="1300" dirty="0" err="1">
                <a:hlinkClick r:id="rId7"/>
              </a:rPr>
              <a:t>Thinktecture</a:t>
            </a:r>
            <a:r>
              <a:rPr lang="en-US" sz="1300" dirty="0">
                <a:hlinkClick r:id="rId7"/>
              </a:rPr>
              <a:t> AG</a:t>
            </a:r>
            <a:endParaRPr lang="en-US" sz="1300" dirty="0"/>
          </a:p>
          <a:p>
            <a:pPr algn="l"/>
            <a:r>
              <a:rPr lang="en-IN" sz="1300" dirty="0">
                <a:hlinkClick r:id="rId8"/>
              </a:rPr>
              <a:t>Source Generators in C#</a:t>
            </a:r>
            <a:endParaRPr lang="en-IN" sz="1300" dirty="0"/>
          </a:p>
          <a:p>
            <a:pPr algn="l"/>
            <a:r>
              <a:rPr lang="en-US" sz="1300" dirty="0">
                <a:hlinkClick r:id="rId9"/>
              </a:rPr>
              <a:t>Deep dive into Source Generators | </a:t>
            </a:r>
            <a:r>
              <a:rPr lang="en-US" sz="1300" dirty="0" err="1">
                <a:hlinkClick r:id="rId9"/>
              </a:rPr>
              <a:t>TheCodeMan</a:t>
            </a:r>
            <a:endParaRPr lang="en-IN" sz="1300" dirty="0"/>
          </a:p>
          <a:p>
            <a:pPr algn="l"/>
            <a:r>
              <a:rPr lang="en-IN" sz="1300" dirty="0">
                <a:hlinkClick r:id="rId10"/>
              </a:rPr>
              <a:t>The .NET Compiler Platform SDK (Roslyn APIs) - C# | Microsoft Learn</a:t>
            </a:r>
            <a:endParaRPr lang="en-IN" sz="1300" dirty="0"/>
          </a:p>
          <a:p>
            <a:pPr algn="l"/>
            <a:r>
              <a:rPr lang="en-IN" sz="1300" dirty="0">
                <a:hlinkClick r:id="rId11"/>
              </a:rPr>
              <a:t>Free </a:t>
            </a:r>
            <a:r>
              <a:rPr lang="en-IN" sz="1300" dirty="0" err="1">
                <a:hlinkClick r:id="rId11"/>
              </a:rPr>
              <a:t>Ebook</a:t>
            </a:r>
            <a:r>
              <a:rPr lang="en-IN" sz="1300" dirty="0">
                <a:hlinkClick r:id="rId11"/>
              </a:rPr>
              <a:t> - Roslyn Succinctly</a:t>
            </a:r>
            <a:endParaRPr lang="en-US" sz="1300" kern="0" spc="-220" dirty="0">
              <a:solidFill>
                <a:schemeClr val="accent6"/>
              </a:solidFill>
            </a:endParaRP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314959" y="3041175"/>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Code Snippets(more used as VS Plugin rather than for Application) –</a:t>
            </a:r>
          </a:p>
          <a:p>
            <a:pPr algn="l"/>
            <a:r>
              <a:rPr lang="en-US" sz="1500" dirty="0">
                <a:hlinkClick r:id="rId12"/>
              </a:rPr>
              <a:t>How to Automatically Generate C# Code Snippets in Visual Studio</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3762851"/>
            <a:ext cx="8624937" cy="20928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endParaRPr lang="en-US" sz="1400" kern="0" spc="-220" dirty="0">
              <a:solidFill>
                <a:schemeClr val="accent6"/>
              </a:solidFill>
            </a:endParaRPr>
          </a:p>
          <a:p>
            <a:pPr algn="l"/>
            <a:r>
              <a:rPr lang="en-US" sz="1400" kern="0" spc="-220" dirty="0">
                <a:solidFill>
                  <a:schemeClr val="accent2"/>
                </a:solidFill>
              </a:rPr>
              <a:t>Code Generation Performance Improvement –</a:t>
            </a:r>
          </a:p>
          <a:p>
            <a:pPr algn="l"/>
            <a:r>
              <a:rPr lang="en-US" sz="1400" kern="0" spc="-220" dirty="0">
                <a:solidFill>
                  <a:schemeClr val="accent6"/>
                </a:solidFill>
              </a:rPr>
              <a:t>Mainly done via some In-Memory Caching </a:t>
            </a:r>
          </a:p>
          <a:p>
            <a:pPr algn="l"/>
            <a:endParaRPr lang="en-US" sz="1400" kern="0" spc="-220" dirty="0">
              <a:solidFill>
                <a:schemeClr val="accent6"/>
              </a:solidFill>
            </a:endParaRPr>
          </a:p>
          <a:p>
            <a:pPr algn="l"/>
            <a:r>
              <a:rPr lang="en-US" sz="1400" kern="0" spc="-220" dirty="0">
                <a:solidFill>
                  <a:schemeClr val="accent6"/>
                </a:solidFill>
              </a:rPr>
              <a:t>By the way, </a:t>
            </a:r>
            <a:r>
              <a:rPr lang="en-US" sz="1400" kern="0" spc="-220" dirty="0" err="1">
                <a:solidFill>
                  <a:schemeClr val="accent6"/>
                </a:solidFill>
              </a:rPr>
              <a:t>Automapper</a:t>
            </a:r>
            <a:r>
              <a:rPr lang="en-US" sz="1400" kern="0" spc="-220" dirty="0">
                <a:solidFill>
                  <a:schemeClr val="accent6"/>
                </a:solidFill>
              </a:rPr>
              <a:t> is a  pretty cool library w.r.t object mapping,  which is build using mainly Reflection. Refer </a:t>
            </a:r>
            <a:r>
              <a:rPr lang="en-US" sz="1500" dirty="0">
                <a:hlinkClick r:id="rId13"/>
              </a:rPr>
              <a:t>Mastering </a:t>
            </a:r>
            <a:r>
              <a:rPr lang="en-US" sz="1500" dirty="0" err="1">
                <a:hlinkClick r:id="rId13"/>
              </a:rPr>
              <a:t>AutoMapper</a:t>
            </a:r>
            <a:r>
              <a:rPr lang="en-US" sz="1500" dirty="0">
                <a:hlinkClick r:id="rId13"/>
              </a:rPr>
              <a:t> in C#: A Comprehensive Guide - </a:t>
            </a:r>
            <a:r>
              <a:rPr lang="en-US" sz="1500" dirty="0" err="1">
                <a:hlinkClick r:id="rId13"/>
              </a:rPr>
              <a:t>ByteHide</a:t>
            </a:r>
            <a:r>
              <a:rPr lang="en-US" sz="1400" kern="0" spc="-220" dirty="0">
                <a:solidFill>
                  <a:schemeClr val="accent6"/>
                </a:solidFill>
              </a:rPr>
              <a:t> &amp; </a:t>
            </a:r>
            <a:r>
              <a:rPr lang="en-US" sz="1500" dirty="0" err="1">
                <a:hlinkClick r:id="rId14"/>
              </a:rPr>
              <a:t>c#</a:t>
            </a:r>
            <a:r>
              <a:rPr lang="en-US" sz="1500" dirty="0">
                <a:hlinkClick r:id="rId14"/>
              </a:rPr>
              <a:t> - </a:t>
            </a:r>
            <a:r>
              <a:rPr lang="en-US" sz="1500" dirty="0" err="1">
                <a:hlinkClick r:id="rId14"/>
              </a:rPr>
              <a:t>Automapper</a:t>
            </a:r>
            <a:r>
              <a:rPr lang="en-US" sz="1500" dirty="0">
                <a:hlinkClick r:id="rId14"/>
              </a:rPr>
              <a:t>. Map if source member is null - Stack Overflow</a:t>
            </a:r>
            <a:r>
              <a:rPr lang="en-US" sz="1500" kern="0" spc="-220" dirty="0">
                <a:solidFill>
                  <a:schemeClr val="accent6"/>
                </a:solidFill>
              </a:rPr>
              <a:t> </a:t>
            </a:r>
            <a:r>
              <a:rPr lang="en-US" sz="1400" kern="0" spc="-220" dirty="0">
                <a:solidFill>
                  <a:schemeClr val="accent6"/>
                </a:solidFill>
              </a:rPr>
              <a:t> for further details around the same.</a:t>
            </a:r>
          </a:p>
          <a:p>
            <a:pPr algn="l"/>
            <a:r>
              <a:rPr lang="en-US" sz="1800" kern="0" spc="-220" dirty="0">
                <a:solidFill>
                  <a:schemeClr val="accent2"/>
                </a:solidFill>
              </a:rPr>
              <a:t>For Further Exploration –</a:t>
            </a:r>
            <a:r>
              <a:rPr lang="en-US" sz="2000" kern="0" spc="-220" dirty="0">
                <a:solidFill>
                  <a:schemeClr val="accent2"/>
                </a:solidFill>
              </a:rPr>
              <a:t> </a:t>
            </a:r>
          </a:p>
          <a:p>
            <a:pPr algn="l"/>
            <a:r>
              <a:rPr lang="en-IN" sz="1500" dirty="0">
                <a:hlinkClick r:id="rId15"/>
              </a:rPr>
              <a:t>ProgramGeneration_Trennung.PDF</a:t>
            </a:r>
            <a:endParaRPr lang="en-US" sz="1500" kern="0" spc="-220" dirty="0">
              <a:solidFill>
                <a:schemeClr val="accent6"/>
              </a:solidFill>
            </a:endParaRP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Late Binding And Doing That using Reflection – </a:t>
            </a:r>
          </a:p>
          <a:p>
            <a:pPr algn="l"/>
            <a:r>
              <a:rPr lang="en-US" sz="1500" dirty="0">
                <a:hlinkClick r:id="rId7"/>
              </a:rPr>
              <a:t>Early vs Late Binding, reflection, and type dynamic in C#</a:t>
            </a:r>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Late Binding Using dynamic – </a:t>
            </a:r>
          </a:p>
          <a:p>
            <a:pPr algn="l"/>
            <a:r>
              <a:rPr lang="en-US" sz="1500" dirty="0">
                <a:hlinkClick r:id="rId8"/>
              </a:rPr>
              <a:t>Understanding Late Binding: Dynamic Objects and Reflection in C# .NET | LinkedIn</a:t>
            </a:r>
            <a:endParaRPr lang="en-US" sz="15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6314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1500" dirty="0">
                <a:hlinkClick r:id="rId7"/>
              </a:rPr>
              <a:t>The Visitor Pattern and dynamic in C# 4 — </a:t>
            </a:r>
            <a:r>
              <a:rPr lang="en-US" sz="1500" dirty="0" err="1">
                <a:hlinkClick r:id="rId7"/>
              </a:rPr>
              <a:t>Faithlife</a:t>
            </a:r>
            <a:r>
              <a:rPr lang="en-US" sz="1500" dirty="0">
                <a:hlinkClick r:id="rId7"/>
              </a:rPr>
              <a:t> Code Blog</a:t>
            </a:r>
            <a:endParaRPr lang="en-US" sz="1500" dirty="0"/>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1500" dirty="0" err="1">
                <a:hlinkClick r:id="rId8"/>
              </a:rPr>
              <a:t>c#</a:t>
            </a:r>
            <a:r>
              <a:rPr lang="en-US" sz="1500" dirty="0">
                <a:hlinkClick r:id="rId8"/>
              </a:rPr>
              <a:t> - Differences between </a:t>
            </a:r>
            <a:r>
              <a:rPr lang="en-US" sz="1500" dirty="0" err="1">
                <a:hlinkClick r:id="rId8"/>
              </a:rPr>
              <a:t>ExpandoObject</a:t>
            </a:r>
            <a:r>
              <a:rPr lang="en-US" sz="1500" dirty="0">
                <a:hlinkClick r:id="rId8"/>
              </a:rPr>
              <a:t>, </a:t>
            </a:r>
            <a:r>
              <a:rPr lang="en-US" sz="1500" dirty="0" err="1">
                <a:hlinkClick r:id="rId8"/>
              </a:rPr>
              <a:t>DynamicObject</a:t>
            </a:r>
            <a:r>
              <a:rPr lang="en-US" sz="1500" dirty="0">
                <a:hlinkClick r:id="rId8"/>
              </a:rPr>
              <a:t> and dynamic - Stack Overflow</a:t>
            </a:r>
            <a:endParaRPr lang="en-US" sz="15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GAC &amp; Strong Naming – </a:t>
            </a:r>
          </a:p>
          <a:p>
            <a:pPr algn="l"/>
            <a:r>
              <a:rPr lang="en-US" sz="1500" dirty="0" err="1">
                <a:hlinkClick r:id="rId7"/>
              </a:rPr>
              <a:t>c#</a:t>
            </a:r>
            <a:r>
              <a:rPr lang="en-US" sz="1500" dirty="0">
                <a:hlinkClick r:id="rId7"/>
              </a:rPr>
              <a:t> - Why use strong named assemblies? - Stack Overflow</a:t>
            </a:r>
            <a:endParaRPr lang="en-US" sz="15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259531" y="2598498"/>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Assembly Loading Order– </a:t>
            </a:r>
          </a:p>
          <a:p>
            <a:pPr algn="l"/>
            <a:r>
              <a:rPr lang="en-US" sz="1500" dirty="0" err="1">
                <a:hlinkClick r:id="rId8"/>
              </a:rPr>
              <a:t>.net</a:t>
            </a:r>
            <a:r>
              <a:rPr lang="en-US" sz="1500" dirty="0">
                <a:hlinkClick r:id="rId8"/>
              </a:rPr>
              <a:t> - In what order are locations searched to load referenced DLLs? - Stack Overflow</a:t>
            </a:r>
            <a:endParaRPr lang="en-US" sz="1500" dirty="0"/>
          </a:p>
          <a:p>
            <a:pPr algn="l"/>
            <a:r>
              <a:rPr lang="en-US" sz="1500" dirty="0" err="1">
                <a:hlinkClick r:id="rId9"/>
              </a:rPr>
              <a:t>c#</a:t>
            </a:r>
            <a:r>
              <a:rPr lang="en-US" sz="1500" dirty="0">
                <a:hlinkClick r:id="rId9"/>
              </a:rPr>
              <a:t> - .NET use application config file to load an assembly that is referenced by another assembly - Stack Overflow</a:t>
            </a:r>
            <a:endParaRPr lang="en-US" sz="1500" kern="0" spc="-220" dirty="0">
              <a:solidFill>
                <a:schemeClr val="accent6"/>
              </a:solidFill>
            </a:endParaRP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Satellite Assembly– </a:t>
            </a:r>
          </a:p>
          <a:p>
            <a:pPr algn="l"/>
            <a:r>
              <a:rPr lang="en-US" sz="1500" dirty="0" err="1">
                <a:hlinkClick r:id="rId10"/>
              </a:rPr>
              <a:t>.net</a:t>
            </a:r>
            <a:r>
              <a:rPr lang="en-US" sz="1500" dirty="0">
                <a:hlinkClick r:id="rId10"/>
              </a:rPr>
              <a:t> - What is a satellite assembly? - Stack Overflow</a:t>
            </a:r>
            <a:endParaRPr lang="en-US" sz="1500" kern="0" spc="-220" dirty="0">
              <a:solidFill>
                <a:schemeClr val="accent6"/>
              </a:solidFill>
            </a:endParaRP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 Doing </a:t>
            </a:r>
            <a:r>
              <a:rPr lang="en-US" sz="1800" kern="0" spc="-220" dirty="0" err="1">
                <a:solidFill>
                  <a:schemeClr val="accent2"/>
                </a:solidFill>
              </a:rPr>
              <a:t>AoP</a:t>
            </a:r>
            <a:r>
              <a:rPr lang="en-US" sz="1800" kern="0" spc="-220" dirty="0">
                <a:solidFill>
                  <a:schemeClr val="accent2"/>
                </a:solidFill>
              </a:rPr>
              <a:t> using Attributes in .NET –</a:t>
            </a:r>
            <a:r>
              <a:rPr lang="en-US" sz="1800" kern="0" spc="-220" dirty="0">
                <a:solidFill>
                  <a:schemeClr val="accent6"/>
                </a:solidFill>
              </a:rPr>
              <a:t> </a:t>
            </a:r>
          </a:p>
          <a:p>
            <a:pPr marL="12700" marR="5080"/>
            <a:r>
              <a:rPr lang="en-US" sz="1500" dirty="0">
                <a:hlinkClick r:id="rId7"/>
              </a:rPr>
              <a:t>jot.fm/issues/issue_2007_03/article1/</a:t>
            </a:r>
            <a:endParaRPr lang="en-US" sz="15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Compile -Time Weaving Techniques in .NET –</a:t>
            </a:r>
            <a:r>
              <a:rPr lang="en-US" sz="1800" kern="0" spc="-220" dirty="0">
                <a:solidFill>
                  <a:schemeClr val="accent6"/>
                </a:solidFill>
              </a:rPr>
              <a:t> </a:t>
            </a:r>
          </a:p>
          <a:p>
            <a:pPr marL="12700" marR="5080"/>
            <a:r>
              <a:rPr lang="en-IN" sz="1500" dirty="0">
                <a:hlinkClick r:id="rId8"/>
              </a:rPr>
              <a:t>MSIL Rewriting – </a:t>
            </a:r>
            <a:r>
              <a:rPr lang="en-IN" sz="1500" dirty="0" err="1">
                <a:hlinkClick r:id="rId8"/>
              </a:rPr>
              <a:t>PostSharp</a:t>
            </a:r>
            <a:r>
              <a:rPr lang="en-IN" sz="1500" dirty="0">
                <a:hlinkClick r:id="rId8"/>
              </a:rPr>
              <a:t> Technologies</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Run -Time Weaving Techniques in .NET – </a:t>
            </a:r>
          </a:p>
          <a:p>
            <a:pPr marL="12700" marR="5080"/>
            <a:r>
              <a:rPr lang="en-US" sz="1500" dirty="0">
                <a:hlinkClick r:id="rId9"/>
              </a:rPr>
              <a:t>Middleware and Dependency Injection – </a:t>
            </a:r>
            <a:r>
              <a:rPr lang="en-US" sz="1500" dirty="0" err="1">
                <a:hlinkClick r:id="rId9"/>
              </a:rPr>
              <a:t>PostSharp</a:t>
            </a:r>
            <a:r>
              <a:rPr lang="en-US" sz="1500" dirty="0">
                <a:hlinkClick r:id="rId9"/>
              </a:rPr>
              <a:t> Technologies</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 A Generic Example Using MS Unity – </a:t>
            </a:r>
          </a:p>
          <a:p>
            <a:pPr marL="12700" marR="5080"/>
            <a:r>
              <a:rPr lang="en-US" sz="1500" dirty="0">
                <a:hlinkClick r:id="rId10"/>
              </a:rPr>
              <a:t>DDD-Based-Enterprise-Application-Framework/Infrastructure/</a:t>
            </a:r>
            <a:r>
              <a:rPr lang="en-US" sz="1500" dirty="0" err="1">
                <a:hlinkClick r:id="rId10"/>
              </a:rPr>
              <a:t>AoP</a:t>
            </a:r>
            <a:r>
              <a:rPr lang="en-US" sz="1500" dirty="0">
                <a:hlinkClick r:id="rId10"/>
              </a:rPr>
              <a:t> at master · sandipray63in/DDD-Based-Enterprise-Application-Framework · GitHub</a:t>
            </a:r>
            <a:endParaRPr lang="en-US" sz="1500" kern="0" spc="-220" dirty="0">
              <a:solidFill>
                <a:schemeClr val="accent6"/>
              </a:solidFill>
            </a:endParaRP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For Further Exploration – </a:t>
            </a:r>
          </a:p>
          <a:p>
            <a:pPr marL="12700" marR="5080"/>
            <a:r>
              <a:rPr lang="en-US" sz="1500" dirty="0">
                <a:hlinkClick r:id="rId11"/>
              </a:rPr>
              <a:t>Aspect-Oriented Programming (AOP) - Microsoft Unity Succinctly </a:t>
            </a:r>
            <a:r>
              <a:rPr lang="en-US" sz="1500" dirty="0" err="1">
                <a:hlinkClick r:id="rId11"/>
              </a:rPr>
              <a:t>Ebook</a:t>
            </a:r>
            <a:endParaRPr lang="en-US" sz="1500" kern="0" spc="-220" dirty="0">
              <a:solidFill>
                <a:schemeClr val="accent6"/>
              </a:solidFill>
            </a:endParaRP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For Further Exploration –</a:t>
            </a:r>
            <a:r>
              <a:rPr lang="en-US" sz="2000" kern="0" spc="-220" dirty="0">
                <a:solidFill>
                  <a:schemeClr val="accent6"/>
                </a:solidFill>
              </a:rPr>
              <a:t> </a:t>
            </a:r>
          </a:p>
          <a:p>
            <a:pPr marL="12700" marR="5080"/>
            <a:r>
              <a:rPr lang="en-US" sz="1500" dirty="0" err="1">
                <a:hlinkClick r:id="rId8"/>
              </a:rPr>
              <a:t>SignalR</a:t>
            </a:r>
            <a:r>
              <a:rPr lang="en-US" sz="1500" dirty="0">
                <a:hlinkClick r:id="rId8"/>
              </a:rPr>
              <a:t> + RX (Streaming Data Demo App 1 of 2)- </a:t>
            </a:r>
            <a:r>
              <a:rPr lang="en-US" sz="1500" dirty="0" err="1">
                <a:hlinkClick r:id="rId8"/>
              </a:rPr>
              <a:t>CodeProject</a:t>
            </a:r>
            <a:endParaRPr lang="en-US" sz="1500" kern="0" spc="-220" dirty="0">
              <a:solidFill>
                <a:schemeClr val="accent6"/>
              </a:solidFill>
            </a:endParaRP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Some High Level Examples – </a:t>
            </a:r>
          </a:p>
          <a:p>
            <a:pPr marL="12700" marR="5080"/>
            <a:r>
              <a:rPr lang="en-US" sz="1500" dirty="0">
                <a:hlinkClick r:id="rId9"/>
              </a:rPr>
              <a:t>Rx.NET in the real world. Lessons that can help you when marbles… | by William Barbosa | Medium</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    </a:t>
            </a:r>
            <a:r>
              <a:rPr lang="en-US" sz="2000" kern="0" spc="-220" dirty="0">
                <a:solidFill>
                  <a:schemeClr val="accent2"/>
                </a:solidFill>
              </a:rPr>
              <a:t>Intro to SOLID Principles – </a:t>
            </a:r>
          </a:p>
          <a:p>
            <a:pPr marL="12700" marR="5080"/>
            <a:r>
              <a:rPr lang="en-US" sz="2000" kern="0" spc="-220" dirty="0">
                <a:solidFill>
                  <a:schemeClr val="accent6"/>
                </a:solidFill>
              </a:rPr>
              <a:t>     </a:t>
            </a:r>
            <a:r>
              <a:rPr lang="en-US" sz="1500" dirty="0">
                <a:hlinkClick r:id="rId7"/>
              </a:rPr>
              <a:t>A Solid Guide to SOLID Principles | </a:t>
            </a:r>
            <a:r>
              <a:rPr lang="en-US" sz="1500" dirty="0" err="1">
                <a:hlinkClick r:id="rId7"/>
              </a:rPr>
              <a:t>Baeldung</a:t>
            </a:r>
            <a:endParaRPr lang="en-US" sz="15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 </a:t>
            </a:r>
            <a:r>
              <a:rPr lang="en-US" sz="2000" kern="0" spc="-220" dirty="0">
                <a:solidFill>
                  <a:schemeClr val="accent2"/>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endParaRPr lang="en-US" sz="1800" kern="0" spc="-220" dirty="0">
              <a:solidFill>
                <a:schemeClr val="accent6"/>
              </a:solidFill>
            </a:endParaRP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500" kern="0" spc="-220" dirty="0">
                <a:solidFill>
                  <a:schemeClr val="accent6"/>
                </a:solidFill>
              </a:rPr>
              <a:t> </a:t>
            </a:r>
            <a:r>
              <a:rPr lang="en-IN" sz="1500" dirty="0">
                <a:hlinkClick r:id="rId7"/>
              </a:rPr>
              <a:t> Pros &amp; Cons of SOLID Principles | LinkedIn</a:t>
            </a:r>
            <a:endParaRPr lang="en-US" sz="1500" kern="0" spc="-220" dirty="0">
              <a:solidFill>
                <a:schemeClr val="accent6"/>
              </a:solidFill>
            </a:endParaRPr>
          </a:p>
          <a:p>
            <a:pPr marL="12700" marR="5080"/>
            <a:r>
              <a:rPr lang="en-US" sz="1600" kern="0" spc="-220" dirty="0">
                <a:solidFill>
                  <a:schemeClr val="accent6"/>
                </a:solidFill>
              </a:rPr>
              <a:t>  </a:t>
            </a:r>
            <a:r>
              <a:rPr lang="en-US" sz="1500" dirty="0">
                <a:hlinkClick r:id="rId8"/>
              </a:rPr>
              <a:t>Free </a:t>
            </a:r>
            <a:r>
              <a:rPr lang="en-US" sz="1500" dirty="0" err="1">
                <a:hlinkClick r:id="rId8"/>
              </a:rPr>
              <a:t>Ebook</a:t>
            </a:r>
            <a:r>
              <a:rPr lang="en-US" sz="1500" dirty="0">
                <a:hlinkClick r:id="rId8"/>
              </a:rPr>
              <a:t> - SOLID Principles Succinctly</a:t>
            </a:r>
            <a:endParaRPr lang="en-US" sz="1500" kern="0" spc="-220" dirty="0">
              <a:solidFill>
                <a:schemeClr val="accent6"/>
              </a:solidFill>
            </a:endParaRP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7480" y="203041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157479" y="388345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Is DI the same as IoC?</a:t>
            </a:r>
          </a:p>
          <a:p>
            <a:pPr marL="12700" marR="5080"/>
            <a:r>
              <a:rPr lang="en-US" sz="1500" dirty="0">
                <a:hlinkClick r:id="rId7"/>
              </a:rPr>
              <a:t>Inversion of Control vs Dependency Injection - Stack Overflow</a:t>
            </a:r>
            <a:endParaRPr lang="en-US" sz="15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138062" y="4918392"/>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To or Not to DI?</a:t>
            </a:r>
          </a:p>
          <a:p>
            <a:pPr marL="12700" marR="5080"/>
            <a:r>
              <a:rPr lang="en-US" sz="1500" kern="0" spc="-220" dirty="0">
                <a:solidFill>
                  <a:schemeClr val="accent6"/>
                </a:solidFill>
              </a:rPr>
              <a:t> </a:t>
            </a:r>
            <a:r>
              <a:rPr lang="en-IN" sz="1500" dirty="0">
                <a:hlinkClick r:id="rId8"/>
              </a:rPr>
              <a:t> To or Not To DI | LinkedIn</a:t>
            </a:r>
            <a:endParaRPr lang="en-US" sz="1500" kern="0" spc="-220" dirty="0">
              <a:solidFill>
                <a:schemeClr val="accent6"/>
              </a:solidFill>
            </a:endParaRP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1183008363"/>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US" sz="1100" dirty="0" err="1">
                          <a:hlinkClick r:id="rId7"/>
                        </a:rPr>
                        <a:t>WeatherForecastAzureFunctionAndAngularSample</a:t>
                      </a:r>
                      <a:r>
                        <a:rPr lang="en-US" sz="1100" dirty="0">
                          <a:hlinkClick r:id="rId7"/>
                        </a:rPr>
                        <a:t>/</a:t>
                      </a:r>
                      <a:r>
                        <a:rPr lang="en-US" sz="1100" dirty="0" err="1">
                          <a:hlinkClick r:id="rId7"/>
                        </a:rPr>
                        <a:t>WeatherForecastAPI</a:t>
                      </a:r>
                      <a:r>
                        <a:rPr lang="en-US" sz="1100" dirty="0">
                          <a:hlinkClick r:id="rId7"/>
                        </a:rPr>
                        <a:t>/</a:t>
                      </a:r>
                      <a:r>
                        <a:rPr lang="en-US" sz="1100" dirty="0" err="1">
                          <a:hlinkClick r:id="rId7"/>
                        </a:rPr>
                        <a:t>DomainServices</a:t>
                      </a:r>
                      <a:r>
                        <a:rPr lang="en-US" sz="1100" dirty="0">
                          <a:hlinkClick r:id="rId7"/>
                        </a:rPr>
                        <a:t> at master · sandipray63in/</a:t>
                      </a:r>
                      <a:r>
                        <a:rPr lang="en-US" sz="1100" dirty="0" err="1">
                          <a:hlinkClick r:id="rId7"/>
                        </a:rPr>
                        <a:t>WeatherForecastAzureFunctionAndAngularSample</a:t>
                      </a:r>
                      <a:r>
                        <a:rPr lang="en-US" sz="1100" dirty="0">
                          <a:hlinkClick r:id="rId7"/>
                        </a:rPr>
                        <a:t> · GitHub</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dirty="0">
                          <a:hlinkClick r:id="rId8"/>
                        </a:rPr>
                        <a:t>Refactoring </a:t>
                      </a:r>
                      <a:r>
                        <a:rPr lang="en-IN" sz="1100" dirty="0" err="1">
                          <a:hlinkClick r:id="rId8"/>
                        </a:rPr>
                        <a:t>Guru|Builder</a:t>
                      </a:r>
                      <a:r>
                        <a:rPr lang="en-IN" sz="1100" dirty="0">
                          <a:hlinkClick r:id="rId8"/>
                        </a:rPr>
                        <a:t>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dirty="0">
                          <a:hlinkClick r:id="rId9"/>
                        </a:rPr>
                        <a:t>DDD-Based-Enterprise-Application-Framework/Infrastructure/DI/</a:t>
                      </a:r>
                      <a:r>
                        <a:rPr lang="en-IN" sz="1100" dirty="0" err="1">
                          <a:hlinkClick r:id="rId9"/>
                        </a:rPr>
                        <a:t>Container.cs</a:t>
                      </a:r>
                      <a:r>
                        <a:rPr lang="en-IN" sz="1100" dirty="0">
                          <a:hlinkClick r:id="rId9"/>
                        </a:rPr>
                        <a:t> at master · sandipray63in/DDD-Based-Enterprise-Application-Framework · GitHub</a:t>
                      </a:r>
                      <a:r>
                        <a:rPr lang="en-IN" sz="1100" b="0" i="0" u="sng" strike="noStrike" dirty="0">
                          <a:solidFill>
                            <a:srgbClr val="0563C1"/>
                          </a:solidFill>
                          <a:effectLst/>
                          <a:latin typeface="Calibri" panose="020F0502020204030204" pitchFamily="34" charset="0"/>
                          <a:hlinkClick r:id="rId9"/>
                        </a:rPr>
                        <a:t>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a:t>
                      </a:r>
                      <a:r>
                        <a:rPr lang="en-IN" sz="1100" dirty="0" err="1">
                          <a:hlinkClick r:id="rId10"/>
                        </a:rPr>
                        <a:t>Multiton</a:t>
                      </a:r>
                      <a:r>
                        <a:rPr lang="en-IN" sz="1100" dirty="0">
                          <a:hlinkClick r:id="rId10"/>
                        </a:rPr>
                        <a:t> pattern - Wikipedia</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dirty="0">
                          <a:hlinkClick r:id="rId11"/>
                        </a:rPr>
                        <a:t>Prototype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 if needed)</a:t>
                      </a:r>
                    </a:p>
                  </a:txBody>
                  <a:tcPr marL="6350" marR="6350" marT="6350" marB="0" anchor="b"/>
                </a:tc>
                <a:tc>
                  <a:txBody>
                    <a:bodyPr/>
                    <a:lstStyle/>
                    <a:p>
                      <a:pPr algn="l" fontAlgn="b"/>
                      <a:r>
                        <a:rPr lang="en-IN" sz="1100" dirty="0">
                          <a:hlinkClick r:id="rId12"/>
                        </a:rPr>
                        <a:t>Abstract factory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dirty="0">
                          <a:hlinkClick r:id="rId13"/>
                        </a:rPr>
                        <a:t>Lazy initialization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dirty="0">
                          <a:hlinkClick r:id="rId14"/>
                        </a:rPr>
                        <a:t>Object pool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379859739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dirty="0">
                          <a:hlinkClick r:id="rId7"/>
                        </a:rPr>
                        <a:t>Adapter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dirty="0">
                          <a:hlinkClick r:id="rId8"/>
                        </a:rPr>
                        <a:t>Refactoring Guru | Bridge Pattern </a:t>
                      </a:r>
                      <a:endParaRPr lang="en-IN" sz="1100" dirty="0"/>
                    </a:p>
                    <a:p>
                      <a:pPr algn="l" fontAlgn="b"/>
                      <a:r>
                        <a:rPr lang="en-IN" sz="1100" dirty="0">
                          <a:hlinkClick r:id="rId9"/>
                        </a:rPr>
                        <a:t>DDD-Based-Enterprise-Application-Framework/Repository/Base/</a:t>
                      </a:r>
                      <a:r>
                        <a:rPr lang="en-IN" sz="1100" dirty="0" err="1">
                          <a:hlinkClick r:id="rId9"/>
                        </a:rPr>
                        <a:t>IQueryableRepository.cs</a:t>
                      </a:r>
                      <a:r>
                        <a:rPr lang="en-IN" sz="1100" dirty="0">
                          <a:hlinkClick r:id="rId9"/>
                        </a:rPr>
                        <a:t> at master · sandipray63in/DDD-Based-Enterprise-Application-Framework · GitHub</a:t>
                      </a:r>
                      <a:endParaRPr lang="en-IN" sz="1100" dirty="0"/>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implemented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dirty="0">
                          <a:hlinkClick r:id="rId10"/>
                        </a:rPr>
                        <a:t>Refactoring Guru | Composite 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dirty="0">
                          <a:hlinkClick r:id="rId11"/>
                        </a:rPr>
                        <a:t>Decorator pattern - Wikipedia</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12"/>
                        </a:rPr>
                        <a:t>Flyweight pattern - Wikipedia</a:t>
                      </a:r>
                      <a:endParaRPr lang="en-US" sz="1100" b="0" i="0" u="sng" strike="noStrike" dirty="0">
                        <a:solidFill>
                          <a:srgbClr val="0563C1"/>
                        </a:solidFill>
                        <a:effectLst/>
                        <a:latin typeface="Calibri" panose="020F0502020204030204" pitchFamily="34" charset="0"/>
                      </a:endParaRPr>
                    </a:p>
                    <a:p>
                      <a:pPr algn="l" fontAlgn="b"/>
                      <a:r>
                        <a:rPr lang="en-US" sz="1100" dirty="0">
                          <a:hlinkClick r:id="rId13"/>
                        </a:rPr>
                        <a:t>What is the reason for the name of the Flyweight Design Pattern? - Stack Overflow</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dirty="0">
                          <a:hlinkClick r:id="rId14"/>
                        </a:rPr>
                        <a:t>Facade pattern - Wikipedia</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algn="l"/>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dirty="0">
                          <a:hlinkClick r:id="rId15"/>
                        </a:rPr>
                        <a:t>Proxy pattern - Wikipedia</a:t>
                      </a:r>
                      <a:endParaRPr lang="en-IN" sz="1100" b="0" i="0" u="none" strike="noStrike" dirty="0">
                        <a:solidFill>
                          <a:srgbClr val="000000"/>
                        </a:solidFill>
                        <a:effectLst/>
                        <a:latin typeface="Calibri" panose="020F0502020204030204" pitchFamily="34" charset="0"/>
                        <a:ea typeface="+mn-ea"/>
                        <a:cs typeface="+mn-cs"/>
                      </a:endParaRP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2918481044"/>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dirty="0">
                          <a:hlinkClick r:id="rId7"/>
                        </a:rPr>
                        <a:t>Chain-of-responsibility pattern – Wikipedia</a:t>
                      </a:r>
                      <a:endParaRPr lang="en-IN" sz="1100" dirty="0"/>
                    </a:p>
                    <a:p>
                      <a:pPr algn="l" fontAlgn="b"/>
                      <a:r>
                        <a:rPr lang="en-IN" sz="1100" dirty="0">
                          <a:hlinkClick r:id="rId8"/>
                        </a:rPr>
                        <a:t>Chain Responsibility Pattern | </a:t>
                      </a:r>
                      <a:r>
                        <a:rPr lang="en-IN" sz="1100" dirty="0" err="1">
                          <a:hlinkClick r:id="rId8"/>
                        </a:rPr>
                        <a:t>TheCodeMan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dirty="0" err="1">
                          <a:hlinkClick r:id="rId9"/>
                        </a:rPr>
                        <a:t>RefatoringGuru</a:t>
                      </a:r>
                      <a:r>
                        <a:rPr lang="en-IN" sz="1100" dirty="0">
                          <a:hlinkClick r:id="rId9"/>
                        </a:rPr>
                        <a:t> | Command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dirty="0">
                          <a:hlinkClick r:id="rId10"/>
                        </a:rPr>
                        <a:t>Interpreter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11"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dirty="0">
                          <a:hlinkClick r:id="rId12"/>
                        </a:rPr>
                        <a:t>DDD-Based-Enterprise-Application-Framework/</a:t>
                      </a:r>
                      <a:r>
                        <a:rPr lang="en-IN" sz="1100" dirty="0" err="1">
                          <a:hlinkClick r:id="rId12"/>
                        </a:rPr>
                        <a:t>ApplicationAndInfrastructureServices</a:t>
                      </a:r>
                      <a:r>
                        <a:rPr lang="en-IN" sz="1100" dirty="0">
                          <a:hlinkClick r:id="rId12"/>
                        </a:rPr>
                        <a:t>/</a:t>
                      </a:r>
                      <a:r>
                        <a:rPr lang="en-IN" sz="1100" dirty="0" err="1">
                          <a:hlinkClick r:id="rId12"/>
                        </a:rPr>
                        <a:t>BatchProcessing</a:t>
                      </a:r>
                      <a:r>
                        <a:rPr lang="en-IN" sz="1100" dirty="0">
                          <a:hlinkClick r:id="rId12"/>
                        </a:rPr>
                        <a:t>/</a:t>
                      </a:r>
                      <a:r>
                        <a:rPr lang="en-IN" sz="1100" dirty="0" err="1">
                          <a:hlinkClick r:id="rId12"/>
                        </a:rPr>
                        <a:t>BaseBatchSeedSelector.cs</a:t>
                      </a:r>
                      <a:r>
                        <a:rPr lang="en-IN" sz="1100" dirty="0">
                          <a:hlinkClick r:id="rId12"/>
                        </a:rPr>
                        <a:t> at master · sandipray63in/DDD-Based-Enterprise-Application-Framework · GitHub</a:t>
                      </a:r>
                      <a:endParaRPr lang="en-IN" sz="1100" dirty="0"/>
                    </a:p>
                    <a:p>
                      <a:pPr algn="l" fontAlgn="b"/>
                      <a:r>
                        <a:rPr lang="en-IN" sz="1100" b="0" i="0" u="none" strike="noStrike" dirty="0">
                          <a:solidFill>
                            <a:srgbClr val="000000"/>
                          </a:solidFill>
                          <a:effectLst/>
                          <a:latin typeface="Calibri" panose="020F0502020204030204" pitchFamily="34" charset="0"/>
                        </a:rPr>
                        <a:t>Multi-Threading based Iterator?</a:t>
                      </a: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1479285240"/>
              </p:ext>
            </p:extLst>
          </p:nvPr>
        </p:nvGraphicFramePr>
        <p:xfrm>
          <a:off x="275300" y="666446"/>
          <a:ext cx="8716299" cy="5292394"/>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dirty="0">
                          <a:hlinkClick r:id="rId7"/>
                        </a:rPr>
                        <a:t>Refactoring </a:t>
                      </a:r>
                      <a:r>
                        <a:rPr lang="en-IN" sz="1100" dirty="0" err="1">
                          <a:hlinkClick r:id="rId7"/>
                        </a:rPr>
                        <a:t>Guru|Mediator</a:t>
                      </a:r>
                      <a:r>
                        <a:rPr lang="en-IN" sz="1100" dirty="0">
                          <a:hlinkClick r:id="rId7"/>
                        </a:rPr>
                        <a:t> Pattern</a:t>
                      </a:r>
                      <a:endParaRPr lang="en-IN" sz="1100" dirty="0"/>
                    </a:p>
                    <a:p>
                      <a:pPr algn="l" fontAlgn="b"/>
                      <a:r>
                        <a:rPr lang="en-IN" sz="1100" dirty="0">
                          <a:hlinkClick r:id="rId8"/>
                        </a:rPr>
                        <a:t>CQRS Pattern With </a:t>
                      </a:r>
                      <a:r>
                        <a:rPr lang="en-IN" sz="1100" dirty="0" err="1">
                          <a:hlinkClick r:id="rId8"/>
                        </a:rPr>
                        <a:t>MediatR</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9"/>
                        </a:rPr>
                        <a:t>Refactoring </a:t>
                      </a:r>
                      <a:r>
                        <a:rPr lang="en-IN" sz="1100" dirty="0" err="1">
                          <a:hlinkClick r:id="rId9"/>
                        </a:rPr>
                        <a:t>Guru|Memento</a:t>
                      </a:r>
                      <a:r>
                        <a:rPr lang="en-IN" sz="1100" dirty="0">
                          <a:hlinkClick r:id="rId9"/>
                        </a:rPr>
                        <a:t>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dirty="0">
                          <a:hlinkClick r:id="rId10"/>
                        </a:rPr>
                        <a:t>Refactoring Guru | Observer</a:t>
                      </a:r>
                      <a:endParaRPr lang="en-IN" sz="1100" dirty="0"/>
                    </a:p>
                    <a:p>
                      <a:pPr algn="l" fontAlgn="b"/>
                      <a:r>
                        <a:rPr lang="en-US" sz="1100" dirty="0">
                          <a:hlinkClick r:id="rId11"/>
                        </a:rPr>
                        <a:t>DDD-Based-Enterprise-Application-Framework/Infrastructure/Observers at master · sandipray63in/DDD-Based-Enterprise-Application-Framework · GitHub</a:t>
                      </a:r>
                      <a:endParaRPr lang="en-US" sz="1100" dirty="0"/>
                    </a:p>
                    <a:p>
                      <a:pPr algn="l" fontAlgn="b"/>
                      <a:r>
                        <a:rPr lang="en-US" sz="1100" dirty="0" err="1">
                          <a:hlinkClick r:id="rId12"/>
                        </a:rPr>
                        <a:t>SignalR</a:t>
                      </a:r>
                      <a:r>
                        <a:rPr lang="en-US" sz="1100" dirty="0">
                          <a:hlinkClick r:id="rId12"/>
                        </a:rPr>
                        <a:t> + RX (Streaming Data Demo App 1 of 2)- </a:t>
                      </a:r>
                      <a:r>
                        <a:rPr lang="en-US" sz="1100" dirty="0" err="1">
                          <a:hlinkClick r:id="rId12"/>
                        </a:rPr>
                        <a:t>CodeProject</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900" dirty="0">
                          <a:hlinkClick r:id="rId13"/>
                        </a:rPr>
                        <a:t>Refactoring Guru | State Pattern</a:t>
                      </a:r>
                      <a:endParaRPr lang="en-IN" sz="900" dirty="0"/>
                    </a:p>
                    <a:p>
                      <a:pPr algn="l" fontAlgn="b"/>
                      <a:r>
                        <a:rPr lang="en-IN" sz="900" dirty="0">
                          <a:hlinkClick r:id="rId14"/>
                        </a:rPr>
                        <a:t>Type Driven Development</a:t>
                      </a:r>
                      <a:endParaRPr lang="en-IN" sz="900" dirty="0"/>
                    </a:p>
                    <a:p>
                      <a:pPr algn="l" fontAlgn="b"/>
                      <a:r>
                        <a:rPr lang="en-IN" sz="900" b="0" i="0" dirty="0">
                          <a:solidFill>
                            <a:schemeClr val="dk1"/>
                          </a:solidFill>
                          <a:effectLst/>
                          <a:latin typeface="+mn-lt"/>
                          <a:ea typeface="+mn-ea"/>
                          <a:cs typeface="+mn-cs"/>
                        </a:rPr>
                        <a:t>Permissible States Rules Engine</a:t>
                      </a:r>
                    </a:p>
                    <a:p>
                      <a:pPr algn="l" fontAlgn="b"/>
                      <a:r>
                        <a:rPr lang="en-US" sz="900" dirty="0">
                          <a:hlinkClick r:id="rId15"/>
                        </a:rPr>
                        <a:t>Graph concepts and state machine</a:t>
                      </a:r>
                      <a:endParaRPr lang="en-US" sz="900" dirty="0"/>
                    </a:p>
                    <a:p>
                      <a:pPr algn="l" fontAlgn="b"/>
                      <a:r>
                        <a:rPr lang="en-US" sz="900" dirty="0">
                          <a:hlinkClick r:id="rId16"/>
                        </a:rPr>
                        <a:t>Domain-Specific Languages: An Introductory Example | 1.1 Gothic Security | </a:t>
                      </a:r>
                      <a:r>
                        <a:rPr lang="en-US" sz="900" dirty="0" err="1">
                          <a:hlinkClick r:id="rId16"/>
                        </a:rPr>
                        <a:t>InformIT</a:t>
                      </a:r>
                      <a:endParaRPr lang="en-IN" sz="900" b="0" i="0" dirty="0">
                        <a:solidFill>
                          <a:schemeClr val="dk1"/>
                        </a:solidFill>
                        <a:effectLst/>
                        <a:latin typeface="+mn-lt"/>
                        <a:ea typeface="+mn-ea"/>
                        <a:cs typeface="+mn-cs"/>
                      </a:endParaRPr>
                    </a:p>
                    <a:p>
                      <a:pPr algn="l" fontAlgn="b"/>
                      <a:r>
                        <a:rPr lang="en-US" sz="900" dirty="0">
                          <a:hlinkClick r:id="rId17"/>
                        </a:rPr>
                        <a:t>Embedded System Design using UML State Machines | Udemy</a:t>
                      </a:r>
                      <a:r>
                        <a:rPr lang="en-IN" sz="900" b="0" i="0" dirty="0">
                          <a:solidFill>
                            <a:schemeClr val="dk1"/>
                          </a:solidFill>
                          <a:effectLst/>
                          <a:latin typeface="+mn-lt"/>
                          <a:ea typeface="+mn-ea"/>
                          <a:cs typeface="+mn-cs"/>
                        </a:rPr>
                        <a:t> </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18"/>
                        </a:rPr>
                        <a:t>Strategy pattern </a:t>
                      </a:r>
                      <a:r>
                        <a:rPr lang="en-IN" sz="1100" dirty="0">
                          <a:hlinkClick r:id="rId19"/>
                        </a:rPr>
                        <a:t>–</a:t>
                      </a:r>
                      <a:r>
                        <a:rPr lang="en-IN" sz="1100" dirty="0">
                          <a:hlinkClick r:id="rId18"/>
                        </a:rPr>
                        <a:t> Wikipedia</a:t>
                      </a:r>
                      <a:endParaRPr lang="en-IN" sz="1100" dirty="0"/>
                    </a:p>
                    <a:p>
                      <a:pPr algn="l" fontAlgn="b"/>
                      <a:r>
                        <a:rPr lang="en-US" sz="1100" dirty="0">
                          <a:hlinkClick r:id="rId20"/>
                        </a:rPr>
                        <a:t>Book Review: Software Architecture, by Juval Lowy | LinkedIn</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2429504784"/>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dirty="0">
                          <a:hlinkClick r:id="rId7"/>
                        </a:rPr>
                        <a:t>Template method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r>
                        <a:rPr lang="en-IN" sz="1100" dirty="0">
                          <a:hlinkClick r:id="rId8"/>
                        </a:rPr>
                        <a:t>Refactoring Guru | Visitor Pattern</a:t>
                      </a:r>
                      <a:endParaRPr lang="en-IN" sz="1100" b="0" i="0" u="sng" strike="noStrike" dirty="0">
                        <a:solidFill>
                          <a:srgbClr val="0563C1"/>
                        </a:solidFill>
                        <a:effectLst/>
                        <a:latin typeface="Calibri" panose="020F0502020204030204" pitchFamily="34" charset="0"/>
                        <a:ea typeface="+mn-ea"/>
                        <a:cs typeface="+mn-cs"/>
                      </a:endParaRP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6927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For Further Exploration – </a:t>
            </a:r>
          </a:p>
          <a:p>
            <a:pPr marL="12700" marR="5080"/>
            <a:r>
              <a:rPr lang="en-IN" sz="1400" dirty="0">
                <a:hlinkClick r:id="rId9"/>
              </a:rPr>
              <a:t>Software design pattern - Wikipedia</a:t>
            </a:r>
            <a:r>
              <a:rPr lang="en-US" sz="2400" kern="0" spc="-220" dirty="0">
                <a:solidFill>
                  <a:schemeClr val="accent6"/>
                </a:solidFill>
              </a:rPr>
              <a:t> </a:t>
            </a:r>
          </a:p>
          <a:p>
            <a:pPr marL="12700" marR="5080"/>
            <a:r>
              <a:rPr lang="en-IN" sz="1400" dirty="0">
                <a:hlinkClick r:id="rId10"/>
              </a:rPr>
              <a:t>Refactoring Guru | Design Patterns</a:t>
            </a:r>
            <a:r>
              <a:rPr lang="en-US" sz="2400" kern="0" spc="-220" dirty="0">
                <a:solidFill>
                  <a:schemeClr val="accent6"/>
                </a:solidFill>
              </a:rPr>
              <a:t> </a:t>
            </a:r>
          </a:p>
          <a:p>
            <a:pPr marL="12700" marR="5080"/>
            <a:r>
              <a:rPr lang="en-IN" sz="1400" dirty="0">
                <a:hlinkClick r:id="rId11"/>
              </a:rPr>
              <a:t>Dinesh </a:t>
            </a:r>
            <a:r>
              <a:rPr lang="en-IN" sz="1400" dirty="0" err="1">
                <a:hlinkClick r:id="rId11"/>
              </a:rPr>
              <a:t>Variyani’s</a:t>
            </a:r>
            <a:r>
              <a:rPr lang="en-IN" sz="1400" dirty="0">
                <a:hlinkClick r:id="rId11"/>
              </a:rPr>
              <a:t> Design Patterns Post </a:t>
            </a:r>
            <a:r>
              <a:rPr lang="en-IN" sz="1400">
                <a:hlinkClick r:id="rId11"/>
              </a:rPr>
              <a:t>| LinkedIn</a:t>
            </a:r>
            <a:endParaRPr lang="en-IN" sz="1400"/>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Core </a:t>
            </a:r>
            <a:r>
              <a:rPr lang="en-US" sz="2400" kern="0" spc="-220" dirty="0" err="1">
                <a:solidFill>
                  <a:schemeClr val="accent2"/>
                </a:solidFill>
              </a:rPr>
              <a:t>MiddleWares</a:t>
            </a:r>
            <a:endParaRPr lang="en-US" sz="2400" kern="0" spc="-220" dirty="0">
              <a:solidFill>
                <a:schemeClr val="accent2"/>
              </a:solidFill>
            </a:endParaRPr>
          </a:p>
          <a:p>
            <a:pPr marL="12700" marR="5080"/>
            <a:r>
              <a:rPr lang="en-US" sz="1500" dirty="0">
                <a:hlinkClick r:id="rId7"/>
              </a:rPr>
              <a:t>ASP.NET Core Middleware | Microsoft Learn</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Web API Pipeline and Extensibility</a:t>
            </a:r>
          </a:p>
          <a:p>
            <a:pPr marL="12700" marR="5080"/>
            <a:r>
              <a:rPr lang="en-IN" sz="1500" dirty="0">
                <a:hlinkClick r:id="rId8"/>
              </a:rPr>
              <a:t>Web API_revised2</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gRPC</a:t>
            </a:r>
            <a:r>
              <a:rPr lang="en-US" sz="2400" kern="0" spc="-220" dirty="0">
                <a:solidFill>
                  <a:schemeClr val="accent2"/>
                </a:solidFill>
              </a:rPr>
              <a:t> Interceptors in .NET</a:t>
            </a:r>
          </a:p>
          <a:p>
            <a:pPr marL="12700" marR="5080"/>
            <a:r>
              <a:rPr lang="en-IN" sz="1500" dirty="0" err="1">
                <a:hlinkClick r:id="rId9"/>
              </a:rPr>
              <a:t>gRPC</a:t>
            </a:r>
            <a:r>
              <a:rPr lang="en-IN" sz="1500" dirty="0">
                <a:hlinkClick r:id="rId9"/>
              </a:rPr>
              <a:t> interceptors on .NET | Microsoft Learn</a:t>
            </a:r>
            <a:endParaRPr lang="en-US" sz="1500" kern="0" spc="-220" dirty="0">
              <a:solidFill>
                <a:schemeClr val="accent6"/>
              </a:solidFill>
            </a:endParaRP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WCF(/WWF Services) Extensibility</a:t>
            </a:r>
          </a:p>
          <a:p>
            <a:pPr marL="12700" marR="5080"/>
            <a:r>
              <a:rPr lang="pt-BR" sz="1500" dirty="0">
                <a:hlinkClick r:id="rId7"/>
              </a:rPr>
              <a:t>Carlos Figueira Explains WCF Extensibility - InfoQ</a:t>
            </a:r>
            <a:endParaRPr lang="en-US" sz="1500" kern="0" spc="-220" dirty="0">
              <a:solidFill>
                <a:schemeClr val="accent6"/>
              </a:solidFill>
            </a:endParaRPr>
          </a:p>
          <a:p>
            <a:pPr marL="12700" marR="5080"/>
            <a:r>
              <a:rPr lang="en-US" sz="1500" dirty="0">
                <a:hlinkClick r:id="rId8"/>
              </a:rPr>
              <a:t>DDD-Based-Enterprise-Application-Framework/Infrastructure/</a:t>
            </a:r>
            <a:r>
              <a:rPr lang="en-US" sz="1500" dirty="0" err="1">
                <a:hlinkClick r:id="rId8"/>
              </a:rPr>
              <a:t>WCFExtensibility</a:t>
            </a:r>
            <a:r>
              <a:rPr lang="en-US" sz="1500" dirty="0">
                <a:hlinkClick r:id="rId8"/>
              </a:rPr>
              <a:t> at master · sandipray63in/DDD-Based-Enterprise-Application-Framework · GitHub</a:t>
            </a:r>
            <a:endParaRPr lang="en-US" sz="15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Http(/ Web Services) Interceptors(Handlers &amp; Modules)</a:t>
            </a:r>
          </a:p>
          <a:p>
            <a:pPr marL="12700" marR="5080"/>
            <a:r>
              <a:rPr lang="en-IN" sz="1500" dirty="0">
                <a:hlinkClick r:id="rId9"/>
              </a:rPr>
              <a:t>asp.net - HTTP handler vs HTTP module - Stack Overflow</a:t>
            </a:r>
            <a:endParaRPr lang="en-IN" sz="1500" dirty="0"/>
          </a:p>
          <a:p>
            <a:pPr marL="12700" marR="5080"/>
            <a:r>
              <a:rPr lang="en-US" sz="1500" dirty="0">
                <a:hlinkClick r:id="rId10"/>
              </a:rPr>
              <a:t>The Two Interceptors: </a:t>
            </a:r>
            <a:r>
              <a:rPr lang="en-US" sz="1500" dirty="0" err="1">
                <a:hlinkClick r:id="rId10"/>
              </a:rPr>
              <a:t>HttpModule</a:t>
            </a:r>
            <a:r>
              <a:rPr lang="en-US" sz="1500" dirty="0">
                <a:hlinkClick r:id="rId10"/>
              </a:rPr>
              <a:t> and </a:t>
            </a:r>
            <a:r>
              <a:rPr lang="en-US" sz="1500" dirty="0" err="1">
                <a:hlinkClick r:id="rId10"/>
              </a:rPr>
              <a:t>HttpHandlers</a:t>
            </a:r>
            <a:r>
              <a:rPr lang="en-US" sz="1500" dirty="0">
                <a:hlinkClick r:id="rId10"/>
              </a:rPr>
              <a:t>- </a:t>
            </a:r>
            <a:r>
              <a:rPr lang="en-US" sz="1500" dirty="0" err="1">
                <a:hlinkClick r:id="rId10"/>
              </a:rPr>
              <a:t>CodeProject</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1500" dirty="0">
                <a:hlinkClick r:id="rId7"/>
              </a:rPr>
              <a:t>Understand Advanced </a:t>
            </a:r>
            <a:r>
              <a:rPr lang="en-US" sz="1500" dirty="0" err="1">
                <a:hlinkClick r:id="rId7"/>
              </a:rPr>
              <a:t>AssemblyLoadContext</a:t>
            </a:r>
            <a:r>
              <a:rPr lang="en-US" sz="1500" dirty="0">
                <a:hlinkClick r:id="rId7"/>
              </a:rPr>
              <a:t> with C# | by Tsuyoshi Ushio | Medium</a:t>
            </a:r>
            <a:endParaRPr lang="en-US" sz="1500" dirty="0"/>
          </a:p>
          <a:p>
            <a:pPr marL="12700" marR="5080"/>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1500" kern="0" spc="-220" dirty="0">
                <a:solidFill>
                  <a:schemeClr val="accent6"/>
                </a:solidFill>
              </a:rPr>
              <a:t> </a:t>
            </a:r>
            <a:r>
              <a:rPr lang="en-US" sz="1500" dirty="0" err="1">
                <a:hlinkClick r:id="rId8"/>
              </a:rPr>
              <a:t>c#</a:t>
            </a:r>
            <a:r>
              <a:rPr lang="en-US" sz="1500" dirty="0">
                <a:hlinkClick r:id="rId8"/>
              </a:rPr>
              <a:t> - Replacing .NET </a:t>
            </a:r>
            <a:r>
              <a:rPr lang="en-US" sz="1500" dirty="0" err="1">
                <a:hlinkClick r:id="rId8"/>
              </a:rPr>
              <a:t>AppDomains</a:t>
            </a:r>
            <a:r>
              <a:rPr lang="en-US" sz="1500" dirty="0">
                <a:hlinkClick r:id="rId8"/>
              </a:rPr>
              <a:t> with </a:t>
            </a:r>
            <a:r>
              <a:rPr lang="en-US" sz="1500" dirty="0" err="1">
                <a:hlinkClick r:id="rId8"/>
              </a:rPr>
              <a:t>AssemblyLoadContexts</a:t>
            </a:r>
            <a:r>
              <a:rPr lang="en-US" sz="1500" dirty="0">
                <a:hlinkClick r:id="rId8"/>
              </a:rPr>
              <a:t> - Stack Overflow</a:t>
            </a:r>
            <a:endParaRPr lang="en-US" sz="1500" dirty="0"/>
          </a:p>
          <a:p>
            <a:pPr marL="12700" marR="5080"/>
            <a:r>
              <a:rPr lang="en-US" sz="1500" kern="0" spc="-220" dirty="0">
                <a:solidFill>
                  <a:schemeClr val="accent6"/>
                </a:solidFill>
              </a:rPr>
              <a:t>         </a:t>
            </a:r>
            <a:r>
              <a:rPr lang="en-US" sz="1500" dirty="0" err="1">
                <a:hlinkClick r:id="rId9"/>
              </a:rPr>
              <a:t>c#</a:t>
            </a:r>
            <a:r>
              <a:rPr lang="en-US" sz="1500" dirty="0">
                <a:hlinkClick r:id="rId9"/>
              </a:rPr>
              <a:t> - Does </a:t>
            </a:r>
            <a:r>
              <a:rPr lang="en-US" sz="1500" dirty="0" err="1">
                <a:hlinkClick r:id="rId9"/>
              </a:rPr>
              <a:t>AssemblyLoadContext</a:t>
            </a:r>
            <a:r>
              <a:rPr lang="en-US" sz="1500" dirty="0">
                <a:hlinkClick r:id="rId9"/>
              </a:rPr>
              <a:t> isolate static variables? - Stack Overflow</a:t>
            </a:r>
            <a:r>
              <a:rPr lang="en-US" sz="1500" kern="0" spc="-220" dirty="0">
                <a:solidFill>
                  <a:schemeClr val="accent6"/>
                </a:solidFill>
              </a:rPr>
              <a:t>      </a:t>
            </a:r>
          </a:p>
          <a:p>
            <a:pPr marL="12700" marR="5080"/>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1500" dirty="0">
                <a:hlinkClick r:id="rId10"/>
              </a:rPr>
              <a:t>From Zero to Proficient with MEF- </a:t>
            </a:r>
            <a:r>
              <a:rPr lang="en-US" sz="1500" dirty="0" err="1">
                <a:hlinkClick r:id="rId10"/>
              </a:rPr>
              <a:t>CodeProject</a:t>
            </a:r>
            <a:endParaRPr lang="en-US" sz="1500" dirty="0"/>
          </a:p>
          <a:p>
            <a:pPr marL="12700" marR="5080"/>
            <a:r>
              <a:rPr lang="en-IN" sz="1500" dirty="0" err="1">
                <a:hlinkClick r:id="rId11"/>
              </a:rPr>
              <a:t>Anuraj</a:t>
            </a:r>
            <a:r>
              <a:rPr lang="en-IN" sz="1500" dirty="0">
                <a:hlinkClick r:id="rId11"/>
              </a:rPr>
              <a:t> - Using MEF in .NET Core</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1509459496"/>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Language workbench - Wikipedia</a:t>
                      </a:r>
                      <a:endParaRPr lang="en-IN" sz="1400" dirty="0"/>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59531" y="407027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An External DSL Example –</a:t>
            </a:r>
            <a:r>
              <a:rPr lang="en-US" sz="1800" kern="0" spc="-80" dirty="0">
                <a:solidFill>
                  <a:schemeClr val="accent6"/>
                </a:solidFill>
              </a:rPr>
              <a:t> </a:t>
            </a:r>
          </a:p>
          <a:p>
            <a:pPr marL="12700" marR="5080"/>
            <a:r>
              <a:rPr lang="en-US" sz="1500" dirty="0">
                <a:hlinkClick r:id="rId8"/>
              </a:rPr>
              <a:t>GitHub - sandipray63in/</a:t>
            </a:r>
            <a:r>
              <a:rPr lang="en-US" sz="1500" dirty="0" err="1">
                <a:hlinkClick r:id="rId8"/>
              </a:rPr>
              <a:t>MerchantsGuideToGalaxy</a:t>
            </a:r>
            <a:r>
              <a:rPr lang="en-US" sz="1500" dirty="0">
                <a:hlinkClick r:id="rId8"/>
              </a:rPr>
              <a:t>: Merchant's Guide to Galaxy Solution</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28600" y="5117068"/>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For Further Exploration - </a:t>
            </a:r>
          </a:p>
          <a:p>
            <a:pPr marL="12700" marR="5080"/>
            <a:r>
              <a:rPr lang="en-US" sz="1500" dirty="0">
                <a:hlinkClick r:id="rId9"/>
              </a:rPr>
              <a:t>How does </a:t>
            </a:r>
            <a:r>
              <a:rPr lang="en-US" sz="1500" dirty="0" err="1">
                <a:hlinkClick r:id="rId9"/>
              </a:rPr>
              <a:t>graphQL</a:t>
            </a:r>
            <a:r>
              <a:rPr lang="en-US" sz="1500" dirty="0">
                <a:hlinkClick r:id="rId9"/>
              </a:rPr>
              <a:t> work anyway?. Understand how </a:t>
            </a:r>
            <a:r>
              <a:rPr lang="en-US" sz="1500" dirty="0" err="1">
                <a:hlinkClick r:id="rId9"/>
              </a:rPr>
              <a:t>graphQL</a:t>
            </a:r>
            <a:r>
              <a:rPr lang="en-US" sz="1500" dirty="0">
                <a:hlinkClick r:id="rId9"/>
              </a:rPr>
              <a:t> query execution… | by Rajesh Babu | Medium</a:t>
            </a:r>
            <a:r>
              <a:rPr lang="en-US" sz="15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1500" dirty="0">
                <a:hlinkClick r:id="rId7"/>
              </a:rPr>
              <a:t>Free </a:t>
            </a:r>
            <a:r>
              <a:rPr lang="en-US" sz="1500" dirty="0" err="1">
                <a:hlinkClick r:id="rId7"/>
              </a:rPr>
              <a:t>Ebook</a:t>
            </a:r>
            <a:r>
              <a:rPr lang="en-US" sz="1500" dirty="0">
                <a:hlinkClick r:id="rId7"/>
              </a:rPr>
              <a:t> - NuGet </a:t>
            </a:r>
            <a:r>
              <a:rPr lang="en-US" sz="1500">
                <a:hlinkClick r:id="rId7"/>
              </a:rPr>
              <a:t>In-House Succinctly</a:t>
            </a:r>
            <a:r>
              <a:rPr lang="en-US" sz="2400" kern="0" spc="-220">
                <a:solidFill>
                  <a:schemeClr val="accent6"/>
                </a:solidFill>
              </a:rPr>
              <a:t>)</a:t>
            </a:r>
            <a:endParaRPr lang="en-US" sz="2400" kern="0" spc="-220" dirty="0">
              <a:solidFill>
                <a:schemeClr val="accent6"/>
              </a:solidFill>
            </a:endParaRP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55509577"/>
              </p:ext>
            </p:extLst>
          </p:nvPr>
        </p:nvGraphicFramePr>
        <p:xfrm>
          <a:off x="218516" y="1"/>
          <a:ext cx="8716300" cy="3047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209184" y="304800"/>
            <a:ext cx="8624937" cy="635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800" dirty="0" err="1">
                <a:hlinkClick r:id="rId7"/>
              </a:rPr>
              <a:t>Category:Programming</a:t>
            </a:r>
            <a:r>
              <a:rPr lang="en-IN" sz="800" dirty="0">
                <a:hlinkClick r:id="rId7"/>
              </a:rPr>
              <a:t> Tasks - Rosetta Code</a:t>
            </a:r>
            <a:r>
              <a:rPr lang="en-US" sz="800" kern="0" spc="-220" dirty="0">
                <a:solidFill>
                  <a:schemeClr val="accent6"/>
                </a:solidFill>
              </a:rPr>
              <a:t> </a:t>
            </a:r>
          </a:p>
          <a:p>
            <a:pPr marL="12700" marR="5080"/>
            <a:r>
              <a:rPr lang="en-US" sz="800" dirty="0">
                <a:hlinkClick r:id="rId8"/>
              </a:rPr>
              <a:t>GitHub - </a:t>
            </a:r>
            <a:r>
              <a:rPr lang="en-US" sz="800" dirty="0" err="1">
                <a:hlinkClick r:id="rId8"/>
              </a:rPr>
              <a:t>gamontal</a:t>
            </a:r>
            <a:r>
              <a:rPr lang="en-US" sz="800" dirty="0">
                <a:hlinkClick r:id="rId8"/>
              </a:rPr>
              <a:t>/awesome-katas: A curated list of code katas</a:t>
            </a:r>
            <a:endParaRPr lang="en-US" sz="800" dirty="0"/>
          </a:p>
          <a:p>
            <a:pPr marL="12700" marR="5080"/>
            <a:r>
              <a:rPr lang="en-US" sz="800" dirty="0">
                <a:hlinkClick r:id="rId9"/>
              </a:rPr>
              <a:t>Coding Challenges | John </a:t>
            </a:r>
            <a:r>
              <a:rPr lang="en-US" sz="800" dirty="0" err="1">
                <a:hlinkClick r:id="rId9"/>
              </a:rPr>
              <a:t>Crickett</a:t>
            </a:r>
            <a:r>
              <a:rPr lang="en-US" sz="800" dirty="0">
                <a:hlinkClick r:id="rId9"/>
              </a:rPr>
              <a:t> | Substack</a:t>
            </a:r>
            <a:endParaRPr lang="en-US" sz="800" dirty="0"/>
          </a:p>
          <a:p>
            <a:pPr marL="12700" marR="5080"/>
            <a:r>
              <a:rPr lang="en-US" sz="800" dirty="0">
                <a:hlinkClick r:id="rId10"/>
              </a:rPr>
              <a:t>Clean Code Cheat Sheet – planetgeek.ch</a:t>
            </a:r>
            <a:endParaRPr lang="en-US" sz="800" dirty="0"/>
          </a:p>
          <a:p>
            <a:pPr marL="12700" marR="5080"/>
            <a:r>
              <a:rPr lang="en-US" sz="800" dirty="0">
                <a:hlinkClick r:id="rId11"/>
              </a:rPr>
              <a:t>GitHub - ashishps1/awesome-low-level-design: Learn Low Level Design (LLD) and prepare for interviews using free resources.</a:t>
            </a:r>
            <a:endParaRPr lang="en-US" sz="800" dirty="0"/>
          </a:p>
          <a:p>
            <a:pPr marL="12700" marR="5080"/>
            <a:r>
              <a:rPr lang="en-US" sz="800" dirty="0">
                <a:hlinkClick r:id="rId12"/>
              </a:rPr>
              <a:t>GitHub - </a:t>
            </a:r>
            <a:r>
              <a:rPr lang="en-US" sz="800" dirty="0" err="1">
                <a:hlinkClick r:id="rId12"/>
              </a:rPr>
              <a:t>prasadgujar</a:t>
            </a:r>
            <a:r>
              <a:rPr lang="en-US" sz="800" dirty="0">
                <a:hlinkClick r:id="rId12"/>
              </a:rPr>
              <a:t>/low-level-design-primer: Dedicated Resources for the Low-Level System Design. Learn how to design and implement large-scale systems. Prep for the system design interview.</a:t>
            </a:r>
            <a:endParaRPr lang="en-US" sz="800" dirty="0"/>
          </a:p>
          <a:p>
            <a:pPr marL="12700" marR="5080"/>
            <a:r>
              <a:rPr lang="en-IN" sz="800" dirty="0">
                <a:hlinkClick r:id="rId13"/>
              </a:rPr>
              <a:t>C# in a Nutshell</a:t>
            </a:r>
            <a:endParaRPr lang="en-US" sz="800" dirty="0"/>
          </a:p>
          <a:p>
            <a:pPr marL="12700" marR="5080"/>
            <a:r>
              <a:rPr lang="en-US" sz="800" dirty="0">
                <a:hlinkClick r:id="rId14"/>
              </a:rPr>
              <a:t>GitHub - </a:t>
            </a:r>
            <a:r>
              <a:rPr lang="en-US" sz="800" dirty="0" err="1">
                <a:hlinkClick r:id="rId14"/>
              </a:rPr>
              <a:t>markjprice</a:t>
            </a:r>
            <a:r>
              <a:rPr lang="en-US" sz="800" dirty="0">
                <a:hlinkClick r:id="rId14"/>
              </a:rPr>
              <a:t>/apps-services-net8: Repository for the </a:t>
            </a:r>
            <a:r>
              <a:rPr lang="en-US" sz="800" dirty="0" err="1">
                <a:hlinkClick r:id="rId14"/>
              </a:rPr>
              <a:t>Packt</a:t>
            </a:r>
            <a:r>
              <a:rPr lang="en-US" sz="800" dirty="0">
                <a:hlinkClick r:id="rId14"/>
              </a:rPr>
              <a:t> Publishing book titled "Apps and Services with .NET 8" by Mark J. Price</a:t>
            </a:r>
            <a:endParaRPr lang="en-US" sz="800" dirty="0"/>
          </a:p>
          <a:p>
            <a:pPr marL="12700" marR="5080"/>
            <a:r>
              <a:rPr lang="en-US" sz="800" dirty="0">
                <a:hlinkClick r:id="rId15"/>
              </a:rPr>
              <a:t>GitHub - </a:t>
            </a:r>
            <a:r>
              <a:rPr lang="en-US" sz="800" dirty="0" err="1">
                <a:hlinkClick r:id="rId15"/>
              </a:rPr>
              <a:t>markjprice</a:t>
            </a:r>
            <a:r>
              <a:rPr lang="en-US" sz="800" dirty="0">
                <a:hlinkClick r:id="rId15"/>
              </a:rPr>
              <a:t>/cs12dotnet8: Repository for the </a:t>
            </a:r>
            <a:r>
              <a:rPr lang="en-US" sz="800" dirty="0" err="1">
                <a:hlinkClick r:id="rId15"/>
              </a:rPr>
              <a:t>Packt</a:t>
            </a:r>
            <a:r>
              <a:rPr lang="en-US" sz="800" dirty="0">
                <a:hlinkClick r:id="rId15"/>
              </a:rPr>
              <a:t> Publishing book titled "C# 12 and .NET 8 - Modern Cross-Platform Development Fundamentals" by Mark J. Price</a:t>
            </a:r>
            <a:endParaRPr lang="en-US" sz="800" dirty="0"/>
          </a:p>
          <a:p>
            <a:pPr marL="12700" marR="5080"/>
            <a:r>
              <a:rPr lang="en-IN" sz="800" dirty="0">
                <a:hlinkClick r:id="rId16"/>
              </a:rPr>
              <a:t>C# | Version History </a:t>
            </a:r>
            <a:r>
              <a:rPr lang="en-IN" sz="800" dirty="0">
                <a:hlinkClick r:id="rId7"/>
              </a:rPr>
              <a:t>–</a:t>
            </a:r>
            <a:r>
              <a:rPr lang="en-IN" sz="800" dirty="0">
                <a:hlinkClick r:id="rId16"/>
              </a:rPr>
              <a:t> </a:t>
            </a:r>
            <a:r>
              <a:rPr lang="en-IN" sz="800" dirty="0" err="1">
                <a:hlinkClick r:id="rId16"/>
              </a:rPr>
              <a:t>GeeksforGeeks</a:t>
            </a:r>
            <a:endParaRPr lang="en-IN" sz="800" dirty="0"/>
          </a:p>
          <a:p>
            <a:pPr marL="12700" marR="5080"/>
            <a:r>
              <a:rPr lang="en-US" sz="800" dirty="0">
                <a:hlinkClick r:id="rId17"/>
              </a:rPr>
              <a:t>What's new in C# 13 | Microsoft Learn</a:t>
            </a:r>
            <a:endParaRPr lang="en-IN" sz="800" dirty="0"/>
          </a:p>
          <a:p>
            <a:pPr marL="12700" marR="5080"/>
            <a:r>
              <a:rPr lang="en-US" sz="800" dirty="0" err="1">
                <a:hlinkClick r:id="rId18"/>
              </a:rPr>
              <a:t>c#</a:t>
            </a:r>
            <a:r>
              <a:rPr lang="en-US" sz="800" dirty="0">
                <a:hlinkClick r:id="rId18"/>
              </a:rPr>
              <a:t> - how do I chunk an enumerable? - Stack Overflow</a:t>
            </a:r>
            <a:endParaRPr lang="en-US" sz="800" dirty="0"/>
          </a:p>
          <a:p>
            <a:pPr marL="12700" marR="5080"/>
            <a:r>
              <a:rPr lang="en-US" sz="800" dirty="0">
                <a:hlinkClick r:id="rId19"/>
              </a:rPr>
              <a:t>How To Write Elegant Code with C# Switch Expressions</a:t>
            </a:r>
            <a:endParaRPr lang="en-US" sz="800" dirty="0"/>
          </a:p>
          <a:p>
            <a:pPr marL="12700" marR="5080"/>
            <a:r>
              <a:rPr lang="en-US" sz="800" dirty="0">
                <a:hlinkClick r:id="rId20"/>
              </a:rPr>
              <a:t>Declare and use C# primary constructors in classes and structs | Microsoft Learn</a:t>
            </a:r>
            <a:endParaRPr lang="en-US" sz="800" dirty="0"/>
          </a:p>
          <a:p>
            <a:pPr marL="12700" marR="5080"/>
            <a:r>
              <a:rPr lang="en-US" sz="800" dirty="0">
                <a:hlinkClick r:id="rId21"/>
              </a:rPr>
              <a:t>Deconstructing tuples and other types - C# | Microsoft Learn</a:t>
            </a:r>
            <a:endParaRPr lang="en-US" sz="800" dirty="0"/>
          </a:p>
          <a:p>
            <a:pPr marL="12700" marR="5080"/>
            <a:r>
              <a:rPr lang="en-US" sz="800" dirty="0">
                <a:hlinkClick r:id="rId22"/>
              </a:rPr>
              <a:t>asynchronous - Why would one use Task&lt;T&gt; over </a:t>
            </a:r>
            <a:r>
              <a:rPr lang="en-US" sz="800" dirty="0" err="1">
                <a:hlinkClick r:id="rId22"/>
              </a:rPr>
              <a:t>ValueTask</a:t>
            </a:r>
            <a:r>
              <a:rPr lang="en-US" sz="800" dirty="0">
                <a:hlinkClick r:id="rId22"/>
              </a:rPr>
              <a:t>&lt;T&gt; in C#? - Stack Overflow</a:t>
            </a:r>
            <a:endParaRPr lang="en-US" sz="800" dirty="0"/>
          </a:p>
          <a:p>
            <a:pPr marL="12700" marR="5080"/>
            <a:r>
              <a:rPr lang="en-US" sz="800" dirty="0">
                <a:hlinkClick r:id="rId23"/>
              </a:rPr>
              <a:t>C# — Optimize Performance with Span and Memory | by Keyur </a:t>
            </a:r>
            <a:r>
              <a:rPr lang="en-US" sz="800" dirty="0" err="1">
                <a:hlinkClick r:id="rId23"/>
              </a:rPr>
              <a:t>Ramoliya</a:t>
            </a:r>
            <a:r>
              <a:rPr lang="en-US" sz="800" dirty="0">
                <a:hlinkClick r:id="rId23"/>
              </a:rPr>
              <a:t> | Medium</a:t>
            </a:r>
            <a:endParaRPr lang="en-US" sz="800" dirty="0"/>
          </a:p>
          <a:p>
            <a:pPr marL="12700" marR="5080"/>
            <a:r>
              <a:rPr lang="en-IN" sz="800" dirty="0">
                <a:hlinkClick r:id="rId24"/>
              </a:rPr>
              <a:t>C# Interview Questions | LinkedIn</a:t>
            </a:r>
            <a:endParaRPr lang="en-US" sz="800" dirty="0"/>
          </a:p>
          <a:p>
            <a:pPr marL="12700" marR="5080"/>
            <a:r>
              <a:rPr lang="en-US" sz="800" dirty="0">
                <a:hlinkClick r:id="rId25"/>
              </a:rPr>
              <a:t>GitHub - </a:t>
            </a:r>
            <a:r>
              <a:rPr lang="en-US" sz="800" dirty="0" err="1">
                <a:hlinkClick r:id="rId25"/>
              </a:rPr>
              <a:t>miholler</a:t>
            </a:r>
            <a:r>
              <a:rPr lang="en-US" sz="800" dirty="0">
                <a:hlinkClick r:id="rId25"/>
              </a:rPr>
              <a:t>/</a:t>
            </a:r>
            <a:r>
              <a:rPr lang="en-US" sz="800" dirty="0" err="1">
                <a:hlinkClick r:id="rId25"/>
              </a:rPr>
              <a:t>NSpecifications</a:t>
            </a:r>
            <a:r>
              <a:rPr lang="en-US" sz="800" dirty="0">
                <a:hlinkClick r:id="rId25"/>
              </a:rPr>
              <a:t>: Specification Pattern for </a:t>
            </a:r>
            <a:r>
              <a:rPr lang="en-US" sz="800" dirty="0" err="1">
                <a:hlinkClick r:id="rId25"/>
              </a:rPr>
              <a:t>.Net</a:t>
            </a:r>
            <a:endParaRPr lang="en-US" sz="800" dirty="0"/>
          </a:p>
          <a:p>
            <a:pPr marL="12700" marR="5080"/>
            <a:r>
              <a:rPr lang="en-US" sz="800" dirty="0" err="1">
                <a:hlinkClick r:id="rId26"/>
              </a:rPr>
              <a:t>c#</a:t>
            </a:r>
            <a:r>
              <a:rPr lang="en-US" sz="800" dirty="0">
                <a:hlinkClick r:id="rId26"/>
              </a:rPr>
              <a:t> - Specification Pattern vs (Fluent) Validation - Stack Overflow</a:t>
            </a:r>
            <a:endParaRPr lang="en-US" sz="800" dirty="0"/>
          </a:p>
          <a:p>
            <a:pPr marL="12700" marR="5080"/>
            <a:r>
              <a:rPr lang="en-US" sz="800" dirty="0">
                <a:hlinkClick r:id="rId27"/>
              </a:rPr>
              <a:t>Creating a .NET Cron Job for Kubernetes | </a:t>
            </a:r>
            <a:r>
              <a:rPr lang="en-US" sz="800" dirty="0" err="1">
                <a:hlinkClick r:id="rId27"/>
              </a:rPr>
              <a:t>benbrougher.tech</a:t>
            </a:r>
            <a:endParaRPr lang="en-US" sz="800" dirty="0"/>
          </a:p>
          <a:p>
            <a:pPr marL="12700" marR="5080"/>
            <a:r>
              <a:rPr lang="en-IN" sz="800" dirty="0">
                <a:hlinkClick r:id="rId28"/>
              </a:rPr>
              <a:t>The Ultimate Kubernetes </a:t>
            </a:r>
            <a:r>
              <a:rPr lang="en-IN" sz="800" dirty="0" err="1">
                <a:hlinkClick r:id="rId28"/>
              </a:rPr>
              <a:t>CronJob</a:t>
            </a:r>
            <a:r>
              <a:rPr lang="en-IN" sz="800" dirty="0">
                <a:hlinkClick r:id="rId28"/>
              </a:rPr>
              <a:t> Guide</a:t>
            </a:r>
            <a:endParaRPr lang="en-IN" sz="800" dirty="0"/>
          </a:p>
          <a:p>
            <a:pPr marL="12700" marR="5080"/>
            <a:r>
              <a:rPr lang="en-IN" sz="800" dirty="0">
                <a:hlinkClick r:id="rId29"/>
              </a:rPr>
              <a:t>Must Know Data Structures | LinkedIn</a:t>
            </a:r>
            <a:endParaRPr lang="en-IN" sz="800" dirty="0"/>
          </a:p>
          <a:p>
            <a:pPr marL="12700" marR="5080"/>
            <a:r>
              <a:rPr lang="en-US" sz="800" dirty="0">
                <a:hlinkClick r:id="rId30"/>
              </a:rPr>
              <a:t>Data Structures and Algorithms Roadmap</a:t>
            </a:r>
            <a:endParaRPr lang="en-IN" sz="800" dirty="0"/>
          </a:p>
          <a:p>
            <a:pPr marL="12700" marR="5080"/>
            <a:r>
              <a:rPr lang="en-IN" sz="800" dirty="0">
                <a:hlinkClick r:id="rId31"/>
              </a:rPr>
              <a:t>Coding Interview Patterns LinkedIn</a:t>
            </a:r>
            <a:endParaRPr lang="en-IN" sz="800" dirty="0"/>
          </a:p>
          <a:p>
            <a:pPr marL="12700" marR="5080"/>
            <a:r>
              <a:rPr lang="en-IN" sz="800" dirty="0">
                <a:hlinkClick r:id="rId32"/>
              </a:rPr>
              <a:t>Coding Problems Patterns | LinkedIn</a:t>
            </a:r>
            <a:endParaRPr lang="en-IN" sz="800" dirty="0"/>
          </a:p>
          <a:p>
            <a:pPr marL="12700" marR="5080"/>
            <a:r>
              <a:rPr lang="en-US" sz="800" dirty="0">
                <a:hlinkClick r:id="rId33"/>
              </a:rPr>
              <a:t>GitHub - ashishps1/awesome-</a:t>
            </a:r>
            <a:r>
              <a:rPr lang="en-US" sz="800" dirty="0" err="1">
                <a:hlinkClick r:id="rId33"/>
              </a:rPr>
              <a:t>leetcode</a:t>
            </a:r>
            <a:r>
              <a:rPr lang="en-US" sz="800" dirty="0">
                <a:hlinkClick r:id="rId33"/>
              </a:rPr>
              <a:t>-resources: Awesome </a:t>
            </a:r>
            <a:r>
              <a:rPr lang="en-US" sz="800" dirty="0" err="1">
                <a:hlinkClick r:id="rId33"/>
              </a:rPr>
              <a:t>LeetCode</a:t>
            </a:r>
            <a:r>
              <a:rPr lang="en-US" sz="800" dirty="0">
                <a:hlinkClick r:id="rId33"/>
              </a:rPr>
              <a:t> resources to learn Data Structures and Algorithms and prepare for Coding Interviews.</a:t>
            </a:r>
            <a:endParaRPr lang="en-US" sz="800" dirty="0"/>
          </a:p>
          <a:p>
            <a:pPr marL="12700" marR="5080"/>
            <a:r>
              <a:rPr lang="en-US" sz="800" dirty="0">
                <a:hlinkClick r:id="rId34"/>
              </a:rPr>
              <a:t>Technical Interview Guide for Busy Engineers | Tech Interview Handbook</a:t>
            </a:r>
            <a:r>
              <a:rPr lang="en-US" sz="800" dirty="0"/>
              <a:t> </a:t>
            </a:r>
            <a:endParaRPr lang="en-IN" sz="800" dirty="0"/>
          </a:p>
          <a:p>
            <a:pPr marL="12700" marR="5080"/>
            <a:r>
              <a:rPr lang="en-US" sz="800" dirty="0">
                <a:hlinkClick r:id="rId35"/>
              </a:rPr>
              <a:t>GitHub - </a:t>
            </a:r>
            <a:r>
              <a:rPr lang="en-US" sz="800" dirty="0" err="1">
                <a:hlinkClick r:id="rId35"/>
              </a:rPr>
              <a:t>PacktPublishing</a:t>
            </a:r>
            <a:r>
              <a:rPr lang="en-US" sz="800" dirty="0">
                <a:hlinkClick r:id="rId35"/>
              </a:rPr>
              <a:t>/Systems-Programming-with-C-Sharp-and-.NET: , published by </a:t>
            </a:r>
            <a:r>
              <a:rPr lang="en-US" sz="800" dirty="0" err="1">
                <a:hlinkClick r:id="rId35"/>
              </a:rPr>
              <a:t>Packt</a:t>
            </a:r>
            <a:endParaRPr lang="en-US" sz="800" dirty="0"/>
          </a:p>
          <a:p>
            <a:pPr marL="12700" marR="5080"/>
            <a:r>
              <a:rPr lang="it-IT" sz="800" dirty="0">
                <a:hlinkClick r:id="rId36"/>
              </a:rPr>
              <a:t>Native interoperability - .NET | Microsoft Learn</a:t>
            </a:r>
            <a:endParaRPr lang="it-IT" sz="800" dirty="0"/>
          </a:p>
          <a:p>
            <a:pPr marL="12700" marR="5080"/>
            <a:r>
              <a:rPr lang="en-US" sz="800" dirty="0">
                <a:hlinkClick r:id="rId37"/>
              </a:rPr>
              <a:t>GitHub - </a:t>
            </a:r>
            <a:r>
              <a:rPr lang="en-US" sz="800" dirty="0" err="1">
                <a:hlinkClick r:id="rId37"/>
              </a:rPr>
              <a:t>ziishaned</a:t>
            </a:r>
            <a:r>
              <a:rPr lang="en-US" sz="800" dirty="0">
                <a:hlinkClick r:id="rId37"/>
              </a:rPr>
              <a:t>/learn-regex: Learn regex the easy way</a:t>
            </a:r>
            <a:endParaRPr lang="en-US" sz="800" dirty="0"/>
          </a:p>
          <a:p>
            <a:pPr marL="12700" marR="5080"/>
            <a:r>
              <a:rPr lang="en-US" sz="800" dirty="0">
                <a:hlinkClick r:id="rId38"/>
              </a:rPr>
              <a:t>Free Programming Books – GoalKicker.com</a:t>
            </a:r>
            <a:r>
              <a:rPr lang="en-US" sz="800" dirty="0"/>
              <a:t> </a:t>
            </a:r>
          </a:p>
          <a:p>
            <a:pPr marL="12700" marR="5080"/>
            <a:r>
              <a:rPr lang="en-US" sz="800" dirty="0">
                <a:hlinkClick r:id="rId39"/>
              </a:rPr>
              <a:t>Regular Expressions Cookbook, 2nd Edition[Book]</a:t>
            </a:r>
            <a:endParaRPr lang="en-US" sz="800" dirty="0"/>
          </a:p>
          <a:p>
            <a:pPr marL="12700" marR="5080"/>
            <a:r>
              <a:rPr lang="en-IN" sz="800" dirty="0">
                <a:hlinkClick r:id="rId40"/>
              </a:rPr>
              <a:t>GitHub - PacktPublishing/High-Performance-Programming-in-C-Sharp-and-.NET</a:t>
            </a:r>
            <a:endParaRPr lang="en-IN" sz="800" dirty="0"/>
          </a:p>
          <a:p>
            <a:pPr marL="12700" marR="5080"/>
            <a:r>
              <a:rPr lang="en-US" sz="800" dirty="0">
                <a:hlinkClick r:id="rId41"/>
              </a:rPr>
              <a:t>GitHub - </a:t>
            </a:r>
            <a:r>
              <a:rPr lang="en-US" sz="800" dirty="0" err="1">
                <a:hlinkClick r:id="rId41"/>
              </a:rPr>
              <a:t>milanm</a:t>
            </a:r>
            <a:r>
              <a:rPr lang="en-US" sz="800" dirty="0">
                <a:hlinkClick r:id="rId41"/>
              </a:rPr>
              <a:t>/</a:t>
            </a:r>
            <a:r>
              <a:rPr lang="en-US" sz="800" dirty="0" err="1">
                <a:hlinkClick r:id="rId41"/>
              </a:rPr>
              <a:t>DotNet</a:t>
            </a:r>
            <a:r>
              <a:rPr lang="en-US" sz="800" dirty="0">
                <a:hlinkClick r:id="rId41"/>
              </a:rPr>
              <a:t>-Developer-Roadmap: The comprehensive .NET Developer Roadmap by seniority level.</a:t>
            </a:r>
            <a:endParaRPr lang="en-US" sz="800" dirty="0"/>
          </a:p>
          <a:p>
            <a:pPr marL="12700" marR="5080"/>
            <a:r>
              <a:rPr lang="en-IN" sz="800" dirty="0" err="1">
                <a:hlinkClick r:id="rId42"/>
              </a:rPr>
              <a:t>Postgre</a:t>
            </a:r>
            <a:r>
              <a:rPr lang="en-IN" sz="800" dirty="0">
                <a:hlinkClick r:id="rId42"/>
              </a:rPr>
              <a:t> </a:t>
            </a:r>
            <a:r>
              <a:rPr lang="en-IN" sz="800" dirty="0" err="1">
                <a:hlinkClick r:id="rId42"/>
              </a:rPr>
              <a:t>Sql</a:t>
            </a:r>
            <a:r>
              <a:rPr lang="en-IN" sz="800" dirty="0">
                <a:hlinkClick r:id="rId42"/>
              </a:rPr>
              <a:t> Query Execution Flow| LinkedIn</a:t>
            </a:r>
            <a:endParaRPr lang="en-IN" sz="800" dirty="0"/>
          </a:p>
          <a:p>
            <a:pPr marL="12700" marR="5080"/>
            <a:r>
              <a:rPr lang="en-IN" sz="800" dirty="0">
                <a:hlinkClick r:id="rId43"/>
              </a:rPr>
              <a:t>Free Postgres SQL Internals Book </a:t>
            </a:r>
            <a:endParaRPr lang="en-IN" sz="800" dirty="0"/>
          </a:p>
          <a:p>
            <a:pPr marL="12700" marR="5080"/>
            <a:r>
              <a:rPr lang="en-US" sz="800" dirty="0">
                <a:hlinkClick r:id="rId44"/>
              </a:rPr>
              <a:t>GATE CS Notes (According to GATE 2025 Syllabus) </a:t>
            </a:r>
            <a:r>
              <a:rPr lang="en-US" sz="800" dirty="0">
                <a:hlinkClick r:id="rId45"/>
              </a:rPr>
              <a:t>–</a:t>
            </a:r>
            <a:r>
              <a:rPr lang="en-US" sz="800" dirty="0">
                <a:hlinkClick r:id="rId44"/>
              </a:rPr>
              <a:t> </a:t>
            </a:r>
            <a:r>
              <a:rPr lang="en-US" sz="800" dirty="0" err="1">
                <a:hlinkClick r:id="rId44"/>
              </a:rPr>
              <a:t>GeeksforGeeks</a:t>
            </a:r>
            <a:endParaRPr lang="en-US" sz="800" dirty="0"/>
          </a:p>
          <a:p>
            <a:pPr marL="12700" marR="5080"/>
            <a:r>
              <a:rPr lang="en-US" sz="800" dirty="0">
                <a:hlinkClick r:id="rId46"/>
              </a:rPr>
              <a:t>Computer Science Roadmap: Curriculum for the self taught developer</a:t>
            </a:r>
            <a:endParaRPr lang="en-US" sz="800" dirty="0"/>
          </a:p>
          <a:p>
            <a:pPr marL="12700" marR="5080"/>
            <a:r>
              <a:rPr lang="en-US" sz="800" dirty="0">
                <a:hlinkClick r:id="rId47"/>
              </a:rPr>
              <a:t>GitHub - </a:t>
            </a:r>
            <a:r>
              <a:rPr lang="en-US" sz="800" dirty="0" err="1">
                <a:hlinkClick r:id="rId47"/>
              </a:rPr>
              <a:t>jwasham</a:t>
            </a:r>
            <a:r>
              <a:rPr lang="en-US" sz="800" dirty="0">
                <a:hlinkClick r:id="rId47"/>
              </a:rPr>
              <a:t>/coding-interview-university: A complete computer science study plan to become a software engineer.</a:t>
            </a:r>
            <a:endParaRPr lang="en-US" sz="800" dirty="0"/>
          </a:p>
          <a:p>
            <a:pPr marL="12700" marR="5080"/>
            <a:r>
              <a:rPr lang="en-US" sz="800" dirty="0">
                <a:hlinkClick r:id="rId48"/>
              </a:rPr>
              <a:t>Make a Web Browser: Beginner's Guide</a:t>
            </a:r>
            <a:endParaRPr lang="en-US" sz="800" dirty="0"/>
          </a:p>
          <a:p>
            <a:pPr marL="12700" marR="5080"/>
            <a:r>
              <a:rPr lang="en-IN" sz="800" dirty="0">
                <a:hlinkClick r:id="rId49"/>
              </a:rPr>
              <a:t>Web Browser Engineering</a:t>
            </a:r>
            <a:endParaRPr lang="en-IN" sz="800" dirty="0"/>
          </a:p>
          <a:p>
            <a:pPr marL="12700" marR="5080"/>
            <a:r>
              <a:rPr lang="en-US" sz="800" dirty="0" err="1">
                <a:hlinkClick r:id="rId50"/>
              </a:rPr>
              <a:t>c#</a:t>
            </a:r>
            <a:r>
              <a:rPr lang="en-US" sz="800" dirty="0">
                <a:hlinkClick r:id="rId50"/>
              </a:rPr>
              <a:t> - Replacing .NET </a:t>
            </a:r>
            <a:r>
              <a:rPr lang="en-US" sz="800" dirty="0" err="1">
                <a:hlinkClick r:id="rId50"/>
              </a:rPr>
              <a:t>WebBrowser</a:t>
            </a:r>
            <a:r>
              <a:rPr lang="en-US" sz="800" dirty="0">
                <a:hlinkClick r:id="rId50"/>
              </a:rPr>
              <a:t> control with a better browser, like Chrome? - Stack Overflow</a:t>
            </a:r>
            <a:endParaRPr lang="en-US" sz="800" dirty="0"/>
          </a:p>
          <a:p>
            <a:pPr marL="12700" marR="5080"/>
            <a:r>
              <a:rPr lang="en-IN" sz="800" dirty="0">
                <a:hlinkClick r:id="rId51"/>
              </a:rPr>
              <a:t>Build Your Own X</a:t>
            </a:r>
            <a:endParaRPr lang="en-US" sz="800" dirty="0"/>
          </a:p>
          <a:p>
            <a:pPr marL="12700" marR="5080"/>
            <a:endParaRPr lang="en-US" sz="900" dirty="0"/>
          </a:p>
          <a:p>
            <a:pPr marL="12700" marR="5080"/>
            <a:endParaRPr lang="en-US" sz="900" dirty="0"/>
          </a:p>
          <a:p>
            <a:pPr marL="12700" marR="5080"/>
            <a:endParaRPr lang="en-US" sz="900" dirty="0"/>
          </a:p>
          <a:p>
            <a:pPr marL="12700" marR="5080"/>
            <a:endParaRPr lang="en-US" sz="900" kern="0" spc="-220" dirty="0">
              <a:solidFill>
                <a:schemeClr val="accent6"/>
              </a:solidFill>
            </a:endParaRP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939150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220" dirty="0">
                <a:solidFill>
                  <a:schemeClr val="accent6"/>
                </a:solidFill>
              </a:rPr>
              <a:t>COM </a:t>
            </a:r>
            <a:r>
              <a:rPr lang="en-US" sz="1700" kern="0" spc="-220" dirty="0" err="1">
                <a:solidFill>
                  <a:schemeClr val="accent6"/>
                </a:solidFill>
              </a:rPr>
              <a:t>InterOperability</a:t>
            </a:r>
            <a:r>
              <a:rPr lang="en-US" sz="1700" kern="0" spc="-220" dirty="0">
                <a:solidFill>
                  <a:schemeClr val="accent6"/>
                </a:solidFill>
              </a:rPr>
              <a:t> - fetch as much data as possible from COM  into RAM (memory) &amp; then do further processing .If needed use </a:t>
            </a:r>
            <a:r>
              <a:rPr lang="en-US" sz="1700" kern="0" spc="-220" dirty="0" err="1">
                <a:solidFill>
                  <a:schemeClr val="accent6"/>
                </a:solidFill>
              </a:rPr>
              <a:t>chunking.This</a:t>
            </a:r>
            <a:r>
              <a:rPr lang="en-US" sz="1700" kern="0" spc="-220" dirty="0">
                <a:solidFill>
                  <a:schemeClr val="accent6"/>
                </a:solidFill>
              </a:rPr>
              <a:t> is needed mainly to improve performance since COM calls are pretty slow.</a:t>
            </a:r>
          </a:p>
          <a:p>
            <a:pPr marL="12700" marR="5080"/>
            <a:endParaRPr lang="en-US" sz="1700" kern="0" spc="-220" dirty="0">
              <a:solidFill>
                <a:schemeClr val="accent6"/>
              </a:solidFill>
            </a:endParaRPr>
          </a:p>
          <a:p>
            <a:pPr marL="12700" marR="5080"/>
            <a:r>
              <a:rPr lang="en-US" sz="1700" kern="0" spc="-220" dirty="0" err="1">
                <a:solidFill>
                  <a:schemeClr val="accent6"/>
                </a:solidFill>
              </a:rPr>
              <a:t>NodeJs</a:t>
            </a:r>
            <a:r>
              <a:rPr lang="en-US" sz="1700" kern="0" spc="-220" dirty="0">
                <a:solidFill>
                  <a:schemeClr val="accent6"/>
                </a:solidFill>
              </a:rPr>
              <a:t> - by default async &amp; only partly STA[Single Threaded Application] – mainly used in IO intensive apps &amp; not much suitable for Compute[/CPU] intensive apps.</a:t>
            </a:r>
          </a:p>
          <a:p>
            <a:pPr marL="12700" marR="5080"/>
            <a:endParaRPr lang="en-US" sz="1700" kern="0" spc="-220" dirty="0">
              <a:solidFill>
                <a:schemeClr val="accent6"/>
              </a:solidFill>
            </a:endParaRPr>
          </a:p>
          <a:p>
            <a:pPr marL="12700" marR="5080"/>
            <a:r>
              <a:rPr lang="en-US" sz="1700" kern="0" spc="-220" dirty="0">
                <a:solidFill>
                  <a:schemeClr val="accent6"/>
                </a:solidFill>
              </a:rPr>
              <a:t>Python – check, List Comprehension &amp; </a:t>
            </a:r>
            <a:r>
              <a:rPr lang="en-US" sz="1700" kern="0" spc="-220" dirty="0" err="1">
                <a:solidFill>
                  <a:schemeClr val="accent6"/>
                </a:solidFill>
              </a:rPr>
              <a:t>Numpy</a:t>
            </a:r>
            <a:r>
              <a:rPr lang="en-US" sz="1700" kern="0" spc="-220" dirty="0">
                <a:solidFill>
                  <a:schemeClr val="accent6"/>
                </a:solidFill>
              </a:rPr>
              <a:t> Multi-Dimensional Array.</a:t>
            </a:r>
          </a:p>
          <a:p>
            <a:pPr marL="12700" marR="5080"/>
            <a:endParaRPr lang="en-US" sz="1700" kern="0" spc="-220" dirty="0">
              <a:solidFill>
                <a:schemeClr val="accent6"/>
              </a:solidFill>
            </a:endParaRPr>
          </a:p>
          <a:p>
            <a:pPr marL="12700" marR="5080"/>
            <a:r>
              <a:rPr lang="en-US" sz="1700" kern="0" spc="-220" dirty="0">
                <a:solidFill>
                  <a:schemeClr val="accent6"/>
                </a:solidFill>
              </a:rPr>
              <a:t>Java - doesn’t have Exception Bubbling &amp; async-await </a:t>
            </a:r>
            <a:r>
              <a:rPr lang="en-US" sz="1700" kern="0" spc="-220" dirty="0">
                <a:solidFill>
                  <a:schemeClr val="tx2">
                    <a:lumMod val="60000"/>
                    <a:lumOff val="40000"/>
                  </a:schemeClr>
                </a:solidFill>
              </a:rPr>
              <a:t>by default</a:t>
            </a:r>
            <a:r>
              <a:rPr lang="en-US" sz="1700" kern="0" spc="-220" dirty="0">
                <a:solidFill>
                  <a:schemeClr val="accent6"/>
                </a:solidFill>
              </a:rPr>
              <a:t>). But I love 1 thing in Java compared to  .NET &amp;  that’s that Java has only one generic argument equivalent of Action&lt;T&gt; &amp; </a:t>
            </a:r>
            <a:r>
              <a:rPr lang="en-US" sz="1700" kern="0" spc="-220" dirty="0" err="1">
                <a:solidFill>
                  <a:schemeClr val="accent6"/>
                </a:solidFill>
              </a:rPr>
              <a:t>Func</a:t>
            </a:r>
            <a:r>
              <a:rPr lang="en-US" sz="1700" kern="0" spc="-220" dirty="0">
                <a:solidFill>
                  <a:schemeClr val="accent6"/>
                </a:solidFill>
              </a:rPr>
              <a:t>&lt;T&gt; while .NET has  Action&lt;T1&gt;/</a:t>
            </a:r>
            <a:r>
              <a:rPr lang="en-US" sz="1700" kern="0" spc="-220" dirty="0" err="1">
                <a:solidFill>
                  <a:schemeClr val="accent6"/>
                </a:solidFill>
              </a:rPr>
              <a:t>Func</a:t>
            </a:r>
            <a:r>
              <a:rPr lang="en-US" sz="1700" kern="0" spc="-220" dirty="0">
                <a:solidFill>
                  <a:schemeClr val="accent6"/>
                </a:solidFill>
              </a:rPr>
              <a:t>&lt;T1&gt; till Action&lt;T1, T2,…….T16&gt;/</a:t>
            </a:r>
            <a:r>
              <a:rPr lang="en-US" sz="1700" kern="0" spc="-220" dirty="0" err="1">
                <a:solidFill>
                  <a:schemeClr val="accent6"/>
                </a:solidFill>
              </a:rPr>
              <a:t>Func</a:t>
            </a:r>
            <a:r>
              <a:rPr lang="en-US" sz="1700" kern="0" spc="-220" dirty="0">
                <a:solidFill>
                  <a:schemeClr val="accent6"/>
                </a:solidFill>
              </a:rPr>
              <a:t>&lt;T1,T2,……T16.&gt;. Although Action&lt;T&gt;/</a:t>
            </a:r>
            <a:r>
              <a:rPr lang="en-US" sz="1700" kern="0" spc="-220" dirty="0" err="1">
                <a:solidFill>
                  <a:schemeClr val="accent6"/>
                </a:solidFill>
              </a:rPr>
              <a:t>Func</a:t>
            </a:r>
            <a:r>
              <a:rPr lang="en-US" sz="1700" kern="0" spc="-220" dirty="0">
                <a:solidFill>
                  <a:schemeClr val="accent6"/>
                </a:solidFill>
              </a:rPr>
              <a:t>&lt;T&gt;/Action&lt;T1&gt;/</a:t>
            </a:r>
            <a:r>
              <a:rPr lang="en-US" sz="1700" kern="0" spc="-220" dirty="0" err="1">
                <a:solidFill>
                  <a:schemeClr val="accent6"/>
                </a:solidFill>
              </a:rPr>
              <a:t>Func</a:t>
            </a:r>
            <a:r>
              <a:rPr lang="en-US" sz="1700" kern="0" spc="-220" dirty="0">
                <a:solidFill>
                  <a:schemeClr val="accent6"/>
                </a:solidFill>
              </a:rPr>
              <a:t>&lt;T1&gt; should  suffice  but not sure why the .NET Language Designers  opted to support till T16  (although tomorrow I may need T17 or more &amp; all such T1 till T16 or more can be wrapped into a single  “T” class as properties &amp; then processed further . </a:t>
            </a:r>
          </a:p>
          <a:p>
            <a:pPr marL="12700" marR="5080"/>
            <a:endParaRPr lang="en-US" sz="1700" kern="0" spc="-220" dirty="0">
              <a:solidFill>
                <a:schemeClr val="accent6"/>
              </a:solidFill>
            </a:endParaRPr>
          </a:p>
          <a:p>
            <a:pPr marL="12700" marR="5080"/>
            <a:r>
              <a:rPr lang="en-US" sz="1700" kern="0" spc="-220" dirty="0">
                <a:solidFill>
                  <a:schemeClr val="accent6"/>
                </a:solidFill>
              </a:rPr>
              <a:t>C++ - One might think that C++ is now obsolete but its still used like anything, for real high performance code[e.g. Financial Risk modelling] or Embedded Systems[in IoT{Internet of Things}, the “Things” are in general some nominal or full fledged Embedded Systems.), A good free C++ reference for .NET Developers is  </a:t>
            </a:r>
            <a:r>
              <a:rPr lang="en-IN" sz="1500" dirty="0">
                <a:hlinkClick r:id="rId7"/>
              </a:rPr>
              <a:t>Free </a:t>
            </a:r>
            <a:r>
              <a:rPr lang="en-IN" sz="1500" dirty="0" err="1">
                <a:hlinkClick r:id="rId7"/>
              </a:rPr>
              <a:t>Ebook</a:t>
            </a:r>
            <a:r>
              <a:rPr lang="en-IN" sz="1500" dirty="0">
                <a:hlinkClick r:id="rId7"/>
              </a:rPr>
              <a:t> - C++ Succinctly</a:t>
            </a:r>
            <a:endParaRPr lang="en-US" sz="1500" kern="0" spc="-220" dirty="0">
              <a:solidFill>
                <a:schemeClr val="accent6"/>
              </a:solidFill>
            </a:endParaRP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15927</TotalTime>
  <Words>9225</Words>
  <Application>Microsoft Office PowerPoint</Application>
  <PresentationFormat>Custom</PresentationFormat>
  <Paragraphs>1127</Paragraphs>
  <Slides>98</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98</vt:i4>
      </vt:variant>
    </vt:vector>
  </HeadingPairs>
  <TitlesOfParts>
    <vt:vector size="107" baseType="lpstr">
      <vt:lpstr>Aptos Narrow</vt:lpstr>
      <vt:lpstr>Arial</vt:lpstr>
      <vt:lpstr>Arial</vt:lpstr>
      <vt:lpstr>Calibri</vt:lpstr>
      <vt:lpstr>Lucida Sans</vt:lpstr>
      <vt:lpstr>Monaco</vt:lpstr>
      <vt:lpstr>Segoe UI</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1149</cp:revision>
  <dcterms:created xsi:type="dcterms:W3CDTF">2020-11-03T17:16:52Z</dcterms:created>
  <dcterms:modified xsi:type="dcterms:W3CDTF">2025-02-12T10:02:35Z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