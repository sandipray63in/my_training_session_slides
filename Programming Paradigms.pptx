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14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5996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t>Coding &amp; Low Level Design Katas &amp; Beyond</a:t>
          </a:r>
        </a:p>
      </dsp:txBody>
      <dsp:txXfrm>
        <a:off x="29271" y="29271"/>
        <a:ext cx="8657758" cy="54108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12/27/2024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12/27/2024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12/27/2024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12/27/2024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12/27/2024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PacktPublishing/Hands-On-Network-Programming-with-CSharp-and-.NET-Core"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github.com/VasanthVanan/computer-networking-top-down-approach-notes" TargetMode="External"/><Relationship Id="rId2" Type="http://schemas.openxmlformats.org/officeDocument/2006/relationships/diagramData" Target="../diagrams/data72.xml"/><Relationship Id="rId16" Type="http://schemas.openxmlformats.org/officeDocument/2006/relationships/hyperlink" Target="https://stackoverflow.com/questions/4263116/wireshark-vs-firebug-vs-fiddler-pros-and-cons"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hpbn.co/"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solutions/middleware"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5.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Decorator_pattern" TargetMode="External"/><Relationship Id="rId5" Type="http://schemas.openxmlformats.org/officeDocument/2006/relationships/diagramColors" Target="../diagrams/colors86.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refactoring.guru/design-patterns/command" TargetMode="External"/><Relationship Id="rId3" Type="http://schemas.openxmlformats.org/officeDocument/2006/relationships/diagramLayout" Target="../diagrams/layout87.xml"/><Relationship Id="rId7" Type="http://schemas.openxmlformats.org/officeDocument/2006/relationships/hyperlink" Target="https://en.wikipedia.org/wiki/Chain-of-responsibility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github.com/sandipray63in/DDD-Based-Enterprise-Application-Framework/blob/master/ApplicationAndInfrastructureServices/BatchProcessing/BaseBatchSeedSelector.cs" TargetMode="External"/><Relationship Id="rId5" Type="http://schemas.openxmlformats.org/officeDocument/2006/relationships/diagramColors" Target="../diagrams/colors87.xml"/><Relationship Id="rId10" Type="http://schemas.openxmlformats.org/officeDocument/2006/relationships/hyperlink" Target="https://en.wikipedia.org/wiki/Aggregate_pattern" TargetMode="External"/><Relationship Id="rId4" Type="http://schemas.openxmlformats.org/officeDocument/2006/relationships/diagramQuickStyle" Target="../diagrams/quickStyle87.xml"/><Relationship Id="rId9" Type="http://schemas.openxmlformats.org/officeDocument/2006/relationships/hyperlink" Target="https://en.wikipedia.org/wiki/Interpreter_pattern"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8.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8.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89.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89.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89.xml"/><Relationship Id="rId9" Type="http://schemas.openxmlformats.org/officeDocument/2006/relationships/hyperlink" Target="https://en.wikipedia.org/wiki/Software_design_pattern"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anuraj.dev/blog/using-mef-in-dotnet-core/"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stackoverflow.com/questions/59019761/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 Id="rId9" Type="http://schemas.openxmlformats.org/officeDocument/2006/relationships/hyperlink" Target="https://medium.com/@rajeshdavid/how-does-a-graphql-service-work-internally-496dc9264096"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13" Type="http://schemas.openxmlformats.org/officeDocument/2006/relationships/hyperlink" Target="https://www.geeksforgeeks.org/c-sharp-version-history/" TargetMode="External"/><Relationship Id="rId18" Type="http://schemas.openxmlformats.org/officeDocument/2006/relationships/hyperlink" Target="https://stackoverflow.com/questions/43000520/why-would-one-use-taskt-over-valuetaskt-in-c" TargetMode="External"/><Relationship Id="rId26" Type="http://schemas.openxmlformats.org/officeDocument/2006/relationships/hyperlink" Target="https://www.linkedin.com/posts/ray-rahul_%3F%3F%3F%3F%3F-%3F%3F%3F%3F%3F%3F%3F%3F-%3F%3F%3F%3F-%3F%3F-activity-7231616658820251651-FMD-/" TargetMode="External"/><Relationship Id="rId39" Type="http://schemas.openxmlformats.org/officeDocument/2006/relationships/hyperlink" Target="https://www.geeksforgeeks.org/gate-cs-notes-gq/" TargetMode="External"/><Relationship Id="rId21" Type="http://schemas.openxmlformats.org/officeDocument/2006/relationships/hyperlink" Target="https://github.com/miholler/NSpecifications" TargetMode="External"/><Relationship Id="rId34" Type="http://schemas.openxmlformats.org/officeDocument/2006/relationships/hyperlink" Target="https://www.oreilly.com/library/view/regular-expressions-cookbook/9781449327453/" TargetMode="External"/><Relationship Id="rId42" Type="http://schemas.openxmlformats.org/officeDocument/2006/relationships/hyperlink" Target="https://daily.dev/blog/make-a-web-browser-beginners-guide" TargetMode="External"/><Relationship Id="rId7" Type="http://schemas.openxmlformats.org/officeDocument/2006/relationships/hyperlink" Target="https://rosettacode.org/wiki/Category:Programming_Tasks" TargetMode="External"/><Relationship Id="rId2" Type="http://schemas.openxmlformats.org/officeDocument/2006/relationships/diagramData" Target="../diagrams/data96.xml"/><Relationship Id="rId16" Type="http://schemas.openxmlformats.org/officeDocument/2006/relationships/hyperlink" Target="https://learn.microsoft.com/en-us/dotnet/csharp/whats-new/tutorials/primary-constructors" TargetMode="External"/><Relationship Id="rId20" Type="http://schemas.openxmlformats.org/officeDocument/2006/relationships/hyperlink" Target="https://github.com/markjprice/cs12dotnet8" TargetMode="External"/><Relationship Id="rId29" Type="http://schemas.openxmlformats.org/officeDocument/2006/relationships/hyperlink" Target="https://www.linkedin.com/posts/akashsinnghh_dsa-dsaquestions-datastructures-activity-7231521586510479361-hTqM/?utm_source=share&amp;utm_medium=member_desktop" TargetMode="External"/><Relationship Id="rId41" Type="http://schemas.openxmlformats.org/officeDocument/2006/relationships/hyperlink" Target="https://roadmap.sh/computer-science"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ashishps1/awesome-low-level-design" TargetMode="External"/><Relationship Id="rId24" Type="http://schemas.openxmlformats.org/officeDocument/2006/relationships/hyperlink" Target="https://cronitor.io/guides/kubernetes-cron-jobs" TargetMode="External"/><Relationship Id="rId32" Type="http://schemas.openxmlformats.org/officeDocument/2006/relationships/hyperlink" Target="https://github.com/ziishaned/learn-regex" TargetMode="External"/><Relationship Id="rId37" Type="http://schemas.openxmlformats.org/officeDocument/2006/relationships/hyperlink" Target="https://www.linkedin.com/posts/maheshma_postgresql-sql-systemdesign-activity-7167707514266996736-HqMi/" TargetMode="External"/><Relationship Id="rId40" Type="http://schemas.openxmlformats.org/officeDocument/2006/relationships/hyperlink" Target="https://en.wikipedia.org/wiki/Automata_theory" TargetMode="External"/><Relationship Id="rId5" Type="http://schemas.openxmlformats.org/officeDocument/2006/relationships/diagramColors" Target="../diagrams/colors96.xml"/><Relationship Id="rId15" Type="http://schemas.openxmlformats.org/officeDocument/2006/relationships/hyperlink" Target="https://antondevtips.com/blog/how-to-write-elegant-code-with-csharp-switch-expressions" TargetMode="External"/><Relationship Id="rId23" Type="http://schemas.openxmlformats.org/officeDocument/2006/relationships/hyperlink" Target="https://benbrougher.tech/posts/kubernetes-cron-job/" TargetMode="External"/><Relationship Id="rId28" Type="http://schemas.openxmlformats.org/officeDocument/2006/relationships/hyperlink" Target="https://www.linkedin.com/posts/alexxubyte_systemdesign-coding-interviewtips-activity-7272659891511558144-qf1O/" TargetMode="External"/><Relationship Id="rId36" Type="http://schemas.openxmlformats.org/officeDocument/2006/relationships/hyperlink" Target="https://github.com/milanm/DotNet-Developer-Roadmap" TargetMode="External"/><Relationship Id="rId10" Type="http://schemas.openxmlformats.org/officeDocument/2006/relationships/hyperlink" Target="https://build-your-own-x.vercel.app/" TargetMode="External"/><Relationship Id="rId19" Type="http://schemas.openxmlformats.org/officeDocument/2006/relationships/hyperlink" Target="https://github.com/markjprice/apps-services-net8/tree/main" TargetMode="External"/><Relationship Id="rId31" Type="http://schemas.openxmlformats.org/officeDocument/2006/relationships/hyperlink" Target="https://learn.microsoft.com/en-us/dotnet/standard/native-interop/" TargetMode="External"/><Relationship Id="rId44" Type="http://schemas.openxmlformats.org/officeDocument/2006/relationships/hyperlink" Target="https://stackoverflow.com/questions/790542/replacing-net-webbrowser-control-with-a-better-browser-like-chrome"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12389203/how-do-i-chunk-an-enumerable" TargetMode="External"/><Relationship Id="rId22" Type="http://schemas.openxmlformats.org/officeDocument/2006/relationships/hyperlink" Target="https://stackoverflow.com/questions/65585395/specification-pattern-vs-fluent-validation" TargetMode="External"/><Relationship Id="rId27" Type="http://schemas.openxmlformats.org/officeDocument/2006/relationships/hyperlink" Target="https://roadmap.sh/datastructures-and-algorithms" TargetMode="External"/><Relationship Id="rId30" Type="http://schemas.openxmlformats.org/officeDocument/2006/relationships/hyperlink" Target="https://github.com/PacktPublishing/Systems-Programming-with-C-Sharp-and-.NET" TargetMode="External"/><Relationship Id="rId35" Type="http://schemas.openxmlformats.org/officeDocument/2006/relationships/hyperlink" Target="https://github.com/PacktPublishing/High-Performance-Programming-in-C-Sharp-and-.NET" TargetMode="External"/><Relationship Id="rId43" Type="http://schemas.openxmlformats.org/officeDocument/2006/relationships/hyperlink" Target="https://browser.engineering/" TargetMode="External"/><Relationship Id="rId8" Type="http://schemas.openxmlformats.org/officeDocument/2006/relationships/hyperlink" Target="https://github.com/gamontal/awesome-katas" TargetMode="External"/><Relationship Id="rId3" Type="http://schemas.openxmlformats.org/officeDocument/2006/relationships/diagramLayout" Target="../diagrams/layout96.xml"/><Relationship Id="rId12" Type="http://schemas.openxmlformats.org/officeDocument/2006/relationships/hyperlink" Target="https://github.com/prasadgujar/low-level-design-primer" TargetMode="External"/><Relationship Id="rId17" Type="http://schemas.openxmlformats.org/officeDocument/2006/relationships/hyperlink" Target="https://learn.microsoft.com/en-us/dotnet/csharp/fundamentals/functional/deconstruct" TargetMode="External"/><Relationship Id="rId25" Type="http://schemas.openxmlformats.org/officeDocument/2006/relationships/hyperlink" Target="https://www.planetgeek.ch/2013/06/05/clean-code-cheat-sheet/" TargetMode="External"/><Relationship Id="rId33" Type="http://schemas.openxmlformats.org/officeDocument/2006/relationships/hyperlink" Target="https://books.goalkicker.com/" TargetMode="External"/><Relationship Id="rId38" Type="http://schemas.openxmlformats.org/officeDocument/2006/relationships/hyperlink" Target="https://postgrespro.com/community/books/internals"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2929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1500" dirty="0">
                <a:hlinkClick r:id="rId7"/>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8"/>
              </a:rPr>
              <a:t>Dixin's</a:t>
            </a:r>
            <a:r>
              <a:rPr lang="en-US" sz="1500" dirty="0">
                <a:hlinkClick r:id="rId8"/>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9"/>
              </a:rPr>
              <a:t>Functional-Programming/haskell/Functional_Programming_Concepts.org at master · </a:t>
            </a:r>
            <a:r>
              <a:rPr lang="en-IN" sz="1500" dirty="0" err="1">
                <a:hlinkClick r:id="rId9"/>
              </a:rPr>
              <a:t>caiorss</a:t>
            </a:r>
            <a:r>
              <a:rPr lang="en-IN" sz="1500" dirty="0">
                <a:hlinkClick r:id="rId9"/>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0"/>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that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1500" kern="0" spc="-220" dirty="0">
                <a:solidFill>
                  <a:schemeClr val="accent6"/>
                </a:solidFill>
              </a:rPr>
              <a:t> </a:t>
            </a:r>
            <a:r>
              <a:rPr lang="en-IN" sz="1500" dirty="0">
                <a:hlinkClick r:id="rId7"/>
              </a:rPr>
              <a:t>Descriptor_Pattern.md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4266393501"/>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4619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500" kern="0" spc="-220" dirty="0">
                <a:solidFill>
                  <a:schemeClr val="accent2"/>
                </a:solidFill>
              </a:rPr>
              <a:t>For Further Exploration – </a:t>
            </a:r>
          </a:p>
          <a:p>
            <a:pPr algn="just" fontAlgn="base"/>
            <a:r>
              <a:rPr lang="en-US" sz="900" dirty="0">
                <a:hlinkClick r:id="rId10"/>
              </a:rPr>
              <a:t>GitHub - </a:t>
            </a:r>
            <a:r>
              <a:rPr lang="en-US" sz="900" dirty="0" err="1">
                <a:hlinkClick r:id="rId10"/>
              </a:rPr>
              <a:t>PacktPublishing</a:t>
            </a:r>
            <a:r>
              <a:rPr lang="en-US" sz="900" dirty="0">
                <a:hlinkClick r:id="rId10"/>
              </a:rPr>
              <a:t>/</a:t>
            </a:r>
            <a:r>
              <a:rPr lang="en-US" sz="900" dirty="0" err="1">
                <a:hlinkClick r:id="rId10"/>
              </a:rPr>
              <a:t>MultithreadingwithCSharpCookbookSecondEdition_Code</a:t>
            </a:r>
            <a:r>
              <a:rPr lang="en-US" sz="900" dirty="0">
                <a:hlinkClick r:id="rId10"/>
              </a:rPr>
              <a:t>: Multithreading with C# Cookbook Second Edition</a:t>
            </a:r>
            <a:endParaRPr lang="en-US" sz="900" dirty="0"/>
          </a:p>
          <a:p>
            <a:pPr algn="just" fontAlgn="base"/>
            <a:r>
              <a:rPr lang="en-US" sz="900" dirty="0" err="1">
                <a:hlinkClick r:id="rId11"/>
              </a:rPr>
              <a:t>c#</a:t>
            </a:r>
            <a:r>
              <a:rPr lang="en-US" sz="900" dirty="0">
                <a:hlinkClick r:id="rId11"/>
              </a:rPr>
              <a:t> - Check the Number of threads available in </a:t>
            </a:r>
            <a:r>
              <a:rPr lang="en-US" sz="900" dirty="0" err="1">
                <a:hlinkClick r:id="rId11"/>
              </a:rPr>
              <a:t>ThreadPool</a:t>
            </a:r>
            <a:r>
              <a:rPr lang="en-US" sz="900" dirty="0">
                <a:hlinkClick r:id="rId11"/>
              </a:rPr>
              <a:t> at any time - Stack Overflow</a:t>
            </a:r>
            <a:endParaRPr lang="en-US" sz="900" dirty="0"/>
          </a:p>
          <a:p>
            <a:pPr algn="just" fontAlgn="base"/>
            <a:r>
              <a:rPr lang="en-US" sz="900" dirty="0">
                <a:hlinkClick r:id="rId12"/>
              </a:rPr>
              <a:t>GitHub - </a:t>
            </a:r>
            <a:r>
              <a:rPr lang="en-US" sz="900" dirty="0" err="1">
                <a:hlinkClick r:id="rId12"/>
              </a:rPr>
              <a:t>MikeMKH</a:t>
            </a:r>
            <a:r>
              <a:rPr lang="en-US" sz="900" dirty="0">
                <a:hlinkClick r:id="rId12"/>
              </a:rPr>
              <a:t>/concurrency-in-</a:t>
            </a:r>
            <a:r>
              <a:rPr lang="en-US" sz="900" dirty="0" err="1">
                <a:hlinkClick r:id="rId12"/>
              </a:rPr>
              <a:t>csharp</a:t>
            </a:r>
            <a:r>
              <a:rPr lang="en-US" sz="900" dirty="0">
                <a:hlinkClick r:id="rId12"/>
              </a:rPr>
              <a:t>-cookbook: Daily kata from Concurrency in C# Cookbook</a:t>
            </a:r>
            <a:endParaRPr lang="en-US" sz="900" dirty="0"/>
          </a:p>
          <a:p>
            <a:pPr algn="just" fontAlgn="base"/>
            <a:r>
              <a:rPr lang="en-US" sz="900" dirty="0">
                <a:hlinkClick r:id="rId13"/>
              </a:rPr>
              <a:t>GitHub - </a:t>
            </a:r>
            <a:r>
              <a:rPr lang="en-US" sz="900" dirty="0" err="1">
                <a:hlinkClick r:id="rId13"/>
              </a:rPr>
              <a:t>Wintellect</a:t>
            </a:r>
            <a:r>
              <a:rPr lang="en-US" sz="900" dirty="0">
                <a:hlinkClick r:id="rId13"/>
              </a:rPr>
              <a:t>/</a:t>
            </a:r>
            <a:r>
              <a:rPr lang="en-US" sz="900" dirty="0" err="1">
                <a:hlinkClick r:id="rId13"/>
              </a:rPr>
              <a:t>PowerThreading</a:t>
            </a:r>
            <a:r>
              <a:rPr lang="en-US" sz="900" dirty="0">
                <a:hlinkClick r:id="rId13"/>
              </a:rPr>
              <a:t>: Jeffrey Richter's Power Threading Library</a:t>
            </a:r>
            <a:endParaRPr lang="en-US" sz="900" dirty="0"/>
          </a:p>
          <a:p>
            <a:pPr algn="just" fontAlgn="base"/>
            <a:r>
              <a:rPr lang="en-US" sz="900" dirty="0">
                <a:hlinkClick r:id="rId14"/>
              </a:rPr>
              <a:t>Free </a:t>
            </a:r>
            <a:r>
              <a:rPr lang="en-US" sz="900" dirty="0" err="1">
                <a:hlinkClick r:id="rId14"/>
              </a:rPr>
              <a:t>Ebook</a:t>
            </a:r>
            <a:r>
              <a:rPr lang="en-US" sz="900" dirty="0">
                <a:hlinkClick r:id="rId14"/>
              </a:rPr>
              <a:t> - Web Servers Succinctly</a:t>
            </a:r>
            <a:endParaRPr lang="en-US" sz="900" dirty="0"/>
          </a:p>
          <a:p>
            <a:pPr algn="just" fontAlgn="base"/>
            <a:r>
              <a:rPr lang="en-US" sz="900" dirty="0">
                <a:hlinkClick r:id="rId15"/>
              </a:rPr>
              <a:t>2DGD_F0TH/chapters/001_Introduction/001_Introduction.md at master · 2DGD-F0TH/2DGD_F0TH · GitHub</a:t>
            </a:r>
            <a:endParaRPr lang="en-US" sz="900" dirty="0"/>
          </a:p>
          <a:p>
            <a:pPr algn="just" fontAlgn="base"/>
            <a:r>
              <a:rPr lang="en-US" sz="900" dirty="0">
                <a:hlinkClick r:id="rId16"/>
              </a:rPr>
              <a:t>GitHub - </a:t>
            </a:r>
            <a:r>
              <a:rPr lang="en-US" sz="900" dirty="0" err="1">
                <a:hlinkClick r:id="rId16"/>
              </a:rPr>
              <a:t>rikace</a:t>
            </a:r>
            <a:r>
              <a:rPr lang="en-US" sz="900" dirty="0">
                <a:hlinkClick r:id="rId16"/>
              </a:rPr>
              <a:t>/</a:t>
            </a:r>
            <a:r>
              <a:rPr lang="en-US" sz="900" dirty="0" err="1">
                <a:hlinkClick r:id="rId16"/>
              </a:rPr>
              <a:t>fConcBook</a:t>
            </a:r>
            <a:r>
              <a:rPr lang="en-US" sz="900" dirty="0">
                <a:hlinkClick r:id="rId16"/>
              </a:rPr>
              <a:t>: Source code for "Concurrency in .NET" book Manning publisher</a:t>
            </a:r>
            <a:endParaRPr lang="en-US" sz="900" dirty="0"/>
          </a:p>
          <a:p>
            <a:pPr algn="just" fontAlgn="base"/>
            <a:r>
              <a:rPr lang="en-IN" sz="900" dirty="0">
                <a:hlinkClick r:id="rId17"/>
              </a:rPr>
              <a:t>Multithreading Principles and Patterns</a:t>
            </a:r>
            <a:endParaRPr lang="en-IN" sz="900" dirty="0"/>
          </a:p>
          <a:p>
            <a:pPr algn="just" fontAlgn="base"/>
            <a:r>
              <a:rPr lang="en-US" sz="900" dirty="0">
                <a:hlinkClick r:id="rId18"/>
              </a:rPr>
              <a:t>Multithreading and Patterns - DEV Community</a:t>
            </a:r>
            <a:endParaRPr lang="en-US" sz="900" dirty="0"/>
          </a:p>
          <a:p>
            <a:pPr algn="just" fontAlgn="base"/>
            <a:r>
              <a:rPr lang="en-IN" sz="900" dirty="0">
                <a:hlinkClick r:id="rId19"/>
              </a:rPr>
              <a:t>web.stanford.edu/class/archive/cs/cs110/cs110.1202/static/lectures/12-multithreading-patterns-data-structures.pdf</a:t>
            </a:r>
            <a:endParaRPr lang="en-IN" sz="900" dirty="0"/>
          </a:p>
          <a:p>
            <a:pPr algn="just" fontAlgn="base"/>
            <a:r>
              <a:rPr lang="en-US" sz="900" dirty="0">
                <a:hlinkClick r:id="rId20"/>
              </a:rPr>
              <a:t>Common patterns for poorly-behaved multithreaded apps - Visual Studio (Windows) | Microsoft Learn</a:t>
            </a:r>
            <a:endParaRPr lang="en-US" sz="900" dirty="0"/>
          </a:p>
          <a:p>
            <a:pPr algn="just" fontAlgn="base"/>
            <a:r>
              <a:rPr lang="en-US" sz="900" dirty="0">
                <a:hlinkClick r:id="rId21"/>
              </a:rPr>
              <a:t>Part B (ADVANCE) Multithreading Design Patterns ( </a:t>
            </a:r>
            <a:r>
              <a:rPr lang="en-US" sz="900" dirty="0" err="1">
                <a:hlinkClick r:id="rId21"/>
              </a:rPr>
              <a:t>pthreads</a:t>
            </a:r>
            <a:r>
              <a:rPr lang="en-US" sz="900" dirty="0">
                <a:hlinkClick r:id="rId21"/>
              </a:rPr>
              <a:t> ) | Udemy</a:t>
            </a:r>
            <a:endParaRPr lang="en-US" sz="900" dirty="0"/>
          </a:p>
          <a:p>
            <a:pPr algn="just" fontAlgn="base"/>
            <a:r>
              <a:rPr lang="en-IN" sz="900" dirty="0">
                <a:hlinkClick r:id="rId22"/>
              </a:rPr>
              <a:t>Embedded C Programming Design Patterns: Essential design patterns for clean, maintainable and robust firmware development. eBook : Schröder, Martin: Amazon.in: Books</a:t>
            </a:r>
            <a:endParaRPr lang="en-IN" sz="900" dirty="0"/>
          </a:p>
          <a:p>
            <a:pPr algn="just" fontAlgn="base"/>
            <a:r>
              <a:rPr lang="en-IN" sz="900" dirty="0">
                <a:hlinkClick r:id="rId23"/>
              </a:rPr>
              <a:t>GitHub - </a:t>
            </a:r>
            <a:r>
              <a:rPr lang="en-IN" sz="900" dirty="0" err="1">
                <a:hlinkClick r:id="rId23"/>
              </a:rPr>
              <a:t>sundaygeek</a:t>
            </a:r>
            <a:r>
              <a:rPr lang="en-IN" sz="900" dirty="0">
                <a:hlinkClick r:id="rId23"/>
              </a:rPr>
              <a:t>/design-patterns-for-embedded-system-in-c: &lt;design-patterns-for-embedded-system-in-c&gt;</a:t>
            </a:r>
            <a:endParaRPr lang="en-IN" sz="900" dirty="0"/>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GitHub - </a:t>
            </a:r>
            <a:r>
              <a:rPr lang="en-US" sz="1200" dirty="0" err="1">
                <a:hlinkClick r:id="rId9"/>
              </a:rPr>
              <a:t>PacktPublishing</a:t>
            </a:r>
            <a:r>
              <a:rPr lang="en-US" sz="1200" dirty="0">
                <a:hlinkClick r:id="rId9"/>
              </a:rPr>
              <a:t>/Hands-On-Parallel-Programming-with-C-8-and-.NET-Core-3</a:t>
            </a:r>
            <a:endParaRPr lang="en-US" sz="1200" dirty="0"/>
          </a:p>
          <a:p>
            <a:pPr algn="just" fontAlgn="base"/>
            <a:r>
              <a:rPr lang="en-US" sz="1200" dirty="0">
                <a:hlinkClick r:id="rId10"/>
              </a:rPr>
              <a:t>GitHub - </a:t>
            </a:r>
            <a:r>
              <a:rPr lang="en-US" sz="1200" dirty="0" err="1">
                <a:hlinkClick r:id="rId10"/>
              </a:rPr>
              <a:t>PacktPublishing</a:t>
            </a:r>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GitHub - </a:t>
            </a:r>
            <a:r>
              <a:rPr lang="en-IN" sz="1200" dirty="0" err="1">
                <a:hlinkClick r:id="rId17"/>
              </a:rPr>
              <a:t>ChadBurggraf</a:t>
            </a:r>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GitHub - </a:t>
            </a:r>
            <a:r>
              <a:rPr lang="en-IN" sz="1200" dirty="0" err="1">
                <a:hlinkClick r:id="rId19"/>
              </a:rPr>
              <a:t>rikace</a:t>
            </a:r>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8928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100" dirty="0">
                <a:hlinkClick r:id="rId8"/>
              </a:rPr>
              <a:t>HTTP1 vs HTTP2 vs HTTP3 - A Deep Dive</a:t>
            </a:r>
            <a:endParaRPr lang="en-US" sz="1100" kern="0" spc="-220" dirty="0">
              <a:solidFill>
                <a:schemeClr val="accent2"/>
              </a:solidFill>
            </a:endParaRPr>
          </a:p>
          <a:p>
            <a:pPr algn="l"/>
            <a:r>
              <a:rPr lang="en-IN" sz="1100" dirty="0">
                <a:hlinkClick r:id="rId9"/>
              </a:rPr>
              <a:t>TCP vs UDP | LinkedIn</a:t>
            </a:r>
            <a:endParaRPr lang="en-IN" sz="1100" dirty="0"/>
          </a:p>
          <a:p>
            <a:pPr algn="l"/>
            <a:r>
              <a:rPr lang="pt-BR" sz="1100" dirty="0">
                <a:hlinkClick r:id="rId10"/>
              </a:rPr>
              <a:t>Reliable User Datagram Protocol – Wikipedia</a:t>
            </a:r>
            <a:endParaRPr lang="pt-BR" sz="1100" dirty="0"/>
          </a:p>
          <a:p>
            <a:pPr algn="l"/>
            <a:r>
              <a:rPr lang="en-US" sz="1100" dirty="0">
                <a:hlinkClick r:id="rId11"/>
              </a:rPr>
              <a:t>sockets - What do you use when you need reliable UDP? - Stack Overflow</a:t>
            </a:r>
            <a:endParaRPr lang="en-IN" sz="1100" dirty="0"/>
          </a:p>
          <a:p>
            <a:pPr algn="l"/>
            <a:r>
              <a:rPr lang="en-US" sz="1100" dirty="0">
                <a:hlinkClick r:id="rId12"/>
              </a:rPr>
              <a:t>GitHub - </a:t>
            </a:r>
            <a:r>
              <a:rPr lang="en-US" sz="1100" dirty="0" err="1">
                <a:hlinkClick r:id="rId12"/>
              </a:rPr>
              <a:t>VasanthVanan</a:t>
            </a:r>
            <a:r>
              <a:rPr lang="en-US" sz="1100" dirty="0">
                <a:hlinkClick r:id="rId12"/>
              </a:rPr>
              <a:t>/computer-networking-top-down-approach-notes</a:t>
            </a:r>
            <a:endParaRPr lang="en-US" sz="1100" dirty="0"/>
          </a:p>
          <a:p>
            <a:pPr algn="l"/>
            <a:r>
              <a:rPr lang="en-US" sz="1100" dirty="0">
                <a:hlinkClick r:id="rId13"/>
              </a:rPr>
              <a:t>GitHub - </a:t>
            </a:r>
            <a:r>
              <a:rPr lang="en-US" sz="1100" dirty="0" err="1">
                <a:hlinkClick r:id="rId13"/>
              </a:rPr>
              <a:t>PacktPublishing</a:t>
            </a:r>
            <a:r>
              <a:rPr lang="en-US" sz="1100" dirty="0">
                <a:hlinkClick r:id="rId13"/>
              </a:rPr>
              <a:t>/Hands-On-Network-Programming-with-CSharp-and-.NET-Core</a:t>
            </a:r>
            <a:endParaRPr lang="en-US" sz="1100" dirty="0"/>
          </a:p>
          <a:p>
            <a:pPr algn="l"/>
            <a:r>
              <a:rPr lang="nl-NL" sz="1100" dirty="0">
                <a:hlinkClick r:id="rId14"/>
              </a:rPr>
              <a:t>Network programming in .NET - .NET | Microsoft Learn</a:t>
            </a:r>
            <a:endParaRPr lang="nl-NL" sz="1100" dirty="0"/>
          </a:p>
          <a:p>
            <a:pPr algn="l"/>
            <a:r>
              <a:rPr lang="en-US" sz="1100" dirty="0">
                <a:hlinkClick r:id="rId15"/>
              </a:rPr>
              <a:t>High Performance Browser Networking (O'Reilly)</a:t>
            </a:r>
            <a:endParaRPr lang="en-US" sz="1100" dirty="0"/>
          </a:p>
          <a:p>
            <a:pPr algn="l"/>
            <a:r>
              <a:rPr lang="en-IN" sz="1100" dirty="0">
                <a:hlinkClick r:id="rId16"/>
              </a:rPr>
              <a:t>debugging - Wireshark vs Firebug vs Fiddler - pros and cons? - Stack Overflow</a:t>
            </a:r>
            <a:endParaRPr lang="en-US" sz="11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IN" sz="1500" dirty="0">
                <a:hlinkClick r:id="rId7"/>
              </a:rPr>
              <a:t>T4 (Text Template Transformation Toolkit) Code Generation - Best Kept Visual Studio Secret - Scott Hanselman's Blog</a:t>
            </a:r>
            <a:endParaRPr lang="en-IN" sz="1500" dirty="0"/>
          </a:p>
          <a:p>
            <a:pPr algn="l"/>
            <a:r>
              <a:rPr lang="en-IN" sz="1500" dirty="0">
                <a:hlinkClick r:id="rId8"/>
              </a:rPr>
              <a:t>Free </a:t>
            </a:r>
            <a:r>
              <a:rPr lang="en-IN" sz="1500" dirty="0" err="1">
                <a:hlinkClick r:id="rId8"/>
              </a:rPr>
              <a:t>Ebook</a:t>
            </a:r>
            <a:r>
              <a:rPr lang="en-IN" sz="1500" dirty="0">
                <a:hlinkClick r:id="rId8"/>
              </a:rPr>
              <a:t> - T4 Succinctly</a:t>
            </a:r>
            <a:endParaRPr lang="en-US" sz="1500" kern="0" spc="-220" dirty="0">
              <a:solidFill>
                <a:schemeClr val="accent6"/>
              </a:solidFill>
            </a:endParaRP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500" dirty="0" err="1">
                <a:hlinkClick r:id="rId9"/>
              </a:rPr>
              <a:t>CodeDOM</a:t>
            </a:r>
            <a:r>
              <a:rPr lang="en-US" sz="1500" dirty="0">
                <a:hlinkClick r:id="rId9"/>
              </a:rPr>
              <a:t> Go Kit: The </a:t>
            </a:r>
            <a:r>
              <a:rPr lang="en-US" sz="1500" dirty="0" err="1">
                <a:hlinkClick r:id="rId9"/>
              </a:rPr>
              <a:t>CodeDOM</a:t>
            </a:r>
            <a:r>
              <a:rPr lang="en-US" sz="1500" dirty="0">
                <a:hlinkClick r:id="rId9"/>
              </a:rPr>
              <a:t> is Dead, Long Live the </a:t>
            </a:r>
            <a:r>
              <a:rPr lang="en-US" sz="1500" dirty="0" err="1">
                <a:hlinkClick r:id="rId9"/>
              </a:rPr>
              <a:t>CodeDOM</a:t>
            </a:r>
            <a:r>
              <a:rPr lang="en-US" sz="1500" dirty="0">
                <a:hlinkClick r:id="rId9"/>
              </a:rPr>
              <a:t>- </a:t>
            </a:r>
            <a:r>
              <a:rPr lang="en-US" sz="1500" dirty="0" err="1">
                <a:hlinkClick r:id="rId9"/>
              </a:rPr>
              <a:t>CodeProject</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IN" sz="1500" dirty="0">
                <a:hlinkClick r:id="rId10"/>
              </a:rPr>
              <a:t>Code Generation Technology-</a:t>
            </a:r>
            <a:r>
              <a:rPr lang="en-IN" sz="1500" dirty="0" err="1">
                <a:hlinkClick r:id="rId10"/>
              </a:rPr>
              <a:t>CodeDom</a:t>
            </a:r>
            <a:r>
              <a:rPr lang="en-IN" sz="1500" dirty="0">
                <a:hlinkClick r:id="rId10"/>
              </a:rPr>
              <a:t> VS T4</a:t>
            </a:r>
            <a:endParaRPr lang="en-IN" sz="1500" dirty="0"/>
          </a:p>
          <a:p>
            <a:pPr algn="l"/>
            <a:r>
              <a:rPr lang="en-IN" sz="1500" dirty="0" err="1">
                <a:hlinkClick r:id="rId11"/>
              </a:rPr>
              <a:t>c#</a:t>
            </a:r>
            <a:r>
              <a:rPr lang="en-IN" sz="1500" dirty="0">
                <a:hlinkClick r:id="rId11"/>
              </a:rPr>
              <a:t> - </a:t>
            </a:r>
            <a:r>
              <a:rPr lang="en-IN" sz="1500" dirty="0" err="1">
                <a:hlinkClick r:id="rId11"/>
              </a:rPr>
              <a:t>Reflection.Emit</a:t>
            </a:r>
            <a:r>
              <a:rPr lang="en-IN" sz="1500" dirty="0">
                <a:hlinkClick r:id="rId11"/>
              </a:rPr>
              <a:t> vs </a:t>
            </a:r>
            <a:r>
              <a:rPr lang="en-IN" sz="1500" dirty="0" err="1">
                <a:hlinkClick r:id="rId11"/>
              </a:rPr>
              <a:t>CodeDOM</a:t>
            </a:r>
            <a:r>
              <a:rPr lang="en-IN" sz="1500" dirty="0">
                <a:hlinkClick r:id="rId11"/>
              </a:rPr>
              <a:t> - Stack Overflow</a:t>
            </a:r>
            <a:endParaRPr lang="en-IN" sz="1500" dirty="0"/>
          </a:p>
          <a:p>
            <a:pPr algn="l"/>
            <a:r>
              <a:rPr lang="en-US" sz="1500" dirty="0">
                <a:hlinkClick r:id="rId12"/>
              </a:rPr>
              <a:t>Using Roslyn for Runtime Code Generation in Marten – The Shade Tree Developer</a:t>
            </a:r>
            <a:endParaRPr lang="en-US" sz="1500" kern="0" spc="-220" dirty="0">
              <a:solidFill>
                <a:schemeClr val="accent6"/>
              </a:solidFill>
            </a:endParaRP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dirty="0">
                <a:hlinkClick r:id="rId7"/>
              </a:rPr>
              <a:t>Incremental Roslyn Source Generators In .NET 6: Code Sharing Of The Future - Part 1 - </a:t>
            </a:r>
            <a:r>
              <a:rPr lang="en-US" sz="1400" dirty="0" err="1">
                <a:hlinkClick r:id="rId7"/>
              </a:rPr>
              <a:t>Thinktecture</a:t>
            </a:r>
            <a:r>
              <a:rPr lang="en-US" sz="1400" dirty="0">
                <a:hlinkClick r:id="rId7"/>
              </a:rPr>
              <a:t> AG</a:t>
            </a:r>
            <a:endParaRPr lang="en-US" sz="1400" dirty="0"/>
          </a:p>
          <a:p>
            <a:pPr algn="l"/>
            <a:r>
              <a:rPr lang="en-IN" sz="1400" dirty="0">
                <a:hlinkClick r:id="rId8"/>
              </a:rPr>
              <a:t>Source Generators in C#</a:t>
            </a:r>
            <a:endParaRPr lang="en-IN" sz="1400" dirty="0"/>
          </a:p>
          <a:p>
            <a:pPr algn="l"/>
            <a:r>
              <a:rPr lang="en-IN" sz="1400" dirty="0">
                <a:hlinkClick r:id="rId9"/>
              </a:rPr>
              <a:t>The .NET Compiler Platform SDK (Roslyn APIs) - C# | Microsoft Learn</a:t>
            </a:r>
            <a:endParaRPr lang="en-IN" sz="1400" dirty="0"/>
          </a:p>
          <a:p>
            <a:pPr algn="l"/>
            <a:r>
              <a:rPr lang="en-IN" sz="1400" dirty="0">
                <a:hlinkClick r:id="rId10"/>
              </a:rPr>
              <a:t>Free </a:t>
            </a:r>
            <a:r>
              <a:rPr lang="en-IN" sz="1400" dirty="0" err="1">
                <a:hlinkClick r:id="rId10"/>
              </a:rPr>
              <a:t>Ebook</a:t>
            </a:r>
            <a:r>
              <a:rPr lang="en-IN" sz="1400" dirty="0">
                <a:hlinkClick r:id="rId10"/>
              </a:rPr>
              <a:t> - Roslyn Succinctly</a:t>
            </a:r>
            <a:endParaRPr lang="en-US" sz="1400" kern="0" spc="-220" dirty="0">
              <a:solidFill>
                <a:schemeClr val="accent6"/>
              </a:solidFill>
            </a:endParaRP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500" dirty="0">
                <a:hlinkClick r:id="rId11"/>
              </a:rPr>
              <a:t>How to Automatically Generate C# Code Snippets in Visual Studio</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500" dirty="0">
                <a:hlinkClick r:id="rId12"/>
              </a:rPr>
              <a:t>Dynamic Code Generation in C# With Expression Trees | by </a:t>
            </a:r>
            <a:r>
              <a:rPr lang="en-US" sz="1500" dirty="0" err="1">
                <a:hlinkClick r:id="rId12"/>
              </a:rPr>
              <a:t>Bagoum</a:t>
            </a:r>
            <a:r>
              <a:rPr lang="en-US" sz="1500" dirty="0">
                <a:hlinkClick r:id="rId12"/>
              </a:rPr>
              <a:t> | Medium</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4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IN" sz="1500" dirty="0">
                <a:hlinkClick r:id="rId15"/>
              </a:rPr>
              <a:t>ProgramGeneration_Trennung.PDF</a:t>
            </a:r>
            <a:endParaRPr lang="en-US" sz="15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1500" dirty="0">
                <a:hlinkClick r:id="rId7"/>
              </a:rPr>
              <a:t>Early vs Late Binding, reflection, and type dynamic in C#</a:t>
            </a:r>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1500" dirty="0">
                <a:hlinkClick r:id="rId8"/>
              </a:rPr>
              <a:t>Understanding Late Binding: Dynamic Objects and Reflection in C# .NET | LinkedIn</a:t>
            </a:r>
            <a:endParaRPr lang="en-US" sz="15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6314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1500" dirty="0">
                <a:hlinkClick r:id="rId7"/>
              </a:rPr>
              <a:t>The Visitor Pattern and dynamic in C# 4 — </a:t>
            </a:r>
            <a:r>
              <a:rPr lang="en-US" sz="1500" dirty="0" err="1">
                <a:hlinkClick r:id="rId7"/>
              </a:rPr>
              <a:t>Faithlife</a:t>
            </a:r>
            <a:r>
              <a:rPr lang="en-US" sz="1500" dirty="0">
                <a:hlinkClick r:id="rId7"/>
              </a:rPr>
              <a:t> Code Blog</a:t>
            </a:r>
            <a:endParaRPr lang="en-US" sz="1500" dirty="0"/>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1500" dirty="0" err="1">
                <a:hlinkClick r:id="rId8"/>
              </a:rPr>
              <a:t>c#</a:t>
            </a:r>
            <a:r>
              <a:rPr lang="en-US" sz="1500" dirty="0">
                <a:hlinkClick r:id="rId8"/>
              </a:rPr>
              <a:t> - Differences between </a:t>
            </a:r>
            <a:r>
              <a:rPr lang="en-US" sz="1500" dirty="0" err="1">
                <a:hlinkClick r:id="rId8"/>
              </a:rPr>
              <a:t>ExpandoObject</a:t>
            </a:r>
            <a:r>
              <a:rPr lang="en-US" sz="1500" dirty="0">
                <a:hlinkClick r:id="rId8"/>
              </a:rPr>
              <a:t>, </a:t>
            </a:r>
            <a:r>
              <a:rPr lang="en-US" sz="1500" dirty="0" err="1">
                <a:hlinkClick r:id="rId8"/>
              </a:rPr>
              <a:t>DynamicObject</a:t>
            </a:r>
            <a:r>
              <a:rPr lang="en-US" sz="1500" dirty="0">
                <a:hlinkClick r:id="rId8"/>
              </a:rPr>
              <a:t> and dynamic - Stack Overflow</a:t>
            </a:r>
            <a:endParaRPr lang="en-US" sz="15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500" dirty="0">
                <a:hlinkClick r:id="rId7"/>
              </a:rPr>
              <a:t>jot.fm/issues/issue_2007_03/article1/</a:t>
            </a:r>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IN" sz="1500" dirty="0">
                <a:hlinkClick r:id="rId8"/>
              </a:rPr>
              <a:t>MSIL Rewriting – </a:t>
            </a:r>
            <a:r>
              <a:rPr lang="en-IN" sz="1500" dirty="0" err="1">
                <a:hlinkClick r:id="rId8"/>
              </a:rPr>
              <a:t>PostSharp</a:t>
            </a:r>
            <a:r>
              <a:rPr lang="en-IN" sz="1500" dirty="0">
                <a:hlinkClick r:id="rId8"/>
              </a:rPr>
              <a:t> Technologies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1500" dirty="0">
                <a:hlinkClick r:id="rId9"/>
              </a:rPr>
              <a:t>Middleware and Dependency Injection – </a:t>
            </a:r>
            <a:r>
              <a:rPr lang="en-US" sz="1500" dirty="0" err="1">
                <a:hlinkClick r:id="rId9"/>
              </a:rPr>
              <a:t>PostSharp</a:t>
            </a:r>
            <a:r>
              <a:rPr lang="en-US" sz="1500" dirty="0">
                <a:hlinkClick r:id="rId9"/>
              </a:rPr>
              <a:t> Technologies</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500" dirty="0">
                <a:hlinkClick r:id="rId10"/>
              </a:rPr>
              <a:t>DDD-Based-Enterprise-Application-Framework/Infrastructure/</a:t>
            </a:r>
            <a:r>
              <a:rPr lang="en-US" sz="1500" dirty="0" err="1">
                <a:hlinkClick r:id="rId10"/>
              </a:rPr>
              <a:t>AoP</a:t>
            </a:r>
            <a:r>
              <a:rPr lang="en-US" sz="1500" dirty="0">
                <a:hlinkClick r:id="rId10"/>
              </a:rPr>
              <a:t> at master · sandipray63in/DDD-Based-Enterprise-Application-Framework · GitHub</a:t>
            </a:r>
            <a:endParaRPr lang="en-US" sz="1500" kern="0" spc="-220" dirty="0">
              <a:solidFill>
                <a:schemeClr val="accent6"/>
              </a:solidFill>
            </a:endParaRP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500" dirty="0">
                <a:hlinkClick r:id="rId11"/>
              </a:rPr>
              <a:t>Aspect-Oriented Programming (AOP) - Microsoft Unity Succinctly </a:t>
            </a:r>
            <a:r>
              <a:rPr lang="en-US" sz="1500" dirty="0" err="1">
                <a:hlinkClick r:id="rId11"/>
              </a:rPr>
              <a:t>Ebook</a:t>
            </a:r>
            <a:endParaRPr lang="en-US" sz="15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212983940"/>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063560803"/>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4007285905"/>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8"/>
                        </a:rPr>
                        <a:t>RefatoringGuru</a:t>
                      </a:r>
                      <a:r>
                        <a:rPr lang="en-IN" sz="1100" dirty="0">
                          <a:hlinkClick r:id="rId8"/>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9"/>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0"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1"/>
                        </a:rPr>
                        <a:t>DDD-Based-Enterprise-Application-Framework/</a:t>
                      </a:r>
                      <a:r>
                        <a:rPr lang="en-IN" sz="1100" dirty="0" err="1">
                          <a:hlinkClick r:id="rId11"/>
                        </a:rPr>
                        <a:t>ApplicationAndInfrastructureServices</a:t>
                      </a:r>
                      <a:r>
                        <a:rPr lang="en-IN" sz="1100" dirty="0">
                          <a:hlinkClick r:id="rId11"/>
                        </a:rPr>
                        <a:t>/</a:t>
                      </a:r>
                      <a:r>
                        <a:rPr lang="en-IN" sz="1100" dirty="0" err="1">
                          <a:hlinkClick r:id="rId11"/>
                        </a:rPr>
                        <a:t>BatchProcessing</a:t>
                      </a:r>
                      <a:r>
                        <a:rPr lang="en-IN" sz="1100" dirty="0">
                          <a:hlinkClick r:id="rId11"/>
                        </a:rPr>
                        <a:t>/</a:t>
                      </a:r>
                      <a:r>
                        <a:rPr lang="en-IN" sz="1100" dirty="0" err="1">
                          <a:hlinkClick r:id="rId11"/>
                        </a:rPr>
                        <a:t>BaseBatchSeedSelector.cs</a:t>
                      </a:r>
                      <a:r>
                        <a:rPr lang="en-IN" sz="1100" dirty="0">
                          <a:hlinkClick r:id="rId11"/>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25733435"/>
              </p:ext>
            </p:extLst>
          </p:nvPr>
        </p:nvGraphicFramePr>
        <p:xfrm>
          <a:off x="275300" y="807720"/>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 LinkedIn</a:t>
            </a:r>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1750895"/>
              </p:ext>
            </p:extLst>
          </p:nvPr>
        </p:nvGraphicFramePr>
        <p:xfrm>
          <a:off x="218516" y="0"/>
          <a:ext cx="8716300" cy="609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799" y="609600"/>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900" dirty="0" err="1">
                <a:hlinkClick r:id="rId7"/>
              </a:rPr>
              <a:t>Category:Programming</a:t>
            </a:r>
            <a:r>
              <a:rPr lang="en-IN" sz="900" dirty="0">
                <a:hlinkClick r:id="rId7"/>
              </a:rPr>
              <a:t> Tasks - Rosetta Code</a:t>
            </a:r>
            <a:r>
              <a:rPr lang="en-US" sz="900" kern="0" spc="-220" dirty="0">
                <a:solidFill>
                  <a:schemeClr val="accent6"/>
                </a:solidFill>
              </a:rPr>
              <a:t> </a:t>
            </a:r>
          </a:p>
          <a:p>
            <a:pPr marL="12700" marR="5080"/>
            <a:r>
              <a:rPr lang="en-US" sz="900" dirty="0">
                <a:hlinkClick r:id="rId8"/>
              </a:rPr>
              <a:t>GitHub - </a:t>
            </a:r>
            <a:r>
              <a:rPr lang="en-US" sz="900" dirty="0" err="1">
                <a:hlinkClick r:id="rId8"/>
              </a:rPr>
              <a:t>gamontal</a:t>
            </a:r>
            <a:r>
              <a:rPr lang="en-US" sz="900" dirty="0">
                <a:hlinkClick r:id="rId8"/>
              </a:rPr>
              <a:t>/awesome-katas: A curated list of code katas</a:t>
            </a:r>
            <a:endParaRPr lang="en-US" sz="900" dirty="0"/>
          </a:p>
          <a:p>
            <a:pPr marL="12700" marR="5080"/>
            <a:r>
              <a:rPr lang="en-US" sz="900" dirty="0">
                <a:hlinkClick r:id="rId9"/>
              </a:rPr>
              <a:t>Coding Challenges | John </a:t>
            </a:r>
            <a:r>
              <a:rPr lang="en-US" sz="900" dirty="0" err="1">
                <a:hlinkClick r:id="rId9"/>
              </a:rPr>
              <a:t>Crickett</a:t>
            </a:r>
            <a:r>
              <a:rPr lang="en-US" sz="900" dirty="0">
                <a:hlinkClick r:id="rId9"/>
              </a:rPr>
              <a:t> | Substack</a:t>
            </a:r>
            <a:endParaRPr lang="en-US" sz="900" dirty="0"/>
          </a:p>
          <a:p>
            <a:pPr marL="12700" marR="5080"/>
            <a:r>
              <a:rPr lang="en-IN" sz="800" dirty="0">
                <a:hlinkClick r:id="rId10"/>
              </a:rPr>
              <a:t>Build Your Own X</a:t>
            </a:r>
            <a:endParaRPr lang="en-US" sz="900" dirty="0"/>
          </a:p>
          <a:p>
            <a:pPr marL="12700" marR="5080"/>
            <a:r>
              <a:rPr lang="en-US" sz="900" dirty="0">
                <a:hlinkClick r:id="rId11"/>
              </a:rPr>
              <a:t>GitHub - ashishps1/awesome-low-level-design: Learn Low Level Design (LLD) and prepare for interviews using free resources.</a:t>
            </a:r>
            <a:endParaRPr lang="en-US" sz="900" dirty="0"/>
          </a:p>
          <a:p>
            <a:pPr marL="12700" marR="5080"/>
            <a:r>
              <a:rPr lang="en-US" sz="900" dirty="0">
                <a:hlinkClick r:id="rId12"/>
              </a:rPr>
              <a:t>GitHub - </a:t>
            </a:r>
            <a:r>
              <a:rPr lang="en-US" sz="900" dirty="0" err="1">
                <a:hlinkClick r:id="rId12"/>
              </a:rPr>
              <a:t>prasadgujar</a:t>
            </a:r>
            <a:r>
              <a:rPr lang="en-US" sz="900" dirty="0">
                <a:hlinkClick r:id="rId12"/>
              </a:rPr>
              <a:t>/low-level-design-primer: Dedicated Resources for the Low-Level System Design. Learn how to design and implement large-scale systems. Prep for the system design interview.</a:t>
            </a:r>
            <a:endParaRPr lang="en-US" sz="900" dirty="0"/>
          </a:p>
          <a:p>
            <a:pPr marL="12700" marR="5080"/>
            <a:r>
              <a:rPr lang="en-IN" sz="900" dirty="0">
                <a:hlinkClick r:id="rId13"/>
              </a:rPr>
              <a:t>C# | Version History </a:t>
            </a:r>
            <a:r>
              <a:rPr lang="en-IN" sz="900" dirty="0">
                <a:hlinkClick r:id="rId7"/>
              </a:rPr>
              <a:t>–</a:t>
            </a:r>
            <a:r>
              <a:rPr lang="en-IN" sz="900" dirty="0">
                <a:hlinkClick r:id="rId13"/>
              </a:rPr>
              <a:t> </a:t>
            </a:r>
            <a:r>
              <a:rPr lang="en-IN" sz="900" dirty="0" err="1">
                <a:hlinkClick r:id="rId13"/>
              </a:rPr>
              <a:t>GeeksforGeeks</a:t>
            </a:r>
            <a:endParaRPr lang="en-IN" sz="900" dirty="0"/>
          </a:p>
          <a:p>
            <a:pPr marL="12700" marR="5080"/>
            <a:r>
              <a:rPr lang="en-US" sz="900" dirty="0" err="1">
                <a:hlinkClick r:id="rId14"/>
              </a:rPr>
              <a:t>c#</a:t>
            </a:r>
            <a:r>
              <a:rPr lang="en-US" sz="900" dirty="0">
                <a:hlinkClick r:id="rId14"/>
              </a:rPr>
              <a:t> - how do I chunk an enumerable? - Stack Overflow</a:t>
            </a:r>
            <a:endParaRPr lang="en-US" sz="900" dirty="0"/>
          </a:p>
          <a:p>
            <a:pPr marL="12700" marR="5080"/>
            <a:r>
              <a:rPr lang="en-US" sz="900" dirty="0">
                <a:hlinkClick r:id="rId15"/>
              </a:rPr>
              <a:t>How To Write Elegant Code with C# Switch Expressions</a:t>
            </a:r>
            <a:endParaRPr lang="en-US" sz="900" dirty="0"/>
          </a:p>
          <a:p>
            <a:pPr marL="12700" marR="5080"/>
            <a:r>
              <a:rPr lang="en-US" sz="900" dirty="0">
                <a:hlinkClick r:id="rId16"/>
              </a:rPr>
              <a:t>Declare and use C# primary constructors in classes and structs | Microsoft Learn</a:t>
            </a:r>
            <a:endParaRPr lang="en-US" sz="900" dirty="0"/>
          </a:p>
          <a:p>
            <a:pPr marL="12700" marR="5080"/>
            <a:r>
              <a:rPr lang="en-US" sz="900" dirty="0">
                <a:hlinkClick r:id="rId17"/>
              </a:rPr>
              <a:t>Deconstructing tuples and other types - C# | Microsoft Learn</a:t>
            </a:r>
            <a:endParaRPr lang="en-US" sz="900" dirty="0"/>
          </a:p>
          <a:p>
            <a:pPr marL="12700" marR="5080"/>
            <a:r>
              <a:rPr lang="en-US" sz="900" dirty="0">
                <a:hlinkClick r:id="rId18"/>
              </a:rPr>
              <a:t>asynchronous - Why would one use Task&lt;T&gt; over </a:t>
            </a:r>
            <a:r>
              <a:rPr lang="en-US" sz="900" dirty="0" err="1">
                <a:hlinkClick r:id="rId18"/>
              </a:rPr>
              <a:t>ValueTask</a:t>
            </a:r>
            <a:r>
              <a:rPr lang="en-US" sz="900" dirty="0">
                <a:hlinkClick r:id="rId18"/>
              </a:rPr>
              <a:t>&lt;T&gt; in C#? - Stack Overflow</a:t>
            </a:r>
            <a:endParaRPr lang="en-US" sz="900" dirty="0"/>
          </a:p>
          <a:p>
            <a:pPr marL="12700" marR="5080"/>
            <a:r>
              <a:rPr lang="en-US" sz="900" dirty="0">
                <a:hlinkClick r:id="rId19"/>
              </a:rPr>
              <a:t>GitHub - </a:t>
            </a:r>
            <a:r>
              <a:rPr lang="en-US" sz="900" dirty="0" err="1">
                <a:hlinkClick r:id="rId19"/>
              </a:rPr>
              <a:t>markjprice</a:t>
            </a:r>
            <a:r>
              <a:rPr lang="en-US" sz="900" dirty="0">
                <a:hlinkClick r:id="rId19"/>
              </a:rPr>
              <a:t>/apps-services-net8: Repository for the </a:t>
            </a:r>
            <a:r>
              <a:rPr lang="en-US" sz="900" dirty="0" err="1">
                <a:hlinkClick r:id="rId19"/>
              </a:rPr>
              <a:t>Packt</a:t>
            </a:r>
            <a:r>
              <a:rPr lang="en-US" sz="900" dirty="0">
                <a:hlinkClick r:id="rId19"/>
              </a:rPr>
              <a:t> Publishing book titled "Apps and Services with .NET 8" by Mark J. Price</a:t>
            </a:r>
            <a:endParaRPr lang="en-US" sz="900" dirty="0"/>
          </a:p>
          <a:p>
            <a:pPr marL="12700" marR="5080"/>
            <a:r>
              <a:rPr lang="en-US" sz="900" dirty="0">
                <a:hlinkClick r:id="rId20"/>
              </a:rPr>
              <a:t>GitHub - </a:t>
            </a:r>
            <a:r>
              <a:rPr lang="en-US" sz="900" dirty="0" err="1">
                <a:hlinkClick r:id="rId20"/>
              </a:rPr>
              <a:t>markjprice</a:t>
            </a:r>
            <a:r>
              <a:rPr lang="en-US" sz="900" dirty="0">
                <a:hlinkClick r:id="rId20"/>
              </a:rPr>
              <a:t>/cs12dotnet8: Repository for the </a:t>
            </a:r>
            <a:r>
              <a:rPr lang="en-US" sz="900" dirty="0" err="1">
                <a:hlinkClick r:id="rId20"/>
              </a:rPr>
              <a:t>Packt</a:t>
            </a:r>
            <a:r>
              <a:rPr lang="en-US" sz="900" dirty="0">
                <a:hlinkClick r:id="rId20"/>
              </a:rPr>
              <a:t> Publishing book titled "C# 12 and .NET 8 - Modern Cross-Platform Development Fundamentals" by Mark J. Price</a:t>
            </a:r>
            <a:endParaRPr lang="en-US" sz="900" dirty="0"/>
          </a:p>
          <a:p>
            <a:pPr marL="12700" marR="5080"/>
            <a:r>
              <a:rPr lang="en-US" sz="900" dirty="0">
                <a:hlinkClick r:id="rId21"/>
              </a:rPr>
              <a:t>GitHub - </a:t>
            </a:r>
            <a:r>
              <a:rPr lang="en-US" sz="900" dirty="0" err="1">
                <a:hlinkClick r:id="rId21"/>
              </a:rPr>
              <a:t>miholler</a:t>
            </a:r>
            <a:r>
              <a:rPr lang="en-US" sz="900" dirty="0">
                <a:hlinkClick r:id="rId21"/>
              </a:rPr>
              <a:t>/</a:t>
            </a:r>
            <a:r>
              <a:rPr lang="en-US" sz="900" dirty="0" err="1">
                <a:hlinkClick r:id="rId21"/>
              </a:rPr>
              <a:t>NSpecifications</a:t>
            </a:r>
            <a:r>
              <a:rPr lang="en-US" sz="900" dirty="0">
                <a:hlinkClick r:id="rId21"/>
              </a:rPr>
              <a:t>: Specification Pattern for </a:t>
            </a:r>
            <a:r>
              <a:rPr lang="en-US" sz="900" dirty="0" err="1">
                <a:hlinkClick r:id="rId21"/>
              </a:rPr>
              <a:t>.Net</a:t>
            </a:r>
            <a:endParaRPr lang="en-US" sz="900" dirty="0"/>
          </a:p>
          <a:p>
            <a:pPr marL="12700" marR="5080"/>
            <a:r>
              <a:rPr lang="en-US" sz="900" dirty="0" err="1">
                <a:hlinkClick r:id="rId22"/>
              </a:rPr>
              <a:t>c#</a:t>
            </a:r>
            <a:r>
              <a:rPr lang="en-US" sz="900" dirty="0">
                <a:hlinkClick r:id="rId22"/>
              </a:rPr>
              <a:t> - Specification Pattern vs (Fluent) Validation - Stack Overflow</a:t>
            </a:r>
            <a:endParaRPr lang="en-US" sz="900" dirty="0"/>
          </a:p>
          <a:p>
            <a:pPr marL="12700" marR="5080"/>
            <a:r>
              <a:rPr lang="en-US" sz="900" dirty="0">
                <a:hlinkClick r:id="rId23"/>
              </a:rPr>
              <a:t>Creating a .NET Cron Job for Kubernetes | </a:t>
            </a:r>
            <a:r>
              <a:rPr lang="en-US" sz="900" dirty="0" err="1">
                <a:hlinkClick r:id="rId23"/>
              </a:rPr>
              <a:t>benbrougher.tech</a:t>
            </a:r>
            <a:endParaRPr lang="en-US" sz="900" dirty="0"/>
          </a:p>
          <a:p>
            <a:pPr marL="12700" marR="5080"/>
            <a:r>
              <a:rPr lang="en-IN" sz="900" dirty="0">
                <a:hlinkClick r:id="rId24"/>
              </a:rPr>
              <a:t>The Ultimate Kubernetes </a:t>
            </a:r>
            <a:r>
              <a:rPr lang="en-IN" sz="900" dirty="0" err="1">
                <a:hlinkClick r:id="rId24"/>
              </a:rPr>
              <a:t>CronJob</a:t>
            </a:r>
            <a:r>
              <a:rPr lang="en-IN" sz="900" dirty="0">
                <a:hlinkClick r:id="rId24"/>
              </a:rPr>
              <a:t> Guide</a:t>
            </a:r>
            <a:endParaRPr lang="en-IN" sz="900" dirty="0"/>
          </a:p>
          <a:p>
            <a:pPr marL="12700" marR="5080"/>
            <a:r>
              <a:rPr lang="en-US" sz="900" dirty="0">
                <a:hlinkClick r:id="rId25"/>
              </a:rPr>
              <a:t>Clean Code Cheat Sheet – planetgeek.ch</a:t>
            </a:r>
            <a:endParaRPr lang="en-US" sz="900" dirty="0"/>
          </a:p>
          <a:p>
            <a:pPr marL="12700" marR="5080"/>
            <a:r>
              <a:rPr lang="en-IN" sz="900" dirty="0">
                <a:hlinkClick r:id="rId26"/>
              </a:rPr>
              <a:t>Must Know Data Structures | LinkedIn</a:t>
            </a:r>
            <a:endParaRPr lang="en-IN" sz="900" dirty="0"/>
          </a:p>
          <a:p>
            <a:pPr marL="12700" marR="5080"/>
            <a:r>
              <a:rPr lang="en-US" sz="900" dirty="0">
                <a:hlinkClick r:id="rId27"/>
              </a:rPr>
              <a:t>Data Structures and Algorithms Roadmap</a:t>
            </a:r>
            <a:endParaRPr lang="en-IN" sz="900" dirty="0"/>
          </a:p>
          <a:p>
            <a:pPr marL="12700" marR="5080"/>
            <a:r>
              <a:rPr lang="en-IN" sz="900" dirty="0">
                <a:hlinkClick r:id="rId28"/>
              </a:rPr>
              <a:t>Coding Interview Patterns LinkedIn</a:t>
            </a:r>
            <a:endParaRPr lang="en-IN" sz="900" dirty="0"/>
          </a:p>
          <a:p>
            <a:pPr marL="12700" marR="5080"/>
            <a:r>
              <a:rPr lang="en-IN" sz="900" dirty="0">
                <a:hlinkClick r:id="rId29"/>
              </a:rPr>
              <a:t>Coding Problems Patterns | LinkedIn</a:t>
            </a:r>
            <a:endParaRPr lang="en-IN" sz="900" dirty="0"/>
          </a:p>
          <a:p>
            <a:pPr marL="12700" marR="5080"/>
            <a:r>
              <a:rPr lang="en-US" sz="900" dirty="0">
                <a:hlinkClick r:id="rId30"/>
              </a:rPr>
              <a:t>GitHub - </a:t>
            </a:r>
            <a:r>
              <a:rPr lang="en-US" sz="900" dirty="0" err="1">
                <a:hlinkClick r:id="rId30"/>
              </a:rPr>
              <a:t>PacktPublishing</a:t>
            </a:r>
            <a:r>
              <a:rPr lang="en-US" sz="900" dirty="0">
                <a:hlinkClick r:id="rId30"/>
              </a:rPr>
              <a:t>/Systems-Programming-with-C-Sharp-and-.NET: , published by </a:t>
            </a:r>
            <a:r>
              <a:rPr lang="en-US" sz="900" dirty="0" err="1">
                <a:hlinkClick r:id="rId30"/>
              </a:rPr>
              <a:t>Packt</a:t>
            </a:r>
            <a:endParaRPr lang="en-US" sz="900" dirty="0"/>
          </a:p>
          <a:p>
            <a:pPr marL="12700" marR="5080"/>
            <a:r>
              <a:rPr lang="it-IT" sz="900" dirty="0">
                <a:hlinkClick r:id="rId31"/>
              </a:rPr>
              <a:t>Native interoperability - .NET | Microsoft Learn</a:t>
            </a:r>
            <a:endParaRPr lang="it-IT" sz="900" dirty="0"/>
          </a:p>
          <a:p>
            <a:pPr marL="12700" marR="5080"/>
            <a:r>
              <a:rPr lang="en-US" sz="900" dirty="0">
                <a:hlinkClick r:id="rId32"/>
              </a:rPr>
              <a:t>GitHub - </a:t>
            </a:r>
            <a:r>
              <a:rPr lang="en-US" sz="900" dirty="0" err="1">
                <a:hlinkClick r:id="rId32"/>
              </a:rPr>
              <a:t>ziishaned</a:t>
            </a:r>
            <a:r>
              <a:rPr lang="en-US" sz="900" dirty="0">
                <a:hlinkClick r:id="rId32"/>
              </a:rPr>
              <a:t>/learn-regex: Learn regex the easy way</a:t>
            </a:r>
            <a:endParaRPr lang="en-US" sz="900" dirty="0"/>
          </a:p>
          <a:p>
            <a:pPr marL="12700" marR="5080"/>
            <a:r>
              <a:rPr lang="en-US" sz="900" dirty="0">
                <a:hlinkClick r:id="rId33"/>
              </a:rPr>
              <a:t>Free Programming Books – GoalKicker.com</a:t>
            </a:r>
            <a:r>
              <a:rPr lang="en-US" sz="900" dirty="0"/>
              <a:t> </a:t>
            </a:r>
          </a:p>
          <a:p>
            <a:pPr marL="12700" marR="5080"/>
            <a:r>
              <a:rPr lang="en-US" sz="900" dirty="0">
                <a:hlinkClick r:id="rId34"/>
              </a:rPr>
              <a:t>Regular Expressions Cookbook, 2nd Edition[Book]</a:t>
            </a:r>
            <a:endParaRPr lang="en-US" sz="900" dirty="0"/>
          </a:p>
          <a:p>
            <a:pPr marL="12700" marR="5080"/>
            <a:r>
              <a:rPr lang="en-IN" sz="900" dirty="0">
                <a:hlinkClick r:id="rId35"/>
              </a:rPr>
              <a:t>GitHub - PacktPublishing/High-Performance-Programming-in-C-Sharp-and-.NET</a:t>
            </a:r>
            <a:endParaRPr lang="en-IN" sz="900" dirty="0"/>
          </a:p>
          <a:p>
            <a:pPr marL="12700" marR="5080"/>
            <a:r>
              <a:rPr lang="en-US" sz="900" dirty="0">
                <a:hlinkClick r:id="rId36"/>
              </a:rPr>
              <a:t>GitHub - </a:t>
            </a:r>
            <a:r>
              <a:rPr lang="en-US" sz="900" dirty="0" err="1">
                <a:hlinkClick r:id="rId36"/>
              </a:rPr>
              <a:t>milanm</a:t>
            </a:r>
            <a:r>
              <a:rPr lang="en-US" sz="900" dirty="0">
                <a:hlinkClick r:id="rId36"/>
              </a:rPr>
              <a:t>/</a:t>
            </a:r>
            <a:r>
              <a:rPr lang="en-US" sz="900" dirty="0" err="1">
                <a:hlinkClick r:id="rId36"/>
              </a:rPr>
              <a:t>DotNet</a:t>
            </a:r>
            <a:r>
              <a:rPr lang="en-US" sz="900" dirty="0">
                <a:hlinkClick r:id="rId36"/>
              </a:rPr>
              <a:t>-Developer-Roadmap: The comprehensive .NET Developer Roadmap by seniority level.</a:t>
            </a:r>
            <a:endParaRPr lang="en-US" sz="900" dirty="0"/>
          </a:p>
          <a:p>
            <a:pPr marL="12700" marR="5080"/>
            <a:r>
              <a:rPr lang="en-IN" sz="900" dirty="0" err="1">
                <a:hlinkClick r:id="rId37"/>
              </a:rPr>
              <a:t>Postgre</a:t>
            </a:r>
            <a:r>
              <a:rPr lang="en-IN" sz="900" dirty="0">
                <a:hlinkClick r:id="rId37"/>
              </a:rPr>
              <a:t> </a:t>
            </a:r>
            <a:r>
              <a:rPr lang="en-IN" sz="900" dirty="0" err="1">
                <a:hlinkClick r:id="rId37"/>
              </a:rPr>
              <a:t>Sql</a:t>
            </a:r>
            <a:r>
              <a:rPr lang="en-IN" sz="900" dirty="0">
                <a:hlinkClick r:id="rId37"/>
              </a:rPr>
              <a:t> Query Execution Flow| LinkedIn</a:t>
            </a:r>
            <a:endParaRPr lang="en-IN" sz="900" dirty="0"/>
          </a:p>
          <a:p>
            <a:pPr marL="12700" marR="5080"/>
            <a:r>
              <a:rPr lang="en-IN" sz="900" dirty="0">
                <a:hlinkClick r:id="rId38"/>
              </a:rPr>
              <a:t>Free Postgres SQL Internals Book </a:t>
            </a:r>
            <a:endParaRPr lang="en-IN" sz="900" dirty="0"/>
          </a:p>
          <a:p>
            <a:pPr marL="12700" marR="5080"/>
            <a:r>
              <a:rPr lang="en-US" sz="900" dirty="0">
                <a:hlinkClick r:id="rId39"/>
              </a:rPr>
              <a:t>GATE CS Notes (According to GATE 2025 Syllabus) </a:t>
            </a:r>
            <a:r>
              <a:rPr lang="en-US" sz="900" dirty="0">
                <a:hlinkClick r:id="rId40"/>
              </a:rPr>
              <a:t>–</a:t>
            </a:r>
            <a:r>
              <a:rPr lang="en-US" sz="900" dirty="0">
                <a:hlinkClick r:id="rId39"/>
              </a:rPr>
              <a:t> </a:t>
            </a:r>
            <a:r>
              <a:rPr lang="en-US" sz="900" dirty="0" err="1">
                <a:hlinkClick r:id="rId39"/>
              </a:rPr>
              <a:t>GeeksforGeeks</a:t>
            </a:r>
            <a:endParaRPr lang="en-US" sz="900" dirty="0"/>
          </a:p>
          <a:p>
            <a:pPr marL="12700" marR="5080"/>
            <a:r>
              <a:rPr lang="en-US" sz="900" dirty="0">
                <a:hlinkClick r:id="rId41"/>
              </a:rPr>
              <a:t>Computer Science Roadmap: Curriculum for the self taught developer</a:t>
            </a:r>
            <a:endParaRPr lang="en-US" sz="900" dirty="0"/>
          </a:p>
          <a:p>
            <a:pPr marL="12700" marR="5080"/>
            <a:r>
              <a:rPr lang="en-US" sz="900" dirty="0">
                <a:hlinkClick r:id="rId42"/>
              </a:rPr>
              <a:t>Make a Web Browser: Beginner's Guide</a:t>
            </a:r>
            <a:endParaRPr lang="en-US" sz="900" dirty="0"/>
          </a:p>
          <a:p>
            <a:pPr marL="12700" marR="5080"/>
            <a:r>
              <a:rPr lang="en-IN" sz="900" dirty="0">
                <a:hlinkClick r:id="rId43"/>
              </a:rPr>
              <a:t>Web Browser Engineering</a:t>
            </a:r>
            <a:endParaRPr lang="en-IN" sz="900" dirty="0"/>
          </a:p>
          <a:p>
            <a:pPr marL="12700" marR="5080"/>
            <a:r>
              <a:rPr lang="en-US" sz="900" dirty="0" err="1">
                <a:hlinkClick r:id="rId44"/>
              </a:rPr>
              <a:t>c#</a:t>
            </a:r>
            <a:r>
              <a:rPr lang="en-US" sz="900" dirty="0">
                <a:hlinkClick r:id="rId44"/>
              </a:rPr>
              <a:t> - Replacing .NET </a:t>
            </a:r>
            <a:r>
              <a:rPr lang="en-US" sz="900" dirty="0" err="1">
                <a:hlinkClick r:id="rId44"/>
              </a:rPr>
              <a:t>WebBrowser</a:t>
            </a:r>
            <a:r>
              <a:rPr lang="en-US" sz="900" dirty="0">
                <a:hlinkClick r:id="rId44"/>
              </a:rPr>
              <a:t> control with a better browser, like Chrome? - Stack Overflow</a:t>
            </a:r>
            <a:endParaRPr lang="en-US" sz="900" dirty="0"/>
          </a:p>
          <a:p>
            <a:pPr marL="12700" marR="5080"/>
            <a:endParaRPr lang="en-US" sz="900" dirty="0"/>
          </a:p>
          <a:p>
            <a:pPr marL="12700" marR="5080"/>
            <a:endParaRPr lang="en-US" sz="900" dirty="0"/>
          </a:p>
          <a:p>
            <a:pPr marL="12700" marR="5080"/>
            <a:endParaRPr lang="en-US" sz="9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 - fetch as much data as possible from COM  into RAM([memory ] &amp; then do further processing – this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 - 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 - 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 - 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Systems.) A good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15564</TotalTime>
  <Words>9083</Words>
  <Application>Microsoft Office PowerPoint</Application>
  <PresentationFormat>Custom</PresentationFormat>
  <Paragraphs>1111</Paragraphs>
  <Slides>98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98</vt:i4>
      </vt:variant>
    </vt:vector>
  </HeadingPairs>
  <TitlesOfParts>
    <vt:vector size="107"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1078</cp:revision>
  <dcterms:created xsi:type="dcterms:W3CDTF">2020-11-03T17:16:52Z</dcterms:created>
  <dcterms:modified xsi:type="dcterms:W3CDTF">2024-12-27T11:54:15Z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