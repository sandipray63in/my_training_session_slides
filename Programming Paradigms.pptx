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6" d="100"/>
          <a:sy n="66" d="100"/>
        </p:scale>
        <p:origin x="1304" y="284"/>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10/22/2024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10/22/2024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docs.mlrun.org/en/latest/serving/realtime-pipelines.html"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5" Type="http://schemas.openxmlformats.org/officeDocument/2006/relationships/hyperlink" Target="https://www.linkedin.com/pulse/book-review-software-architecture-juval-lowy-michael-rarela-fiabf" TargetMode="Externa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en.wikipedia.org/wiki/Strategy_pattern"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13" Type="http://schemas.openxmlformats.org/officeDocument/2006/relationships/hyperlink" Target="https://medium.com/@rajeshdavid/how-does-a-graphql-service-work-internally-496dc9264096"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7"/>
              </a:rPr>
              <a:t>https://www.linkedin.com/posts/sina-riyahi_backend-fullstack-developer-activity-7250402225380876289-qtW3/</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200" kern="0" spc="-220" dirty="0">
                <a:solidFill>
                  <a:schemeClr val="accent2"/>
                </a:solidFill>
                <a:hlinkClick r:id="rId8"/>
              </a:rPr>
              <a:t>https://stackoverflow.com/questions/2161895</a:t>
            </a:r>
            <a:r>
              <a:rPr lang="en-US" sz="1200" kern="0" spc="-220">
                <a:solidFill>
                  <a:schemeClr val="accent2"/>
                </a:solidFill>
                <a:hlinkClick r:id="rId8"/>
              </a:rPr>
              <a:t>/reading-large-text-files-with-streams-in-c-sharp</a:t>
            </a:r>
            <a:r>
              <a:rPr lang="en-US" sz="1200" kern="0" spc="-220">
                <a:solidFill>
                  <a:schemeClr val="accent2"/>
                </a:solidFill>
              </a:rPr>
              <a:t> </a:t>
            </a:r>
            <a:endParaRPr lang="en-US" sz="1200" kern="0" spc="-220" dirty="0">
              <a:solidFill>
                <a:schemeClr val="accent2"/>
              </a:solidFill>
            </a:endParaRPr>
          </a:p>
          <a:p>
            <a:pPr algn="l"/>
            <a:r>
              <a:rPr lang="en-US" sz="1200" kern="0" spc="-220" dirty="0">
                <a:solidFill>
                  <a:schemeClr val="accent2"/>
                </a:solidFill>
                <a:hlinkClick r:id="rId9"/>
              </a:rPr>
              <a:t>https://learn.microsoft.com/en-us/dotnet/api/system.io?view=net-8.0</a:t>
            </a:r>
            <a:r>
              <a:rPr lang="en-US" sz="1200" kern="0" spc="-220" dirty="0">
                <a:solidFill>
                  <a:schemeClr val="accent2"/>
                </a:solidFill>
              </a:rPr>
              <a:t>  </a:t>
            </a:r>
          </a:p>
          <a:p>
            <a:pPr algn="l"/>
            <a:r>
              <a:rPr lang="en-US" sz="1200" kern="0" spc="-220" dirty="0">
                <a:solidFill>
                  <a:schemeClr val="accent2"/>
                </a:solidFill>
                <a:hlinkClick r:id="rId10"/>
              </a:rPr>
              <a:t>https://learn.microsoft.com/en-us/dotnet/api/system.environment.specialfolder?view=net-8.0</a:t>
            </a:r>
            <a:r>
              <a:rPr lang="en-US" sz="1200" kern="0" spc="-220" dirty="0">
                <a:solidFill>
                  <a:schemeClr val="accent2"/>
                </a:solidFill>
              </a:rPr>
              <a:t> </a:t>
            </a:r>
          </a:p>
          <a:p>
            <a:pPr algn="l"/>
            <a:r>
              <a:rPr lang="en-US" sz="1200" kern="0" spc="-220" dirty="0">
                <a:solidFill>
                  <a:schemeClr val="accent2"/>
                </a:solidFill>
                <a:hlinkClick r:id="rId11"/>
              </a:rPr>
              <a:t>https://learn.microsoft.com/en-us/dotnet/standard/io/memory-mapped-files</a:t>
            </a:r>
            <a:r>
              <a:rPr lang="en-US" sz="12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dirty="0">
                <a:solidFill>
                  <a:schemeClr val="accent2"/>
                </a:solidFill>
                <a:hlinkClick r:id="rId9"/>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0"/>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1"/>
              </a:rPr>
              <a:t>https://hpbn.co/</a:t>
            </a:r>
            <a:r>
              <a:rPr lang="en-US" sz="1500" kern="0" spc="-220" dirty="0">
                <a:solidFill>
                  <a:schemeClr val="accent2"/>
                </a:solidFill>
              </a:rPr>
              <a:t> </a:t>
            </a:r>
          </a:p>
          <a:p>
            <a:pPr algn="l"/>
            <a:r>
              <a:rPr lang="en-US" sz="1500" kern="0" spc="-220">
                <a:solidFill>
                  <a:schemeClr val="accent2"/>
                </a:solidFill>
                <a:hlinkClick r:id="rId12"/>
              </a:rPr>
              <a:t>https://stackoverflow.com/questions/4263116/wireshark-vs-firebug-vs-fiddler-pros-and-cons</a:t>
            </a:r>
            <a:r>
              <a:rPr lang="en-US" sz="1500" kern="0" spc="-220">
                <a:solidFill>
                  <a:schemeClr val="accent2"/>
                </a:solidFill>
              </a:rPr>
              <a:t> </a:t>
            </a:r>
            <a:endParaRPr lang="en-US" sz="15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988517442"/>
              </p:ext>
            </p:extLst>
          </p:nvPr>
        </p:nvGraphicFramePr>
        <p:xfrm>
          <a:off x="275300" y="939800"/>
          <a:ext cx="8716299" cy="481390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b="0" i="0" u="sng" strike="noStrike" dirty="0">
                          <a:solidFill>
                            <a:srgbClr val="0563C1"/>
                          </a:solidFill>
                          <a:effectLst/>
                          <a:latin typeface="Calibri" panose="020F0502020204030204" pitchFamily="34" charset="0"/>
                          <a:hlinkClick r:id="rId11"/>
                        </a:rPr>
                        <a:t>https://refactoring.guru/design-patterns/state</a:t>
                      </a:r>
                      <a:endParaRPr lang="en-IN" sz="900" b="0" i="0" u="sng" strike="noStrike" dirty="0">
                        <a:solidFill>
                          <a:srgbClr val="0563C1"/>
                        </a:solidFill>
                        <a:effectLst/>
                        <a:latin typeface="Calibri" panose="020F0502020204030204" pitchFamily="34" charset="0"/>
                      </a:endParaRPr>
                    </a:p>
                    <a:p>
                      <a:pPr algn="l" fontAlgn="b"/>
                      <a:r>
                        <a:rPr lang="en-IN" sz="900" b="0" i="0" u="sng" strike="noStrike" dirty="0">
                          <a:solidFill>
                            <a:srgbClr val="0563C1"/>
                          </a:solidFill>
                          <a:effectLst/>
                          <a:latin typeface="Calibri" panose="020F0502020204030204" pitchFamily="34" charset="0"/>
                          <a:hlinkClick r:id="rId12"/>
                        </a:rPr>
                        <a:t>https://blog.ploeh.dk/2015/08/10/type-driven-development/</a:t>
                      </a:r>
                      <a:endParaRPr lang="en-IN" sz="900" b="0" i="0" u="sng" strike="noStrike" dirty="0">
                        <a:solidFill>
                          <a:srgbClr val="0563C1"/>
                        </a:solidFill>
                        <a:effectLst/>
                        <a:latin typeface="Calibri" panose="020F0502020204030204" pitchFamily="34" charset="0"/>
                      </a:endParaRPr>
                    </a:p>
                    <a:p>
                      <a:pPr algn="l" fontAlgn="b"/>
                      <a:r>
                        <a:rPr lang="en-IN" sz="900" b="0" i="0" dirty="0">
                          <a:solidFill>
                            <a:schemeClr val="dk1"/>
                          </a:solidFill>
                          <a:effectLst/>
                          <a:latin typeface="+mn-lt"/>
                          <a:ea typeface="+mn-ea"/>
                          <a:cs typeface="+mn-cs"/>
                        </a:rPr>
                        <a:t>Permissible States Rules Engine</a:t>
                      </a:r>
                    </a:p>
                    <a:p>
                      <a:pPr algn="l" fontAlgn="b"/>
                      <a:r>
                        <a:rPr lang="en-IN" sz="900" b="0" i="0" dirty="0">
                          <a:solidFill>
                            <a:schemeClr val="dk1"/>
                          </a:solidFill>
                          <a:effectLst/>
                          <a:latin typeface="+mn-lt"/>
                          <a:ea typeface="+mn-ea"/>
                          <a:cs typeface="+mn-cs"/>
                          <a:hlinkClick r:id="rId13"/>
                        </a:rPr>
                        <a:t>https://docs.mlrun.org/en/latest/serving/realtime-pipelines.html</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4"/>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5"/>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4465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500" kern="0" spc="-220" dirty="0">
                <a:solidFill>
                  <a:schemeClr val="accent6"/>
                </a:solidFill>
              </a:rPr>
              <a:t> </a:t>
            </a:r>
            <a:r>
              <a:rPr lang="en-US" sz="1500" kern="0" spc="-220" dirty="0">
                <a:solidFill>
                  <a:schemeClr val="accent6"/>
                </a:solidFill>
                <a:hlinkClick r:id="rId9"/>
              </a:rPr>
              <a:t>https://martinfowler.com/dsl.html</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0"/>
              </a:rPr>
              <a:t>https://pragprog.com/titles/tpdsl/language-implementation-patterns/</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1"/>
              </a:rPr>
              <a:t>https://www.syncfusion.com/succinctly-free-ebooks/implementing-a-custom-language</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2"/>
              </a:rPr>
              <a:t>https://www.syncfusion.com/succinctly-free-ebooks/writing-native-mobile-apps-in-a-functional-language-succinctly</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3"/>
              </a:rPr>
              <a:t>https://medium.com/@rajeshdavid/how-does-a-graphql-service-work-internally-496dc9264096</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15092</TotalTime>
  <Words>8942</Words>
  <Application>Microsoft Office PowerPoint</Application>
  <PresentationFormat>Custom</PresentationFormat>
  <Paragraphs>1054</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922</cp:revision>
  <dcterms:created xsi:type="dcterms:W3CDTF">2020-11-03T17:16:52Z</dcterms:created>
  <dcterms:modified xsi:type="dcterms:W3CDTF">2024-10-22T15:40:31Z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