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Things 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Things 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6/26/2024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6/26/2024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6/26/2024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10" Type="http://schemas.openxmlformats.org/officeDocument/2006/relationships/hyperlink" Target="https://stackoverflow.com/questions/2257563/what-are-the-generations-in-garbage-collection" TargetMode="External"/><Relationship Id="rId4" Type="http://schemas.openxmlformats.org/officeDocument/2006/relationships/diagramQuickStyle" Target="../diagrams/quickStyle46.xml"/><Relationship Id="rId9" Type="http://schemas.openxmlformats.org/officeDocument/2006/relationships/hyperlink" Target="https://stackify.com/c-garbage-collection/"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www.syncfusion.com/succinctly-free-ebooks/webservers" TargetMode="External"/><Relationship Id="rId3" Type="http://schemas.openxmlformats.org/officeDocument/2006/relationships/diagramLayout" Target="../diagrams/layout60.xm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Wintellect/PowerThreading" TargetMode="Externa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MikeMKH/concurrency-in-csharp-cookbook" TargetMode="External"/><Relationship Id="rId5" Type="http://schemas.openxmlformats.org/officeDocument/2006/relationships/diagramColors" Target="../diagrams/colors60.xml"/><Relationship Id="rId10" Type="http://schemas.openxmlformats.org/officeDocument/2006/relationships/hyperlink" Target="https://stackoverflow.com/questions/44123180/lock-splitting-vs-lock-striping"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3" Type="http://schemas.openxmlformats.org/officeDocument/2006/relationships/diagramLayout" Target="../diagrams/layout62.xml"/><Relationship Id="rId7" Type="http://schemas.openxmlformats.org/officeDocument/2006/relationships/hyperlink" Target="https://www.albahari.com/threading/part5.aspx#_Concurrent_Collections" TargetMode="External"/><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10" Type="http://schemas.openxmlformats.org/officeDocument/2006/relationships/hyperlink" Target="https://learn.microsoft.com/en-us/dotnet/standard/parallel-programming/for-further-reading-parallel-programming" TargetMode="External"/><Relationship Id="rId4" Type="http://schemas.openxmlformats.org/officeDocument/2006/relationships/diagramQuickStyle" Target="../diagrams/quickStyle62.xml"/><Relationship Id="rId9" Type="http://schemas.openxmlformats.org/officeDocument/2006/relationships/hyperlink" Target="https://github.com/ChadBurggraf/parallel-extensions-extras"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learn.microsoft.com/en-us/dotnet/api/system.io?view=net-8.0"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10" Type="http://schemas.openxmlformats.org/officeDocument/2006/relationships/hyperlink" Target="https://learn.microsoft.com/en-us/dotnet/standard/io/memory-mapped-files"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environment.specialfolder?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packtpub.com/product/hands-on-network-programming-with-c-and-net-core/9781789340761" TargetMode="External"/><Relationship Id="rId3" Type="http://schemas.openxmlformats.org/officeDocument/2006/relationships/diagramLayout" Target="../diagrams/layout72.xml"/><Relationship Id="rId7" Type="http://schemas.openxmlformats.org/officeDocument/2006/relationships/image" Target="../media/image15.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10" Type="http://schemas.openxmlformats.org/officeDocument/2006/relationships/hyperlink" Target="https://hpbn.co/" TargetMode="External"/><Relationship Id="rId4" Type="http://schemas.openxmlformats.org/officeDocument/2006/relationships/diagramQuickStyle" Target="../diagrams/quickStyle72.xml"/><Relationship Id="rId9"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browser.engineering/" TargetMode="External"/><Relationship Id="rId3" Type="http://schemas.openxmlformats.org/officeDocument/2006/relationships/diagramLayout" Target="../diagrams/layout96.xml"/><Relationship Id="rId7" Type="http://schemas.openxmlformats.org/officeDocument/2006/relationships/hyperlink" Target="https://rosettacode.org/wiki/Category:Programming_Tasks" TargetMode="External"/><Relationship Id="rId12" Type="http://schemas.openxmlformats.org/officeDocument/2006/relationships/hyperlink" Target="https://daily.dev/blog/make-a-web-browser-beginners-guide" TargetMode="External"/><Relationship Id="rId17" Type="http://schemas.openxmlformats.org/officeDocument/2006/relationships/hyperlink" Target="https://www.linkedin.com/posts/arpit-adlakha-30691a101_problem-solving-patterns-which-will-teach-activity-7179351051190374400-Zw83" TargetMode="External"/><Relationship Id="rId2" Type="http://schemas.openxmlformats.org/officeDocument/2006/relationships/diagramData" Target="../diagrams/data96.xml"/><Relationship Id="rId16" Type="http://schemas.openxmlformats.org/officeDocument/2006/relationships/hyperlink" Target="https://www.linkedin.com/posts/maheshma_postgresql-sql-systemdesign-activity-7167707514266996736-HqMi"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5" Type="http://schemas.openxmlformats.org/officeDocument/2006/relationships/diagramColors" Target="../diagrams/colors96.xml"/><Relationship Id="rId15" Type="http://schemas.openxmlformats.org/officeDocument/2006/relationships/hyperlink" Target="https://www.planetgeek.ch/2013/06/05/clean-code-cheat-sheet/" TargetMode="External"/><Relationship Id="rId10" Type="http://schemas.openxmlformats.org/officeDocument/2006/relationships/hyperlink" Target="https://github.com/ashishps1/awesome-low-level-design"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790542/replacing-net-webbrowser-control-with-a-better-browser-like-chrome"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309336"/>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759404"/>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is in Nested Classes</a:t>
            </a:r>
          </a:p>
          <a:p>
            <a:pPr marL="12700" marR="5080"/>
            <a:r>
              <a:rPr lang="en-US" sz="2400" kern="0" spc="-220" dirty="0">
                <a:solidFill>
                  <a:schemeClr val="accent6"/>
                </a:solidFill>
              </a:rPr>
              <a:t>Example – </a:t>
            </a:r>
          </a:p>
          <a:p>
            <a:pPr marL="12700" marR="5080"/>
            <a:r>
              <a:rPr lang="en-US" sz="2400" kern="0" spc="-220" dirty="0">
                <a:solidFill>
                  <a:schemeClr val="accent6"/>
                </a:solidFill>
              </a:rPr>
              <a:t>public class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OuterClass</a:t>
            </a:r>
            <a:r>
              <a:rPr lang="en-US" sz="2400" kern="0" spc="-220" dirty="0">
                <a:solidFill>
                  <a:schemeClr val="accent6"/>
                </a:solidFill>
              </a:rPr>
              <a:t>(){</a:t>
            </a:r>
          </a:p>
          <a:p>
            <a:pPr marL="12700" marR="5080"/>
            <a:r>
              <a:rPr lang="en-US" sz="2400" kern="0" spc="-220" dirty="0">
                <a:solidFill>
                  <a:schemeClr val="accent6"/>
                </a:solidFill>
              </a:rPr>
              <a:t>      </a:t>
            </a:r>
            <a:r>
              <a:rPr lang="en-US" sz="2400" kern="0" spc="-220" dirty="0" err="1">
                <a:solidFill>
                  <a:schemeClr val="accent6"/>
                </a:solidFill>
              </a:rPr>
              <a:t>InnerClass</a:t>
            </a:r>
            <a:r>
              <a:rPr lang="en-US" sz="2400" kern="0" spc="-220" dirty="0">
                <a:solidFill>
                  <a:schemeClr val="accent6"/>
                </a:solidFill>
              </a:rPr>
              <a:t> </a:t>
            </a:r>
            <a:r>
              <a:rPr lang="en-US" sz="2400" kern="0" spc="-220" dirty="0" err="1">
                <a:solidFill>
                  <a:schemeClr val="accent6"/>
                </a:solidFill>
              </a:rPr>
              <a:t>ic</a:t>
            </a:r>
            <a:r>
              <a:rPr lang="en-US" sz="2400" kern="0" spc="-220" dirty="0">
                <a:solidFill>
                  <a:schemeClr val="accent6"/>
                </a:solidFill>
              </a:rPr>
              <a:t> = new </a:t>
            </a:r>
            <a:r>
              <a:rPr lang="en-US" sz="2400" kern="0" spc="-220" dirty="0" err="1">
                <a:solidFill>
                  <a:schemeClr val="accent6"/>
                </a:solidFill>
              </a:rPr>
              <a:t>InnerClass</a:t>
            </a:r>
            <a:r>
              <a:rPr lang="en-US" sz="2400" kern="0" spc="-220" dirty="0">
                <a:solidFill>
                  <a:schemeClr val="accent6"/>
                </a:solidFill>
              </a:rPr>
              <a:t>{Name=“</a:t>
            </a:r>
            <a:r>
              <a:rPr lang="en-US" sz="2400" kern="0" spc="-220" dirty="0" err="1">
                <a:solidFill>
                  <a:schemeClr val="accent6"/>
                </a:solidFill>
              </a:rPr>
              <a:t>abc</a:t>
            </a:r>
            <a:r>
              <a:rPr lang="en-US" sz="2400" kern="0" spc="-220" dirty="0">
                <a:solidFill>
                  <a:schemeClr val="accent6"/>
                </a:solidFill>
              </a:rPr>
              <a:t>”, Email=“x@y.com”};</a:t>
            </a:r>
          </a:p>
          <a:p>
            <a:pPr marL="12700" marR="5080"/>
            <a:r>
              <a:rPr lang="en-US" sz="2400" kern="0" spc="-220" dirty="0">
                <a:solidFill>
                  <a:schemeClr val="accent6"/>
                </a:solidFill>
              </a:rPr>
              <a:t>   }</a:t>
            </a:r>
          </a:p>
          <a:p>
            <a:pPr marL="12700" marR="5080"/>
            <a:r>
              <a:rPr lang="en-US" sz="2400" kern="0" spc="-220" dirty="0">
                <a:solidFill>
                  <a:schemeClr val="accent6"/>
                </a:solidFill>
              </a:rPr>
              <a:t>   private class </a:t>
            </a:r>
            <a:r>
              <a:rPr lang="en-US" sz="2400" kern="0" spc="-220" dirty="0" err="1">
                <a:solidFill>
                  <a:schemeClr val="accent6"/>
                </a:solidFill>
              </a:rPr>
              <a:t>InnerClass</a:t>
            </a:r>
            <a:r>
              <a:rPr lang="en-US" sz="2400" kern="0" spc="-220" dirty="0">
                <a:solidFill>
                  <a:schemeClr val="accent6"/>
                </a:solidFill>
              </a:rPr>
              <a:t>{</a:t>
            </a:r>
          </a:p>
          <a:p>
            <a:pPr marL="12700" marR="5080"/>
            <a:r>
              <a:rPr lang="en-US" sz="2400" kern="0" spc="-220" dirty="0">
                <a:solidFill>
                  <a:schemeClr val="accent6"/>
                </a:solidFill>
              </a:rPr>
              <a:t>       public string Name{</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public string Email{</a:t>
            </a:r>
            <a:r>
              <a:rPr lang="en-US" sz="2400" kern="0" spc="-220" dirty="0" err="1">
                <a:solidFill>
                  <a:schemeClr val="accent6"/>
                </a:solidFill>
              </a:rPr>
              <a:t>get;set</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r>
              <a:rPr lang="en-US" sz="2400" kern="0" spc="-220" dirty="0">
                <a:solidFill>
                  <a:schemeClr val="accent6"/>
                </a:solidFill>
              </a:rPr>
              <a:t>But after introduction of Tuples in .NET, Tuples are more cleaner way to handle such stuffs instead of private class</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a:solidFill>
                  <a:schemeClr val="accent6"/>
                </a:solidFill>
              </a:rPr>
              <a:t>        </a:t>
            </a:r>
            <a:r>
              <a:rPr lang="en-US" sz="2400" kern="0" spc="-220" dirty="0">
                <a:solidFill>
                  <a:schemeClr val="accent6"/>
                </a:solidFill>
              </a:rPr>
              <a:t>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676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3276600"/>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36486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https://stackify.com/c-garbage-collection/</a:t>
            </a:r>
            <a:r>
              <a:rPr lang="en-US" sz="2000" kern="0" spc="-220" dirty="0">
                <a:solidFill>
                  <a:schemeClr val="accent6"/>
                </a:solidFill>
              </a:rPr>
              <a:t> </a:t>
            </a:r>
          </a:p>
          <a:p>
            <a:pPr algn="l"/>
            <a:r>
              <a:rPr lang="en-US" sz="2000" kern="0" spc="-220" dirty="0">
                <a:solidFill>
                  <a:schemeClr val="accent6"/>
                </a:solidFill>
                <a:hlinkClick r:id="rId10"/>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590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800" kern="0" spc="-220" dirty="0">
                <a:solidFill>
                  <a:schemeClr val="accent2"/>
                </a:solidFill>
                <a:hlinkClick r:id="rId8"/>
              </a:rPr>
              <a:t>https://jenkov.com/tutorials/java-concurrency/compare-and-swap.html</a:t>
            </a:r>
            <a:r>
              <a:rPr lang="en-US" sz="1800" kern="0" spc="-220" dirty="0">
                <a:solidFill>
                  <a:schemeClr val="accent2"/>
                </a:solidFill>
              </a:rPr>
              <a:t> </a:t>
            </a:r>
          </a:p>
          <a:p>
            <a:pPr algn="just" fontAlgn="base"/>
            <a:r>
              <a:rPr lang="en-US" sz="1800" kern="0" spc="-220" dirty="0">
                <a:solidFill>
                  <a:schemeClr val="accent6"/>
                </a:solidFill>
                <a:hlinkClick r:id="rId9"/>
              </a:rPr>
              <a:t>https://www.albahari.com/threading/part4.aspx</a:t>
            </a:r>
            <a:r>
              <a:rPr lang="en-US" sz="18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2000" kern="0" spc="-220" dirty="0">
                <a:solidFill>
                  <a:schemeClr val="accent6"/>
                </a:solidFill>
                <a:hlinkClick r:id="rId10"/>
              </a:rPr>
              <a:t>https://stackoverflow.com/questions/44123180/lock-splitting-vs-lock-striping</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 – </a:t>
            </a:r>
          </a:p>
          <a:p>
            <a:pPr algn="just" fontAlgn="base"/>
            <a:r>
              <a:rPr lang="en-US" sz="1600" kern="0" spc="-220" dirty="0">
                <a:solidFill>
                  <a:schemeClr val="accent6"/>
                </a:solidFill>
                <a:hlinkClick r:id="rId11"/>
              </a:rPr>
              <a:t>https://github.com/MikeMKH/concurrency-in-csharp-cookbook</a:t>
            </a:r>
            <a:r>
              <a:rPr lang="en-US" sz="1600" kern="0" spc="-220" dirty="0">
                <a:solidFill>
                  <a:schemeClr val="accent6"/>
                </a:solidFill>
              </a:rPr>
              <a:t> </a:t>
            </a:r>
          </a:p>
          <a:p>
            <a:pPr algn="just" fontAlgn="base"/>
            <a:r>
              <a:rPr lang="en-US" sz="1600" kern="0" spc="-220" dirty="0">
                <a:solidFill>
                  <a:schemeClr val="accent6"/>
                </a:solidFill>
                <a:hlinkClick r:id="rId12"/>
              </a:rPr>
              <a:t>https://github.com/Wintellect/PowerThreading</a:t>
            </a:r>
            <a:r>
              <a:rPr lang="en-US" sz="1600" kern="0" spc="-220" dirty="0">
                <a:solidFill>
                  <a:schemeClr val="accent6"/>
                </a:solidFill>
              </a:rPr>
              <a:t> </a:t>
            </a:r>
          </a:p>
          <a:p>
            <a:pPr algn="just" fontAlgn="base"/>
            <a:r>
              <a:rPr lang="en-US" sz="1600" kern="0" spc="-220" dirty="0">
                <a:solidFill>
                  <a:schemeClr val="accent6"/>
                </a:solidFill>
                <a:hlinkClick r:id="rId13"/>
              </a:rPr>
              <a:t>https://www.syncfusion.com/succinctly-free-ebooks/webservers</a:t>
            </a:r>
            <a:r>
              <a:rPr lang="en-US" sz="1600" kern="0" spc="-220" dirty="0">
                <a:solidFill>
                  <a:schemeClr val="accent6"/>
                </a:solidFill>
              </a:rPr>
              <a:t> </a:t>
            </a: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700" kern="0" spc="-220" dirty="0">
                <a:solidFill>
                  <a:schemeClr val="accent2"/>
                </a:solidFill>
              </a:rPr>
              <a:t>Assigning a Thread to a specific core – </a:t>
            </a:r>
          </a:p>
          <a:p>
            <a:pPr algn="just" fontAlgn="base"/>
            <a:r>
              <a:rPr lang="en-US" sz="1700" kern="0" spc="-220" dirty="0">
                <a:solidFill>
                  <a:schemeClr val="accent2"/>
                </a:solidFill>
                <a:hlinkClick r:id="rId7"/>
              </a:rPr>
              <a:t>https://stackoverflow.com/questions/2510593/how-can-i-set-processor-affinity-to-a-thread-or-a-task-in-net</a:t>
            </a:r>
            <a:r>
              <a:rPr lang="en-US" sz="1700" kern="0" spc="-220" dirty="0">
                <a:solidFill>
                  <a:schemeClr val="accent2"/>
                </a:solidFill>
              </a:rPr>
              <a:t> </a:t>
            </a:r>
          </a:p>
          <a:p>
            <a:pPr algn="just" fontAlgn="base"/>
            <a:r>
              <a:rPr lang="en-US" sz="1700" kern="0" spc="-220" dirty="0" err="1">
                <a:solidFill>
                  <a:schemeClr val="accent2"/>
                </a:solidFill>
              </a:rPr>
              <a:t>MultiCore_Locking_constructs</a:t>
            </a:r>
            <a:r>
              <a:rPr lang="en-US" sz="1700" kern="0" spc="-220" dirty="0">
                <a:solidFill>
                  <a:schemeClr val="accent2"/>
                </a:solidFill>
              </a:rPr>
              <a:t>– </a:t>
            </a:r>
            <a:r>
              <a:rPr lang="en-US" sz="1700" kern="0" spc="-220" dirty="0">
                <a:solidFill>
                  <a:schemeClr val="accent2"/>
                </a:solidFill>
                <a:hlinkClick r:id="rId8"/>
              </a:rPr>
              <a:t>https://www.albahari.com/threading/part5.aspx#_SpinLock_and_SpinWait</a:t>
            </a:r>
            <a:endParaRPr lang="en-US" sz="1700" kern="0" spc="-220" dirty="0">
              <a:solidFill>
                <a:schemeClr val="accent2"/>
              </a:solidFill>
            </a:endParaRPr>
          </a:p>
          <a:p>
            <a:pPr algn="just" fontAlgn="base"/>
            <a:endParaRPr lang="en-US" sz="1700" kern="0" spc="-220" dirty="0">
              <a:solidFill>
                <a:schemeClr val="accent2"/>
              </a:solidFill>
            </a:endParaRPr>
          </a:p>
          <a:p>
            <a:pPr algn="just" fontAlgn="base"/>
            <a:r>
              <a:rPr lang="en-US" sz="1700" kern="0" spc="-220" dirty="0">
                <a:solidFill>
                  <a:schemeClr val="accent2"/>
                </a:solidFill>
              </a:rPr>
              <a:t>Some usual Parallel constructs – </a:t>
            </a:r>
          </a:p>
          <a:p>
            <a:pPr algn="just" fontAlgn="base"/>
            <a:r>
              <a:rPr lang="en-US" sz="1700" kern="0" spc="-220" dirty="0" err="1">
                <a:solidFill>
                  <a:schemeClr val="accent6"/>
                </a:solidFill>
              </a:rPr>
              <a:t>Parallel.Invoke</a:t>
            </a:r>
            <a:r>
              <a:rPr lang="en-US" sz="1700" kern="0" spc="-220" dirty="0">
                <a:solidFill>
                  <a:schemeClr val="accent6"/>
                </a:solidFill>
              </a:rPr>
              <a:t> –  </a:t>
            </a:r>
            <a:r>
              <a:rPr lang="en-US" sz="1700" kern="0" spc="-220" dirty="0">
                <a:solidFill>
                  <a:schemeClr val="tx2">
                    <a:lumMod val="60000"/>
                    <a:lumOff val="40000"/>
                  </a:schemeClr>
                </a:solidFill>
              </a:rPr>
              <a:t>equivalent to </a:t>
            </a:r>
            <a:r>
              <a:rPr lang="en-US" sz="1700" kern="0" spc="-220" dirty="0" err="1">
                <a:solidFill>
                  <a:schemeClr val="tx2">
                    <a:lumMod val="60000"/>
                    <a:lumOff val="40000"/>
                  </a:schemeClr>
                </a:solidFill>
              </a:rPr>
              <a:t>Task.WhenAll</a:t>
            </a:r>
            <a:r>
              <a:rPr lang="en-US" sz="17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but for this if you want to use multiple cores optimally, you will have to build some wrapper over </a:t>
            </a:r>
            <a:r>
              <a:rPr lang="en-US" sz="1700" kern="0" spc="-220" dirty="0" err="1">
                <a:solidFill>
                  <a:schemeClr val="tx2">
                    <a:lumMod val="60000"/>
                    <a:lumOff val="40000"/>
                  </a:schemeClr>
                </a:solidFill>
              </a:rPr>
              <a:t>Task.WhenAny</a:t>
            </a:r>
            <a:r>
              <a:rPr lang="en-US" sz="1700" kern="0" spc="-220" dirty="0">
                <a:solidFill>
                  <a:schemeClr val="tx2">
                    <a:lumMod val="60000"/>
                    <a:lumOff val="40000"/>
                  </a:schemeClr>
                </a:solidFill>
              </a:rPr>
              <a:t> using the above 2 links/resources(Processor Affinity based Thread [&amp;  </a:t>
            </a:r>
            <a:r>
              <a:rPr lang="en-US" sz="1700" kern="0" spc="-220" dirty="0" err="1">
                <a:solidFill>
                  <a:schemeClr val="tx2">
                    <a:lumMod val="60000"/>
                    <a:lumOff val="40000"/>
                  </a:schemeClr>
                </a:solidFill>
              </a:rPr>
              <a:t>SpinWait</a:t>
            </a:r>
            <a:r>
              <a:rPr lang="en-US" sz="1700" kern="0" spc="-220" dirty="0">
                <a:solidFill>
                  <a:schemeClr val="tx2">
                    <a:lumMod val="60000"/>
                    <a:lumOff val="40000"/>
                  </a:schemeClr>
                </a:solidFill>
              </a:rPr>
              <a:t>]). For Sequential API calls better to use </a:t>
            </a:r>
            <a:r>
              <a:rPr lang="en-US" sz="1700" kern="0" spc="-220" dirty="0" err="1">
                <a:solidFill>
                  <a:schemeClr val="tx2">
                    <a:lumMod val="60000"/>
                    <a:lumOff val="40000"/>
                  </a:schemeClr>
                </a:solidFill>
              </a:rPr>
              <a:t>Task.ContinueWith</a:t>
            </a:r>
            <a:r>
              <a:rPr lang="en-US" sz="1700" kern="0" spc="-220" dirty="0">
                <a:solidFill>
                  <a:schemeClr val="tx2">
                    <a:lumMod val="60000"/>
                    <a:lumOff val="40000"/>
                  </a:schemeClr>
                </a:solidFill>
              </a:rPr>
              <a:t> for better readability.</a:t>
            </a:r>
          </a:p>
          <a:p>
            <a:pPr algn="just" fontAlgn="base"/>
            <a:r>
              <a:rPr lang="en-US" sz="1700" kern="0" spc="-220" dirty="0" err="1">
                <a:solidFill>
                  <a:schemeClr val="accent6"/>
                </a:solidFill>
              </a:rPr>
              <a:t>Parallel.For</a:t>
            </a:r>
            <a:endParaRPr lang="en-US" sz="1700" kern="0" spc="-220" dirty="0">
              <a:solidFill>
                <a:schemeClr val="accent6"/>
              </a:solidFill>
            </a:endParaRPr>
          </a:p>
          <a:p>
            <a:pPr algn="just" fontAlgn="base"/>
            <a:r>
              <a:rPr lang="en-US" sz="1700" kern="0" spc="-220" dirty="0" err="1">
                <a:solidFill>
                  <a:schemeClr val="accent6"/>
                </a:solidFill>
              </a:rPr>
              <a:t>Parallel.ForEach</a:t>
            </a:r>
            <a:endParaRPr lang="en-US" sz="1700" kern="0" spc="-220" dirty="0">
              <a:solidFill>
                <a:schemeClr val="accent6"/>
              </a:solidFill>
            </a:endParaRPr>
          </a:p>
          <a:p>
            <a:pPr algn="just" fontAlgn="base"/>
            <a:r>
              <a:rPr lang="en-US" sz="1700" kern="0" spc="-220" dirty="0">
                <a:solidFill>
                  <a:schemeClr val="accent6"/>
                </a:solidFill>
                <a:hlinkClick r:id="rId9"/>
              </a:rPr>
              <a:t>https://www.albahari.com/threading/part5.aspx#_The_Parallel_Class</a:t>
            </a:r>
            <a:endParaRPr lang="en-US" sz="1700" kern="0" spc="-220" dirty="0">
              <a:solidFill>
                <a:schemeClr val="accent6"/>
              </a:solidFill>
            </a:endParaRPr>
          </a:p>
          <a:p>
            <a:pPr algn="just" fontAlgn="base"/>
            <a:endParaRPr lang="en-US" sz="1700" kern="0" spc="-220" dirty="0">
              <a:solidFill>
                <a:schemeClr val="accent6"/>
              </a:solidFill>
            </a:endParaRPr>
          </a:p>
          <a:p>
            <a:pPr algn="just" fontAlgn="base"/>
            <a:r>
              <a:rPr lang="en-US" sz="1700" kern="0" spc="-220" dirty="0" err="1">
                <a:solidFill>
                  <a:schemeClr val="accent2"/>
                </a:solidFill>
              </a:rPr>
              <a:t>Plinq</a:t>
            </a:r>
            <a:r>
              <a:rPr lang="en-US" sz="1700" kern="0" spc="-220" dirty="0">
                <a:solidFill>
                  <a:schemeClr val="accent2"/>
                </a:solidFill>
              </a:rPr>
              <a:t> – </a:t>
            </a:r>
          </a:p>
          <a:p>
            <a:pPr algn="just" fontAlgn="base"/>
            <a:r>
              <a:rPr lang="en-US" sz="1700" kern="0" spc="-220" dirty="0" err="1">
                <a:solidFill>
                  <a:schemeClr val="accent6"/>
                </a:solidFill>
              </a:rPr>
              <a:t>AsParallel</a:t>
            </a:r>
            <a:r>
              <a:rPr lang="en-US" sz="1700" kern="0" spc="-220" dirty="0">
                <a:solidFill>
                  <a:schemeClr val="accent6"/>
                </a:solidFill>
              </a:rPr>
              <a:t> is applicable only on </a:t>
            </a:r>
            <a:r>
              <a:rPr lang="en-US" sz="1700" kern="0" spc="-220" dirty="0" err="1">
                <a:solidFill>
                  <a:schemeClr val="accent6"/>
                </a:solidFill>
              </a:rPr>
              <a:t>IEnumerable</a:t>
            </a:r>
            <a:r>
              <a:rPr lang="en-US" sz="1700" kern="0" spc="-220" dirty="0">
                <a:solidFill>
                  <a:schemeClr val="accent6"/>
                </a:solidFill>
              </a:rPr>
              <a:t> and not </a:t>
            </a:r>
            <a:r>
              <a:rPr lang="en-US" sz="1700" kern="0" spc="-220" dirty="0" err="1">
                <a:solidFill>
                  <a:schemeClr val="accent6"/>
                </a:solidFill>
              </a:rPr>
              <a:t>IQueryable</a:t>
            </a:r>
            <a:r>
              <a:rPr lang="en-US" sz="1700" kern="0" spc="-220" dirty="0">
                <a:solidFill>
                  <a:schemeClr val="accent6"/>
                </a:solidFill>
              </a:rPr>
              <a:t>.</a:t>
            </a:r>
          </a:p>
          <a:p>
            <a:pPr algn="just" fontAlgn="base"/>
            <a:r>
              <a:rPr lang="en-US" sz="1700" kern="0" spc="-220" dirty="0">
                <a:solidFill>
                  <a:schemeClr val="accent6"/>
                </a:solidFill>
                <a:hlinkClick r:id="rId10"/>
              </a:rPr>
              <a:t>https://www.albahari.com/threading/part5.aspx#_PLINQ</a:t>
            </a:r>
            <a:r>
              <a:rPr lang="en-US" sz="17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endParaRPr lang="en-US" sz="2000" kern="0" spc="-220" dirty="0">
              <a:solidFill>
                <a:schemeClr val="accent6"/>
              </a:solidFill>
            </a:endParaRPr>
          </a:p>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2000" kern="0" spc="-220" dirty="0">
                <a:solidFill>
                  <a:schemeClr val="accent6"/>
                </a:solidFill>
                <a:hlinkClick r:id="rId7"/>
              </a:rPr>
              <a:t>https://www.albahari.com/threading/part5.aspx#_Concurrent_Collections</a:t>
            </a:r>
            <a:r>
              <a:rPr lang="en-US" sz="1200" kern="0" spc="-220" dirty="0">
                <a:solidFill>
                  <a:schemeClr val="accent6"/>
                </a:solidFill>
              </a:rPr>
              <a:t> </a:t>
            </a:r>
            <a:endParaRPr lang="en-US" sz="2000" kern="0" spc="-220" dirty="0">
              <a:solidFill>
                <a:schemeClr val="accent6"/>
              </a:solidFill>
            </a:endParaRP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20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 </a:t>
            </a:r>
          </a:p>
          <a:p>
            <a:pPr algn="just" fontAlgn="base"/>
            <a:r>
              <a:rPr lang="en-US" sz="2000" kern="0" spc="-220" dirty="0">
                <a:solidFill>
                  <a:schemeClr val="accent2"/>
                </a:solidFill>
                <a:hlinkClick r:id="rId9"/>
              </a:rPr>
              <a:t>https://github.com/ChadBurggraf/parallel-extensions-extras</a:t>
            </a:r>
            <a:r>
              <a:rPr lang="en-US" sz="2000" kern="0" spc="-220" dirty="0">
                <a:solidFill>
                  <a:schemeClr val="accent2"/>
                </a:solidFill>
              </a:rPr>
              <a:t> </a:t>
            </a:r>
          </a:p>
          <a:p>
            <a:pPr algn="just" fontAlgn="base"/>
            <a:r>
              <a:rPr lang="en-US" sz="2000" kern="0" spc="-220" dirty="0">
                <a:solidFill>
                  <a:schemeClr val="accent2"/>
                </a:solidFill>
                <a:hlinkClick r:id="rId10"/>
              </a:rPr>
              <a:t>https://learn.microsoft.com/en-us/dotnet/standard/parallel-programming/for-further-reading-parallel-programming</a:t>
            </a:r>
            <a:r>
              <a:rPr lang="en-US" sz="2000" kern="0" spc="-220" dirty="0">
                <a:solidFill>
                  <a:schemeClr val="accent2"/>
                </a:solidFill>
              </a:rPr>
              <a:t>  </a:t>
            </a:r>
            <a:r>
              <a:rPr lang="en-IN" sz="2000" kern="0" spc="-220" dirty="0">
                <a:solidFill>
                  <a:schemeClr val="accent2"/>
                </a:solidFill>
              </a:rPr>
              <a:t> </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0010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 Why/When do you need Stream(s) </a:t>
            </a:r>
            <a:r>
              <a:rPr lang="en-US" sz="2000" kern="0" spc="-220" dirty="0">
                <a:solidFill>
                  <a:schemeClr val="accent6"/>
                </a:solidFill>
              </a:rPr>
              <a:t>–</a:t>
            </a:r>
          </a:p>
          <a:p>
            <a:pPr algn="l"/>
            <a:r>
              <a:rPr lang="en-US" sz="2000" kern="0" spc="-220" dirty="0">
                <a:solidFill>
                  <a:schemeClr val="accent6"/>
                </a:solidFill>
              </a:rPr>
              <a:t> You have some large array/list/file/object not fitting in your RAM due to various reasons(e.g. maybe you already have some large static objects which are always needed to support various apps) &amp; the large array/list/file/object needs to be processed &amp; so only option seems to then divide the large array/list/file/object into chunks &amp; then it can be a stream of chunks which is in general is easier to be processed. </a:t>
            </a:r>
            <a:r>
              <a:rPr lang="en-US" sz="2000" kern="0" spc="-220" dirty="0">
                <a:solidFill>
                  <a:schemeClr val="accent1"/>
                </a:solidFill>
              </a:rPr>
              <a:t>The chunk in general is in the form of byte(s) &amp; can be a single byte or a block of byte(s)(although chunks can be some text[character or string], XML, JSON </a:t>
            </a:r>
            <a:r>
              <a:rPr lang="en-US" sz="2000" kern="0" spc="-220" dirty="0" err="1">
                <a:solidFill>
                  <a:schemeClr val="accent1"/>
                </a:solidFill>
              </a:rPr>
              <a:t>etc</a:t>
            </a:r>
            <a:r>
              <a:rPr lang="en-US" sz="2000" kern="0" spc="-220" dirty="0">
                <a:solidFill>
                  <a:schemeClr val="accent1"/>
                </a:solidFill>
              </a:rPr>
              <a:t> as well).</a:t>
            </a:r>
          </a:p>
          <a:p>
            <a:pPr algn="l"/>
            <a:r>
              <a:rPr lang="en-US" sz="2000" kern="0" spc="-220" dirty="0">
                <a:solidFill>
                  <a:schemeClr val="accent6"/>
                </a:solidFill>
              </a:rPr>
              <a:t>Or maybe you want to transfer a large file from one server to another but your source server has memory limitations &amp; so can’t transfer the whole object in one shot.</a:t>
            </a:r>
          </a:p>
          <a:p>
            <a:pPr algn="l"/>
            <a:r>
              <a:rPr lang="en-US" sz="200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https://learn.microsoft.com/en-us/dotnet/api/system.io?view=net-8.0</a:t>
            </a:r>
            <a:r>
              <a:rPr lang="en-US" sz="1800" kern="0" spc="-220" dirty="0">
                <a:solidFill>
                  <a:schemeClr val="accent2"/>
                </a:solidFill>
              </a:rPr>
              <a:t>  </a:t>
            </a:r>
          </a:p>
          <a:p>
            <a:pPr algn="l"/>
            <a:r>
              <a:rPr lang="en-US" sz="1800" kern="0" spc="-220" dirty="0">
                <a:solidFill>
                  <a:schemeClr val="accent2"/>
                </a:solidFill>
                <a:hlinkClick r:id="rId9"/>
              </a:rPr>
              <a:t>https://learn.microsoft.com/en-us/dotnet/api/system.environment.specialfolder?view=net-8.0</a:t>
            </a:r>
            <a:r>
              <a:rPr lang="en-US" sz="1800" kern="0" spc="-220" dirty="0">
                <a:solidFill>
                  <a:schemeClr val="accent2"/>
                </a:solidFill>
              </a:rPr>
              <a:t> </a:t>
            </a:r>
          </a:p>
          <a:p>
            <a:pPr algn="l"/>
            <a:r>
              <a:rPr lang="en-US" sz="1800" kern="0" spc="-220" dirty="0">
                <a:solidFill>
                  <a:schemeClr val="accent2"/>
                </a:solidFill>
                <a:hlinkClick r:id="rId10"/>
              </a:rPr>
              <a:t>https://learn.microsoft.com/en-us/dotnet/standard/io/memory-mapped-files</a:t>
            </a:r>
            <a:r>
              <a:rPr lang="en-US" sz="18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3088938"/>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466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https://www.packtpub.com/product/hands-on-network-programming-with-c-and-net-core/9781789340761</a:t>
            </a:r>
            <a:r>
              <a:rPr lang="en-US" sz="1800" kern="0" spc="-220" dirty="0">
                <a:solidFill>
                  <a:schemeClr val="accent2"/>
                </a:solidFill>
              </a:rPr>
              <a:t> </a:t>
            </a:r>
          </a:p>
          <a:p>
            <a:pPr algn="l"/>
            <a:r>
              <a:rPr lang="en-US" sz="1800" kern="0" spc="-220" dirty="0">
                <a:solidFill>
                  <a:schemeClr val="accent2"/>
                </a:solidFill>
                <a:hlinkClick r:id="rId9"/>
              </a:rPr>
              <a:t>https://learn.microsoft.com/en-us/dotnet/fundamentals/networking/overview</a:t>
            </a:r>
            <a:endParaRPr lang="en-US" sz="1800" kern="0" spc="-220" dirty="0">
              <a:solidFill>
                <a:schemeClr val="accent2"/>
              </a:solidFill>
            </a:endParaRPr>
          </a:p>
          <a:p>
            <a:pPr algn="l"/>
            <a:r>
              <a:rPr lang="en-US" sz="1800" kern="0" spc="-220" dirty="0">
                <a:solidFill>
                  <a:schemeClr val="accent2"/>
                </a:solidFill>
                <a:hlinkClick r:id="rId10"/>
              </a:rPr>
              <a:t>https://hpbn.co/</a:t>
            </a:r>
            <a:r>
              <a:rPr lang="en-US" sz="18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423517"/>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Roslyn API/ Source Generators– </a:t>
            </a:r>
          </a:p>
          <a:p>
            <a:pPr algn="l"/>
            <a:r>
              <a:rPr lang="en-US" sz="1600" kern="0" spc="-220" dirty="0">
                <a:solidFill>
                  <a:schemeClr val="accent6"/>
                </a:solidFill>
              </a:rPr>
              <a:t> </a:t>
            </a:r>
            <a:r>
              <a:rPr lang="en-US" sz="1600" kern="0" spc="-220" dirty="0">
                <a:solidFill>
                  <a:schemeClr val="accent6"/>
                </a:solidFill>
                <a:hlinkClick r:id="rId7"/>
              </a:rPr>
              <a:t>https://www.thinktecture.com/en/net/roslyn-source-generators-introduction/</a:t>
            </a:r>
            <a:endParaRPr lang="en-US" sz="1600" kern="0" spc="-220" dirty="0">
              <a:solidFill>
                <a:schemeClr val="accent6"/>
              </a:solidFill>
            </a:endParaRPr>
          </a:p>
          <a:p>
            <a:pPr algn="l"/>
            <a:r>
              <a:rPr lang="en-US" sz="1600" kern="0" spc="-220" dirty="0">
                <a:solidFill>
                  <a:schemeClr val="accent6"/>
                </a:solidFill>
              </a:rPr>
              <a:t> </a:t>
            </a:r>
            <a:r>
              <a:rPr lang="en-US" sz="1600" kern="0" spc="-220" dirty="0">
                <a:solidFill>
                  <a:schemeClr val="accent6"/>
                </a:solidFill>
                <a:hlinkClick r:id="rId8"/>
              </a:rPr>
              <a:t>https://code-maze.com/csharp-source-generators/</a:t>
            </a:r>
            <a:r>
              <a:rPr lang="en-US" sz="1600" kern="0" spc="-220" dirty="0">
                <a:solidFill>
                  <a:schemeClr val="accent6"/>
                </a:solidFill>
              </a:rPr>
              <a:t> </a:t>
            </a:r>
          </a:p>
          <a:p>
            <a:pPr algn="l"/>
            <a:r>
              <a:rPr lang="en-US" sz="1600" kern="0" spc="-220" dirty="0">
                <a:solidFill>
                  <a:schemeClr val="accent6"/>
                </a:solidFill>
                <a:hlinkClick r:id="rId9"/>
              </a:rPr>
              <a:t> https://learn.microsoft.com/en-us/dotnet/csharp/roslyn-sdk/source-generators-</a:t>
            </a:r>
          </a:p>
          <a:p>
            <a:pPr algn="l"/>
            <a:r>
              <a:rPr lang="en-US" sz="1600" kern="0" spc="-220" dirty="0">
                <a:solidFill>
                  <a:schemeClr val="accent6"/>
                </a:solidFill>
                <a:hlinkClick r:id="rId9"/>
              </a:rPr>
              <a:t> overview</a:t>
            </a:r>
            <a:r>
              <a:rPr lang="en-US" sz="1600" kern="0" spc="-220" dirty="0">
                <a:solidFill>
                  <a:schemeClr val="accent6"/>
                </a:solidFill>
              </a:rPr>
              <a:t> </a:t>
            </a:r>
          </a:p>
          <a:p>
            <a:r>
              <a:rPr lang="en-US" sz="1600" kern="0" spc="-220" dirty="0">
                <a:solidFill>
                  <a:schemeClr val="accent6"/>
                </a:solidFill>
              </a:rPr>
              <a:t> </a:t>
            </a:r>
            <a:r>
              <a:rPr lang="en-US" sz="1600" kern="0" spc="-220" dirty="0">
                <a:solidFill>
                  <a:schemeClr val="accent6"/>
                </a:solidFill>
                <a:hlinkClick r:id="rId10"/>
              </a:rPr>
              <a:t>https://www.syncfusion.com/succinctly-free-ebooks/roslyn</a:t>
            </a:r>
            <a:r>
              <a:rPr lang="en-US" sz="16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4246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143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ExpressionTree</a:t>
            </a:r>
            <a:r>
              <a:rPr lang="en-US" sz="2000" kern="0" spc="-220" dirty="0">
                <a:solidFill>
                  <a:schemeClr val="accent6"/>
                </a:solidFill>
              </a:rPr>
              <a:t>– </a:t>
            </a:r>
          </a:p>
          <a:p>
            <a:pPr algn="l"/>
            <a:r>
              <a:rPr lang="en-US" sz="1600" kern="0" spc="-220" dirty="0">
                <a:solidFill>
                  <a:schemeClr val="accent6"/>
                </a:solidFill>
                <a:hlinkClick r:id="rId12"/>
              </a:rPr>
              <a:t>https://bagoum.medium.com/dynamic-code-generation-in-c-with-expression-trees-2ec4eebcb8ec</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50292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Performance Improvement –</a:t>
            </a:r>
          </a:p>
          <a:p>
            <a:pPr algn="l"/>
            <a:r>
              <a:rPr lang="en-US" sz="2000" kern="0" spc="-220" dirty="0">
                <a:solidFill>
                  <a:schemeClr val="accent6"/>
                </a:solidFill>
              </a:rPr>
              <a:t>Mainly done via some In-Memory Caching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25612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3" name="object 2">
            <a:extLst>
              <a:ext uri="{FF2B5EF4-FFF2-40B4-BE49-F238E27FC236}">
                <a16:creationId xmlns:a16="http://schemas.microsoft.com/office/drawing/2014/main" id="{DB207D1C-BC73-D631-D1CB-FD1B6BC44723}"/>
              </a:ext>
            </a:extLst>
          </p:cNvPr>
          <p:cNvSpPr txBox="1">
            <a:spLocks/>
          </p:cNvSpPr>
          <p:nvPr/>
        </p:nvSpPr>
        <p:spPr>
          <a:xfrm>
            <a:off x="126274" y="1219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44958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013368132"/>
              </p:ext>
            </p:extLst>
          </p:nvPr>
        </p:nvGraphicFramePr>
        <p:xfrm>
          <a:off x="275300" y="939800"/>
          <a:ext cx="8716299" cy="479866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11"/>
                        </a:rPr>
                        <a:t>https://refactoring.guru/design-patterns/state</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2"/>
                        </a:rPr>
                        <a:t>https://blog.ploeh.dk/2015/08/10/type-driven-development/</a:t>
                      </a:r>
                      <a:endParaRPr lang="en-IN" sz="1100" b="0" i="0" u="sng" strike="noStrike" dirty="0">
                        <a:solidFill>
                          <a:srgbClr val="0563C1"/>
                        </a:solidFill>
                        <a:effectLst/>
                        <a:latin typeface="Calibri" panose="020F0502020204030204" pitchFamily="34" charset="0"/>
                      </a:endParaRPr>
                    </a:p>
                    <a:p>
                      <a:pPr algn="l" fontAlgn="b"/>
                      <a:r>
                        <a:rPr lang="en-IN" sz="1100" b="0" i="0" dirty="0">
                          <a:solidFill>
                            <a:schemeClr val="dk1"/>
                          </a:solidFill>
                          <a:effectLst/>
                          <a:latin typeface="+mn-lt"/>
                          <a:ea typeface="+mn-ea"/>
                          <a:cs typeface="+mn-cs"/>
                        </a:rPr>
                        <a:t>Permissible States Rules Engine</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3"/>
                        </a:rPr>
                        <a:t>https://en.wikipedia.org/wiki/Strategy_pattern</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9"/>
              </a:rPr>
              <a:t>https://martinfowler.com/dsl.html</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0"/>
              </a:rPr>
              <a:t>https://pragprog.com/titles/tpdsl/language-implementation-patterns/</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1"/>
              </a:rPr>
              <a:t>https://www.syncfusion.com/succinctly-free-ebooks/implementing-a-custom-language</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12"/>
              </a:rPr>
              <a:t>https://www.syncfusion.com/succinctly-free-ebooks/writing-native-mobile-apps-in-a-functional-language-succinctly</a:t>
            </a:r>
            <a:r>
              <a:rPr lang="en-US" sz="16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hlinkClick r:id="rId7"/>
              </a:rPr>
              <a:t>https://rosettacode.org/wiki/Category:Programming_Tasks</a:t>
            </a:r>
            <a:r>
              <a:rPr lang="en-US" sz="2000" kern="0" spc="-220" dirty="0">
                <a:solidFill>
                  <a:schemeClr val="accent6"/>
                </a:solidFill>
              </a:rPr>
              <a:t> </a:t>
            </a:r>
          </a:p>
          <a:p>
            <a:pPr marL="12700" marR="5080"/>
            <a:r>
              <a:rPr lang="en-US" sz="2000" kern="0" spc="-220" dirty="0">
                <a:solidFill>
                  <a:schemeClr val="accent6"/>
                </a:solidFill>
                <a:hlinkClick r:id="rId8"/>
              </a:rPr>
              <a:t>https://github.com/gamontal/awesome-katas</a:t>
            </a:r>
            <a:r>
              <a:rPr lang="en-US" sz="2000" kern="0" spc="-220" dirty="0">
                <a:solidFill>
                  <a:schemeClr val="accent6"/>
                </a:solidFill>
              </a:rPr>
              <a:t> </a:t>
            </a:r>
          </a:p>
          <a:p>
            <a:pPr marL="12700" marR="5080"/>
            <a:r>
              <a:rPr lang="en-US" sz="2000" kern="0" spc="-220" dirty="0">
                <a:solidFill>
                  <a:schemeClr val="accent6"/>
                </a:solidFill>
                <a:hlinkClick r:id="rId9"/>
              </a:rPr>
              <a:t>https://codingchallenges.substack.com/</a:t>
            </a:r>
            <a:r>
              <a:rPr lang="en-US" sz="2000" kern="0" spc="-220" dirty="0">
                <a:solidFill>
                  <a:schemeClr val="accent6"/>
                </a:solidFill>
              </a:rPr>
              <a:t> </a:t>
            </a:r>
          </a:p>
          <a:p>
            <a:pPr marL="12700" marR="5080"/>
            <a:r>
              <a:rPr lang="en-US" sz="2000" kern="0" spc="-220" dirty="0">
                <a:solidFill>
                  <a:schemeClr val="accent6"/>
                </a:solidFill>
                <a:hlinkClick r:id="rId10"/>
              </a:rPr>
              <a:t>https://github.com/ashishps1/awesome-low-level-design</a:t>
            </a:r>
            <a:r>
              <a:rPr lang="en-US" sz="2000" kern="0" spc="-220" dirty="0">
                <a:solidFill>
                  <a:schemeClr val="accent6"/>
                </a:solidFill>
              </a:rPr>
              <a:t> </a:t>
            </a:r>
          </a:p>
          <a:p>
            <a:pPr marL="12700" marR="5080"/>
            <a:r>
              <a:rPr lang="en-US" sz="2000" kern="0" spc="-220" dirty="0">
                <a:solidFill>
                  <a:schemeClr val="accent6"/>
                </a:solidFill>
                <a:hlinkClick r:id="rId11"/>
              </a:rPr>
              <a:t>https://github.com/prasadgujar/low-level-design-primer</a:t>
            </a:r>
            <a:r>
              <a:rPr lang="en-US" sz="2000" kern="0" spc="-220" dirty="0">
                <a:solidFill>
                  <a:schemeClr val="accent6"/>
                </a:solidFill>
              </a:rPr>
              <a:t> </a:t>
            </a:r>
          </a:p>
          <a:p>
            <a:pPr marL="12700" marR="5080"/>
            <a:r>
              <a:rPr lang="en-US" sz="2000" kern="0" spc="-220" dirty="0">
                <a:solidFill>
                  <a:schemeClr val="accent6"/>
                </a:solidFill>
                <a:hlinkClick r:id="rId12"/>
              </a:rPr>
              <a:t>https://daily.dev/blog/make-a-web-browser-beginners-guide</a:t>
            </a:r>
            <a:r>
              <a:rPr lang="en-US" sz="2000" kern="0" spc="-220" dirty="0">
                <a:solidFill>
                  <a:schemeClr val="accent6"/>
                </a:solidFill>
              </a:rPr>
              <a:t> </a:t>
            </a:r>
          </a:p>
          <a:p>
            <a:pPr marL="12700" marR="5080"/>
            <a:r>
              <a:rPr lang="en-US" sz="2000" kern="0" spc="-220" dirty="0">
                <a:solidFill>
                  <a:schemeClr val="accent6"/>
                </a:solidFill>
                <a:hlinkClick r:id="rId13"/>
              </a:rPr>
              <a:t>https://browser.engineering/</a:t>
            </a:r>
            <a:r>
              <a:rPr lang="en-US" sz="2000" kern="0" spc="-220" dirty="0">
                <a:solidFill>
                  <a:schemeClr val="accent6"/>
                </a:solidFill>
              </a:rPr>
              <a:t> </a:t>
            </a:r>
          </a:p>
          <a:p>
            <a:pPr marL="12700" marR="5080"/>
            <a:r>
              <a:rPr lang="en-US" sz="2000" kern="0" spc="-220" dirty="0">
                <a:solidFill>
                  <a:schemeClr val="accent6"/>
                </a:solidFill>
                <a:hlinkClick r:id="rId14"/>
              </a:rPr>
              <a:t>https://stackoverflow.com/questions/790542/replacing-net-webbrowser-control-with-a-better-browser-like-chrome</a:t>
            </a:r>
            <a:r>
              <a:rPr lang="en-US" sz="2000" kern="0" spc="-220" dirty="0">
                <a:solidFill>
                  <a:schemeClr val="accent6"/>
                </a:solidFill>
              </a:rPr>
              <a:t> </a:t>
            </a:r>
          </a:p>
          <a:p>
            <a:pPr marL="12700" marR="5080"/>
            <a:r>
              <a:rPr lang="en-US" sz="2000" kern="0" spc="-220" dirty="0">
                <a:solidFill>
                  <a:schemeClr val="accent6"/>
                </a:solidFill>
                <a:hlinkClick r:id="rId15"/>
              </a:rPr>
              <a:t>https://www.planetgeek.ch/2013/06/05/clean-code-cheat-sheet/</a:t>
            </a:r>
            <a:r>
              <a:rPr lang="en-US" sz="2000" kern="0" spc="-220" dirty="0">
                <a:solidFill>
                  <a:schemeClr val="accent6"/>
                </a:solidFill>
              </a:rPr>
              <a:t> </a:t>
            </a:r>
          </a:p>
          <a:p>
            <a:pPr marL="12700" marR="5080"/>
            <a:r>
              <a:rPr lang="en-US" sz="2000" kern="0" spc="-220" dirty="0">
                <a:solidFill>
                  <a:schemeClr val="accent6"/>
                </a:solidFill>
                <a:hlinkClick r:id="rId16"/>
              </a:rPr>
              <a:t>https://www.linkedin.com/posts/maheshma_postgresql-sql-systemdesign-activity-7167707514266996736-HqMi</a:t>
            </a:r>
            <a:r>
              <a:rPr lang="en-US" sz="2000" kern="0" spc="-220" dirty="0">
                <a:solidFill>
                  <a:schemeClr val="accent6"/>
                </a:solidFill>
              </a:rPr>
              <a:t> </a:t>
            </a:r>
          </a:p>
          <a:p>
            <a:pPr marL="12700" marR="5080"/>
            <a:r>
              <a:rPr lang="en-US" sz="2000" kern="0" spc="-220" dirty="0">
                <a:solidFill>
                  <a:schemeClr val="accent6"/>
                </a:solidFill>
                <a:hlinkClick r:id="rId17"/>
              </a:rPr>
              <a:t>https://www.linkedin.com/posts/arpit-adlakha-30691a101</a:t>
            </a:r>
            <a:r>
              <a:rPr lang="en-US" sz="2000" kern="0" spc="-220">
                <a:solidFill>
                  <a:schemeClr val="accent6"/>
                </a:solidFill>
                <a:hlinkClick r:id="rId17"/>
              </a:rPr>
              <a:t>_problem-solving-patterns-which-will-teach-activity-7179351051190374400-Zw83</a:t>
            </a:r>
            <a:r>
              <a:rPr lang="en-US" sz="2000" kern="0" spc="-22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185031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COM </a:t>
            </a:r>
            <a:r>
              <a:rPr lang="en-US" sz="2400" kern="0" spc="-220" dirty="0" err="1">
                <a:solidFill>
                  <a:schemeClr val="accent6"/>
                </a:solidFill>
              </a:rPr>
              <a:t>InterOperability</a:t>
            </a:r>
            <a:r>
              <a:rPr lang="en-US" sz="2400" kern="0" spc="-220" dirty="0">
                <a:solidFill>
                  <a:schemeClr val="accent6"/>
                </a:solidFill>
              </a:rPr>
              <a:t>(fetch as much data as possible from COM &amp; then do further processing)</a:t>
            </a:r>
          </a:p>
          <a:p>
            <a:pPr marL="12700" marR="5080"/>
            <a:r>
              <a:rPr lang="en-US" sz="2400" kern="0" spc="-220" dirty="0" err="1">
                <a:solidFill>
                  <a:schemeClr val="accent6"/>
                </a:solidFill>
              </a:rPr>
              <a:t>NodeJs</a:t>
            </a:r>
            <a:r>
              <a:rPr lang="en-US" sz="2400" kern="0" spc="-220" dirty="0">
                <a:solidFill>
                  <a:schemeClr val="accent6"/>
                </a:solidFill>
              </a:rPr>
              <a:t>(by default async &amp; only partly STA[Single Threaded Application] – mainly used in IO intensive apps &amp; not much suitable for Compute[/CPU] intensive apps)</a:t>
            </a:r>
          </a:p>
          <a:p>
            <a:pPr marL="12700" marR="5080"/>
            <a:r>
              <a:rPr lang="en-US" sz="2400" kern="0" spc="-220" dirty="0">
                <a:solidFill>
                  <a:schemeClr val="accent6"/>
                </a:solidFill>
              </a:rPr>
              <a:t>Python(check List Comprehension &amp; </a:t>
            </a:r>
            <a:r>
              <a:rPr lang="en-US" sz="2400" kern="0" spc="-220" dirty="0" err="1">
                <a:solidFill>
                  <a:schemeClr val="accent6"/>
                </a:solidFill>
              </a:rPr>
              <a:t>Numpy</a:t>
            </a:r>
            <a:r>
              <a:rPr lang="en-US" sz="2400" kern="0" spc="-220" dirty="0">
                <a:solidFill>
                  <a:schemeClr val="accent6"/>
                </a:solidFill>
              </a:rPr>
              <a:t> Multi-Dimensional Array)</a:t>
            </a:r>
          </a:p>
          <a:p>
            <a:pPr marL="12700" marR="5080"/>
            <a:r>
              <a:rPr lang="en-US" sz="2400" kern="0" spc="-220" dirty="0">
                <a:solidFill>
                  <a:schemeClr val="accent6"/>
                </a:solidFill>
              </a:rPr>
              <a:t>Java(doesn’t have Exception Bubbling &amp; async-await </a:t>
            </a:r>
            <a:r>
              <a:rPr lang="en-US" sz="2400" kern="0" spc="-220" dirty="0">
                <a:solidFill>
                  <a:schemeClr val="tx2">
                    <a:lumMod val="60000"/>
                    <a:lumOff val="40000"/>
                  </a:schemeClr>
                </a:solidFill>
              </a:rPr>
              <a:t>by default</a:t>
            </a:r>
            <a:r>
              <a:rPr lang="en-US" sz="2400" kern="0" spc="-220" dirty="0">
                <a:solidFill>
                  <a:schemeClr val="accent6"/>
                </a:solidFill>
              </a:rPr>
              <a:t>)</a:t>
            </a:r>
          </a:p>
          <a:p>
            <a:pPr marL="12700" marR="5080"/>
            <a:r>
              <a:rPr lang="en-US" sz="24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2400" kern="0" spc="-220" dirty="0" err="1">
                <a:solidFill>
                  <a:schemeClr val="accent6"/>
                </a:solidFill>
              </a:rPr>
              <a:t>Systems.A</a:t>
            </a:r>
            <a:r>
              <a:rPr lang="en-US" sz="2400" kern="0" spc="-220" dirty="0">
                <a:solidFill>
                  <a:schemeClr val="accent6"/>
                </a:solidFill>
              </a:rPr>
              <a:t> good C++ reference for .NET Developers is </a:t>
            </a:r>
            <a:r>
              <a:rPr lang="en-US" sz="2400" kern="0" spc="-220" dirty="0">
                <a:solidFill>
                  <a:schemeClr val="accent6"/>
                </a:solidFill>
                <a:hlinkClick r:id="rId7"/>
              </a:rPr>
              <a:t>https://www.syncfusion.com/succinctly-free-ebooks/cplusplus</a:t>
            </a:r>
            <a:r>
              <a:rPr lang="en-US" sz="24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15030</TotalTime>
  <Words>8396</Words>
  <Application>Microsoft Office PowerPoint</Application>
  <PresentationFormat>Custom</PresentationFormat>
  <Paragraphs>1032</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893</cp:revision>
  <dcterms:created xsi:type="dcterms:W3CDTF">2020-11-03T17:16:52Z</dcterms:created>
  <dcterms:modified xsi:type="dcterms:W3CDTF">2024-06-26T08:49:03Z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