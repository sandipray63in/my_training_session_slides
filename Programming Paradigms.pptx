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14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12/8/2024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github.com/MikeMKH/concurrency-in-csharp-cookbook" TargetMode="External"/><Relationship Id="rId18" Type="http://schemas.openxmlformats.org/officeDocument/2006/relationships/hyperlink" Target="https://tamerlan.dev/multithreading-principles-and-patterns/" TargetMode="External"/><Relationship Id="rId3" Type="http://schemas.openxmlformats.org/officeDocument/2006/relationships/diagramLayout" Target="../diagrams/layout60.xml"/><Relationship Id="rId21" Type="http://schemas.openxmlformats.org/officeDocument/2006/relationships/hyperlink" Target="https://learn.microsoft.com/en-us/visualstudio/profiling/common-patterns-for-poorly-behaved-multithreaded-applications?view=vs-2022"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stackoverflow.com/questions/37787954/check-the-number-of-threads-available-in-threadpool-at-any-time" TargetMode="External"/><Relationship Id="rId17" Type="http://schemas.openxmlformats.org/officeDocument/2006/relationships/hyperlink" Target="https://github.com/rikace/fConcBook" TargetMode="External"/><Relationship Id="rId25" Type="http://schemas.openxmlformats.org/officeDocument/2006/relationships/hyperlink" Target="https://github.com/disruptor-net/Disruptor-net" TargetMode="External"/><Relationship Id="rId2" Type="http://schemas.openxmlformats.org/officeDocument/2006/relationships/diagramData" Target="../diagrams/data60.xml"/><Relationship Id="rId16" Type="http://schemas.openxmlformats.org/officeDocument/2006/relationships/hyperlink" Target="https://github.com/2DGD-F0TH/2DGD_F0TH/blob/master/chapters/001_Introduction/001_Introduction.md" TargetMode="External"/><Relationship Id="rId20" Type="http://schemas.openxmlformats.org/officeDocument/2006/relationships/hyperlink" Target="https://web.stanford.edu/class/archive/cs/cs110/cs110.1202/static/lectures/12-multithreading-patterns-data-structures.pdf"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PacktPublishing/MultithreadingwithCSharpCookbookSecondEdition_Code" TargetMode="External"/><Relationship Id="rId24" Type="http://schemas.openxmlformats.org/officeDocument/2006/relationships/hyperlink" Target="https://www.amazon.in/Design-Patterns-Embedded-Systems-Engineering-ebook/dp/B004FGMTTK/ref=tmm_kin_swatch_0?_encoding=UTF8&amp;qid=&amp;sr=&amp;asin=B004FGMTTK&amp;revisionId=cfad4133&amp;format=3&amp;depth=1" TargetMode="External"/><Relationship Id="rId5" Type="http://schemas.openxmlformats.org/officeDocument/2006/relationships/diagramColors" Target="../diagrams/colors60.xml"/><Relationship Id="rId15" Type="http://schemas.openxmlformats.org/officeDocument/2006/relationships/hyperlink" Target="https://www.syncfusion.com/succinctly-free-ebooks/webservers" TargetMode="External"/><Relationship Id="rId23" Type="http://schemas.openxmlformats.org/officeDocument/2006/relationships/hyperlink" Target="https://www.amazon.in/gp/product/B0BWSHK2M5/ref=ox_sc_act_title_?smid=A3SI5I1JWQ14PC&amp;psc=1" TargetMode="External"/><Relationship Id="rId10" Type="http://schemas.openxmlformats.org/officeDocument/2006/relationships/hyperlink" Target="https://stackoverflow.com/questions/44123180/lock-splitting-vs-lock-striping" TargetMode="External"/><Relationship Id="rId19" Type="http://schemas.openxmlformats.org/officeDocument/2006/relationships/hyperlink" Target="https://dev.to/lucasnscr/multithreading-and-patterns-4nmk"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 Id="rId14" Type="http://schemas.openxmlformats.org/officeDocument/2006/relationships/hyperlink" Target="https://github.com/Wintellect/PowerThreading" TargetMode="External"/><Relationship Id="rId22" Type="http://schemas.openxmlformats.org/officeDocument/2006/relationships/hyperlink" Target="https://www.udemy.com/course/multithreading-design-patterns/"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BFCPSALE24"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BFCPSALE24"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docs.mlrun.org/en/latest/serving/realtime-pipelines.html"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17" Type="http://schemas.openxmlformats.org/officeDocument/2006/relationships/hyperlink" Target="https://www.linkedin.com/pulse/book-review-software-architecture-juval-lowy-michael-rarela-fiabf" TargetMode="External"/><Relationship Id="rId2" Type="http://schemas.openxmlformats.org/officeDocument/2006/relationships/diagramData" Target="../diagrams/data88.xml"/><Relationship Id="rId16" Type="http://schemas.openxmlformats.org/officeDocument/2006/relationships/hyperlink" Target="https://en.wikipedia.org/wiki/Strategy_pattern"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5" Type="http://schemas.openxmlformats.org/officeDocument/2006/relationships/hyperlink" Target="https://www.udemy.com/course/embedded-system-design-using-uml-state-machines/" TargetMode="Externa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informit.com/articles/article.aspx?p=1592379"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13" Type="http://schemas.openxmlformats.org/officeDocument/2006/relationships/hyperlink" Target="https://medium.com/@rajeshdavid/how-does-a-graphql-service-work-internally-496dc9264096"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learn.microsoft.com/en-us/dotnet/csharp/whats-new/tutorials/primary-constructors" TargetMode="External"/><Relationship Id="rId18" Type="http://schemas.openxmlformats.org/officeDocument/2006/relationships/hyperlink" Target="https://www.geeksforgeeks.org/gate-cs-notes-gq/" TargetMode="External"/><Relationship Id="rId26"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21" Type="http://schemas.openxmlformats.org/officeDocument/2006/relationships/hyperlink" Target="https://browser.engineering/" TargetMode="External"/><Relationship Id="rId7" Type="http://schemas.openxmlformats.org/officeDocument/2006/relationships/hyperlink" Target="https://rosettacode.org/wiki/Category:Programming_Tasks" TargetMode="External"/><Relationship Id="rId12" Type="http://schemas.openxmlformats.org/officeDocument/2006/relationships/hyperlink" Target="https://antondevtips.com/blog/how-to-write-elegant-code-with-csharp-switch-expressions" TargetMode="External"/><Relationship Id="rId17" Type="http://schemas.openxmlformats.org/officeDocument/2006/relationships/hyperlink" Target="https://stackoverflow.com/questions/65585395/specification-pattern-vs-fluent-validation" TargetMode="External"/><Relationship Id="rId25"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github.com/miholler/NSpecifications" TargetMode="External"/><Relationship Id="rId20" Type="http://schemas.openxmlformats.org/officeDocument/2006/relationships/hyperlink" Target="https://daily.dev/blog/make-a-web-browser-beginners-guide" TargetMode="External"/><Relationship Id="rId29" Type="http://schemas.openxmlformats.org/officeDocument/2006/relationships/hyperlink" Target="https://github.com/ziishaned/learn-regex"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24" Type="http://schemas.openxmlformats.org/officeDocument/2006/relationships/hyperlink" Target="https://www.linkedin.com/posts/maheshma_postgresql-sql-systemdesign-activity-7167707514266996736-HqMi" TargetMode="External"/><Relationship Id="rId32" Type="http://schemas.openxmlformats.org/officeDocument/2006/relationships/hyperlink" Target="https://github.com/milanm/DotNet-Developer-Roadmap" TargetMode="External"/><Relationship Id="rId5" Type="http://schemas.openxmlformats.org/officeDocument/2006/relationships/diagramColors" Target="../diagrams/colors96.xml"/><Relationship Id="rId15" Type="http://schemas.openxmlformats.org/officeDocument/2006/relationships/hyperlink" Target="https://stackoverflow.com/questions/43000520/why-would-one-use-taskt-over-valuetaskt-in-c" TargetMode="External"/><Relationship Id="rId23" Type="http://schemas.openxmlformats.org/officeDocument/2006/relationships/hyperlink" Target="https://www.planetgeek.ch/2013/06/05/clean-code-cheat-sheet/" TargetMode="External"/><Relationship Id="rId28" Type="http://schemas.openxmlformats.org/officeDocument/2006/relationships/hyperlink" Target="https://learn.microsoft.com/en-us/dotnet/standard/native-interop/" TargetMode="External"/><Relationship Id="rId10" Type="http://schemas.openxmlformats.org/officeDocument/2006/relationships/hyperlink" Target="https://github.com/ashishps1/awesome-low-level-design" TargetMode="External"/><Relationship Id="rId19" Type="http://schemas.openxmlformats.org/officeDocument/2006/relationships/hyperlink" Target="https://en.wikipedia.org/wiki/Automata_theory" TargetMode="External"/><Relationship Id="rId31" Type="http://schemas.openxmlformats.org/officeDocument/2006/relationships/hyperlink" Target="https://github.com/PacktPublishing/High-Performance-Programming-in-C-Sharp-and-.NET"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learn.microsoft.com/en-us/dotnet/csharp/fundamentals/functional/deconstruct" TargetMode="External"/><Relationship Id="rId22" Type="http://schemas.openxmlformats.org/officeDocument/2006/relationships/hyperlink" Target="https://stackoverflow.com/questions/790542/replacing-net-webbrowser-control-with-a-better-browser-like-chrome" TargetMode="External"/><Relationship Id="rId27" Type="http://schemas.openxmlformats.org/officeDocument/2006/relationships/hyperlink" Target="https://github.com/PacktPublishing/Systems-Programming-with-C-Sharp-and-.NET" TargetMode="External"/><Relationship Id="rId30" Type="http://schemas.openxmlformats.org/officeDocument/2006/relationships/hyperlink" Target="https://www.oreilly.com/library/view/regular-expressions-cookbook/9781449327453/"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7"/>
              </a:rPr>
              <a:t>https://www.linkedin.com/posts/sina-riyahi_backend-fullstack-developer-activity-7250402225380876289-qtW3/</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091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kern="0" spc="-220" dirty="0">
                <a:solidFill>
                  <a:schemeClr val="accent2"/>
                </a:solidFill>
                <a:hlinkClick r:id="rId8"/>
              </a:rPr>
              <a:t>https://jenkov.com/tutorials/java-concurrency/compare-and-swap.html</a:t>
            </a:r>
            <a:r>
              <a:rPr lang="en-US" sz="1500" kern="0" spc="-220" dirty="0">
                <a:solidFill>
                  <a:schemeClr val="accent2"/>
                </a:solidFill>
              </a:rPr>
              <a:t> </a:t>
            </a:r>
          </a:p>
          <a:p>
            <a:pPr algn="just" fontAlgn="base"/>
            <a:r>
              <a:rPr lang="en-US" sz="1500" kern="0" spc="-220" dirty="0">
                <a:solidFill>
                  <a:schemeClr val="accent6"/>
                </a:solidFill>
                <a:hlinkClick r:id="rId9"/>
              </a:rPr>
              <a:t>https://www.albahari.com/threading/part4.aspx</a:t>
            </a:r>
            <a:r>
              <a:rPr lang="en-US" sz="1500" kern="0" spc="-220" dirty="0">
                <a:solidFill>
                  <a:schemeClr val="accent2"/>
                </a:solidFill>
              </a:rPr>
              <a:t> </a:t>
            </a:r>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400" kern="0" spc="-220" dirty="0">
                <a:solidFill>
                  <a:schemeClr val="accent6"/>
                </a:solidFill>
                <a:hlinkClick r:id="rId10"/>
              </a:rPr>
              <a:t>https://stackoverflow.com/questions/44123180/lock-splitting-vs-lock-striping</a:t>
            </a:r>
            <a:r>
              <a:rPr lang="en-US" sz="1400" kern="0" spc="-220" dirty="0">
                <a:solidFill>
                  <a:schemeClr val="accent2"/>
                </a:solidFill>
              </a:rPr>
              <a:t> </a:t>
            </a:r>
          </a:p>
          <a:p>
            <a:pPr algn="just" fontAlgn="base"/>
            <a:r>
              <a:rPr lang="en-US" sz="1500" kern="0" spc="-220" dirty="0">
                <a:solidFill>
                  <a:schemeClr val="accent2"/>
                </a:solidFill>
              </a:rPr>
              <a:t>For Further Exploration – </a:t>
            </a:r>
          </a:p>
          <a:p>
            <a:pPr algn="just" fontAlgn="base"/>
            <a:r>
              <a:rPr lang="en-US" sz="950" kern="0" spc="-220" dirty="0">
                <a:solidFill>
                  <a:schemeClr val="accent2"/>
                </a:solidFill>
                <a:hlinkClick r:id="rId11"/>
              </a:rPr>
              <a:t>https://github.com/PacktPublishing/MultithreadingwithCSharpCookbookSecondEdition_Code</a:t>
            </a:r>
            <a:r>
              <a:rPr lang="en-US" sz="950" kern="0" spc="-220" dirty="0">
                <a:solidFill>
                  <a:schemeClr val="accent2"/>
                </a:solidFill>
              </a:rPr>
              <a:t> </a:t>
            </a:r>
          </a:p>
          <a:p>
            <a:pPr algn="just" fontAlgn="base"/>
            <a:r>
              <a:rPr lang="en-US" sz="950" kern="0" spc="-220" dirty="0">
                <a:solidFill>
                  <a:schemeClr val="accent2"/>
                </a:solidFill>
                <a:hlinkClick r:id="rId12"/>
              </a:rPr>
              <a:t>https://stackoverflow.com/questions/37787954/check-the-number-of-threads-available-in-threadpool-at-any-time</a:t>
            </a:r>
            <a:r>
              <a:rPr lang="en-US" sz="950" kern="0" spc="-220" dirty="0">
                <a:solidFill>
                  <a:schemeClr val="accent2"/>
                </a:solidFill>
              </a:rPr>
              <a:t>    </a:t>
            </a:r>
          </a:p>
          <a:p>
            <a:pPr algn="just" fontAlgn="base"/>
            <a:r>
              <a:rPr lang="en-US" sz="950" kern="0" spc="-220" dirty="0">
                <a:solidFill>
                  <a:schemeClr val="accent6"/>
                </a:solidFill>
                <a:hlinkClick r:id="rId13"/>
              </a:rPr>
              <a:t>https://github.com/MikeMKH/concurrency-in-csharp-cookbook</a:t>
            </a:r>
            <a:r>
              <a:rPr lang="en-US" sz="950" kern="0" spc="-220" dirty="0">
                <a:solidFill>
                  <a:schemeClr val="accent6"/>
                </a:solidFill>
              </a:rPr>
              <a:t> </a:t>
            </a:r>
          </a:p>
          <a:p>
            <a:pPr algn="just" fontAlgn="base"/>
            <a:r>
              <a:rPr lang="en-US" sz="950" kern="0" spc="-220" dirty="0">
                <a:solidFill>
                  <a:schemeClr val="accent6"/>
                </a:solidFill>
                <a:hlinkClick r:id="rId14"/>
              </a:rPr>
              <a:t>https://github.com/Wintellect/PowerThreading</a:t>
            </a:r>
            <a:r>
              <a:rPr lang="en-US" sz="950" kern="0" spc="-220" dirty="0">
                <a:solidFill>
                  <a:schemeClr val="accent6"/>
                </a:solidFill>
              </a:rPr>
              <a:t> </a:t>
            </a:r>
          </a:p>
          <a:p>
            <a:pPr algn="just" fontAlgn="base"/>
            <a:r>
              <a:rPr lang="en-US" sz="950" kern="0" spc="-220" dirty="0">
                <a:solidFill>
                  <a:schemeClr val="accent6"/>
                </a:solidFill>
                <a:hlinkClick r:id="rId15"/>
              </a:rPr>
              <a:t>https://www.syncfusion.com/succinctly-free-ebooks/webservers</a:t>
            </a:r>
            <a:r>
              <a:rPr lang="en-US" sz="950" kern="0" spc="-220" dirty="0">
                <a:solidFill>
                  <a:schemeClr val="accent6"/>
                </a:solidFill>
              </a:rPr>
              <a:t> </a:t>
            </a:r>
          </a:p>
          <a:p>
            <a:pPr algn="just" fontAlgn="base"/>
            <a:r>
              <a:rPr lang="en-US" sz="950" kern="0" spc="-220" dirty="0">
                <a:solidFill>
                  <a:schemeClr val="accent6"/>
                </a:solidFill>
                <a:hlinkClick r:id="rId16"/>
              </a:rPr>
              <a:t>https://github.com/2DGD-F0TH/2DGD_F0TH/blob/master/chapters/001_Introduction/001_Introduction.md</a:t>
            </a:r>
            <a:r>
              <a:rPr lang="en-US" sz="950" kern="0" spc="-220" dirty="0">
                <a:solidFill>
                  <a:schemeClr val="accent6"/>
                </a:solidFill>
              </a:rPr>
              <a:t> </a:t>
            </a:r>
          </a:p>
          <a:p>
            <a:pPr algn="just" fontAlgn="base"/>
            <a:r>
              <a:rPr lang="en-US" sz="950" kern="0" spc="-220" dirty="0">
                <a:solidFill>
                  <a:schemeClr val="accent6"/>
                </a:solidFill>
                <a:hlinkClick r:id="rId17"/>
              </a:rPr>
              <a:t>https://github.com/rikace/fConcBook</a:t>
            </a:r>
            <a:r>
              <a:rPr lang="en-US" sz="950" kern="0" spc="-220" dirty="0">
                <a:solidFill>
                  <a:schemeClr val="accent6"/>
                </a:solidFill>
              </a:rPr>
              <a:t> </a:t>
            </a:r>
          </a:p>
          <a:p>
            <a:pPr algn="just" fontAlgn="base"/>
            <a:r>
              <a:rPr lang="en-US" sz="950" kern="0" spc="-220" dirty="0">
                <a:solidFill>
                  <a:schemeClr val="accent6"/>
                </a:solidFill>
                <a:hlinkClick r:id="rId18"/>
              </a:rPr>
              <a:t>https://tamerlan.dev/multithreading-principles-and-patterns/</a:t>
            </a:r>
            <a:r>
              <a:rPr lang="en-US" sz="950" kern="0" spc="-220" dirty="0">
                <a:solidFill>
                  <a:schemeClr val="accent6"/>
                </a:solidFill>
              </a:rPr>
              <a:t> </a:t>
            </a:r>
          </a:p>
          <a:p>
            <a:pPr algn="just" fontAlgn="base"/>
            <a:r>
              <a:rPr lang="en-US" sz="950" kern="0" spc="-220" dirty="0">
                <a:solidFill>
                  <a:schemeClr val="accent6"/>
                </a:solidFill>
                <a:hlinkClick r:id="rId19"/>
              </a:rPr>
              <a:t>https://dev.to/lucasnscr/multithreading-and-patterns-4nmk</a:t>
            </a:r>
            <a:r>
              <a:rPr lang="en-US" sz="950" kern="0" spc="-220" dirty="0">
                <a:solidFill>
                  <a:schemeClr val="accent6"/>
                </a:solidFill>
              </a:rPr>
              <a:t> </a:t>
            </a:r>
          </a:p>
          <a:p>
            <a:pPr algn="just" fontAlgn="base"/>
            <a:r>
              <a:rPr lang="en-US" sz="950" kern="0" spc="-220" dirty="0">
                <a:solidFill>
                  <a:schemeClr val="accent6"/>
                </a:solidFill>
                <a:hlinkClick r:id="rId20"/>
              </a:rPr>
              <a:t>https://web.stanford.edu/class/archive/cs/cs110/cs110.1202/static/lectures/12-multithreading-patterns-data-structures.pdf</a:t>
            </a:r>
            <a:r>
              <a:rPr lang="en-US" sz="950" kern="0" spc="-220" dirty="0">
                <a:solidFill>
                  <a:schemeClr val="accent6"/>
                </a:solidFill>
              </a:rPr>
              <a:t> </a:t>
            </a:r>
          </a:p>
          <a:p>
            <a:pPr algn="just" fontAlgn="base"/>
            <a:r>
              <a:rPr lang="en-US" sz="950" kern="0" spc="-220" dirty="0">
                <a:solidFill>
                  <a:schemeClr val="accent6"/>
                </a:solidFill>
                <a:hlinkClick r:id="rId21"/>
              </a:rPr>
              <a:t>https://learn.microsoft.com/en-us/visualstudio/profiling/common-patterns-for-poorly-behaved-multithreaded-applications?view=vs-2022</a:t>
            </a:r>
            <a:r>
              <a:rPr lang="en-US" sz="950" kern="0" spc="-220" dirty="0">
                <a:solidFill>
                  <a:schemeClr val="accent6"/>
                </a:solidFill>
              </a:rPr>
              <a:t> </a:t>
            </a:r>
          </a:p>
          <a:p>
            <a:pPr algn="just" fontAlgn="base"/>
            <a:r>
              <a:rPr lang="en-US" sz="950" kern="0" spc="-220" dirty="0">
                <a:solidFill>
                  <a:schemeClr val="accent6"/>
                </a:solidFill>
                <a:hlinkClick r:id="rId22"/>
              </a:rPr>
              <a:t>https://www.udemy.com/course/multithreading-design-patterns/</a:t>
            </a:r>
            <a:r>
              <a:rPr lang="en-US" sz="950" kern="0" spc="-220" dirty="0">
                <a:solidFill>
                  <a:schemeClr val="accent6"/>
                </a:solidFill>
              </a:rPr>
              <a:t> </a:t>
            </a:r>
          </a:p>
          <a:p>
            <a:pPr algn="just" fontAlgn="base"/>
            <a:r>
              <a:rPr lang="en-US" sz="950" kern="0" spc="-220" dirty="0">
                <a:solidFill>
                  <a:schemeClr val="accent6"/>
                </a:solidFill>
                <a:hlinkClick r:id="rId23"/>
              </a:rPr>
              <a:t>https://www.amazon.in/gp/product/B0BWSHK2M5/ref=ox_sc_act_title_?smid=A3SI5I1JWQ14PC&amp;psc=1</a:t>
            </a:r>
            <a:r>
              <a:rPr lang="en-US" sz="950" kern="0" spc="-220" dirty="0">
                <a:solidFill>
                  <a:schemeClr val="accent6"/>
                </a:solidFill>
              </a:rPr>
              <a:t> </a:t>
            </a:r>
          </a:p>
          <a:p>
            <a:pPr algn="just" fontAlgn="base"/>
            <a:r>
              <a:rPr lang="en-US" sz="950" kern="0" spc="-220" dirty="0">
                <a:solidFill>
                  <a:schemeClr val="accent6"/>
                </a:solidFill>
                <a:hlinkClick r:id="rId24"/>
              </a:rPr>
              <a:t>https://www.amazon.in/Design-Patterns-Embedded-Systems-Engineering-ebook/dp/B004FGMTTK/ref=tmm_kin_swatch_0?_encoding=UTF8&amp;qid=&amp;sr=&amp;asin=B004FGMTTK&amp;revisionId=cfad4133&amp;format=3&amp;depth=1</a:t>
            </a:r>
            <a:r>
              <a:rPr lang="en-US" sz="950" kern="0" spc="-220" dirty="0">
                <a:solidFill>
                  <a:schemeClr val="accent6"/>
                </a:solidFill>
              </a:rPr>
              <a:t> </a:t>
            </a:r>
          </a:p>
          <a:p>
            <a:pPr algn="just" fontAlgn="base"/>
            <a:r>
              <a:rPr lang="en-US" sz="950" kern="0" spc="-220">
                <a:solidFill>
                  <a:schemeClr val="accent6"/>
                </a:solidFill>
                <a:hlinkClick r:id="rId25"/>
              </a:rPr>
              <a:t>https://github.com/disruptor-net/Disruptor-net</a:t>
            </a:r>
            <a:r>
              <a:rPr lang="en-US" sz="950" kern="0" spc="-220">
                <a:solidFill>
                  <a:schemeClr val="accent6"/>
                </a:solidFill>
              </a:rPr>
              <a:t> </a:t>
            </a:r>
            <a:endParaRPr lang="en-US" sz="950" kern="0" spc="-220" dirty="0">
              <a:solidFill>
                <a:schemeClr val="accent6"/>
              </a:solidFill>
            </a:endParaRPr>
          </a:p>
          <a:p>
            <a:pPr algn="just" fontAlgn="base"/>
            <a:endParaRPr lang="en-US" sz="1200" kern="0" spc="-220" dirty="0">
              <a:solidFill>
                <a:schemeClr val="accent6"/>
              </a:solidFill>
            </a:endParaRP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600" kern="0" spc="-220" dirty="0">
                <a:solidFill>
                  <a:schemeClr val="accent2"/>
                </a:solidFill>
                <a:hlinkClick r:id="rId7"/>
              </a:rPr>
              <a:t>https://stackoverflow.com/questions/2510593/how-can-i-set-processor-affinity-to-a-thread-or-a-task-in-net</a:t>
            </a:r>
            <a:r>
              <a:rPr lang="en-US" sz="1600" kern="0" spc="-220" dirty="0">
                <a:solidFill>
                  <a:schemeClr val="accent2"/>
                </a:solidFill>
              </a:rPr>
              <a:t> </a:t>
            </a:r>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600" kern="0" spc="-220" dirty="0">
                <a:solidFill>
                  <a:schemeClr val="accent2"/>
                </a:solidFill>
                <a:hlinkClick r:id="rId8"/>
              </a:rPr>
              <a:t>https://www.albahari.com/threading/part5.aspx#_SpinLock_and_SpinWait</a:t>
            </a:r>
            <a:endParaRPr lang="en-US" sz="1600" kern="0" spc="-220" dirty="0">
              <a:solidFill>
                <a:schemeClr val="accent2"/>
              </a:solidFill>
            </a:endParaRPr>
          </a:p>
          <a:p>
            <a:pPr algn="just" fontAlgn="base"/>
            <a:endParaRPr lang="en-US" sz="16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600" kern="0" spc="-220" dirty="0">
                <a:solidFill>
                  <a:schemeClr val="accent6"/>
                </a:solidFill>
                <a:hlinkClick r:id="rId9"/>
              </a:rPr>
              <a:t>https://www.albahari.com/threading/part5.aspx#_The_Parallel_Class</a:t>
            </a:r>
            <a:endParaRPr lang="en-US" sz="1600" kern="0" spc="-220" dirty="0">
              <a:solidFill>
                <a:schemeClr val="accent6"/>
              </a:solidFill>
            </a:endParaRPr>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600" kern="0" spc="-220" dirty="0">
                <a:solidFill>
                  <a:schemeClr val="accent6"/>
                </a:solidFill>
                <a:hlinkClick r:id="rId10"/>
              </a:rPr>
              <a:t>https://www.albahari.com/threading/part5.aspx#_PLINQ</a:t>
            </a:r>
            <a:r>
              <a:rPr lang="en-US" sz="16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6477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kern="0" spc="-220" dirty="0">
                <a:solidFill>
                  <a:schemeClr val="accent6"/>
                </a:solidFill>
                <a:hlinkClick r:id="rId7"/>
              </a:rPr>
              <a:t>https://www.albahari.com/threading/part5.aspx#_Concurrent_Collections</a:t>
            </a:r>
            <a:r>
              <a:rPr lang="en-US" sz="1500" kern="0" spc="-220" dirty="0">
                <a:solidFill>
                  <a:schemeClr val="accent6"/>
                </a:solidFill>
              </a:rPr>
              <a:t> </a:t>
            </a: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kern="0" spc="-220" dirty="0">
                <a:solidFill>
                  <a:schemeClr val="accent2"/>
                </a:solidFill>
                <a:hlinkClick r:id="rId9"/>
              </a:rPr>
              <a:t>https://github.com/PacktPublishing/Hands-On-Parallel-Programming-with-C-8-and-.NET-Core-3</a:t>
            </a:r>
            <a:r>
              <a:rPr lang="en-US" sz="1200" kern="0" spc="-220" dirty="0">
                <a:solidFill>
                  <a:schemeClr val="accent2"/>
                </a:solidFill>
              </a:rPr>
              <a:t> </a:t>
            </a:r>
          </a:p>
          <a:p>
            <a:pPr algn="just" fontAlgn="base"/>
            <a:r>
              <a:rPr lang="en-US" sz="1200" kern="0" spc="-220" dirty="0">
                <a:solidFill>
                  <a:schemeClr val="accent2"/>
                </a:solidFill>
                <a:hlinkClick r:id="rId10"/>
              </a:rPr>
              <a:t>https://github.com/PacktPublishing/Parallel-Programming-and-Concurrency-with-C-sharp-10-and-.NET-6</a:t>
            </a:r>
            <a:r>
              <a:rPr lang="en-US" sz="1200" kern="0" spc="-220" dirty="0">
                <a:solidFill>
                  <a:schemeClr val="accent2"/>
                </a:solidFill>
              </a:rPr>
              <a:t> </a:t>
            </a:r>
          </a:p>
          <a:p>
            <a:pPr algn="just" fontAlgn="base"/>
            <a:r>
              <a:rPr lang="en-US" sz="1200" kern="0" spc="-220" dirty="0">
                <a:solidFill>
                  <a:schemeClr val="accent2"/>
                </a:solidFill>
                <a:hlinkClick r:id="rId11"/>
              </a:rPr>
              <a:t>https://stackoverflow.com/questions/32343/how-do-i-spawn-threads-on-different-cpu-cores</a:t>
            </a:r>
            <a:endParaRPr lang="en-US" sz="1200" kern="0" spc="-220" dirty="0">
              <a:solidFill>
                <a:schemeClr val="accent2"/>
              </a:solidFill>
            </a:endParaRPr>
          </a:p>
          <a:p>
            <a:pPr algn="just" fontAlgn="base"/>
            <a:r>
              <a:rPr lang="en-US" sz="1200" kern="0" spc="-220" dirty="0">
                <a:solidFill>
                  <a:schemeClr val="accent2"/>
                </a:solidFill>
                <a:hlinkClick r:id="rId12"/>
              </a:rPr>
              <a:t>https://stackoverflow.com/questions/16420470/can-you-force-parallel-invoke-to-use-multiple-threads</a:t>
            </a:r>
            <a:r>
              <a:rPr lang="en-US" sz="1200" kern="0" spc="-220" dirty="0">
                <a:solidFill>
                  <a:schemeClr val="accent2"/>
                </a:solidFill>
              </a:rPr>
              <a:t> </a:t>
            </a:r>
          </a:p>
          <a:p>
            <a:pPr algn="just" fontAlgn="base"/>
            <a:r>
              <a:rPr lang="en-US" sz="1200" kern="0" spc="-220" dirty="0">
                <a:solidFill>
                  <a:schemeClr val="accent2"/>
                </a:solidFill>
                <a:hlinkClick r:id="rId13"/>
              </a:rPr>
              <a:t>https://stackoverflow.com/questions/17804004/how-to-set-maximum-concurrent-threads-using-task</a:t>
            </a:r>
            <a:r>
              <a:rPr lang="en-US" sz="1200" kern="0" spc="-220" dirty="0">
                <a:solidFill>
                  <a:schemeClr val="accent2"/>
                </a:solidFill>
              </a:rPr>
              <a:t> </a:t>
            </a:r>
          </a:p>
          <a:p>
            <a:pPr algn="just" fontAlgn="base"/>
            <a:r>
              <a:rPr lang="en-US" sz="1200" kern="0" spc="-220" dirty="0">
                <a:solidFill>
                  <a:schemeClr val="accent2"/>
                </a:solidFill>
                <a:hlinkClick r:id="rId14"/>
              </a:rPr>
              <a:t>https://devblogs.microsoft.com/premier-developer/limiting-concurrency-for-faster-and-more-responsive-apps/</a:t>
            </a:r>
            <a:r>
              <a:rPr lang="en-US" sz="1200" kern="0" spc="-220" dirty="0">
                <a:solidFill>
                  <a:schemeClr val="accent2"/>
                </a:solidFill>
              </a:rPr>
              <a:t> </a:t>
            </a:r>
          </a:p>
          <a:p>
            <a:pPr algn="just" fontAlgn="base"/>
            <a:r>
              <a:rPr lang="en-US" sz="1200" kern="0" spc="-220" dirty="0">
                <a:solidFill>
                  <a:schemeClr val="accent2"/>
                </a:solidFill>
                <a:hlinkClick r:id="rId15"/>
              </a:rPr>
              <a:t>https://stackoverflow.com/questions/26734893/limited-concurrency-taskscheduler-that-can-interleave-tasks-to-be-explicitly-ord</a:t>
            </a:r>
            <a:endParaRPr lang="en-US" sz="1200" kern="0" spc="-220" dirty="0">
              <a:solidFill>
                <a:schemeClr val="accent2"/>
              </a:solidFill>
            </a:endParaRPr>
          </a:p>
          <a:p>
            <a:pPr algn="just" fontAlgn="base"/>
            <a:r>
              <a:rPr lang="en-US" sz="1200" kern="0" spc="-220" dirty="0">
                <a:solidFill>
                  <a:schemeClr val="accent2"/>
                </a:solidFill>
              </a:rPr>
              <a:t> </a:t>
            </a:r>
            <a:r>
              <a:rPr lang="en-US" sz="1200" kern="0" spc="-220" dirty="0">
                <a:solidFill>
                  <a:schemeClr val="accent2"/>
                </a:solidFill>
                <a:hlinkClick r:id="rId16"/>
              </a:rPr>
              <a:t>https://devblogs.microsoft.com/pfxteam/a-tour-of-parallelextensionsextras/</a:t>
            </a:r>
            <a:r>
              <a:rPr lang="en-US" sz="1200" kern="0" spc="-220" dirty="0">
                <a:solidFill>
                  <a:schemeClr val="accent2"/>
                </a:solidFill>
              </a:rPr>
              <a:t>    </a:t>
            </a:r>
          </a:p>
          <a:p>
            <a:pPr algn="just" fontAlgn="base"/>
            <a:r>
              <a:rPr lang="en-US" sz="1200" kern="0" spc="-220" dirty="0">
                <a:solidFill>
                  <a:schemeClr val="accent2"/>
                </a:solidFill>
                <a:hlinkClick r:id="rId17"/>
              </a:rPr>
              <a:t>https://github.com/ChadBurggraf/parallel-extensions-extras</a:t>
            </a:r>
            <a:r>
              <a:rPr lang="en-US" sz="1200" kern="0" spc="-220" dirty="0">
                <a:solidFill>
                  <a:schemeClr val="accent2"/>
                </a:solidFill>
              </a:rPr>
              <a:t> </a:t>
            </a:r>
          </a:p>
          <a:p>
            <a:pPr algn="just" fontAlgn="base"/>
            <a:r>
              <a:rPr lang="en-US" sz="1200" kern="0" spc="-220" dirty="0">
                <a:solidFill>
                  <a:schemeClr val="accent2"/>
                </a:solidFill>
                <a:hlinkClick r:id="rId18"/>
              </a:rPr>
              <a:t>https://learn.microsoft.com/en-us/dotnet/standard/parallel-programming/for-further-reading-parallel-programming</a:t>
            </a:r>
            <a:r>
              <a:rPr lang="en-US" sz="1200" kern="0" spc="-220" dirty="0">
                <a:solidFill>
                  <a:schemeClr val="accent2"/>
                </a:solidFill>
              </a:rPr>
              <a:t>  </a:t>
            </a:r>
            <a:r>
              <a:rPr lang="en-IN" sz="1200" kern="0" spc="-220" dirty="0">
                <a:solidFill>
                  <a:schemeClr val="accent2"/>
                </a:solidFill>
              </a:rPr>
              <a:t> </a:t>
            </a:r>
          </a:p>
          <a:p>
            <a:pPr algn="just" fontAlgn="base"/>
            <a:r>
              <a:rPr lang="en-IN" sz="1200" kern="0" spc="-220" dirty="0">
                <a:solidFill>
                  <a:schemeClr val="accent2"/>
                </a:solidFill>
                <a:hlinkClick r:id="rId19"/>
              </a:rPr>
              <a:t>https://github.com/rikace/parallel-patterns</a:t>
            </a:r>
            <a:r>
              <a:rPr lang="en-IN" sz="1200" kern="0" spc="-220" dirty="0">
                <a:solidFill>
                  <a:schemeClr val="accent2"/>
                </a:solidFill>
              </a:rPr>
              <a:t> </a:t>
            </a:r>
          </a:p>
          <a:p>
            <a:pPr algn="just" fontAlgn="base"/>
            <a:r>
              <a:rPr lang="en-IN" sz="1200" kern="0" spc="-220" dirty="0">
                <a:solidFill>
                  <a:schemeClr val="accent2"/>
                </a:solidFill>
                <a:hlinkClick r:id="rId20"/>
              </a:rPr>
              <a:t>https://www.oreilly.com/library/view/patterns-for-parallel/0321228111/</a:t>
            </a:r>
            <a:r>
              <a:rPr lang="en-IN" sz="1200" kern="0" spc="-220" dirty="0">
                <a:solidFill>
                  <a:schemeClr val="accent2"/>
                </a:solidFill>
              </a:rPr>
              <a:t> </a:t>
            </a:r>
          </a:p>
          <a:p>
            <a:pPr algn="just" fontAlgn="base"/>
            <a:r>
              <a:rPr lang="en-US" sz="1200" kern="0" spc="-220" dirty="0">
                <a:solidFill>
                  <a:schemeClr val="accent6"/>
                </a:solidFill>
                <a:hlinkClick r:id="rId21"/>
              </a:rPr>
              <a:t>https://www.udemy.com/course/rtos-building-from-ground-up-on-arm-processors/?couponCode=BFCPSALE24</a:t>
            </a:r>
            <a:r>
              <a:rPr lang="en-US" sz="1200" kern="0" spc="-220" dirty="0">
                <a:solidFill>
                  <a:schemeClr val="accent6"/>
                </a:solidFill>
              </a:rPr>
              <a:t> </a:t>
            </a:r>
          </a:p>
          <a:p>
            <a:pPr algn="just" fontAlgn="base"/>
            <a:r>
              <a:rPr lang="en-US" sz="1200" kern="0" spc="-220" dirty="0">
                <a:solidFill>
                  <a:schemeClr val="accent6"/>
                </a:solidFill>
                <a:hlinkClick r:id="rId22"/>
              </a:rPr>
              <a:t>https://www.udemy.com/course/build-your-own-realtime-os-rtos-from-ground-uptm-on-arm-2/?couponCode=BFCPSALE24</a:t>
            </a:r>
            <a:r>
              <a:rPr lang="en-US" sz="1200" kern="0" spc="-220" dirty="0">
                <a:solidFill>
                  <a:schemeClr val="accent6"/>
                </a:solidFill>
              </a:rPr>
              <a:t>   </a:t>
            </a:r>
          </a:p>
          <a:p>
            <a:pPr algn="just" fontAlgn="base"/>
            <a:r>
              <a:rPr lang="en-US" sz="1200" kern="0" spc="-220" dirty="0">
                <a:solidFill>
                  <a:schemeClr val="accent6"/>
                </a:solidFill>
                <a:hlinkClick r:id="rId23"/>
              </a:rPr>
              <a:t>https://www.udemy.com/course/mastering-rtos-hands-on-with-freertos-arduino-and-stm32fx/?couponCode=BFCPSALE24</a:t>
            </a:r>
            <a:r>
              <a:rPr lang="en-US" sz="1200" kern="0" spc="-220" dirty="0">
                <a:solidFill>
                  <a:schemeClr val="accent6"/>
                </a:solidFill>
              </a:rPr>
              <a:t> </a:t>
            </a:r>
          </a:p>
          <a:p>
            <a:pPr algn="just" fontAlgn="base"/>
            <a:endParaRPr lang="en-US" sz="12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200" kern="0" spc="-220" dirty="0">
                <a:solidFill>
                  <a:schemeClr val="accent2"/>
                </a:solidFill>
                <a:hlinkClick r:id="rId8"/>
              </a:rPr>
              <a:t>https://stackoverflow.com/questions/2161895</a:t>
            </a:r>
            <a:r>
              <a:rPr lang="en-US" sz="1200" kern="0" spc="-220">
                <a:solidFill>
                  <a:schemeClr val="accent2"/>
                </a:solidFill>
                <a:hlinkClick r:id="rId8"/>
              </a:rPr>
              <a:t>/reading-large-text-files-with-streams-in-c-sharp</a:t>
            </a:r>
            <a:r>
              <a:rPr lang="en-US" sz="1200" kern="0" spc="-220">
                <a:solidFill>
                  <a:schemeClr val="accent2"/>
                </a:solidFill>
              </a:rPr>
              <a:t> </a:t>
            </a:r>
            <a:endParaRPr lang="en-US" sz="1200" kern="0" spc="-220" dirty="0">
              <a:solidFill>
                <a:schemeClr val="accent2"/>
              </a:solidFill>
            </a:endParaRPr>
          </a:p>
          <a:p>
            <a:pPr algn="l"/>
            <a:r>
              <a:rPr lang="en-US" sz="1200" kern="0" spc="-220" dirty="0">
                <a:solidFill>
                  <a:schemeClr val="accent2"/>
                </a:solidFill>
                <a:hlinkClick r:id="rId9"/>
              </a:rPr>
              <a:t>https://learn.microsoft.com/en-us/dotnet/api/system.io?view=net-8.0</a:t>
            </a:r>
            <a:r>
              <a:rPr lang="en-US" sz="1200" kern="0" spc="-220" dirty="0">
                <a:solidFill>
                  <a:schemeClr val="accent2"/>
                </a:solidFill>
              </a:rPr>
              <a:t>  </a:t>
            </a:r>
          </a:p>
          <a:p>
            <a:pPr algn="l"/>
            <a:r>
              <a:rPr lang="en-US" sz="1200" kern="0" spc="-220" dirty="0">
                <a:solidFill>
                  <a:schemeClr val="accent2"/>
                </a:solidFill>
                <a:hlinkClick r:id="rId10"/>
              </a:rPr>
              <a:t>https://learn.microsoft.com/en-us/dotnet/api/system.environment.specialfolder?view=net-8.0</a:t>
            </a:r>
            <a:r>
              <a:rPr lang="en-US" sz="1200" kern="0" spc="-220" dirty="0">
                <a:solidFill>
                  <a:schemeClr val="accent2"/>
                </a:solidFill>
              </a:rPr>
              <a:t> </a:t>
            </a:r>
          </a:p>
          <a:p>
            <a:pPr algn="l"/>
            <a:r>
              <a:rPr lang="en-US" sz="1200" kern="0" spc="-220" dirty="0">
                <a:solidFill>
                  <a:schemeClr val="accent2"/>
                </a:solidFill>
                <a:hlinkClick r:id="rId11"/>
              </a:rPr>
              <a:t>https://learn.microsoft.com/en-us/dotnet/standard/io/memory-mapped-files</a:t>
            </a:r>
            <a:r>
              <a:rPr lang="en-US" sz="12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dirty="0">
                <a:solidFill>
                  <a:schemeClr val="accent2"/>
                </a:solidFill>
                <a:hlinkClick r:id="rId9"/>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0"/>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1"/>
              </a:rPr>
              <a:t>https://hpbn.co/</a:t>
            </a:r>
            <a:r>
              <a:rPr lang="en-US" sz="1500" kern="0" spc="-220" dirty="0">
                <a:solidFill>
                  <a:schemeClr val="accent2"/>
                </a:solidFill>
              </a:rPr>
              <a:t> </a:t>
            </a:r>
          </a:p>
          <a:p>
            <a:pPr algn="l"/>
            <a:r>
              <a:rPr lang="en-US" sz="1500" kern="0" spc="-220">
                <a:solidFill>
                  <a:schemeClr val="accent2"/>
                </a:solidFill>
                <a:hlinkClick r:id="rId12"/>
              </a:rPr>
              <a:t>https://stackoverflow.com/questions/4263116/wireshark-vs-firebug-vs-fiddler-pros-and-cons</a:t>
            </a:r>
            <a:r>
              <a:rPr lang="en-US" sz="1500" kern="0" spc="-220">
                <a:solidFill>
                  <a:schemeClr val="accent2"/>
                </a:solidFill>
              </a:rPr>
              <a:t> </a:t>
            </a:r>
            <a:endParaRPr lang="en-US" sz="15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18012713"/>
              </p:ext>
            </p:extLst>
          </p:nvPr>
        </p:nvGraphicFramePr>
        <p:xfrm>
          <a:off x="275300" y="807720"/>
          <a:ext cx="8716299" cy="522538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b="0" i="0" u="sng" strike="noStrike" dirty="0">
                          <a:solidFill>
                            <a:srgbClr val="0563C1"/>
                          </a:solidFill>
                          <a:effectLst/>
                          <a:latin typeface="Calibri" panose="020F0502020204030204" pitchFamily="34" charset="0"/>
                          <a:hlinkClick r:id="rId11"/>
                        </a:rPr>
                        <a:t>https://refactoring.guru/design-patterns/state</a:t>
                      </a:r>
                      <a:endParaRPr lang="en-IN" sz="900" b="0" i="0" u="sng" strike="noStrike" dirty="0">
                        <a:solidFill>
                          <a:srgbClr val="0563C1"/>
                        </a:solidFill>
                        <a:effectLst/>
                        <a:latin typeface="Calibri" panose="020F0502020204030204" pitchFamily="34" charset="0"/>
                      </a:endParaRPr>
                    </a:p>
                    <a:p>
                      <a:pPr algn="l" fontAlgn="b"/>
                      <a:r>
                        <a:rPr lang="en-IN" sz="900" b="0" i="0" u="sng" strike="noStrike" dirty="0">
                          <a:solidFill>
                            <a:srgbClr val="0563C1"/>
                          </a:solidFill>
                          <a:effectLst/>
                          <a:latin typeface="Calibri" panose="020F0502020204030204" pitchFamily="34" charset="0"/>
                          <a:hlinkClick r:id="rId12"/>
                        </a:rPr>
                        <a:t>https://blog.ploeh.dk/2015/08/10/type-driven-development/</a:t>
                      </a:r>
                      <a:endParaRPr lang="en-IN" sz="900" b="0" i="0" u="sng" strike="noStrike" dirty="0">
                        <a:solidFill>
                          <a:srgbClr val="0563C1"/>
                        </a:solidFill>
                        <a:effectLst/>
                        <a:latin typeface="Calibri" panose="020F0502020204030204" pitchFamily="34" charset="0"/>
                      </a:endParaRPr>
                    </a:p>
                    <a:p>
                      <a:pPr algn="l" fontAlgn="b"/>
                      <a:r>
                        <a:rPr lang="en-IN" sz="900" b="0" i="0" dirty="0">
                          <a:solidFill>
                            <a:schemeClr val="dk1"/>
                          </a:solidFill>
                          <a:effectLst/>
                          <a:latin typeface="+mn-lt"/>
                          <a:ea typeface="+mn-ea"/>
                          <a:cs typeface="+mn-cs"/>
                        </a:rPr>
                        <a:t>Permissible States Rules Engine</a:t>
                      </a:r>
                    </a:p>
                    <a:p>
                      <a:pPr algn="l" fontAlgn="b"/>
                      <a:r>
                        <a:rPr lang="en-IN" sz="900" b="0" i="0" dirty="0">
                          <a:solidFill>
                            <a:schemeClr val="dk1"/>
                          </a:solidFill>
                          <a:effectLst/>
                          <a:latin typeface="+mn-lt"/>
                          <a:ea typeface="+mn-ea"/>
                          <a:cs typeface="+mn-cs"/>
                          <a:hlinkClick r:id="rId13"/>
                        </a:rPr>
                        <a:t>https://docs.mlrun.org/en/latest/serving/realtime-pipelines.html</a:t>
                      </a:r>
                      <a:r>
                        <a:rPr lang="en-IN" sz="900" b="0" i="0" dirty="0">
                          <a:solidFill>
                            <a:schemeClr val="dk1"/>
                          </a:solidFill>
                          <a:effectLst/>
                          <a:latin typeface="+mn-lt"/>
                          <a:ea typeface="+mn-ea"/>
                          <a:cs typeface="+mn-cs"/>
                        </a:rPr>
                        <a:t> </a:t>
                      </a:r>
                    </a:p>
                    <a:p>
                      <a:pPr algn="l" fontAlgn="b"/>
                      <a:r>
                        <a:rPr lang="en-IN" sz="900" b="0" i="0" dirty="0">
                          <a:solidFill>
                            <a:schemeClr val="dk1"/>
                          </a:solidFill>
                          <a:effectLst/>
                          <a:latin typeface="+mn-lt"/>
                          <a:ea typeface="+mn-ea"/>
                          <a:cs typeface="+mn-cs"/>
                          <a:hlinkClick r:id="rId14"/>
                        </a:rPr>
                        <a:t>https://www.informit.com/articles/article.aspx?p=1592379</a:t>
                      </a:r>
                      <a:r>
                        <a:rPr lang="en-IN" sz="900" b="0" i="0" dirty="0">
                          <a:solidFill>
                            <a:schemeClr val="dk1"/>
                          </a:solidFill>
                          <a:effectLst/>
                          <a:latin typeface="+mn-lt"/>
                          <a:ea typeface="+mn-ea"/>
                          <a:cs typeface="+mn-cs"/>
                        </a:rPr>
                        <a:t> </a:t>
                      </a:r>
                    </a:p>
                    <a:p>
                      <a:pPr algn="l" fontAlgn="b"/>
                      <a:r>
                        <a:rPr lang="en-IN" sz="900" b="0" i="0" dirty="0">
                          <a:solidFill>
                            <a:schemeClr val="dk1"/>
                          </a:solidFill>
                          <a:effectLst/>
                          <a:latin typeface="+mn-lt"/>
                          <a:ea typeface="+mn-ea"/>
                          <a:cs typeface="+mn-cs"/>
                          <a:hlinkClick r:id="rId15"/>
                        </a:rPr>
                        <a:t>https://www.udemy.com/course/embedded-system-design-using-uml-state-machines/</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6"/>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7"/>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4465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500" kern="0" spc="-220" dirty="0">
                <a:solidFill>
                  <a:schemeClr val="accent6"/>
                </a:solidFill>
              </a:rPr>
              <a:t> </a:t>
            </a:r>
            <a:r>
              <a:rPr lang="en-US" sz="1500" kern="0" spc="-220" dirty="0">
                <a:solidFill>
                  <a:schemeClr val="accent6"/>
                </a:solidFill>
                <a:hlinkClick r:id="rId9"/>
              </a:rPr>
              <a:t>https://martinfowler.com/dsl.html</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0"/>
              </a:rPr>
              <a:t>https://pragprog.com/titles/tpdsl/language-implementation-patterns/</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1"/>
              </a:rPr>
              <a:t>https://www.syncfusion.com/succinctly-free-ebooks/implementing-a-custom-language</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2"/>
              </a:rPr>
              <a:t>https://www.syncfusion.com/succinctly-free-ebooks/writing-native-mobile-apps-in-a-functional-language-succinctly</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3"/>
              </a:rPr>
              <a:t>https://medium.com/@rajeshdavid/how-does-a-graphql-service-work-internally-496dc9264096</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799" y="82296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150" kern="0" spc="-220" dirty="0">
                <a:solidFill>
                  <a:schemeClr val="accent6"/>
                </a:solidFill>
                <a:hlinkClick r:id="rId7"/>
              </a:rPr>
              <a:t>https://rosettacode.org/wiki/Category:Programming_Tasks</a:t>
            </a:r>
            <a:r>
              <a:rPr lang="en-US" sz="1150" kern="0" spc="-220" dirty="0">
                <a:solidFill>
                  <a:schemeClr val="accent6"/>
                </a:solidFill>
              </a:rPr>
              <a:t> </a:t>
            </a:r>
          </a:p>
          <a:p>
            <a:pPr marL="12700" marR="5080"/>
            <a:r>
              <a:rPr lang="en-US" sz="1150" kern="0" spc="-220" dirty="0">
                <a:solidFill>
                  <a:schemeClr val="accent6"/>
                </a:solidFill>
                <a:hlinkClick r:id="rId8"/>
              </a:rPr>
              <a:t>https://github.com/gamontal/awesome-katas</a:t>
            </a:r>
            <a:r>
              <a:rPr lang="en-US" sz="1150" kern="0" spc="-220" dirty="0">
                <a:solidFill>
                  <a:schemeClr val="accent6"/>
                </a:solidFill>
              </a:rPr>
              <a:t> </a:t>
            </a:r>
          </a:p>
          <a:p>
            <a:pPr marL="12700" marR="5080"/>
            <a:r>
              <a:rPr lang="en-US" sz="1150" kern="0" spc="-220" dirty="0">
                <a:solidFill>
                  <a:schemeClr val="accent6"/>
                </a:solidFill>
                <a:hlinkClick r:id="rId9"/>
              </a:rPr>
              <a:t>https://codingchallenges.substack.com/</a:t>
            </a:r>
            <a:r>
              <a:rPr lang="en-US" sz="1150" kern="0" spc="-220" dirty="0">
                <a:solidFill>
                  <a:schemeClr val="accent6"/>
                </a:solidFill>
              </a:rPr>
              <a:t> </a:t>
            </a:r>
          </a:p>
          <a:p>
            <a:pPr marL="12700" marR="5080"/>
            <a:r>
              <a:rPr lang="en-US" sz="1150" kern="0" spc="-220" dirty="0">
                <a:solidFill>
                  <a:schemeClr val="accent6"/>
                </a:solidFill>
                <a:hlinkClick r:id="rId10"/>
              </a:rPr>
              <a:t>https://github.com/ashishps1/awesome-low-level-design</a:t>
            </a:r>
            <a:r>
              <a:rPr lang="en-US" sz="1150" kern="0" spc="-220" dirty="0">
                <a:solidFill>
                  <a:schemeClr val="accent6"/>
                </a:solidFill>
              </a:rPr>
              <a:t> </a:t>
            </a:r>
          </a:p>
          <a:p>
            <a:pPr marL="12700" marR="5080"/>
            <a:r>
              <a:rPr lang="en-US" sz="1150" kern="0" spc="-220" dirty="0">
                <a:solidFill>
                  <a:schemeClr val="accent6"/>
                </a:solidFill>
                <a:hlinkClick r:id="rId11"/>
              </a:rPr>
              <a:t>https://github.com/prasadgujar/low-level-design-primer</a:t>
            </a:r>
            <a:r>
              <a:rPr lang="en-US" sz="1150" kern="0" spc="-220" dirty="0">
                <a:solidFill>
                  <a:schemeClr val="accent6"/>
                </a:solidFill>
              </a:rPr>
              <a:t> </a:t>
            </a:r>
          </a:p>
          <a:p>
            <a:pPr marL="12700" marR="5080"/>
            <a:r>
              <a:rPr lang="en-US" sz="1150" kern="0" spc="-220" dirty="0">
                <a:solidFill>
                  <a:schemeClr val="accent6"/>
                </a:solidFill>
                <a:hlinkClick r:id="rId7"/>
              </a:rPr>
              <a:t>https://www.geeksforgeeks.org/c-sharp-version-history/ </a:t>
            </a:r>
          </a:p>
          <a:p>
            <a:pPr marL="12700" marR="5080"/>
            <a:r>
              <a:rPr lang="en-US" sz="1150" kern="0" spc="-220" dirty="0">
                <a:solidFill>
                  <a:schemeClr val="accent6"/>
                </a:solidFill>
                <a:hlinkClick r:id="rId7"/>
              </a:rPr>
              <a:t>https://stackoverflow.com/questions/12389203/how-do-i-chunk-an-enumerable </a:t>
            </a:r>
          </a:p>
          <a:p>
            <a:pPr marL="12700" marR="5080"/>
            <a:r>
              <a:rPr lang="en-US" sz="1150" kern="0" spc="-220" dirty="0">
                <a:solidFill>
                  <a:schemeClr val="accent6"/>
                </a:solidFill>
                <a:hlinkClick r:id="rId12"/>
              </a:rPr>
              <a:t>https://antondevtips.com/blog/how-to-write-elegant-code-with-csharp-switch-expressions</a:t>
            </a:r>
            <a:endParaRPr lang="en-US" sz="1150" kern="0" spc="-220" dirty="0">
              <a:solidFill>
                <a:schemeClr val="accent6"/>
              </a:solidFill>
            </a:endParaRPr>
          </a:p>
          <a:p>
            <a:pPr marL="12700" marR="5080"/>
            <a:r>
              <a:rPr lang="en-US" sz="1150" kern="0" spc="-220" dirty="0">
                <a:solidFill>
                  <a:schemeClr val="accent6"/>
                </a:solidFill>
                <a:hlinkClick r:id="rId13"/>
              </a:rPr>
              <a:t>https://learn.microsoft.com/en-us/dotnet/csharp/whats-new/tutorials/primary-constructors</a:t>
            </a:r>
            <a:r>
              <a:rPr lang="en-US" sz="1150" kern="0" spc="-220" dirty="0">
                <a:solidFill>
                  <a:schemeClr val="accent6"/>
                </a:solidFill>
              </a:rPr>
              <a:t> </a:t>
            </a:r>
          </a:p>
          <a:p>
            <a:pPr marL="12700" marR="5080"/>
            <a:r>
              <a:rPr lang="en-US" sz="1150" kern="0" spc="-220" dirty="0">
                <a:solidFill>
                  <a:schemeClr val="accent6"/>
                </a:solidFill>
                <a:hlinkClick r:id="rId14"/>
              </a:rPr>
              <a:t>https://learn.microsoft.com/en-us/dotnet/csharp/fundamentals/functional/deconstruct</a:t>
            </a:r>
            <a:r>
              <a:rPr lang="en-US" sz="1150" kern="0" spc="-220" dirty="0">
                <a:solidFill>
                  <a:schemeClr val="accent6"/>
                </a:solidFill>
              </a:rPr>
              <a:t> </a:t>
            </a:r>
          </a:p>
          <a:p>
            <a:pPr marL="12700" marR="5080"/>
            <a:r>
              <a:rPr lang="en-US" sz="1150" kern="0" spc="-220" dirty="0">
                <a:solidFill>
                  <a:schemeClr val="accent6"/>
                </a:solidFill>
                <a:hlinkClick r:id="rId15"/>
              </a:rPr>
              <a:t>https://stackoverflow.com/questions/43000520/why-would-one-use-taskt-over-valuetaskt-in-c</a:t>
            </a:r>
            <a:r>
              <a:rPr lang="en-US" sz="1150" kern="0" spc="-220" dirty="0">
                <a:solidFill>
                  <a:schemeClr val="accent6"/>
                </a:solidFill>
              </a:rPr>
              <a:t> </a:t>
            </a:r>
          </a:p>
          <a:p>
            <a:pPr marL="12700" marR="5080"/>
            <a:r>
              <a:rPr lang="en-US" sz="1150" kern="0" spc="-220" dirty="0">
                <a:solidFill>
                  <a:schemeClr val="accent6"/>
                </a:solidFill>
                <a:hlinkClick r:id="rId16"/>
              </a:rPr>
              <a:t>https://github.com/miholler/NSpecifications</a:t>
            </a:r>
            <a:r>
              <a:rPr lang="en-US" sz="1150" kern="0" spc="-220" dirty="0">
                <a:solidFill>
                  <a:schemeClr val="accent6"/>
                </a:solidFill>
              </a:rPr>
              <a:t> </a:t>
            </a:r>
          </a:p>
          <a:p>
            <a:pPr marL="12700" marR="5080"/>
            <a:r>
              <a:rPr lang="en-US" sz="1150" kern="0" spc="-220" dirty="0">
                <a:solidFill>
                  <a:schemeClr val="accent6"/>
                </a:solidFill>
                <a:hlinkClick r:id="rId17"/>
              </a:rPr>
              <a:t>https://stackoverflow.com/questions/65585395/specification-pattern-vs-fluent-validation</a:t>
            </a:r>
            <a:r>
              <a:rPr lang="en-US" sz="1150" kern="0" spc="-220" dirty="0">
                <a:solidFill>
                  <a:schemeClr val="accent6"/>
                </a:solidFill>
              </a:rPr>
              <a:t> </a:t>
            </a:r>
          </a:p>
          <a:p>
            <a:pPr marL="12700" marR="5080"/>
            <a:r>
              <a:rPr lang="en-US" sz="1150" kern="0" spc="-220" dirty="0">
                <a:solidFill>
                  <a:schemeClr val="accent6"/>
                </a:solidFill>
                <a:hlinkClick r:id="rId18"/>
              </a:rPr>
              <a:t>https://www.geeksforgeeks.org/gate-cs-notes-gq/</a:t>
            </a:r>
            <a:r>
              <a:rPr lang="en-US" sz="1150" kern="0" spc="-220" dirty="0">
                <a:solidFill>
                  <a:schemeClr val="accent6"/>
                </a:solidFill>
              </a:rPr>
              <a:t> </a:t>
            </a:r>
          </a:p>
          <a:p>
            <a:pPr marL="12700" marR="5080"/>
            <a:r>
              <a:rPr lang="en-US" sz="1150" kern="0" spc="-220" dirty="0">
                <a:solidFill>
                  <a:schemeClr val="accent6"/>
                </a:solidFill>
                <a:hlinkClick r:id="rId19"/>
              </a:rPr>
              <a:t>https://en.wikipedia.org/wiki/Automata_theory</a:t>
            </a:r>
            <a:r>
              <a:rPr lang="en-US" sz="1150" kern="0" spc="-220" dirty="0">
                <a:solidFill>
                  <a:schemeClr val="accent6"/>
                </a:solidFill>
              </a:rPr>
              <a:t> </a:t>
            </a:r>
          </a:p>
          <a:p>
            <a:pPr marL="12700" marR="5080"/>
            <a:r>
              <a:rPr lang="en-US" sz="1150" kern="0" spc="-220" dirty="0">
                <a:solidFill>
                  <a:schemeClr val="accent6"/>
                </a:solidFill>
                <a:hlinkClick r:id="rId20"/>
              </a:rPr>
              <a:t>https://daily.dev/blog/make-a-web-browser-beginners-guide</a:t>
            </a:r>
            <a:r>
              <a:rPr lang="en-US" sz="1150" kern="0" spc="-220" dirty="0">
                <a:solidFill>
                  <a:schemeClr val="accent6"/>
                </a:solidFill>
              </a:rPr>
              <a:t> </a:t>
            </a:r>
          </a:p>
          <a:p>
            <a:pPr marL="12700" marR="5080"/>
            <a:r>
              <a:rPr lang="en-US" sz="1150" kern="0" spc="-220" dirty="0">
                <a:solidFill>
                  <a:schemeClr val="accent6"/>
                </a:solidFill>
                <a:hlinkClick r:id="rId21"/>
              </a:rPr>
              <a:t>https://browser.engineering/</a:t>
            </a:r>
            <a:r>
              <a:rPr lang="en-US" sz="1150" kern="0" spc="-220" dirty="0">
                <a:solidFill>
                  <a:schemeClr val="accent6"/>
                </a:solidFill>
              </a:rPr>
              <a:t> </a:t>
            </a:r>
          </a:p>
          <a:p>
            <a:pPr marL="12700" marR="5080"/>
            <a:r>
              <a:rPr lang="en-US" sz="1150" kern="0" spc="-220" dirty="0">
                <a:solidFill>
                  <a:schemeClr val="accent6"/>
                </a:solidFill>
                <a:hlinkClick r:id="rId22"/>
              </a:rPr>
              <a:t>https://stackoverflow.com/questions/790542/replacing-net-webbrowser-control-with-a-better-browser-like-chrome</a:t>
            </a:r>
            <a:r>
              <a:rPr lang="en-US" sz="1150" kern="0" spc="-220" dirty="0">
                <a:solidFill>
                  <a:schemeClr val="accent6"/>
                </a:solidFill>
              </a:rPr>
              <a:t> </a:t>
            </a:r>
          </a:p>
          <a:p>
            <a:pPr marL="12700" marR="5080"/>
            <a:r>
              <a:rPr lang="en-US" sz="1150" kern="0" spc="-220" dirty="0">
                <a:solidFill>
                  <a:schemeClr val="accent6"/>
                </a:solidFill>
                <a:hlinkClick r:id="rId23"/>
              </a:rPr>
              <a:t>https://www.planetgeek.ch/2013/06/05/clean-code-cheat-sheet/</a:t>
            </a:r>
            <a:r>
              <a:rPr lang="en-US" sz="1150" kern="0" spc="-220" dirty="0">
                <a:solidFill>
                  <a:schemeClr val="accent6"/>
                </a:solidFill>
              </a:rPr>
              <a:t> </a:t>
            </a:r>
          </a:p>
          <a:p>
            <a:pPr marL="12700" marR="5080"/>
            <a:r>
              <a:rPr lang="en-US" sz="1150" kern="0" spc="-220" dirty="0">
                <a:solidFill>
                  <a:schemeClr val="accent6"/>
                </a:solidFill>
                <a:hlinkClick r:id="rId24"/>
              </a:rPr>
              <a:t>https://www.linkedin.com/posts/maheshma_postgresql-sql-systemdesign-activity-7167707514266996736-HqMi</a:t>
            </a:r>
            <a:r>
              <a:rPr lang="en-US" sz="1150" kern="0" spc="-220" dirty="0">
                <a:solidFill>
                  <a:schemeClr val="accent6"/>
                </a:solidFill>
              </a:rPr>
              <a:t> </a:t>
            </a:r>
          </a:p>
          <a:p>
            <a:pPr marL="12700" marR="5080"/>
            <a:r>
              <a:rPr lang="en-US" sz="1150" kern="0" spc="-220" dirty="0">
                <a:solidFill>
                  <a:schemeClr val="accent6"/>
                </a:solidFill>
                <a:hlinkClick r:id="rId25"/>
              </a:rPr>
              <a:t>https://www.linkedin.com/posts/ray-rahul_%3F%3F%3F%3F%3F-%3F%3F%3F%3F%3F%3F%3F%3F-%3F%3F%3F%3F-%3F%3F-activity-7231616658820251651-FMD-/</a:t>
            </a:r>
            <a:r>
              <a:rPr lang="en-US" sz="1150" kern="0" spc="-220" dirty="0">
                <a:solidFill>
                  <a:schemeClr val="accent6"/>
                </a:solidFill>
              </a:rPr>
              <a:t> </a:t>
            </a:r>
          </a:p>
          <a:p>
            <a:pPr marL="12700" marR="5080"/>
            <a:r>
              <a:rPr lang="en-US" sz="1150" kern="0" spc="-220" dirty="0">
                <a:solidFill>
                  <a:schemeClr val="accent6"/>
                </a:solidFill>
                <a:hlinkClick r:id="rId26"/>
              </a:rPr>
              <a:t>https://www.linkedin.com/posts/akashsinnghh_dsa-dsaquestions-datastructures-activity-7231521586510479361-hTqM?utm_source=share&amp;utm_medium=member_desktop</a:t>
            </a:r>
            <a:r>
              <a:rPr lang="en-US" sz="1150" kern="0" spc="-220" dirty="0">
                <a:solidFill>
                  <a:schemeClr val="accent6"/>
                </a:solidFill>
              </a:rPr>
              <a:t> </a:t>
            </a:r>
          </a:p>
          <a:p>
            <a:pPr marL="12700" marR="5080"/>
            <a:r>
              <a:rPr lang="en-US" sz="1150" kern="0" spc="-220" dirty="0">
                <a:solidFill>
                  <a:schemeClr val="accent6"/>
                </a:solidFill>
                <a:hlinkClick r:id="rId27"/>
              </a:rPr>
              <a:t>https://github.com/PacktPublishing/Systems-Programming-with-C-Sharp-and-.NET</a:t>
            </a:r>
            <a:r>
              <a:rPr lang="en-US" sz="1150" kern="0" spc="-220" dirty="0">
                <a:solidFill>
                  <a:schemeClr val="accent6"/>
                </a:solidFill>
              </a:rPr>
              <a:t> </a:t>
            </a:r>
          </a:p>
          <a:p>
            <a:pPr marL="12700" marR="5080"/>
            <a:r>
              <a:rPr lang="en-US" sz="1150" kern="0" spc="-220" dirty="0">
                <a:solidFill>
                  <a:schemeClr val="accent6"/>
                </a:solidFill>
                <a:hlinkClick r:id="rId28"/>
              </a:rPr>
              <a:t>https://learn.microsoft.com/en-us/dotnet/standard/native-interop/</a:t>
            </a:r>
            <a:r>
              <a:rPr lang="en-US" sz="1150" kern="0" spc="-220" dirty="0">
                <a:solidFill>
                  <a:schemeClr val="accent6"/>
                </a:solidFill>
              </a:rPr>
              <a:t> </a:t>
            </a:r>
          </a:p>
          <a:p>
            <a:pPr marL="12700" marR="5080"/>
            <a:r>
              <a:rPr lang="en-US" sz="1150" kern="0" spc="-220" dirty="0">
                <a:solidFill>
                  <a:schemeClr val="accent6"/>
                </a:solidFill>
                <a:hlinkClick r:id="rId29"/>
              </a:rPr>
              <a:t>https://github.com/ziishaned/learn-regex</a:t>
            </a:r>
            <a:r>
              <a:rPr lang="en-US" sz="1150" kern="0" spc="-220" dirty="0">
                <a:solidFill>
                  <a:schemeClr val="accent6"/>
                </a:solidFill>
              </a:rPr>
              <a:t> </a:t>
            </a:r>
          </a:p>
          <a:p>
            <a:pPr marL="12700" marR="5080"/>
            <a:r>
              <a:rPr lang="en-US" sz="1150" kern="0" spc="-220" dirty="0">
                <a:solidFill>
                  <a:schemeClr val="accent6"/>
                </a:solidFill>
                <a:hlinkClick r:id="rId30"/>
              </a:rPr>
              <a:t>https://www.oreilly.com/library/view/regular-expressions-cookbook/9781449327453/</a:t>
            </a:r>
            <a:r>
              <a:rPr lang="en-US" sz="1150" kern="0" spc="-220" dirty="0">
                <a:solidFill>
                  <a:schemeClr val="accent6"/>
                </a:solidFill>
              </a:rPr>
              <a:t> </a:t>
            </a:r>
          </a:p>
          <a:p>
            <a:pPr marL="12700" marR="5080"/>
            <a:r>
              <a:rPr lang="en-US" sz="1150" kern="0" spc="-220" dirty="0">
                <a:solidFill>
                  <a:schemeClr val="accent6"/>
                </a:solidFill>
                <a:hlinkClick r:id="rId31"/>
              </a:rPr>
              <a:t>https://github.com/PacktPublishing/High-Performance-Programming-in-C-Sharp-and-.NET</a:t>
            </a:r>
            <a:r>
              <a:rPr lang="en-US" sz="1150" kern="0" spc="-220" dirty="0">
                <a:solidFill>
                  <a:schemeClr val="accent6"/>
                </a:solidFill>
              </a:rPr>
              <a:t> </a:t>
            </a:r>
          </a:p>
          <a:p>
            <a:pPr marL="12700" marR="5080"/>
            <a:r>
              <a:rPr lang="en-US" sz="1150" kern="0" spc="-220">
                <a:solidFill>
                  <a:schemeClr val="accent6"/>
                </a:solidFill>
                <a:hlinkClick r:id="rId32"/>
              </a:rPr>
              <a:t>https://github.com/milanm/DotNet-Developer-Roadmap</a:t>
            </a:r>
            <a:r>
              <a:rPr lang="en-US" sz="1150" kern="0" spc="-220">
                <a:solidFill>
                  <a:schemeClr val="accent6"/>
                </a:solidFill>
              </a:rPr>
              <a:t> </a:t>
            </a:r>
            <a:endParaRPr lang="en-US" sz="115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into RAM([memory ] &amp; then do further processing – this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15234</TotalTime>
  <Words>9609</Words>
  <Application>Microsoft Office PowerPoint</Application>
  <PresentationFormat>Custom</PresentationFormat>
  <Paragraphs>1094</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968</cp:revision>
  <dcterms:created xsi:type="dcterms:W3CDTF">2020-11-03T17:16:52Z</dcterms:created>
  <dcterms:modified xsi:type="dcterms:W3CDTF">2024-12-08T15:00:56Z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