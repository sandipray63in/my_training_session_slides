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63" d="100"/>
          <a:sy n="63" d="100"/>
        </p:scale>
        <p:origin x="704" y="272"/>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Topics </a:t>
          </a:r>
          <a:r>
            <a:rPr lang="en-US" dirty="0"/>
            <a:t>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Topics </a:t>
          </a:r>
          <a:r>
            <a:rPr lang="en-US" sz="3100" kern="1200" dirty="0"/>
            <a:t>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12/18/2024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12/18/2024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12/18/2024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12/18/2024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12/18/2024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12/18/2024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12/18/2024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p/ep125-how-does-garbage-collection?open=false#%C2%A7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google_vignette"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p/ep112-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stackoverflow.com/questions/1795143/synchronization-between-two-processes-in-c"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2336878/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stackoverflow.com/questions/19459905/locks-vs-compare-and-swap" TargetMode="External"/><Relationship Id="rId13" Type="http://schemas.openxmlformats.org/officeDocument/2006/relationships/hyperlink" Target="https://github.com/Wintellect/PowerThreading" TargetMode="External"/><Relationship Id="rId18" Type="http://schemas.openxmlformats.org/officeDocument/2006/relationships/hyperlink" Target="https://dev.to/lucasnscr/multithreading-and-patterns-4nmk" TargetMode="External"/><Relationship Id="rId3" Type="http://schemas.openxmlformats.org/officeDocument/2006/relationships/diagramLayout" Target="../diagrams/layout60.xml"/><Relationship Id="rId21" Type="http://schemas.openxmlformats.org/officeDocument/2006/relationships/hyperlink" Target="https://www.udemy.com/course/multithreading-design-patterns/" TargetMode="Externa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MikeMKH/concurrency-in-csharp-cookbook" TargetMode="External"/><Relationship Id="rId17" Type="http://schemas.openxmlformats.org/officeDocument/2006/relationships/hyperlink" Target="https://tamerlan.dev/multithreading-principles-and-patterns/" TargetMode="External"/><Relationship Id="rId2" Type="http://schemas.openxmlformats.org/officeDocument/2006/relationships/diagramData" Target="../diagrams/data60.xml"/><Relationship Id="rId16" Type="http://schemas.openxmlformats.org/officeDocument/2006/relationships/hyperlink" Target="https://github.com/rikace/fConcBook" TargetMode="External"/><Relationship Id="rId20" Type="http://schemas.openxmlformats.org/officeDocument/2006/relationships/hyperlink" Target="https://learn.microsoft.com/en-us/visualstudio/profiling/common-patterns-for-poorly-behaved-multithreaded-applications?view=vs-2022&amp;viewFallbackFrom=vs-202" TargetMode="Externa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stackoverflow.com/questions/37787954/check-the-number-of-threads-available-in-threadpool-at-any-time" TargetMode="External"/><Relationship Id="rId24" Type="http://schemas.openxmlformats.org/officeDocument/2006/relationships/hyperlink" Target="https://github.com/disruptor-net/Disruptor-net" TargetMode="External"/><Relationship Id="rId5" Type="http://schemas.openxmlformats.org/officeDocument/2006/relationships/diagramColors" Target="../diagrams/colors60.xml"/><Relationship Id="rId15" Type="http://schemas.openxmlformats.org/officeDocument/2006/relationships/hyperlink" Target="https://github.com/2DGD-F0TH/2DGD_F0TH/blob/master/chapters/001_Introduction/001_Introduction.md" TargetMode="External"/><Relationship Id="rId23" Type="http://schemas.openxmlformats.org/officeDocument/2006/relationships/hyperlink" Target="https://github.com/sundaygeek/design-patterns-for-embedded-system-in-c" TargetMode="External"/><Relationship Id="rId10" Type="http://schemas.openxmlformats.org/officeDocument/2006/relationships/hyperlink" Target="https://github.com/PacktPublishing/MultithreadingwithCSharpCookbookSecondEdition_Code" TargetMode="External"/><Relationship Id="rId19" Type="http://schemas.openxmlformats.org/officeDocument/2006/relationships/hyperlink" Target="https://web.stanford.edu/class/archive/cs/cs110/cs110.1202/static/lectures/12-multithreading-patterns-data-structures.pdf" TargetMode="External"/><Relationship Id="rId4" Type="http://schemas.openxmlformats.org/officeDocument/2006/relationships/diagramQuickStyle" Target="../diagrams/quickStyle60.xml"/><Relationship Id="rId9" Type="http://schemas.openxmlformats.org/officeDocument/2006/relationships/hyperlink" Target="https://stackoverflow.com/questions/44123180/lock-splitting-vs-lock-striping" TargetMode="External"/><Relationship Id="rId14" Type="http://schemas.openxmlformats.org/officeDocument/2006/relationships/hyperlink" Target="https://www.syncfusion.com/succinctly-free-ebooks/webservers" TargetMode="External"/><Relationship Id="rId22" Type="http://schemas.openxmlformats.org/officeDocument/2006/relationships/hyperlink" Target="https://www.amazon.in/gp/product/B0BWSHK2M5/ref=ox_sc_act_title_?smid=A3SI5I1JWQ14PC&amp;psc=1"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62.xml"/><Relationship Id="rId21" Type="http://schemas.openxmlformats.org/officeDocument/2006/relationships/hyperlink" Target="https://www.udemy.com/course/rtos-building-from-ground-up-on-arm-processors/?couponCode=NVDIN35"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62.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62.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62.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NVDIN35"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62.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0.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io?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blog.bytebytego.com/p/http1-vs-http2-vs-http3-a-deep-dive" TargetMode="External"/><Relationship Id="rId13" Type="http://schemas.openxmlformats.org/officeDocument/2006/relationships/hyperlink" Target="https://github.com/PacktPublishing/Hands-On-Network-Programming-with-CSharp-and-.NET-Core" TargetMode="External"/><Relationship Id="rId3" Type="http://schemas.openxmlformats.org/officeDocument/2006/relationships/diagramLayout" Target="../diagrams/layout72.xml"/><Relationship Id="rId7" Type="http://schemas.openxmlformats.org/officeDocument/2006/relationships/image" Target="../media/image15.png"/><Relationship Id="rId12" Type="http://schemas.openxmlformats.org/officeDocument/2006/relationships/hyperlink" Target="https://github.com/VasanthVanan/computer-networking-top-down-approach-notes" TargetMode="External"/><Relationship Id="rId2" Type="http://schemas.openxmlformats.org/officeDocument/2006/relationships/diagramData" Target="../diagrams/data72.xml"/><Relationship Id="rId16" Type="http://schemas.openxmlformats.org/officeDocument/2006/relationships/hyperlink" Target="https://stackoverflow.com/questions/4263116/wireshark-vs-firebug-vs-fiddler-pros-and-cons" TargetMode="Externa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stackoverflow.com/questions/107668/what-do-you-use-when-you-need-reliable-udp" TargetMode="External"/><Relationship Id="rId5" Type="http://schemas.openxmlformats.org/officeDocument/2006/relationships/diagramColors" Target="../diagrams/colors72.xml"/><Relationship Id="rId15" Type="http://schemas.openxmlformats.org/officeDocument/2006/relationships/hyperlink" Target="https://hpbn.co/" TargetMode="External"/><Relationship Id="rId10" Type="http://schemas.openxmlformats.org/officeDocument/2006/relationships/hyperlink" Target="https://en.wikipedia.org/wiki/Reliable_User_Datagram_Protocol" TargetMode="External"/><Relationship Id="rId4" Type="http://schemas.openxmlformats.org/officeDocument/2006/relationships/diagramQuickStyle" Target="../diagrams/quickStyle72.xml"/><Relationship Id="rId9" Type="http://schemas.openxmlformats.org/officeDocument/2006/relationships/hyperlink" Target="https://www.linkedin.com/posts/curiouslearner_softwaredevelopment-network-technology-activity-7186228909519077376-PMns/" TargetMode="External"/><Relationship Id="rId14"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 TargetMode="External"/><Relationship Id="rId3" Type="http://schemas.openxmlformats.org/officeDocument/2006/relationships/diagramLayout" Target="../diagrams/layout77.xml"/><Relationship Id="rId7" Type="http://schemas.openxmlformats.org/officeDocument/2006/relationships/hyperlink" Target="https://blog.georgekosmidis.net/early-vs-late-binding-reflection-and-type-dynamic-in-csharp.html"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solutions/msil-rewriting"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solutions/middleware"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Lazy_initializatio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Abstract_factory_patter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Prototype_pattern" TargetMode="External"/><Relationship Id="rId5" Type="http://schemas.openxmlformats.org/officeDocument/2006/relationships/diagramColors" Target="../diagrams/colors85.xml"/><Relationship Id="rId10" Type="http://schemas.openxmlformats.org/officeDocument/2006/relationships/hyperlink" Target="https://en.wikipedia.org/wiki/Multiton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 Id="rId14" Type="http://schemas.openxmlformats.org/officeDocument/2006/relationships/hyperlink" Target="https://en.wikipedia.org/wiki/Object_pool_pattern"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refactoring.guru/design-patterns/bridge" TargetMode="External"/><Relationship Id="rId13" Type="http://schemas.openxmlformats.org/officeDocument/2006/relationships/hyperlink" Target="https://en.wikipedia.org/wiki/Facade_pattern"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12" Type="http://schemas.openxmlformats.org/officeDocument/2006/relationships/hyperlink" Target="https://stackoverflow.com/questions/4380658/what-is-the-reason-for-the-name-of-the-flyweight-design-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Flyweight_pattern" TargetMode="External"/><Relationship Id="rId5" Type="http://schemas.openxmlformats.org/officeDocument/2006/relationships/diagramColors" Target="../diagrams/colors86.xml"/><Relationship Id="rId10" Type="http://schemas.openxmlformats.org/officeDocument/2006/relationships/hyperlink" Target="https://refactoring.guru/design-patterns/composite" TargetMode="External"/><Relationship Id="rId4" Type="http://schemas.openxmlformats.org/officeDocument/2006/relationships/diagramQuickStyle" Target="../diagrams/quickStyle86.xml"/><Relationship Id="rId9" Type="http://schemas.openxmlformats.org/officeDocument/2006/relationships/hyperlink" Target="https://github.com/sandipray63in/DDD-Based-Enterprise-Application-Framework/blob/master/Repository/Base/IQueryableRepository.cs" TargetMode="External"/><Relationship Id="rId14" Type="http://schemas.openxmlformats.org/officeDocument/2006/relationships/hyperlink" Target="https://en.wikipedia.org/wiki/Proxy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refactoring.guru/design-patterns/command" TargetMode="External"/><Relationship Id="rId3" Type="http://schemas.openxmlformats.org/officeDocument/2006/relationships/diagramLayout" Target="../diagrams/layout87.xml"/><Relationship Id="rId7" Type="http://schemas.openxmlformats.org/officeDocument/2006/relationships/hyperlink" Target="https://en.wikipedia.org/wiki/Chain-of-responsibility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11" Type="http://schemas.openxmlformats.org/officeDocument/2006/relationships/hyperlink" Target="https://github.com/sandipray63in/DDD-Based-Enterprise-Application-Framework/blob/master/ApplicationAndInfrastructureServices/BatchProcessing/BaseBatchSeedSelector.cs" TargetMode="External"/><Relationship Id="rId5" Type="http://schemas.openxmlformats.org/officeDocument/2006/relationships/diagramColors" Target="../diagrams/colors87.xml"/><Relationship Id="rId10" Type="http://schemas.openxmlformats.org/officeDocument/2006/relationships/hyperlink" Target="https://en.wikipedia.org/wiki/Aggregate_pattern" TargetMode="External"/><Relationship Id="rId4" Type="http://schemas.openxmlformats.org/officeDocument/2006/relationships/diagramQuickStyle" Target="../diagrams/quickStyle87.xml"/><Relationship Id="rId9" Type="http://schemas.openxmlformats.org/officeDocument/2006/relationships/hyperlink" Target="https://en.wikipedia.org/wiki/Interpreter_pattern" TargetMode="External"/></Relationships>
</file>

<file path=ppt/slides/_rels/slide88.xml.rels><?xml version="1.0" encoding="UTF-8" standalone="yes"?>
<Relationships xmlns="http://schemas.openxmlformats.org/package/2006/relationships"><Relationship Id="rId8" Type="http://schemas.openxmlformats.org/officeDocument/2006/relationships/hyperlink" Target="https://www.milanjovanovic.tech/blog/cqrs-pattern-with-mediatr" TargetMode="External"/><Relationship Id="rId13" Type="http://schemas.openxmlformats.org/officeDocument/2006/relationships/hyperlink" Target="https://refactoring.guru/design-patterns/state" TargetMode="External"/><Relationship Id="rId18"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www.codeproject.com/Articles/851437/SignalR-plus-RX-Streaming-Data-Demo-App-of" TargetMode="External"/><Relationship Id="rId17" Type="http://schemas.openxmlformats.org/officeDocument/2006/relationships/hyperlink" Target="https://www.udemy.com/course/embedded-system-design-using-uml-state-machines/" TargetMode="External"/><Relationship Id="rId2" Type="http://schemas.openxmlformats.org/officeDocument/2006/relationships/diagramData" Target="../diagrams/data88.xml"/><Relationship Id="rId16" Type="http://schemas.openxmlformats.org/officeDocument/2006/relationships/hyperlink" Target="https://www.informit.com/articles/article.aspx?p=1592379" TargetMode="External"/><Relationship Id="rId20" Type="http://schemas.openxmlformats.org/officeDocument/2006/relationships/hyperlink" Target="https://www.linkedin.com/pulse/book-review-software-architecture-juval-lowy-michael-rarela-fiabf/" TargetMode="Externa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github.com/sandipray63in/DDD-Based-Enterprise-Application-Framework/tree/master/Infrastructure/Observers" TargetMode="External"/><Relationship Id="rId5" Type="http://schemas.openxmlformats.org/officeDocument/2006/relationships/diagramColors" Target="../diagrams/colors88.xml"/><Relationship Id="rId15" Type="http://schemas.openxmlformats.org/officeDocument/2006/relationships/hyperlink" Target="https://docs.mlrun.org/en/latest/serving/realtime-pipelines.html" TargetMode="External"/><Relationship Id="rId10" Type="http://schemas.openxmlformats.org/officeDocument/2006/relationships/hyperlink" Target="https://refactoring.guru/design-patterns/observer" TargetMode="External"/><Relationship Id="rId19" Type="http://schemas.openxmlformats.org/officeDocument/2006/relationships/hyperlink" Target="https://www.linkedin.com/pulse/book-review-software-architecture-juval-lowy-michael-rarela-fiabf"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memento" TargetMode="External"/><Relationship Id="rId14" Type="http://schemas.openxmlformats.org/officeDocument/2006/relationships/hyperlink" Target="https://blog.ploeh.dk/2015/08/10/type-driven-development/"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Visitor_pattern" TargetMode="External"/><Relationship Id="rId3" Type="http://schemas.openxmlformats.org/officeDocument/2006/relationships/diagramLayout" Target="../diagrams/layout89.xml"/><Relationship Id="rId7" Type="http://schemas.openxmlformats.org/officeDocument/2006/relationships/hyperlink" Target="https://en.wikipedia.org/wiki/Template_method_pattern" TargetMode="External"/><Relationship Id="rId12" Type="http://schemas.openxmlformats.org/officeDocument/2006/relationships/hyperlink" Target="https://www.linkedin.com/posts/dinesh-varyani_design-patterns-ugcPost-7273302040896823296-fJyN/?utm_source=share&amp;utm_medium=member_desktop"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11" Type="http://schemas.openxmlformats.org/officeDocument/2006/relationships/hyperlink" Target="https://refactoring.guru/design-patterns" TargetMode="External"/><Relationship Id="rId5" Type="http://schemas.openxmlformats.org/officeDocument/2006/relationships/diagramColors" Target="../diagrams/colors89.xml"/><Relationship Id="rId10" Type="http://schemas.openxmlformats.org/officeDocument/2006/relationships/hyperlink" Target="https://en.wikipedia.org/wiki/Software_design_pattern" TargetMode="External"/><Relationship Id="rId4" Type="http://schemas.openxmlformats.org/officeDocument/2006/relationships/diagramQuickStyle" Target="../diagrams/quickStyle89.xml"/><Relationship Id="rId9" Type="http://schemas.openxmlformats.org/officeDocument/2006/relationships/hyperlink" Target="https://refactoring.guru/design-patterns/visitor"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anuraj.dev/blog/using-mef-in-dotnet-core/"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stackoverflow.com/questions/59019761/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 Id="rId9" Type="http://schemas.openxmlformats.org/officeDocument/2006/relationships/hyperlink" Target="https://medium.com/@rajeshdavid/how-does-a-graphql-service-work-internally-496dc9264096"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13" Type="http://schemas.openxmlformats.org/officeDocument/2006/relationships/hyperlink" Target="https://stackoverflow.com/questions/12389203/how-do-i-chunk-an-enumerable" TargetMode="External"/><Relationship Id="rId18" Type="http://schemas.openxmlformats.org/officeDocument/2006/relationships/hyperlink" Target="https://github.com/markjprice/apps-services-net8/tree/main" TargetMode="External"/><Relationship Id="rId26" Type="http://schemas.openxmlformats.org/officeDocument/2006/relationships/hyperlink" Target="https://roadmap.sh/datastructures-and-algorithms" TargetMode="External"/><Relationship Id="rId39" Type="http://schemas.openxmlformats.org/officeDocument/2006/relationships/hyperlink" Target="https://en.wikipedia.org/wiki/Automata_theory" TargetMode="External"/><Relationship Id="rId21" Type="http://schemas.openxmlformats.org/officeDocument/2006/relationships/hyperlink" Target="https://stackoverflow.com/questions/65585395/specification-pattern-vs-fluent-validation" TargetMode="External"/><Relationship Id="rId34" Type="http://schemas.openxmlformats.org/officeDocument/2006/relationships/hyperlink" Target="https://github.com/PacktPublishing/High-Performance-Programming-in-C-Sharp-and-.NET" TargetMode="External"/><Relationship Id="rId42" Type="http://schemas.openxmlformats.org/officeDocument/2006/relationships/hyperlink" Target="https://browser.engineering/" TargetMode="External"/><Relationship Id="rId7" Type="http://schemas.openxmlformats.org/officeDocument/2006/relationships/hyperlink" Target="https://rosettacode.org/wiki/Category:Programming_Tasks" TargetMode="External"/><Relationship Id="rId2" Type="http://schemas.openxmlformats.org/officeDocument/2006/relationships/diagramData" Target="../diagrams/data96.xml"/><Relationship Id="rId16" Type="http://schemas.openxmlformats.org/officeDocument/2006/relationships/hyperlink" Target="https://learn.microsoft.com/en-us/dotnet/csharp/fundamentals/functional/deconstruct" TargetMode="External"/><Relationship Id="rId20" Type="http://schemas.openxmlformats.org/officeDocument/2006/relationships/hyperlink" Target="https://github.com/miholler/NSpecifications" TargetMode="External"/><Relationship Id="rId29" Type="http://schemas.openxmlformats.org/officeDocument/2006/relationships/hyperlink" Target="https://github.com/PacktPublishing/Systems-Programming-with-C-Sharp-and-.NET" TargetMode="External"/><Relationship Id="rId41" Type="http://schemas.openxmlformats.org/officeDocument/2006/relationships/hyperlink" Target="https://daily.dev/blog/make-a-web-browser-beginners-guide"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24" Type="http://schemas.openxmlformats.org/officeDocument/2006/relationships/hyperlink" Target="https://www.planetgeek.ch/2013/06/05/clean-code-cheat-sheet/" TargetMode="External"/><Relationship Id="rId32" Type="http://schemas.openxmlformats.org/officeDocument/2006/relationships/hyperlink" Target="https://books.goalkicker.com/" TargetMode="External"/><Relationship Id="rId37" Type="http://schemas.openxmlformats.org/officeDocument/2006/relationships/hyperlink" Target="https://postgrespro.com/community/books/internals" TargetMode="External"/><Relationship Id="rId40" Type="http://schemas.openxmlformats.org/officeDocument/2006/relationships/hyperlink" Target="https://roadmap.sh/computer-science" TargetMode="External"/><Relationship Id="rId5" Type="http://schemas.openxmlformats.org/officeDocument/2006/relationships/diagramColors" Target="../diagrams/colors96.xml"/><Relationship Id="rId15" Type="http://schemas.openxmlformats.org/officeDocument/2006/relationships/hyperlink" Target="https://learn.microsoft.com/en-us/dotnet/csharp/whats-new/tutorials/primary-constructors" TargetMode="External"/><Relationship Id="rId23" Type="http://schemas.openxmlformats.org/officeDocument/2006/relationships/hyperlink" Target="https://cronitor.io/guides/kubernetes-cron-jobs" TargetMode="External"/><Relationship Id="rId28" Type="http://schemas.openxmlformats.org/officeDocument/2006/relationships/hyperlink" Target="https://www.linkedin.com/posts/akashsinnghh_dsa-dsaquestions-datastructures-activity-7231521586510479361-hTqM/?utm_source=share&amp;utm_medium=member_desktop" TargetMode="External"/><Relationship Id="rId36" Type="http://schemas.openxmlformats.org/officeDocument/2006/relationships/hyperlink" Target="https://www.linkedin.com/posts/maheshma_postgresql-sql-systemdesign-activity-7167707514266996736-HqMi/" TargetMode="External"/><Relationship Id="rId10" Type="http://schemas.openxmlformats.org/officeDocument/2006/relationships/hyperlink" Target="https://github.com/ashishps1/awesome-low-level-design" TargetMode="External"/><Relationship Id="rId19" Type="http://schemas.openxmlformats.org/officeDocument/2006/relationships/hyperlink" Target="https://github.com/markjprice/cs12dotnet8" TargetMode="External"/><Relationship Id="rId31" Type="http://schemas.openxmlformats.org/officeDocument/2006/relationships/hyperlink" Target="https://github.com/ziishaned/learn-regex"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antondevtips.com/blog/how-to-write-elegant-code-with-csharp-switch-expressions" TargetMode="External"/><Relationship Id="rId22" Type="http://schemas.openxmlformats.org/officeDocument/2006/relationships/hyperlink" Target="https://benbrougher.tech/posts/kubernetes-cron-job/" TargetMode="External"/><Relationship Id="rId27" Type="http://schemas.openxmlformats.org/officeDocument/2006/relationships/hyperlink" Target="https://www.linkedin.com/posts/alexxubyte_systemdesign-coding-interviewtips-activity-7272659891511558144-qf1O/" TargetMode="External"/><Relationship Id="rId30" Type="http://schemas.openxmlformats.org/officeDocument/2006/relationships/hyperlink" Target="https://learn.microsoft.com/en-us/dotnet/standard/native-interop/" TargetMode="External"/><Relationship Id="rId35" Type="http://schemas.openxmlformats.org/officeDocument/2006/relationships/hyperlink" Target="https://github.com/milanm/DotNet-Developer-Roadmap" TargetMode="External"/><Relationship Id="rId43" Type="http://schemas.openxmlformats.org/officeDocument/2006/relationships/hyperlink" Target="https://stackoverflow.com/questions/790542/replacing-net-webbrowser-control-with-a-better-browser-like-chrome" TargetMode="External"/><Relationship Id="rId8" Type="http://schemas.openxmlformats.org/officeDocument/2006/relationships/hyperlink" Target="https://github.com/gamontal/awesome-katas" TargetMode="External"/><Relationship Id="rId3" Type="http://schemas.openxmlformats.org/officeDocument/2006/relationships/diagramLayout" Target="../diagrams/layout96.xml"/><Relationship Id="rId12" Type="http://schemas.openxmlformats.org/officeDocument/2006/relationships/hyperlink" Target="https://www.geeksforgeeks.org/c-sharp-version-history/" TargetMode="External"/><Relationship Id="rId17" Type="http://schemas.openxmlformats.org/officeDocument/2006/relationships/hyperlink" Target="https://stackoverflow.com/questions/43000520/why-would-one-use-taskt-over-valuetaskt-in-c" TargetMode="External"/><Relationship Id="rId25" Type="http://schemas.openxmlformats.org/officeDocument/2006/relationships/hyperlink" Target="https://www.linkedin.com/posts/ray-rahul_%3F%3F%3F%3F%3F-%3F%3F%3F%3F%3F%3F%3F%3F-%3F%3F%3F%3F-%3F%3F-activity-7231616658820251651-FMD-/" TargetMode="External"/><Relationship Id="rId33" Type="http://schemas.openxmlformats.org/officeDocument/2006/relationships/hyperlink" Target="https://www.oreilly.com/library/view/regular-expressions-cookbook/9781449327453/" TargetMode="External"/><Relationship Id="rId38" Type="http://schemas.openxmlformats.org/officeDocument/2006/relationships/hyperlink" Target="https://www.geeksforgeeks.org/gate-cs-notes-gq/"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IN" sz="1200" dirty="0">
                <a:hlinkClick r:id="rId7"/>
              </a:rPr>
              <a:t> Software Principles Post | LinkedIn</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1200" dirty="0">
                <a:hlinkClick r:id="rId7"/>
              </a:rPr>
              <a:t>Immutability, Record types and with keyword in C# | LinkedIn</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1200" dirty="0" err="1">
                <a:hlinkClick r:id="rId8"/>
              </a:rPr>
              <a:t>c#</a:t>
            </a:r>
            <a:r>
              <a:rPr lang="en-US" sz="1200" dirty="0">
                <a:hlinkClick r:id="rId8"/>
              </a:rPr>
              <a:t> - Why use </a:t>
            </a:r>
            <a:r>
              <a:rPr lang="en-US" sz="1200" dirty="0" err="1">
                <a:hlinkClick r:id="rId8"/>
              </a:rPr>
              <a:t>ImmutableList</a:t>
            </a:r>
            <a:r>
              <a:rPr lang="en-US" sz="1200" dirty="0">
                <a:hlinkClick r:id="rId8"/>
              </a:rPr>
              <a:t> over </a:t>
            </a:r>
            <a:r>
              <a:rPr lang="en-US" sz="1200" dirty="0" err="1">
                <a:hlinkClick r:id="rId8"/>
              </a:rPr>
              <a:t>ReadOnlyCollection</a:t>
            </a:r>
            <a:r>
              <a:rPr lang="en-US" sz="1200" dirty="0">
                <a:hlinkClick r:id="rId8"/>
              </a:rPr>
              <a:t>? - Stack Overflow</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IN" sz="1200" dirty="0">
                <a:hlinkClick r:id="rId9"/>
              </a:rPr>
              <a:t>Immutability | Fabulous adventures in coding | Page 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IN" sz="1200" dirty="0">
                <a:hlinkClick r:id="rId7"/>
              </a:rPr>
              <a:t>DDD-Based-Enterprise-Application-Framework/Infrastructure/Concurrency/Synchronization/</a:t>
            </a:r>
            <a:r>
              <a:rPr lang="en-IN" sz="1200" dirty="0" err="1">
                <a:hlinkClick r:id="rId7"/>
              </a:rPr>
              <a:t>SharedDataProtection</a:t>
            </a:r>
            <a:r>
              <a:rPr lang="en-IN" sz="1200" dirty="0">
                <a:hlinkClick r:id="rId7"/>
              </a:rPr>
              <a:t>/</a:t>
            </a:r>
            <a:r>
              <a:rPr lang="en-IN" sz="1200" dirty="0" err="1">
                <a:hlinkClick r:id="rId7"/>
              </a:rPr>
              <a:t>BaseLocking.cs</a:t>
            </a:r>
            <a:r>
              <a:rPr lang="en-IN" sz="1200" dirty="0">
                <a:hlinkClick r:id="rId7"/>
              </a:rPr>
              <a:t> at master · sandipray63in/DDD-Based-Enterprise-Application-Framework · GitHub</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366663" y="2971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1200" dirty="0" err="1">
                <a:hlinkClick r:id="rId7"/>
              </a:rPr>
              <a:t>Memoization</a:t>
            </a:r>
            <a:r>
              <a:rPr lang="en-US" sz="1200" dirty="0">
                <a:hlinkClick r:id="rId7"/>
              </a:rPr>
              <a:t>, a useful pattern for quick optimization - Event-Driven.io</a:t>
            </a:r>
            <a:r>
              <a:rPr lang="en-US" sz="1200" dirty="0"/>
              <a:t> </a:t>
            </a:r>
            <a:endParaRPr lang="en-US" sz="2400" kern="0" spc="-220" dirty="0">
              <a:solidFill>
                <a:schemeClr val="accent6"/>
              </a:solidFill>
            </a:endParaRP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2929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1500" dirty="0">
                <a:hlinkClick r:id="rId7"/>
              </a:rPr>
              <a:t>Functors and Monads in C#</a:t>
            </a:r>
            <a:endParaRPr lang="en-US" sz="1500" dirty="0"/>
          </a:p>
          <a:p>
            <a:pPr marL="12700" marR="5080"/>
            <a:endParaRPr lang="en-US" sz="1500" kern="0" spc="-220" dirty="0">
              <a:solidFill>
                <a:schemeClr val="accent6"/>
              </a:solidFill>
            </a:endParaRPr>
          </a:p>
          <a:p>
            <a:pPr marL="12700" marR="5080"/>
            <a:r>
              <a:rPr lang="en-US" sz="1500" kern="0" spc="-220" dirty="0">
                <a:solidFill>
                  <a:schemeClr val="accent6"/>
                </a:solidFill>
              </a:rPr>
              <a:t>  </a:t>
            </a:r>
            <a:r>
              <a:rPr lang="en-US" sz="1500" dirty="0" err="1">
                <a:hlinkClick r:id="rId8"/>
              </a:rPr>
              <a:t>Dixin's</a:t>
            </a:r>
            <a:r>
              <a:rPr lang="en-US" sz="1500" dirty="0">
                <a:hlinkClick r:id="rId8"/>
              </a:rPr>
              <a:t> Blog - Category Theory via C# (2) Monoid</a:t>
            </a:r>
            <a:endParaRPr lang="en-US" sz="1500" dirty="0"/>
          </a:p>
          <a:p>
            <a:pPr marL="12700" marR="5080"/>
            <a:endParaRPr lang="en-US" sz="1500" dirty="0"/>
          </a:p>
          <a:p>
            <a:pPr marL="12700" marR="5080"/>
            <a:r>
              <a:rPr lang="en-US" sz="1500" kern="0" spc="-220" dirty="0">
                <a:solidFill>
                  <a:schemeClr val="accent6"/>
                </a:solidFill>
              </a:rPr>
              <a:t>  </a:t>
            </a:r>
            <a:r>
              <a:rPr lang="en-IN" sz="1500" dirty="0">
                <a:hlinkClick r:id="rId9"/>
              </a:rPr>
              <a:t>Functional-Programming/haskell/Functional_Programming_Concepts.org at master · </a:t>
            </a:r>
            <a:r>
              <a:rPr lang="en-IN" sz="1500" dirty="0" err="1">
                <a:hlinkClick r:id="rId9"/>
              </a:rPr>
              <a:t>caiorss</a:t>
            </a:r>
            <a:r>
              <a:rPr lang="en-IN" sz="1500" dirty="0">
                <a:hlinkClick r:id="rId9"/>
              </a:rPr>
              <a:t>/Functional-Programming · GitHub</a:t>
            </a:r>
            <a:endParaRPr lang="en-IN" sz="1500" dirty="0"/>
          </a:p>
          <a:p>
            <a:pPr marL="12700" marR="5080"/>
            <a:endParaRPr lang="en-US" sz="1500" kern="0" spc="-220" dirty="0">
              <a:solidFill>
                <a:schemeClr val="accent6"/>
              </a:solidFill>
            </a:endParaRPr>
          </a:p>
          <a:p>
            <a:pPr marL="12700" marR="5080"/>
            <a:r>
              <a:rPr lang="en-US" sz="1500" dirty="0">
                <a:hlinkClick r:id="rId10"/>
              </a:rPr>
              <a:t> Functional Programming Design Patterns | F# for fun and profit</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7"/>
              </a:rPr>
              <a:t>c#</a:t>
            </a:r>
            <a:r>
              <a:rPr lang="en-US" sz="1500" dirty="0">
                <a:hlinkClick r:id="rId7"/>
              </a:rPr>
              <a:t> - Loading Assembly in sandbox </a:t>
            </a:r>
            <a:r>
              <a:rPr lang="en-US" sz="1500" dirty="0" err="1">
                <a:hlinkClick r:id="rId7"/>
              </a:rPr>
              <a:t>Appdomain</a:t>
            </a:r>
            <a:r>
              <a:rPr lang="en-US" sz="1500" dirty="0">
                <a:hlinkClick r:id="rId7"/>
              </a:rPr>
              <a:t> - </a:t>
            </a:r>
            <a:r>
              <a:rPr lang="en-US" sz="1500" dirty="0" err="1">
                <a:hlinkClick r:id="rId7"/>
              </a:rPr>
              <a:t>SecurityException</a:t>
            </a:r>
            <a:r>
              <a:rPr lang="en-US" sz="1500" dirty="0">
                <a:hlinkClick r:id="rId7"/>
              </a:rPr>
              <a:t>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a:t>
            </a:r>
            <a:r>
              <a:rPr lang="en-US" sz="2000" kern="0" spc="-220">
                <a:solidFill>
                  <a:schemeClr val="accent6"/>
                </a:solidFill>
              </a:rPr>
              <a:t>mutable private </a:t>
            </a:r>
            <a:r>
              <a:rPr lang="en-US" sz="2000" kern="0" spc="-220" dirty="0">
                <a:solidFill>
                  <a:schemeClr val="accent6"/>
                </a:solidFill>
              </a:rPr>
              <a:t>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9559BD1-4DCA-53E0-1EF1-95DA64603471}"/>
              </a:ext>
            </a:extLst>
          </p:cNvPr>
          <p:cNvPicPr>
            <a:picLocks noChangeAspect="1"/>
          </p:cNvPicPr>
          <p:nvPr/>
        </p:nvPicPr>
        <p:blipFill>
          <a:blip r:embed="rId7"/>
          <a:stretch>
            <a:fillRect/>
          </a:stretch>
        </p:blipFill>
        <p:spPr>
          <a:xfrm>
            <a:off x="76200" y="1143000"/>
            <a:ext cx="8915400" cy="4800600"/>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IN" sz="1200" dirty="0">
                <a:hlinkClick r:id="rId7"/>
              </a:rPr>
              <a:t>DDD-Based-Enterprise-Application-Framework/Repository/</a:t>
            </a:r>
            <a:r>
              <a:rPr lang="en-IN" sz="1200" dirty="0" err="1">
                <a:hlinkClick r:id="rId7"/>
              </a:rPr>
              <a:t>UnitOfWork</a:t>
            </a:r>
            <a:r>
              <a:rPr lang="en-IN" sz="1200" dirty="0">
                <a:hlinkClick r:id="rId7"/>
              </a:rPr>
              <a:t>/</a:t>
            </a:r>
            <a:r>
              <a:rPr lang="en-IN" sz="1200" dirty="0" err="1">
                <a:hlinkClick r:id="rId7"/>
              </a:rPr>
              <a:t>IUnitOfWork.cs</a:t>
            </a:r>
            <a:r>
              <a:rPr lang="en-IN" sz="1200" dirty="0">
                <a:hlinkClick r:id="rId7"/>
              </a:rPr>
              <a:t> at master · sandipray63in/DDD-Based-Enterprise-Application-Framework · GitHub</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IN" sz="1200" dirty="0">
                <a:hlinkClick r:id="rId7"/>
              </a:rPr>
              <a:t>DDD-Based-Enterprise-Application-Framework/Repository/Base/</a:t>
            </a:r>
            <a:r>
              <a:rPr lang="en-IN" sz="1200" dirty="0" err="1">
                <a:hlinkClick r:id="rId7"/>
              </a:rPr>
              <a:t>BaseUnitOfWorkRepository.cs</a:t>
            </a:r>
            <a:r>
              <a:rPr lang="en-IN" sz="1200" dirty="0">
                <a:hlinkClick r:id="rId7"/>
              </a:rPr>
              <a:t> at master · sandipray63in/DDD-Based-Enterprise-Application-Framework · GitHub</a:t>
            </a: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1500" dirty="0" err="1">
                <a:hlinkClick r:id="rId7"/>
              </a:rPr>
              <a:t>c#</a:t>
            </a:r>
            <a:r>
              <a:rPr lang="en-US" sz="1500" dirty="0">
                <a:hlinkClick r:id="rId7"/>
              </a:rPr>
              <a:t> - How do you do a deep copy of an object in .NET? - Stack Overflow</a:t>
            </a:r>
            <a:r>
              <a:rPr lang="en-US" sz="1200" dirty="0"/>
              <a:t> </a:t>
            </a:r>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1500" dirty="0">
                <a:hlinkClick r:id="rId7"/>
              </a:rPr>
              <a:t>Using Extension Methods in C# to Build Fluent Code - Kill All Defects</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087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1500" dirty="0">
                <a:hlinkClick r:id="rId8"/>
              </a:rPr>
              <a:t>DDD-Based-Enterprise-Application-Framework/</a:t>
            </a:r>
            <a:r>
              <a:rPr lang="en-US" sz="1500" dirty="0" err="1">
                <a:hlinkClick r:id="rId8"/>
              </a:rPr>
              <a:t>FluentRepository</a:t>
            </a:r>
            <a:r>
              <a:rPr lang="en-US" sz="1500" dirty="0">
                <a:hlinkClick r:id="rId8"/>
              </a:rPr>
              <a:t> at master · sandipray63in/DDD-Based-Enterprise-Application-Framework · GitHub</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1500" kern="0" spc="-220" dirty="0">
                <a:solidFill>
                  <a:schemeClr val="accent6"/>
                </a:solidFill>
              </a:rPr>
              <a:t> </a:t>
            </a:r>
            <a:r>
              <a:rPr lang="en-US" sz="1500" dirty="0">
                <a:hlinkClick r:id="rId9"/>
              </a:rPr>
              <a:t>DDD-Based-Enterprise-Application-Framework/</a:t>
            </a:r>
            <a:r>
              <a:rPr lang="en-US" sz="1500" dirty="0" err="1">
                <a:hlinkClick r:id="rId9"/>
              </a:rPr>
              <a:t>Testing.FluentRepository</a:t>
            </a:r>
            <a:r>
              <a:rPr lang="en-US" sz="1500" dirty="0">
                <a:hlinkClick r:id="rId9"/>
              </a:rPr>
              <a:t> at master · sandipray63in/DDD-Based-Enterprise-Application-Framework · GitHub</a:t>
            </a:r>
            <a:endParaRPr lang="en-US" sz="1500" kern="0" spc="-220" dirty="0">
              <a:solidFill>
                <a:schemeClr val="accent6"/>
              </a:solidFill>
            </a:endParaRP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IN" sz="1500" dirty="0" err="1">
                <a:hlinkClick r:id="rId10"/>
              </a:rPr>
              <a:t>FluentValidation</a:t>
            </a:r>
            <a:r>
              <a:rPr lang="en-IN" sz="1500" dirty="0">
                <a:hlinkClick r:id="rId10"/>
              </a:rPr>
              <a:t> — </a:t>
            </a:r>
            <a:r>
              <a:rPr lang="en-IN" sz="1500" dirty="0" err="1">
                <a:hlinkClick r:id="rId10"/>
              </a:rPr>
              <a:t>FluentValidation</a:t>
            </a:r>
            <a:r>
              <a:rPr lang="en-IN" sz="1500" dirty="0">
                <a:hlinkClick r:id="rId10"/>
              </a:rPr>
              <a:t> documentation</a:t>
            </a:r>
            <a:r>
              <a:rPr lang="en-US" sz="1600" kern="0" spc="-220" dirty="0">
                <a:solidFill>
                  <a:schemeClr val="accent6"/>
                </a:solidFill>
              </a:rPr>
              <a:t>)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workarounds for the same &amp; for that an example that can be referred is</a:t>
            </a:r>
          </a:p>
          <a:p>
            <a:pPr marL="12700" marR="5080"/>
            <a:r>
              <a:rPr lang="en-US" sz="1500" dirty="0">
                <a:hlinkClick r:id="rId11"/>
              </a:rPr>
              <a:t>Making </a:t>
            </a:r>
            <a:r>
              <a:rPr lang="en-US" sz="1500" dirty="0" err="1">
                <a:hlinkClick r:id="rId11"/>
              </a:rPr>
              <a:t>FluentValidation</a:t>
            </a:r>
            <a:r>
              <a:rPr lang="en-US" sz="1500" dirty="0">
                <a:hlinkClick r:id="rId11"/>
              </a:rPr>
              <a:t> compatible with Swagger including Enum or fixed List support</a:t>
            </a:r>
            <a:endParaRPr lang="en-US" sz="1500" kern="0" spc="-220" dirty="0">
              <a:solidFill>
                <a:schemeClr val="accent6"/>
              </a:solidFill>
            </a:endParaRP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1500" kern="0" spc="-220" dirty="0">
                <a:solidFill>
                  <a:schemeClr val="accent6"/>
                </a:solidFill>
              </a:rPr>
              <a:t> </a:t>
            </a:r>
            <a:r>
              <a:rPr lang="en-US" sz="1500" dirty="0">
                <a:hlinkClick r:id="rId7"/>
              </a:rPr>
              <a:t>How To Create </a:t>
            </a:r>
            <a:r>
              <a:rPr lang="en-US" sz="1500" dirty="0" err="1">
                <a:hlinkClick r:id="rId7"/>
              </a:rPr>
              <a:t>Mixin</a:t>
            </a:r>
            <a:r>
              <a:rPr lang="en-US" sz="1500" dirty="0">
                <a:hlinkClick r:id="rId7"/>
              </a:rPr>
              <a:t> Using C# 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1500" dirty="0">
                <a:hlinkClick r:id="rId7"/>
              </a:rPr>
              <a:t>Create </a:t>
            </a:r>
            <a:r>
              <a:rPr lang="en-US" sz="1500" dirty="0" err="1">
                <a:hlinkClick r:id="rId7"/>
              </a:rPr>
              <a:t>mixin</a:t>
            </a:r>
            <a:r>
              <a:rPr lang="en-US" sz="1500" dirty="0">
                <a:hlinkClick r:id="rId7"/>
              </a:rPr>
              <a:t> types using default interface methods - C# | Microsoft Learn</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1500" kern="0" spc="-220" dirty="0">
                <a:solidFill>
                  <a:schemeClr val="accent6"/>
                </a:solidFill>
              </a:rPr>
              <a:t> </a:t>
            </a:r>
            <a:r>
              <a:rPr lang="en-IN" sz="1500" dirty="0">
                <a:hlinkClick r:id="rId7"/>
              </a:rPr>
              <a:t>Descriptor_Pattern.md · GitHub</a:t>
            </a:r>
            <a:endParaRPr lang="en-US" sz="15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500" kern="0" spc="-220" dirty="0">
                <a:solidFill>
                  <a:schemeClr val="accent6"/>
                </a:solidFill>
              </a:rPr>
              <a:t> </a:t>
            </a:r>
            <a:r>
              <a:rPr lang="en-US" sz="1500" dirty="0">
                <a:hlinkClick r:id="rId7"/>
              </a:rPr>
              <a:t>Find, Fix, and Avoid Memory Leaks in C# .NET: 8 Best Practices | Michael's Coding Spot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IN" sz="1500" dirty="0">
                <a:hlinkClick r:id="rId8"/>
              </a:rPr>
              <a:t>DDD-Based-Enterprise-Application-Framework/Infrastructure/</a:t>
            </a:r>
            <a:r>
              <a:rPr lang="en-IN" sz="1500" dirty="0" err="1">
                <a:hlinkClick r:id="rId8"/>
              </a:rPr>
              <a:t>DisposableClass.cs</a:t>
            </a:r>
            <a:r>
              <a:rPr lang="en-IN" sz="1500" dirty="0">
                <a:hlinkClick r:id="rId8"/>
              </a:rPr>
              <a:t> at master · sandipray63in/DDD-Based-Enterprise-Application-Framework · GitHub</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500" kern="0" spc="-220" dirty="0">
                <a:solidFill>
                  <a:schemeClr val="accent6"/>
                </a:solidFill>
              </a:rPr>
              <a:t> </a:t>
            </a:r>
            <a:r>
              <a:rPr lang="en-IN" sz="1500" dirty="0">
                <a:hlinkClick r:id="rId9"/>
              </a:rPr>
              <a:t>Understanding weak references in .NET- </a:t>
            </a:r>
            <a:r>
              <a:rPr lang="en-IN" sz="1500" dirty="0" err="1">
                <a:hlinkClick r:id="rId9"/>
              </a:rPr>
              <a:t>CodeProject</a:t>
            </a:r>
            <a:endParaRPr lang="en-IN" sz="1500" dirty="0"/>
          </a:p>
          <a:p>
            <a:pPr algn="l"/>
            <a:r>
              <a:rPr lang="en-IN" sz="1500" kern="0" spc="-220" dirty="0">
                <a:solidFill>
                  <a:schemeClr val="accent6"/>
                </a:solidFill>
              </a:rPr>
              <a:t>  </a:t>
            </a:r>
            <a:r>
              <a:rPr lang="en-US" sz="1500" dirty="0" err="1">
                <a:hlinkClick r:id="rId10"/>
              </a:rPr>
              <a:t>.net</a:t>
            </a:r>
            <a:r>
              <a:rPr lang="en-US" sz="1500" dirty="0">
                <a:hlinkClick r:id="rId10"/>
              </a:rPr>
              <a:t> - Understanding </a:t>
            </a:r>
            <a:r>
              <a:rPr lang="en-US" sz="1500" dirty="0" err="1">
                <a:hlinkClick r:id="rId10"/>
              </a:rPr>
              <a:t>ConditionalWeakTable</a:t>
            </a:r>
            <a:r>
              <a:rPr lang="en-US" sz="1500" dirty="0">
                <a:hlinkClick r:id="rId10"/>
              </a:rPr>
              <a:t> - Stack Overflow</a:t>
            </a:r>
            <a:endParaRPr lang="en-US" sz="1500" dirty="0"/>
          </a:p>
          <a:p>
            <a:pPr algn="l"/>
            <a:r>
              <a:rPr lang="en-US" sz="1500" kern="0" spc="-220" dirty="0">
                <a:solidFill>
                  <a:schemeClr val="accent6"/>
                </a:solidFill>
              </a:rPr>
              <a:t>  </a:t>
            </a:r>
            <a:r>
              <a:rPr lang="en-IN" sz="1500" dirty="0" err="1">
                <a:hlinkClick r:id="rId11"/>
              </a:rPr>
              <a:t>WeakReference</a:t>
            </a:r>
            <a:r>
              <a:rPr lang="en-IN" sz="1500" dirty="0">
                <a:hlinkClick r:id="rId11"/>
              </a:rPr>
              <a:t> Event Handlers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1500" dirty="0">
                <a:hlinkClick r:id="rId12"/>
              </a:rPr>
              <a:t>In-memory caching in </a:t>
            </a:r>
            <a:r>
              <a:rPr lang="en-US" sz="1500" dirty="0" err="1">
                <a:hlinkClick r:id="rId12"/>
              </a:rPr>
              <a:t>.Net</a:t>
            </a:r>
            <a:r>
              <a:rPr lang="en-US" sz="1500" dirty="0">
                <a:hlinkClick r:id="rId12"/>
              </a:rPr>
              <a:t>. In-memory caching is a common technique… | by Josiah T Mahachi | Medium</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1500" dirty="0" err="1">
                <a:hlinkClick r:id="rId7"/>
              </a:rPr>
              <a:t>c#</a:t>
            </a:r>
            <a:r>
              <a:rPr lang="en-US" sz="1500" dirty="0">
                <a:hlinkClick r:id="rId7"/>
              </a:rPr>
              <a:t> - Usages of object resurrection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7697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1500" dirty="0">
                <a:hlinkClick r:id="rId8"/>
              </a:rPr>
              <a:t>Mark and Sweep Garbage Collection Algorithm | LinkedIn</a:t>
            </a:r>
            <a:endParaRPr lang="en-US" sz="1500" dirty="0"/>
          </a:p>
          <a:p>
            <a:pPr algn="l"/>
            <a:r>
              <a:rPr lang="en-US" sz="1800" kern="0" spc="-220" dirty="0">
                <a:solidFill>
                  <a:schemeClr val="accent6"/>
                </a:solidFill>
              </a:rPr>
              <a:t>By the way, in the above article I love the way how Tom is applying “Mark &amp; Sweep Algorithm” all in parallel </a:t>
            </a:r>
            <a:r>
              <a:rPr lang="en-US" sz="1800" kern="0" spc="-220" dirty="0">
                <a:solidFill>
                  <a:schemeClr val="accent6"/>
                </a:solidFill>
                <a:sym typeface="Wingdings" panose="05000000000000000000" pitchFamily="2" charset="2"/>
              </a:rPr>
              <a:t></a:t>
            </a:r>
            <a:endParaRPr lang="en-US" sz="1800" kern="0" spc="-220" dirty="0">
              <a:solidFill>
                <a:schemeClr val="accent6"/>
              </a:solidFill>
            </a:endParaRP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rPr>
              <a:t> </a:t>
            </a:r>
            <a:r>
              <a:rPr lang="en-US" sz="1500" dirty="0">
                <a:hlinkClick r:id="rId9"/>
              </a:rPr>
              <a:t>EP125: How does Garbage Collection work?</a:t>
            </a:r>
            <a:r>
              <a:rPr lang="en-US" sz="1500" dirty="0"/>
              <a:t> </a:t>
            </a:r>
            <a:r>
              <a:rPr lang="en-US" sz="1500" kern="0" spc="-220" dirty="0">
                <a:solidFill>
                  <a:schemeClr val="accent6"/>
                </a:solidFill>
              </a:rPr>
              <a:t> </a:t>
            </a:r>
          </a:p>
          <a:p>
            <a:pPr algn="l"/>
            <a:r>
              <a:rPr lang="en-US" sz="1500" kern="0" spc="-220" dirty="0">
                <a:solidFill>
                  <a:schemeClr val="accent6"/>
                </a:solidFill>
              </a:rPr>
              <a:t> </a:t>
            </a:r>
            <a:r>
              <a:rPr lang="en-IN" sz="1500" dirty="0">
                <a:hlinkClick r:id="rId10"/>
              </a:rPr>
              <a:t>C# Garbage Collection Tutorial – </a:t>
            </a:r>
            <a:r>
              <a:rPr lang="en-IN" sz="1500" dirty="0" err="1">
                <a:hlinkClick r:id="rId10"/>
              </a:rPr>
              <a:t>Stackify</a:t>
            </a:r>
            <a:r>
              <a:rPr lang="en-US" sz="1500" kern="0" spc="-220" dirty="0">
                <a:solidFill>
                  <a:schemeClr val="accent6"/>
                </a:solidFill>
              </a:rPr>
              <a:t> </a:t>
            </a:r>
          </a:p>
          <a:p>
            <a:pPr algn="l"/>
            <a:r>
              <a:rPr lang="en-US" sz="1500" kern="0" spc="-220" dirty="0">
                <a:solidFill>
                  <a:schemeClr val="accent6"/>
                </a:solidFill>
              </a:rPr>
              <a:t> </a:t>
            </a:r>
            <a:r>
              <a:rPr lang="en-US" sz="1500" dirty="0" err="1">
                <a:hlinkClick r:id="rId11"/>
              </a:rPr>
              <a:t>.net</a:t>
            </a:r>
            <a:r>
              <a:rPr lang="en-US" sz="1500" dirty="0">
                <a:hlinkClick r:id="rId11"/>
              </a:rPr>
              <a:t> - What are the Generations in Garbage Collection? - Stack Overflow</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IN" sz="1500" dirty="0" err="1">
                <a:hlinkClick r:id="rId7"/>
              </a:rPr>
              <a:t>Mehfuz's</a:t>
            </a:r>
            <a:r>
              <a:rPr lang="en-IN" sz="1500" dirty="0">
                <a:hlinkClick r:id="rId7"/>
              </a:rPr>
              <a:t> </a:t>
            </a:r>
            <a:r>
              <a:rPr lang="en-IN" sz="1500" dirty="0" err="1">
                <a:hlinkClick r:id="rId7"/>
              </a:rPr>
              <a:t>WebLog</a:t>
            </a:r>
            <a:r>
              <a:rPr lang="en-IN" sz="1500" dirty="0">
                <a:hlinkClick r:id="rId7"/>
              </a:rPr>
              <a:t> - Creating </a:t>
            </a:r>
            <a:r>
              <a:rPr lang="en-IN" sz="1500" dirty="0" err="1">
                <a:hlinkClick r:id="rId7"/>
              </a:rPr>
              <a:t>LINQToTwitter</a:t>
            </a:r>
            <a:r>
              <a:rPr lang="en-IN" sz="1500" dirty="0">
                <a:hlinkClick r:id="rId7"/>
              </a:rPr>
              <a:t> library using </a:t>
            </a:r>
            <a:r>
              <a:rPr lang="en-IN" sz="1500" dirty="0" err="1">
                <a:hlinkClick r:id="rId7"/>
              </a:rPr>
              <a:t>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8"/>
              </a:rPr>
              <a:t>Processes, Threads, </a:t>
            </a:r>
            <a:r>
              <a:rPr lang="en-US" sz="1500" dirty="0" err="1">
                <a:hlinkClick r:id="rId8"/>
              </a:rPr>
              <a:t>AppDomains</a:t>
            </a:r>
            <a:r>
              <a:rPr lang="en-US" sz="1500" dirty="0">
                <a:hlinkClick r:id="rId8"/>
              </a:rPr>
              <a:t> And Object Contexts | </a:t>
            </a:r>
            <a:r>
              <a:rPr lang="en-US" sz="1500" dirty="0" err="1">
                <a:hlinkClick r:id="rId8"/>
              </a:rPr>
              <a:t>luke</a:t>
            </a:r>
            <a:r>
              <a:rPr lang="en-US" sz="1500" dirty="0">
                <a:hlinkClick r:id="rId8"/>
              </a:rPr>
              <a:t> </a:t>
            </a:r>
            <a:r>
              <a:rPr lang="en-US" sz="1500" dirty="0" err="1">
                <a:hlinkClick r:id="rId8"/>
              </a:rPr>
              <a:t>wickstead</a:t>
            </a:r>
            <a:endParaRPr lang="en-US" sz="15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4266393501"/>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US" sz="1600" dirty="0">
                          <a:hlinkClick r:id="rId7"/>
                        </a:rPr>
                        <a:t>How to Pass Data Thread Function in Type-Safe Manner in C#</a:t>
                      </a:r>
                      <a:endParaRPr lang="en-US" sz="1600" dirty="0"/>
                    </a:p>
                    <a:p>
                      <a:r>
                        <a:rPr lang="en-US" sz="1600" dirty="0">
                          <a:hlinkClick r:id="rId8"/>
                        </a:rPr>
                        <a:t>How to Retrieve Data from a Thread Function in C# - Dot Net Tutorials</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US" sz="1600" dirty="0">
                          <a:hlinkClick r:id="rId9"/>
                        </a:rPr>
                        <a:t>Thread Pools - Win32 apps | Microsoft Learn</a:t>
                      </a:r>
                      <a:endParaRPr lang="en-IN" sz="1600" dirty="0"/>
                    </a:p>
                    <a:p>
                      <a:r>
                        <a:rPr lang="en-IN" sz="1600" dirty="0"/>
                        <a:t>(check/google/</a:t>
                      </a:r>
                      <a:r>
                        <a:rPr lang="en-IN" sz="1600" dirty="0" err="1"/>
                        <a:t>chaptGPT</a:t>
                      </a:r>
                      <a:r>
                        <a:rPr lang="en-IN" sz="1600" dirty="0"/>
                        <a:t>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US" sz="1600" dirty="0" err="1">
                          <a:hlinkClick r:id="rId10"/>
                        </a:rPr>
                        <a:t>c#</a:t>
                      </a:r>
                      <a:r>
                        <a:rPr lang="en-US" sz="1600" dirty="0">
                          <a:hlinkClick r:id="rId10"/>
                        </a:rPr>
                        <a:t> - What is the difference between task and thread? - Stack Overflow</a:t>
                      </a:r>
                      <a:endParaRPr lang="en-US" sz="1600" dirty="0"/>
                    </a:p>
                    <a:p>
                      <a:r>
                        <a:rPr lang="en-US" sz="1600" dirty="0">
                          <a:hlinkClick r:id="rId11"/>
                        </a:rPr>
                        <a:t>Task Class (</a:t>
                      </a:r>
                      <a:r>
                        <a:rPr lang="en-US" sz="1600" dirty="0" err="1">
                          <a:hlinkClick r:id="rId11"/>
                        </a:rPr>
                        <a:t>System.Threading.Tasks</a:t>
                      </a:r>
                      <a:r>
                        <a:rPr lang="en-US" sz="1600" dirty="0">
                          <a:hlinkClick r:id="rId11"/>
                        </a:rPr>
                        <a:t>) | Microsoft Learn</a:t>
                      </a:r>
                      <a:endParaRPr lang="en-IN" sz="1600" dirty="0"/>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(check/google/</a:t>
                      </a:r>
                      <a:r>
                        <a:rPr lang="en-IN" sz="1600" dirty="0" err="1"/>
                        <a:t>chatGPT</a:t>
                      </a:r>
                      <a:r>
                        <a:rPr lang="en-IN" sz="1600" dirty="0"/>
                        <a:t>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4619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1500" dirty="0">
                <a:hlinkClick r:id="rId7"/>
              </a:rPr>
              <a:t>What is a Race Condition? Vulnerability and Attack</a:t>
            </a:r>
            <a:endParaRPr lang="en-US" sz="1500" dirty="0"/>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76200" y="5345668"/>
            <a:ext cx="8915400" cy="369332"/>
          </a:xfrm>
          <a:prstGeom prst="rect">
            <a:avLst/>
          </a:prstGeom>
          <a:noFill/>
        </p:spPr>
        <p:txBody>
          <a:bodyPr wrap="square">
            <a:spAutoFit/>
          </a:bodyPr>
          <a:lstStyle/>
          <a:p>
            <a:r>
              <a:rPr lang="en-US" dirty="0">
                <a:hlinkClick r:id="rId9"/>
              </a:rPr>
              <a:t>EP112: What is a deadlock? - </a:t>
            </a:r>
            <a:r>
              <a:rPr lang="en-US" dirty="0" err="1">
                <a:hlinkClick r:id="rId9"/>
              </a:rPr>
              <a:t>ByteByteGo</a:t>
            </a:r>
            <a:r>
              <a:rPr lang="en-US" dirty="0">
                <a:hlinkClick r:id="rId9"/>
              </a:rPr>
              <a:t> Newsletter</a:t>
            </a:r>
            <a:endParaRPr lang="en-IN" dirty="0"/>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500" dirty="0" err="1">
                <a:hlinkClick r:id="rId8"/>
              </a:rPr>
              <a:t>.net</a:t>
            </a:r>
            <a:r>
              <a:rPr lang="en-US" sz="1500" dirty="0">
                <a:hlinkClick r:id="rId8"/>
              </a:rPr>
              <a:t> - Synchronization between two processes in C#.? - Stack Overflow</a:t>
            </a:r>
            <a:endParaRPr lang="en-US" sz="1500" dirty="0"/>
          </a:p>
          <a:p>
            <a:pPr algn="just" fontAlgn="base"/>
            <a:r>
              <a:rPr lang="en-US" sz="1500" dirty="0">
                <a:hlinkClick r:id="rId9"/>
              </a:rPr>
              <a:t>Using C# Mutexes for </a:t>
            </a:r>
            <a:r>
              <a:rPr lang="en-US" sz="1500" dirty="0" err="1">
                <a:hlinkClick r:id="rId9"/>
              </a:rPr>
              <a:t>interprocess</a:t>
            </a:r>
            <a:r>
              <a:rPr lang="en-US" sz="1500" dirty="0">
                <a:hlinkClick r:id="rId9"/>
              </a:rPr>
              <a:t> synchronization</a:t>
            </a:r>
            <a:endParaRPr lang="en-US" sz="15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1500" dirty="0">
                <a:hlinkClick r:id="rId7"/>
              </a:rPr>
              <a:t>Lock vs monitor in c#. Lock:- In C#, the lock keyword is used… | by Kamlesh Singh | Medium</a:t>
            </a:r>
            <a:endParaRPr lang="en-US" sz="15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IN" sz="1500" dirty="0">
                <a:hlinkClick r:id="rId8"/>
              </a:rPr>
              <a:t>Async Waiting inside C# 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500" dirty="0">
                <a:hlinkClick r:id="rId9"/>
              </a:rPr>
              <a:t>Threading in C# - Part 3 - Using Threads</a:t>
            </a:r>
            <a:r>
              <a:rPr lang="en-US" sz="1500" kern="0" spc="-220" dirty="0">
                <a:solidFill>
                  <a:schemeClr val="accent2"/>
                </a:solidFill>
              </a:rPr>
              <a:t>  </a:t>
            </a:r>
          </a:p>
          <a:p>
            <a:pPr algn="just" fontAlgn="base"/>
            <a:r>
              <a:rPr lang="en-US" sz="1500" dirty="0">
                <a:hlinkClick r:id="rId10"/>
              </a:rPr>
              <a:t>How to use cancellation tokens in ASP.NET Core 7 | InfoWorld</a:t>
            </a:r>
            <a:endParaRPr lang="en-US" sz="1500" dirty="0"/>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t>
            </a:r>
            <a:r>
              <a:rPr lang="en-US" sz="2000" kern="0" spc="-220">
                <a:solidFill>
                  <a:schemeClr val="accent2"/>
                </a:solidFill>
              </a:rPr>
              <a:t>&amp; most Orchestrations </a:t>
            </a:r>
            <a:r>
              <a:rPr lang="en-US" sz="2000" kern="0" spc="-220" dirty="0">
                <a:solidFill>
                  <a:schemeClr val="accent2"/>
                </a:solidFill>
              </a:rPr>
              <a:t>can be implemented using FSM(Finite State Machine) Techniques.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971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500" dirty="0">
                <a:hlinkClick r:id="rId7"/>
              </a:rPr>
              <a:t>multithreading - What are atomic operations for newbies? - Stack Overflow</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500" dirty="0" err="1">
                <a:hlinkClick r:id="rId8"/>
              </a:rPr>
              <a:t>c#</a:t>
            </a:r>
            <a:r>
              <a:rPr lang="en-US" sz="1500" dirty="0">
                <a:hlinkClick r:id="rId8"/>
              </a:rPr>
              <a:t> - Locks vs Compare-and-swap - Stack Overflow</a:t>
            </a:r>
            <a:endParaRPr lang="en-US" sz="15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1500" dirty="0">
                <a:hlinkClick r:id="rId9"/>
              </a:rPr>
              <a:t>java - Lock splitting vs lock striping - Stack Overflow</a:t>
            </a:r>
            <a:endParaRPr lang="en-US" sz="1500" dirty="0"/>
          </a:p>
          <a:p>
            <a:pPr algn="just" fontAlgn="base"/>
            <a:endParaRPr lang="en-US" sz="1500" dirty="0"/>
          </a:p>
          <a:p>
            <a:pPr algn="just" fontAlgn="base"/>
            <a:r>
              <a:rPr lang="en-US" sz="1500" kern="0" spc="-220" dirty="0">
                <a:solidFill>
                  <a:schemeClr val="accent2"/>
                </a:solidFill>
              </a:rPr>
              <a:t>For Further Exploration – </a:t>
            </a:r>
          </a:p>
          <a:p>
            <a:pPr algn="just" fontAlgn="base"/>
            <a:r>
              <a:rPr lang="en-US" sz="800" dirty="0">
                <a:hlinkClick r:id="rId10"/>
              </a:rPr>
              <a:t>GitHub - </a:t>
            </a:r>
            <a:r>
              <a:rPr lang="en-US" sz="800" dirty="0" err="1">
                <a:hlinkClick r:id="rId10"/>
              </a:rPr>
              <a:t>PacktPublishing</a:t>
            </a:r>
            <a:r>
              <a:rPr lang="en-US" sz="800" dirty="0">
                <a:hlinkClick r:id="rId10"/>
              </a:rPr>
              <a:t>/</a:t>
            </a:r>
            <a:r>
              <a:rPr lang="en-US" sz="800" dirty="0" err="1">
                <a:hlinkClick r:id="rId10"/>
              </a:rPr>
              <a:t>MultithreadingwithCSharpCookbookSecondEdition_Code</a:t>
            </a:r>
            <a:r>
              <a:rPr lang="en-US" sz="800" dirty="0">
                <a:hlinkClick r:id="rId10"/>
              </a:rPr>
              <a:t>: Multithreading with C# Cookbook Second Edition</a:t>
            </a:r>
            <a:endParaRPr lang="en-US" sz="800" dirty="0"/>
          </a:p>
          <a:p>
            <a:pPr algn="just" fontAlgn="base"/>
            <a:r>
              <a:rPr lang="en-US" sz="800" dirty="0" err="1">
                <a:hlinkClick r:id="rId11"/>
              </a:rPr>
              <a:t>c#</a:t>
            </a:r>
            <a:r>
              <a:rPr lang="en-US" sz="800" dirty="0">
                <a:hlinkClick r:id="rId11"/>
              </a:rPr>
              <a:t> - Check the Number of threads available in </a:t>
            </a:r>
            <a:r>
              <a:rPr lang="en-US" sz="800" dirty="0" err="1">
                <a:hlinkClick r:id="rId11"/>
              </a:rPr>
              <a:t>ThreadPool</a:t>
            </a:r>
            <a:r>
              <a:rPr lang="en-US" sz="800" dirty="0">
                <a:hlinkClick r:id="rId11"/>
              </a:rPr>
              <a:t> at any time - Stack Overflow</a:t>
            </a:r>
            <a:endParaRPr lang="en-US" sz="800" dirty="0"/>
          </a:p>
          <a:p>
            <a:pPr algn="just" fontAlgn="base"/>
            <a:r>
              <a:rPr lang="en-US" sz="800" dirty="0">
                <a:hlinkClick r:id="rId12"/>
              </a:rPr>
              <a:t>GitHub - </a:t>
            </a:r>
            <a:r>
              <a:rPr lang="en-US" sz="800" dirty="0" err="1">
                <a:hlinkClick r:id="rId12"/>
              </a:rPr>
              <a:t>MikeMKH</a:t>
            </a:r>
            <a:r>
              <a:rPr lang="en-US" sz="800" dirty="0">
                <a:hlinkClick r:id="rId12"/>
              </a:rPr>
              <a:t>/concurrency-in-</a:t>
            </a:r>
            <a:r>
              <a:rPr lang="en-US" sz="800" dirty="0" err="1">
                <a:hlinkClick r:id="rId12"/>
              </a:rPr>
              <a:t>csharp</a:t>
            </a:r>
            <a:r>
              <a:rPr lang="en-US" sz="800" dirty="0">
                <a:hlinkClick r:id="rId12"/>
              </a:rPr>
              <a:t>-cookbook: Daily kata from Concurrency in C# Cookbook</a:t>
            </a:r>
            <a:endParaRPr lang="en-US" sz="800" dirty="0"/>
          </a:p>
          <a:p>
            <a:pPr algn="just" fontAlgn="base"/>
            <a:r>
              <a:rPr lang="en-US" sz="800" dirty="0">
                <a:hlinkClick r:id="rId13"/>
              </a:rPr>
              <a:t>GitHub - </a:t>
            </a:r>
            <a:r>
              <a:rPr lang="en-US" sz="800" dirty="0" err="1">
                <a:hlinkClick r:id="rId13"/>
              </a:rPr>
              <a:t>Wintellect</a:t>
            </a:r>
            <a:r>
              <a:rPr lang="en-US" sz="800" dirty="0">
                <a:hlinkClick r:id="rId13"/>
              </a:rPr>
              <a:t>/</a:t>
            </a:r>
            <a:r>
              <a:rPr lang="en-US" sz="800" dirty="0" err="1">
                <a:hlinkClick r:id="rId13"/>
              </a:rPr>
              <a:t>PowerThreading</a:t>
            </a:r>
            <a:r>
              <a:rPr lang="en-US" sz="800" dirty="0">
                <a:hlinkClick r:id="rId13"/>
              </a:rPr>
              <a:t>: Jeffrey Richter's Power Threading Library</a:t>
            </a:r>
            <a:endParaRPr lang="en-US" sz="800" dirty="0"/>
          </a:p>
          <a:p>
            <a:pPr algn="just" fontAlgn="base"/>
            <a:r>
              <a:rPr lang="en-US" sz="800" dirty="0">
                <a:hlinkClick r:id="rId14"/>
              </a:rPr>
              <a:t>Free </a:t>
            </a:r>
            <a:r>
              <a:rPr lang="en-US" sz="800" dirty="0" err="1">
                <a:hlinkClick r:id="rId14"/>
              </a:rPr>
              <a:t>Ebook</a:t>
            </a:r>
            <a:r>
              <a:rPr lang="en-US" sz="800" dirty="0">
                <a:hlinkClick r:id="rId14"/>
              </a:rPr>
              <a:t> - Web Servers Succinctly</a:t>
            </a:r>
            <a:endParaRPr lang="en-US" sz="800" dirty="0"/>
          </a:p>
          <a:p>
            <a:pPr algn="just" fontAlgn="base"/>
            <a:r>
              <a:rPr lang="en-US" sz="800" dirty="0">
                <a:hlinkClick r:id="rId15"/>
              </a:rPr>
              <a:t>2DGD_F0TH/chapters/001_Introduction/001_Introduction.md at master · 2DGD-F0TH/2DGD_F0TH · GitHub</a:t>
            </a:r>
            <a:endParaRPr lang="en-US" sz="800" dirty="0"/>
          </a:p>
          <a:p>
            <a:pPr algn="just" fontAlgn="base"/>
            <a:r>
              <a:rPr lang="en-US" sz="800" dirty="0">
                <a:hlinkClick r:id="rId16"/>
              </a:rPr>
              <a:t>GitHub - </a:t>
            </a:r>
            <a:r>
              <a:rPr lang="en-US" sz="800" dirty="0" err="1">
                <a:hlinkClick r:id="rId16"/>
              </a:rPr>
              <a:t>rikace</a:t>
            </a:r>
            <a:r>
              <a:rPr lang="en-US" sz="800" dirty="0">
                <a:hlinkClick r:id="rId16"/>
              </a:rPr>
              <a:t>/</a:t>
            </a:r>
            <a:r>
              <a:rPr lang="en-US" sz="800" dirty="0" err="1">
                <a:hlinkClick r:id="rId16"/>
              </a:rPr>
              <a:t>fConcBook</a:t>
            </a:r>
            <a:r>
              <a:rPr lang="en-US" sz="800" dirty="0">
                <a:hlinkClick r:id="rId16"/>
              </a:rPr>
              <a:t>: Source code for "Concurrency in .NET" book Manning publisher</a:t>
            </a:r>
            <a:endParaRPr lang="en-US" sz="800" dirty="0"/>
          </a:p>
          <a:p>
            <a:pPr algn="just" fontAlgn="base"/>
            <a:r>
              <a:rPr lang="en-IN" sz="800" dirty="0">
                <a:hlinkClick r:id="rId17"/>
              </a:rPr>
              <a:t>Multithreading Principles and Patterns</a:t>
            </a:r>
            <a:endParaRPr lang="en-IN" sz="800" dirty="0"/>
          </a:p>
          <a:p>
            <a:pPr algn="just" fontAlgn="base"/>
            <a:r>
              <a:rPr lang="en-US" sz="800" dirty="0">
                <a:hlinkClick r:id="rId18"/>
              </a:rPr>
              <a:t>Multithreading and Patterns - DEV Community</a:t>
            </a:r>
            <a:endParaRPr lang="en-US" sz="800" dirty="0"/>
          </a:p>
          <a:p>
            <a:pPr algn="just" fontAlgn="base"/>
            <a:r>
              <a:rPr lang="en-IN" sz="800" dirty="0">
                <a:hlinkClick r:id="rId19"/>
              </a:rPr>
              <a:t>web.stanford.edu/class/archive/cs/cs110/cs110.1202/static/lectures/12-multithreading-patterns-data-structures.pdf</a:t>
            </a:r>
            <a:endParaRPr lang="en-IN" sz="800" dirty="0"/>
          </a:p>
          <a:p>
            <a:pPr algn="just" fontAlgn="base"/>
            <a:r>
              <a:rPr lang="en-US" sz="800" dirty="0">
                <a:hlinkClick r:id="rId20"/>
              </a:rPr>
              <a:t>Common patterns for poorly-behaved multithreaded apps - Visual Studio (Windows) | Microsoft Learn</a:t>
            </a:r>
            <a:endParaRPr lang="en-US" sz="800" dirty="0"/>
          </a:p>
          <a:p>
            <a:pPr algn="just" fontAlgn="base"/>
            <a:r>
              <a:rPr lang="en-US" sz="800" dirty="0">
                <a:hlinkClick r:id="rId21"/>
              </a:rPr>
              <a:t>Part B (ADVANCE) Multithreading Design Patterns ( </a:t>
            </a:r>
            <a:r>
              <a:rPr lang="en-US" sz="800" dirty="0" err="1">
                <a:hlinkClick r:id="rId21"/>
              </a:rPr>
              <a:t>pthreads</a:t>
            </a:r>
            <a:r>
              <a:rPr lang="en-US" sz="800" dirty="0">
                <a:hlinkClick r:id="rId21"/>
              </a:rPr>
              <a:t> ) | Udemy</a:t>
            </a:r>
            <a:endParaRPr lang="en-US" sz="800" dirty="0"/>
          </a:p>
          <a:p>
            <a:pPr algn="just" fontAlgn="base"/>
            <a:r>
              <a:rPr lang="en-IN" sz="800" dirty="0">
                <a:hlinkClick r:id="rId22"/>
              </a:rPr>
              <a:t>Embedded C Programming Design Patterns: Essential design patterns for clean, maintainable and robust firmware development. eBook : Schröder, Martin: Amazon.in: Books</a:t>
            </a:r>
            <a:endParaRPr lang="en-IN" sz="800" dirty="0"/>
          </a:p>
          <a:p>
            <a:pPr algn="just" fontAlgn="base"/>
            <a:r>
              <a:rPr lang="en-IN" sz="800" dirty="0">
                <a:hlinkClick r:id="rId23"/>
              </a:rPr>
              <a:t>GitHub - </a:t>
            </a:r>
            <a:r>
              <a:rPr lang="en-IN" sz="800" dirty="0" err="1">
                <a:hlinkClick r:id="rId23"/>
              </a:rPr>
              <a:t>sundaygeek</a:t>
            </a:r>
            <a:r>
              <a:rPr lang="en-IN" sz="800" dirty="0">
                <a:hlinkClick r:id="rId23"/>
              </a:rPr>
              <a:t>/design-patterns-for-embedded-system-in-c: &lt;design-patterns-for-embedded-system-in-c&gt;</a:t>
            </a:r>
            <a:endParaRPr lang="en-IN" sz="800" dirty="0"/>
          </a:p>
          <a:p>
            <a:pPr algn="just" fontAlgn="base"/>
            <a:r>
              <a:rPr lang="en-IN" sz="800" dirty="0">
                <a:hlinkClick r:id="rId24"/>
              </a:rPr>
              <a:t>GitHub - disruptor-net/Disruptor-net: Port of LMAX Disruptor to .NET</a:t>
            </a:r>
            <a:endParaRPr lang="en-US" sz="1200" kern="0" spc="-220" dirty="0">
              <a:solidFill>
                <a:schemeClr val="accent6"/>
              </a:solidFill>
            </a:endParaRP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500" dirty="0" err="1">
                <a:hlinkClick r:id="rId7"/>
              </a:rPr>
              <a:t>c#</a:t>
            </a:r>
            <a:r>
              <a:rPr lang="en-US" sz="1500" dirty="0">
                <a:hlinkClick r:id="rId7"/>
              </a:rPr>
              <a:t> - How can I set processor affinity to a thread or a Task in .NET? - Stack Overflow</a:t>
            </a:r>
            <a:endParaRPr lang="en-US" sz="1500" dirty="0"/>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500" dirty="0">
                <a:hlinkClick r:id="rId8"/>
              </a:rPr>
              <a:t>Threading in C# - Part 5 - Parallel Programming</a:t>
            </a:r>
            <a:endParaRPr lang="en-US" sz="15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500" dirty="0">
                <a:hlinkClick r:id="rId9"/>
              </a:rPr>
              <a:t>Threading in C# - Part 5 - Parallel Programming</a:t>
            </a:r>
            <a:endParaRPr lang="en-US" sz="1500" dirty="0"/>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500" dirty="0">
                <a:hlinkClick r:id="rId10"/>
              </a:rPr>
              <a:t>Threading in C# - Part 5 - Parallel Programming</a:t>
            </a:r>
            <a:endParaRPr lang="en-US" sz="1500" kern="0" spc="-220" dirty="0">
              <a:solidFill>
                <a:schemeClr val="accent6"/>
              </a:solidFill>
            </a:endParaRP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dirty="0">
                <a:hlinkClick r:id="rId7"/>
              </a:rPr>
              <a:t>Threading in C# - Part 5 - Parallel Programming</a:t>
            </a:r>
            <a:endParaRPr lang="en-US" sz="1500" dirty="0"/>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dirty="0" err="1">
                <a:hlinkClick r:id="rId8"/>
              </a:rPr>
              <a:t>c#</a:t>
            </a:r>
            <a:r>
              <a:rPr lang="en-US" sz="1500" dirty="0">
                <a:hlinkClick r:id="rId8"/>
              </a:rPr>
              <a:t> - When immutable collections are preferable than concurrent - Stack Overflow</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dirty="0">
                <a:hlinkClick r:id="rId9"/>
              </a:rPr>
              <a:t>GitHub - </a:t>
            </a:r>
            <a:r>
              <a:rPr lang="en-US" sz="1200" dirty="0" err="1">
                <a:hlinkClick r:id="rId9"/>
              </a:rPr>
              <a:t>PacktPublishing</a:t>
            </a:r>
            <a:r>
              <a:rPr lang="en-US" sz="1200" dirty="0">
                <a:hlinkClick r:id="rId9"/>
              </a:rPr>
              <a:t>/Hands-On-Parallel-Programming-with-C-8-and-.NET-Core-3</a:t>
            </a:r>
            <a:endParaRPr lang="en-US" sz="1200" dirty="0"/>
          </a:p>
          <a:p>
            <a:pPr algn="just" fontAlgn="base"/>
            <a:r>
              <a:rPr lang="en-US" sz="1200" dirty="0">
                <a:hlinkClick r:id="rId10"/>
              </a:rPr>
              <a:t>GitHub - </a:t>
            </a:r>
            <a:r>
              <a:rPr lang="en-US" sz="1200" dirty="0" err="1">
                <a:hlinkClick r:id="rId10"/>
              </a:rPr>
              <a:t>PacktPublishing</a:t>
            </a:r>
            <a:r>
              <a:rPr lang="en-US" sz="1200" dirty="0">
                <a:hlinkClick r:id="rId10"/>
              </a:rPr>
              <a:t>/Parallel-Programming-and-Concurrency-with-C-sharp-10-and-.NET-6</a:t>
            </a:r>
            <a:endParaRPr lang="en-US" sz="1200" dirty="0"/>
          </a:p>
          <a:p>
            <a:pPr algn="just" fontAlgn="base"/>
            <a:r>
              <a:rPr lang="en-US" sz="1200" dirty="0" err="1">
                <a:hlinkClick r:id="rId11"/>
              </a:rPr>
              <a:t>c#</a:t>
            </a:r>
            <a:r>
              <a:rPr lang="en-US" sz="1200" dirty="0">
                <a:hlinkClick r:id="rId11"/>
              </a:rPr>
              <a:t> - How do I spawn threads on different CPU cores? - Stack Overflow</a:t>
            </a:r>
            <a:endParaRPr lang="en-US" sz="1200" dirty="0"/>
          </a:p>
          <a:p>
            <a:pPr algn="just" fontAlgn="base"/>
            <a:r>
              <a:rPr lang="en-US" sz="1200" dirty="0" err="1">
                <a:hlinkClick r:id="rId12"/>
              </a:rPr>
              <a:t>c#</a:t>
            </a:r>
            <a:r>
              <a:rPr lang="en-US" sz="1200" dirty="0">
                <a:hlinkClick r:id="rId12"/>
              </a:rPr>
              <a:t> - Can you force </a:t>
            </a:r>
            <a:r>
              <a:rPr lang="en-US" sz="1200" dirty="0" err="1">
                <a:hlinkClick r:id="rId12"/>
              </a:rPr>
              <a:t>Parallel.Invoke</a:t>
            </a:r>
            <a:r>
              <a:rPr lang="en-US" sz="1200" dirty="0">
                <a:hlinkClick r:id="rId12"/>
              </a:rPr>
              <a:t> to use multiple threads? - Stack Overflow</a:t>
            </a:r>
            <a:endParaRPr lang="en-US" sz="1200" dirty="0"/>
          </a:p>
          <a:p>
            <a:pPr algn="just" fontAlgn="base"/>
            <a:r>
              <a:rPr lang="en-US" sz="1200" dirty="0" err="1">
                <a:hlinkClick r:id="rId13"/>
              </a:rPr>
              <a:t>c#</a:t>
            </a:r>
            <a:r>
              <a:rPr lang="en-US" sz="1200" dirty="0">
                <a:hlinkClick r:id="rId13"/>
              </a:rPr>
              <a:t> - How to set maximum concurrent threads using Task - Stack Overflow</a:t>
            </a:r>
            <a:endParaRPr lang="en-US" sz="1200" dirty="0"/>
          </a:p>
          <a:p>
            <a:pPr algn="just" fontAlgn="base"/>
            <a:r>
              <a:rPr lang="en-US" sz="1200" dirty="0">
                <a:hlinkClick r:id="rId14"/>
              </a:rPr>
              <a:t>Limiting concurrency for faster and more responsive apps - Developer Support</a:t>
            </a:r>
            <a:endParaRPr lang="en-US" sz="1200" dirty="0"/>
          </a:p>
          <a:p>
            <a:pPr algn="just" fontAlgn="base"/>
            <a:r>
              <a:rPr lang="en-US" sz="1200" dirty="0" err="1">
                <a:hlinkClick r:id="rId15"/>
              </a:rPr>
              <a:t>c#</a:t>
            </a:r>
            <a:r>
              <a:rPr lang="en-US" sz="1200" dirty="0">
                <a:hlinkClick r:id="rId15"/>
              </a:rPr>
              <a:t> - Limited concurrency </a:t>
            </a:r>
            <a:r>
              <a:rPr lang="en-US" sz="1200" dirty="0" err="1">
                <a:hlinkClick r:id="rId15"/>
              </a:rPr>
              <a:t>TaskScheduler</a:t>
            </a:r>
            <a:r>
              <a:rPr lang="en-US" sz="1200" dirty="0">
                <a:hlinkClick r:id="rId15"/>
              </a:rPr>
              <a:t> that can interleave tasks to be explicitly ordered - Stack Overflow</a:t>
            </a:r>
            <a:endParaRPr lang="en-US" sz="1200" dirty="0"/>
          </a:p>
          <a:p>
            <a:pPr algn="just" fontAlgn="base"/>
            <a:r>
              <a:rPr lang="en-IN" sz="1200" dirty="0">
                <a:hlinkClick r:id="rId16"/>
              </a:rPr>
              <a:t>A Tour of </a:t>
            </a:r>
            <a:r>
              <a:rPr lang="en-IN" sz="1200" dirty="0" err="1">
                <a:hlinkClick r:id="rId16"/>
              </a:rPr>
              <a:t>ParallelExtensionsExtras</a:t>
            </a:r>
            <a:r>
              <a:rPr lang="en-IN" sz="1200" dirty="0">
                <a:hlinkClick r:id="rId16"/>
              </a:rPr>
              <a:t> - .NET Parallel Programming</a:t>
            </a:r>
            <a:endParaRPr lang="en-IN" sz="1200" dirty="0"/>
          </a:p>
          <a:p>
            <a:pPr algn="just" fontAlgn="base"/>
            <a:r>
              <a:rPr lang="en-IN" sz="1200" dirty="0">
                <a:hlinkClick r:id="rId17"/>
              </a:rPr>
              <a:t>GitHub - </a:t>
            </a:r>
            <a:r>
              <a:rPr lang="en-IN" sz="1200" dirty="0" err="1">
                <a:hlinkClick r:id="rId17"/>
              </a:rPr>
              <a:t>ChadBurggraf</a:t>
            </a:r>
            <a:r>
              <a:rPr lang="en-IN" sz="1200" dirty="0">
                <a:hlinkClick r:id="rId17"/>
              </a:rPr>
              <a:t>/parallel-extensions-extras</a:t>
            </a:r>
            <a:endParaRPr lang="en-IN" sz="1200" dirty="0"/>
          </a:p>
          <a:p>
            <a:pPr algn="just" fontAlgn="base"/>
            <a:r>
              <a:rPr lang="en-US" sz="1200" dirty="0">
                <a:hlinkClick r:id="rId18"/>
              </a:rPr>
              <a:t>For Further Reading (Parallel Programming) - .NET | Microsoft Learn</a:t>
            </a:r>
            <a:endParaRPr lang="en-US" sz="1200" dirty="0"/>
          </a:p>
          <a:p>
            <a:pPr algn="just" fontAlgn="base"/>
            <a:r>
              <a:rPr lang="en-IN" sz="1200" dirty="0">
                <a:hlinkClick r:id="rId19"/>
              </a:rPr>
              <a:t>GitHub - </a:t>
            </a:r>
            <a:r>
              <a:rPr lang="en-IN" sz="1200" dirty="0" err="1">
                <a:hlinkClick r:id="rId19"/>
              </a:rPr>
              <a:t>rikace</a:t>
            </a:r>
            <a:r>
              <a:rPr lang="en-IN" sz="1200" dirty="0">
                <a:hlinkClick r:id="rId19"/>
              </a:rPr>
              <a:t>/parallel-patterns</a:t>
            </a:r>
            <a:endParaRPr lang="en-IN" sz="1200" dirty="0"/>
          </a:p>
          <a:p>
            <a:pPr algn="just" fontAlgn="base"/>
            <a:r>
              <a:rPr lang="en-IN" sz="1200" dirty="0">
                <a:hlinkClick r:id="rId20"/>
              </a:rPr>
              <a:t>Patterns for Parallel Programming[Book]</a:t>
            </a:r>
            <a:endParaRPr lang="en-IN" sz="1200" dirty="0"/>
          </a:p>
          <a:p>
            <a:pPr algn="just" fontAlgn="base"/>
            <a:r>
              <a:rPr lang="en-US" sz="1200" dirty="0">
                <a:hlinkClick r:id="rId21"/>
              </a:rPr>
              <a:t>Build Your Own RealTime OS (RTOS) From Ground Up™ on ARM 1 | Udemy</a:t>
            </a:r>
            <a:endParaRPr lang="en-US" sz="1200" dirty="0"/>
          </a:p>
          <a:p>
            <a:pPr algn="just" fontAlgn="base"/>
            <a:r>
              <a:rPr lang="en-US" sz="1200" dirty="0">
                <a:hlinkClick r:id="rId22"/>
              </a:rPr>
              <a:t>Build Your Own RealTime OS (RTOS) From Ground Up™ on ARM 2 | Udemy</a:t>
            </a:r>
            <a:endParaRPr lang="en-US" sz="1200" dirty="0"/>
          </a:p>
          <a:p>
            <a:pPr algn="just" fontAlgn="base"/>
            <a:r>
              <a:rPr lang="en-IN" sz="1200" dirty="0">
                <a:hlinkClick r:id="rId23"/>
              </a:rPr>
              <a:t>"DIY RTOS Made Easy: Mastering Microcontrollers " | Udemy</a:t>
            </a:r>
            <a:endParaRPr lang="en-US" sz="12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500" dirty="0">
                <a:hlinkClick r:id="rId7"/>
              </a:rPr>
              <a:t>Async/Await - Best Practices in Asynchronous Programming | Microsoft Learn</a:t>
            </a:r>
            <a:endParaRPr lang="en-US" sz="1500" kern="0" spc="-220" dirty="0">
              <a:solidFill>
                <a:schemeClr val="accent6"/>
              </a:solidFill>
            </a:endParaRPr>
          </a:p>
          <a:p>
            <a:pPr algn="l"/>
            <a:r>
              <a:rPr lang="en-IN" sz="1500" dirty="0">
                <a:hlinkClick r:id="rId8"/>
              </a:rPr>
              <a:t>Patterns &amp; Practices for efficiently handling C# async/await cancel processing and timeouts | by Yoshifumi Kawai | Medium</a:t>
            </a:r>
            <a:endParaRPr lang="en-US" sz="1500" kern="0" spc="-220" dirty="0">
              <a:solidFill>
                <a:schemeClr val="accent6"/>
              </a:solidFill>
            </a:endParaRP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500" dirty="0">
                <a:hlinkClick r:id="rId9"/>
              </a:rPr>
              <a:t>await anything; - .NET Parallel Programming</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IN" sz="1500" dirty="0">
                <a:hlinkClick r:id="rId10"/>
              </a:rPr>
              <a:t>Asynchronous programming patterns - .NET | Microsoft Learn</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500" dirty="0">
                <a:hlinkClick r:id="rId11"/>
              </a:rPr>
              <a:t>Async in C# 5.0[Book]</a:t>
            </a:r>
            <a:endParaRPr lang="en-US" sz="1500" dirty="0"/>
          </a:p>
          <a:p>
            <a:pPr algn="l"/>
            <a:r>
              <a:rPr lang="en-US" sz="1500" dirty="0" err="1">
                <a:hlinkClick r:id="rId12"/>
              </a:rPr>
              <a:t>Parallel.ForEachAsync</a:t>
            </a:r>
            <a:r>
              <a:rPr lang="en-US" sz="1500" dirty="0">
                <a:hlinkClick r:id="rId12"/>
              </a:rPr>
              <a:t>() and </a:t>
            </a:r>
            <a:r>
              <a:rPr lang="en-US" sz="1500" dirty="0" err="1">
                <a:hlinkClick r:id="rId12"/>
              </a:rPr>
              <a:t>Task.Run</a:t>
            </a:r>
            <a:r>
              <a:rPr lang="en-US" sz="1500" dirty="0">
                <a:hlinkClick r:id="rId12"/>
              </a:rPr>
              <a:t>() With </a:t>
            </a:r>
            <a:r>
              <a:rPr lang="en-US" sz="1500" dirty="0" err="1">
                <a:hlinkClick r:id="rId12"/>
              </a:rPr>
              <a:t>When.All</a:t>
            </a:r>
            <a:r>
              <a:rPr lang="en-US" sz="1500" dirty="0">
                <a:hlinkClick r:id="rId12"/>
              </a:rPr>
              <a:t> in C# - Code Maze</a:t>
            </a:r>
            <a:endParaRPr lang="en-US" sz="1500" kern="0" spc="-220" dirty="0">
              <a:solidFill>
                <a:schemeClr val="accent6"/>
              </a:solidFill>
            </a:endParaRP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500" dirty="0" err="1">
                <a:hlinkClick r:id="rId8"/>
              </a:rPr>
              <a:t>c#</a:t>
            </a:r>
            <a:r>
              <a:rPr lang="en-US" sz="1500" dirty="0">
                <a:hlinkClick r:id="rId8"/>
              </a:rPr>
              <a:t> - </a:t>
            </a:r>
            <a:r>
              <a:rPr lang="en-US" sz="1500" dirty="0" err="1">
                <a:hlinkClick r:id="rId8"/>
              </a:rPr>
              <a:t>Stream.Seek</a:t>
            </a:r>
            <a:r>
              <a:rPr lang="en-US" sz="1500" dirty="0">
                <a:hlinkClick r:id="rId8"/>
              </a:rPr>
              <a:t>(0, </a:t>
            </a:r>
            <a:r>
              <a:rPr lang="en-US" sz="1500" dirty="0" err="1">
                <a:hlinkClick r:id="rId8"/>
              </a:rPr>
              <a:t>SeekOrigin.Begin</a:t>
            </a:r>
            <a:r>
              <a:rPr lang="en-US" sz="1500" dirty="0">
                <a:hlinkClick r:id="rId8"/>
              </a:rPr>
              <a:t>) or Position = 0 - Stack Overflow</a:t>
            </a:r>
            <a:endParaRPr lang="en-US" sz="1500" dirty="0"/>
          </a:p>
          <a:p>
            <a:pPr algn="l"/>
            <a:r>
              <a:rPr lang="en-IN" sz="1500" dirty="0" err="1">
                <a:hlinkClick r:id="rId9"/>
              </a:rPr>
              <a:t>StreamReader.Peek</a:t>
            </a:r>
            <a:r>
              <a:rPr lang="en-IN" sz="1500" dirty="0">
                <a:hlinkClick r:id="rId9"/>
              </a:rPr>
              <a:t> Method (System.IO) | Microsoft Learn</a:t>
            </a:r>
            <a:endParaRPr lang="en-US" sz="1500" kern="0" spc="-220" dirty="0">
              <a:solidFill>
                <a:schemeClr val="accent2"/>
              </a:solidFill>
            </a:endParaRP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Anonymous Pipes Made Easy- </a:t>
            </a:r>
            <a:r>
              <a:rPr lang="en-US" sz="1500" dirty="0" err="1">
                <a:hlinkClick r:id="rId8"/>
              </a:rPr>
              <a:t>CodeProject</a:t>
            </a:r>
            <a:endParaRPr lang="en-US" sz="1500" kern="0" spc="-220" dirty="0">
              <a:solidFill>
                <a:schemeClr val="accent2"/>
              </a:solidFill>
            </a:endParaRP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300" dirty="0">
                <a:hlinkClick r:id="rId8"/>
              </a:rPr>
              <a:t>Reading large text files with streams in C# - Stack Overflow</a:t>
            </a:r>
            <a:endParaRPr lang="en-US" sz="1300" dirty="0"/>
          </a:p>
          <a:p>
            <a:pPr algn="l"/>
            <a:r>
              <a:rPr lang="en-IN" sz="1300" dirty="0">
                <a:hlinkClick r:id="rId9"/>
              </a:rPr>
              <a:t>System.IO Namespace | Microsoft Learn</a:t>
            </a:r>
            <a:endParaRPr lang="en-IN" sz="1300" dirty="0"/>
          </a:p>
          <a:p>
            <a:pPr algn="l"/>
            <a:r>
              <a:rPr lang="en-IN" sz="1300" dirty="0" err="1">
                <a:hlinkClick r:id="rId10"/>
              </a:rPr>
              <a:t>Environment.SpecialFolder</a:t>
            </a:r>
            <a:r>
              <a:rPr lang="en-IN" sz="1300" dirty="0">
                <a:hlinkClick r:id="rId10"/>
              </a:rPr>
              <a:t> Enum (System) | Microsoft Learn</a:t>
            </a:r>
            <a:endParaRPr lang="en-IN" sz="1300" dirty="0"/>
          </a:p>
          <a:p>
            <a:pPr algn="l"/>
            <a:r>
              <a:rPr lang="en-US" sz="1300" dirty="0">
                <a:hlinkClick r:id="rId11"/>
              </a:rPr>
              <a:t>Memory-Mapped Files - .NET | Microsoft Learn</a:t>
            </a:r>
            <a:endParaRPr lang="en-US" sz="1300" kern="0" spc="-220" dirty="0">
              <a:solidFill>
                <a:schemeClr val="accent2"/>
              </a:solidFill>
            </a:endParaRP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In the OSI layers, in what format would the data or message be in each layer? - Quora</a:t>
            </a:r>
            <a:endParaRPr lang="en-US" sz="1500" kern="0" spc="-220" dirty="0">
              <a:solidFill>
                <a:schemeClr val="accent2"/>
              </a:solidFill>
            </a:endParaRP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8928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IN" sz="1100" dirty="0">
                <a:hlinkClick r:id="rId8"/>
              </a:rPr>
              <a:t>HTTP1 vs HTTP2 vs HTTP3 - A Deep Dive</a:t>
            </a:r>
            <a:endParaRPr lang="en-US" sz="1100" kern="0" spc="-220" dirty="0">
              <a:solidFill>
                <a:schemeClr val="accent2"/>
              </a:solidFill>
            </a:endParaRPr>
          </a:p>
          <a:p>
            <a:pPr algn="l"/>
            <a:r>
              <a:rPr lang="en-IN" sz="1100" dirty="0">
                <a:hlinkClick r:id="rId9"/>
              </a:rPr>
              <a:t>TCP vs UDP | LinkedIn</a:t>
            </a:r>
            <a:endParaRPr lang="en-IN" sz="1100" dirty="0"/>
          </a:p>
          <a:p>
            <a:pPr algn="l"/>
            <a:r>
              <a:rPr lang="pt-BR" sz="1100" dirty="0">
                <a:hlinkClick r:id="rId10"/>
              </a:rPr>
              <a:t>Reliable User Datagram Protocol – Wikipedia</a:t>
            </a:r>
            <a:endParaRPr lang="pt-BR" sz="1100" dirty="0"/>
          </a:p>
          <a:p>
            <a:pPr algn="l"/>
            <a:r>
              <a:rPr lang="en-US" sz="1100" dirty="0">
                <a:hlinkClick r:id="rId11"/>
              </a:rPr>
              <a:t>sockets - What do you use when you need reliable UDP? - Stack Overflow</a:t>
            </a:r>
            <a:endParaRPr lang="en-IN" sz="1100" dirty="0"/>
          </a:p>
          <a:p>
            <a:pPr algn="l"/>
            <a:r>
              <a:rPr lang="en-US" sz="1100" dirty="0">
                <a:hlinkClick r:id="rId12"/>
              </a:rPr>
              <a:t>GitHub - </a:t>
            </a:r>
            <a:r>
              <a:rPr lang="en-US" sz="1100" dirty="0" err="1">
                <a:hlinkClick r:id="rId12"/>
              </a:rPr>
              <a:t>VasanthVanan</a:t>
            </a:r>
            <a:r>
              <a:rPr lang="en-US" sz="1100" dirty="0">
                <a:hlinkClick r:id="rId12"/>
              </a:rPr>
              <a:t>/computer-networking-top-down-approach-notes</a:t>
            </a:r>
            <a:endParaRPr lang="en-US" sz="1100" dirty="0"/>
          </a:p>
          <a:p>
            <a:pPr algn="l"/>
            <a:r>
              <a:rPr lang="en-US" sz="1100" dirty="0">
                <a:hlinkClick r:id="rId13"/>
              </a:rPr>
              <a:t>GitHub - </a:t>
            </a:r>
            <a:r>
              <a:rPr lang="en-US" sz="1100" dirty="0" err="1">
                <a:hlinkClick r:id="rId13"/>
              </a:rPr>
              <a:t>PacktPublishing</a:t>
            </a:r>
            <a:r>
              <a:rPr lang="en-US" sz="1100" dirty="0">
                <a:hlinkClick r:id="rId13"/>
              </a:rPr>
              <a:t>/Hands-On-Network-Programming-with-CSharp-and-.NET-Core</a:t>
            </a:r>
            <a:endParaRPr lang="en-US" sz="1100" dirty="0"/>
          </a:p>
          <a:p>
            <a:pPr algn="l"/>
            <a:r>
              <a:rPr lang="nl-NL" sz="1100" dirty="0">
                <a:hlinkClick r:id="rId14"/>
              </a:rPr>
              <a:t>Network programming in .NET - .NET | Microsoft Learn</a:t>
            </a:r>
            <a:endParaRPr lang="nl-NL" sz="1100" dirty="0"/>
          </a:p>
          <a:p>
            <a:pPr algn="l"/>
            <a:r>
              <a:rPr lang="en-US" sz="1100" dirty="0">
                <a:hlinkClick r:id="rId15"/>
              </a:rPr>
              <a:t>High Performance Browser Networking (O'Reilly)</a:t>
            </a:r>
            <a:endParaRPr lang="en-US" sz="1100" dirty="0"/>
          </a:p>
          <a:p>
            <a:pPr algn="l"/>
            <a:r>
              <a:rPr lang="en-IN" sz="1100" dirty="0">
                <a:hlinkClick r:id="rId16"/>
              </a:rPr>
              <a:t>debugging - Wireshark vs Firebug vs Fiddler - pros and cons? - Stack Overflow</a:t>
            </a:r>
            <a:endParaRPr lang="en-US" sz="11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23520" y="3716178"/>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marL="457200" indent="-457200" algn="l">
              <a:buAutoNum type="arabicParenR"/>
            </a:pPr>
            <a:r>
              <a:rPr lang="en-US" sz="1600" kern="0" spc="-220" dirty="0">
                <a:solidFill>
                  <a:schemeClr val="accent6"/>
                </a:solidFill>
              </a:rPr>
              <a:t>Building Unit Testing, Mocking &amp; BDD Frameworks</a:t>
            </a:r>
          </a:p>
          <a:p>
            <a:pPr marL="457200" indent="-457200" algn="l">
              <a:buAutoNum type="arabicParenR"/>
            </a:pPr>
            <a:r>
              <a:rPr lang="en-US" sz="1600" kern="0" spc="-220" dirty="0">
                <a:solidFill>
                  <a:schemeClr val="accent6"/>
                </a:solidFill>
              </a:rPr>
              <a:t>Building Code Analysis Tools</a:t>
            </a:r>
          </a:p>
          <a:p>
            <a:pPr marL="457200" indent="-457200" algn="l">
              <a:buAutoNum type="arabicParenR"/>
            </a:pPr>
            <a:r>
              <a:rPr lang="en-US" sz="1600" kern="0" spc="-220" dirty="0">
                <a:solidFill>
                  <a:schemeClr val="accent6"/>
                </a:solidFill>
              </a:rPr>
              <a:t>Building </a:t>
            </a:r>
            <a:r>
              <a:rPr lang="en-US" sz="1600" kern="0" spc="-220" dirty="0" err="1">
                <a:solidFill>
                  <a:schemeClr val="accent6"/>
                </a:solidFill>
              </a:rPr>
              <a:t>AoP</a:t>
            </a:r>
            <a:r>
              <a:rPr lang="en-US" sz="1600" kern="0" spc="-220" dirty="0">
                <a:solidFill>
                  <a:schemeClr val="accent6"/>
                </a:solidFill>
              </a:rPr>
              <a:t> Frameworks</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IN" sz="1500" dirty="0">
                <a:hlinkClick r:id="rId7"/>
              </a:rPr>
              <a:t>Reflection Overview | Microsoft Learn</a:t>
            </a:r>
            <a:endParaRPr lang="en-US" sz="1500" kern="0" spc="-220" dirty="0">
              <a:solidFill>
                <a:schemeClr val="accent6"/>
              </a:solidFill>
            </a:endParaRP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IN" sz="1500" dirty="0">
                <a:hlinkClick r:id="rId7"/>
              </a:rPr>
              <a:t>T4 (Text Template Transformation Toolkit) Code Generation - Best Kept Visual Studio Secret - Scott Hanselman's Blog</a:t>
            </a:r>
            <a:endParaRPr lang="en-IN" sz="1500" dirty="0"/>
          </a:p>
          <a:p>
            <a:pPr algn="l"/>
            <a:r>
              <a:rPr lang="en-IN" sz="1500" dirty="0">
                <a:hlinkClick r:id="rId8"/>
              </a:rPr>
              <a:t>Free </a:t>
            </a:r>
            <a:r>
              <a:rPr lang="en-IN" sz="1500" dirty="0" err="1">
                <a:hlinkClick r:id="rId8"/>
              </a:rPr>
              <a:t>Ebook</a:t>
            </a:r>
            <a:r>
              <a:rPr lang="en-IN" sz="1500" dirty="0">
                <a:hlinkClick r:id="rId8"/>
              </a:rPr>
              <a:t> - T4 Succinctly</a:t>
            </a:r>
            <a:endParaRPr lang="en-US" sz="1500" kern="0" spc="-220" dirty="0">
              <a:solidFill>
                <a:schemeClr val="accent6"/>
              </a:solidFill>
            </a:endParaRP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500" dirty="0" err="1">
                <a:hlinkClick r:id="rId9"/>
              </a:rPr>
              <a:t>CodeDOM</a:t>
            </a:r>
            <a:r>
              <a:rPr lang="en-US" sz="1500" dirty="0">
                <a:hlinkClick r:id="rId9"/>
              </a:rPr>
              <a:t> Go Kit: The </a:t>
            </a:r>
            <a:r>
              <a:rPr lang="en-US" sz="1500" dirty="0" err="1">
                <a:hlinkClick r:id="rId9"/>
              </a:rPr>
              <a:t>CodeDOM</a:t>
            </a:r>
            <a:r>
              <a:rPr lang="en-US" sz="1500" dirty="0">
                <a:hlinkClick r:id="rId9"/>
              </a:rPr>
              <a:t> is Dead, Long Live the </a:t>
            </a:r>
            <a:r>
              <a:rPr lang="en-US" sz="1500" dirty="0" err="1">
                <a:hlinkClick r:id="rId9"/>
              </a:rPr>
              <a:t>CodeDOM</a:t>
            </a:r>
            <a:r>
              <a:rPr lang="en-US" sz="1500" dirty="0">
                <a:hlinkClick r:id="rId9"/>
              </a:rPr>
              <a:t>- </a:t>
            </a:r>
            <a:r>
              <a:rPr lang="en-US" sz="1500" dirty="0" err="1">
                <a:hlinkClick r:id="rId9"/>
              </a:rPr>
              <a:t>CodeProject</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IN" sz="1500" dirty="0">
                <a:hlinkClick r:id="rId10"/>
              </a:rPr>
              <a:t>Code Generation Technology-</a:t>
            </a:r>
            <a:r>
              <a:rPr lang="en-IN" sz="1500" dirty="0" err="1">
                <a:hlinkClick r:id="rId10"/>
              </a:rPr>
              <a:t>CodeDom</a:t>
            </a:r>
            <a:r>
              <a:rPr lang="en-IN" sz="1500" dirty="0">
                <a:hlinkClick r:id="rId10"/>
              </a:rPr>
              <a:t> VS T4</a:t>
            </a:r>
            <a:endParaRPr lang="en-IN" sz="1500" dirty="0"/>
          </a:p>
          <a:p>
            <a:pPr algn="l"/>
            <a:r>
              <a:rPr lang="en-IN" sz="1500" dirty="0" err="1">
                <a:hlinkClick r:id="rId11"/>
              </a:rPr>
              <a:t>c#</a:t>
            </a:r>
            <a:r>
              <a:rPr lang="en-IN" sz="1500" dirty="0">
                <a:hlinkClick r:id="rId11"/>
              </a:rPr>
              <a:t> - </a:t>
            </a:r>
            <a:r>
              <a:rPr lang="en-IN" sz="1500" dirty="0" err="1">
                <a:hlinkClick r:id="rId11"/>
              </a:rPr>
              <a:t>Reflection.Emit</a:t>
            </a:r>
            <a:r>
              <a:rPr lang="en-IN" sz="1500" dirty="0">
                <a:hlinkClick r:id="rId11"/>
              </a:rPr>
              <a:t> vs </a:t>
            </a:r>
            <a:r>
              <a:rPr lang="en-IN" sz="1500" dirty="0" err="1">
                <a:hlinkClick r:id="rId11"/>
              </a:rPr>
              <a:t>CodeDOM</a:t>
            </a:r>
            <a:r>
              <a:rPr lang="en-IN" sz="1500" dirty="0">
                <a:hlinkClick r:id="rId11"/>
              </a:rPr>
              <a:t> - Stack Overflow</a:t>
            </a:r>
            <a:endParaRPr lang="en-IN" sz="1500" dirty="0"/>
          </a:p>
          <a:p>
            <a:pPr algn="l"/>
            <a:r>
              <a:rPr lang="en-US" sz="1500" dirty="0">
                <a:hlinkClick r:id="rId12"/>
              </a:rPr>
              <a:t>Using Roslyn for Runtime Code Generation in Marten – The Shade Tree Developer</a:t>
            </a:r>
            <a:endParaRPr lang="en-US" sz="1500" kern="0" spc="-220" dirty="0">
              <a:solidFill>
                <a:schemeClr val="accent6"/>
              </a:solidFill>
            </a:endParaRP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500" dirty="0">
                <a:hlinkClick r:id="rId13"/>
              </a:rPr>
              <a:t>DOT NET TRICKS: DLR using </a:t>
            </a:r>
            <a:r>
              <a:rPr lang="en-US" sz="1500" dirty="0" err="1">
                <a:hlinkClick r:id="rId13"/>
              </a:rPr>
              <a:t>Reflection.Emit</a:t>
            </a:r>
            <a:r>
              <a:rPr lang="en-US" sz="1500" dirty="0">
                <a:hlinkClick r:id="rId13"/>
              </a:rPr>
              <a:t> (In Depth) Part 2</a:t>
            </a:r>
            <a:endParaRPr lang="en-US" sz="1500" kern="0" spc="-220" dirty="0">
              <a:solidFill>
                <a:schemeClr val="accent6"/>
              </a:solidFill>
            </a:endParaRP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dirty="0">
                <a:hlinkClick r:id="rId7"/>
              </a:rPr>
              <a:t>Incremental Roslyn Source Generators In .NET 6: Code Sharing Of The Future - Part 1 - </a:t>
            </a:r>
            <a:r>
              <a:rPr lang="en-US" sz="1400" dirty="0" err="1">
                <a:hlinkClick r:id="rId7"/>
              </a:rPr>
              <a:t>Thinktecture</a:t>
            </a:r>
            <a:r>
              <a:rPr lang="en-US" sz="1400" dirty="0">
                <a:hlinkClick r:id="rId7"/>
              </a:rPr>
              <a:t> AG</a:t>
            </a:r>
            <a:endParaRPr lang="en-US" sz="1400" dirty="0"/>
          </a:p>
          <a:p>
            <a:pPr algn="l"/>
            <a:r>
              <a:rPr lang="en-IN" sz="1400" dirty="0">
                <a:hlinkClick r:id="rId8"/>
              </a:rPr>
              <a:t>Source Generators in C#</a:t>
            </a:r>
            <a:endParaRPr lang="en-IN" sz="1400" dirty="0"/>
          </a:p>
          <a:p>
            <a:pPr algn="l"/>
            <a:r>
              <a:rPr lang="en-IN" sz="1400" dirty="0">
                <a:hlinkClick r:id="rId9"/>
              </a:rPr>
              <a:t>The .NET Compiler Platform SDK (Roslyn APIs) - C# | Microsoft Learn</a:t>
            </a:r>
            <a:endParaRPr lang="en-IN" sz="1400" dirty="0"/>
          </a:p>
          <a:p>
            <a:pPr algn="l"/>
            <a:r>
              <a:rPr lang="en-IN" sz="1400" dirty="0">
                <a:hlinkClick r:id="rId10"/>
              </a:rPr>
              <a:t>Free </a:t>
            </a:r>
            <a:r>
              <a:rPr lang="en-IN" sz="1400" dirty="0" err="1">
                <a:hlinkClick r:id="rId10"/>
              </a:rPr>
              <a:t>Ebook</a:t>
            </a:r>
            <a:r>
              <a:rPr lang="en-IN" sz="1400" dirty="0">
                <a:hlinkClick r:id="rId10"/>
              </a:rPr>
              <a:t> - Roslyn Succinctly</a:t>
            </a:r>
            <a:endParaRPr lang="en-US" sz="1400" kern="0" spc="-220" dirty="0">
              <a:solidFill>
                <a:schemeClr val="accent6"/>
              </a:solidFill>
            </a:endParaRP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500" dirty="0">
                <a:hlinkClick r:id="rId11"/>
              </a:rPr>
              <a:t>How to Automatically Generate C# Code Snippets in Visual Studio</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500" dirty="0">
                <a:hlinkClick r:id="rId12"/>
              </a:rPr>
              <a:t>Dynamic Code Generation in C# With Expression Trees | by </a:t>
            </a:r>
            <a:r>
              <a:rPr lang="en-US" sz="1500" dirty="0" err="1">
                <a:hlinkClick r:id="rId12"/>
              </a:rPr>
              <a:t>Bagoum</a:t>
            </a:r>
            <a:r>
              <a:rPr lang="en-US" sz="1500" dirty="0">
                <a:hlinkClick r:id="rId12"/>
              </a:rPr>
              <a:t> | Medium</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6"/>
                </a:solidFill>
              </a:rPr>
              <a:t>Code Generation Performance Improvement –</a:t>
            </a:r>
          </a:p>
          <a:p>
            <a:pPr algn="l"/>
            <a:r>
              <a:rPr lang="en-US" sz="1400" kern="0" spc="-220" dirty="0">
                <a:solidFill>
                  <a:schemeClr val="accent6"/>
                </a:solidFill>
              </a:rPr>
              <a:t>Mainly done via some In-Memory Caching </a:t>
            </a: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Refer </a:t>
            </a:r>
            <a:r>
              <a:rPr lang="en-US" sz="1500" dirty="0">
                <a:hlinkClick r:id="rId13"/>
              </a:rPr>
              <a:t>Mastering </a:t>
            </a:r>
            <a:r>
              <a:rPr lang="en-US" sz="1500" dirty="0" err="1">
                <a:hlinkClick r:id="rId13"/>
              </a:rPr>
              <a:t>AutoMapper</a:t>
            </a:r>
            <a:r>
              <a:rPr lang="en-US" sz="1500" dirty="0">
                <a:hlinkClick r:id="rId13"/>
              </a:rPr>
              <a:t> in C#: A Comprehensive Guide - </a:t>
            </a:r>
            <a:r>
              <a:rPr lang="en-US" sz="1500" dirty="0" err="1">
                <a:hlinkClick r:id="rId13"/>
              </a:rPr>
              <a:t>ByteHide</a:t>
            </a:r>
            <a:r>
              <a:rPr lang="en-US" sz="1400" kern="0" spc="-220" dirty="0">
                <a:solidFill>
                  <a:schemeClr val="accent6"/>
                </a:solidFill>
              </a:rPr>
              <a:t> &amp; </a:t>
            </a:r>
            <a:r>
              <a:rPr lang="en-US" sz="1500" dirty="0" err="1">
                <a:hlinkClick r:id="rId14"/>
              </a:rPr>
              <a:t>c#</a:t>
            </a:r>
            <a:r>
              <a:rPr lang="en-US" sz="1500" dirty="0">
                <a:hlinkClick r:id="rId14"/>
              </a:rPr>
              <a:t> - </a:t>
            </a:r>
            <a:r>
              <a:rPr lang="en-US" sz="1500" dirty="0" err="1">
                <a:hlinkClick r:id="rId14"/>
              </a:rPr>
              <a:t>Automapper</a:t>
            </a:r>
            <a:r>
              <a:rPr lang="en-US" sz="1500" dirty="0">
                <a:hlinkClick r:id="rId14"/>
              </a:rPr>
              <a:t>. Map if source member is null - Stack Overflow</a:t>
            </a:r>
            <a:r>
              <a:rPr lang="en-US" sz="1500" kern="0" spc="-220" dirty="0">
                <a:solidFill>
                  <a:schemeClr val="accent6"/>
                </a:solidFill>
              </a:rPr>
              <a:t> </a:t>
            </a:r>
            <a:r>
              <a:rPr lang="en-US" sz="1400" kern="0" spc="-220" dirty="0">
                <a:solidFill>
                  <a:schemeClr val="accent6"/>
                </a:solidFill>
              </a:rPr>
              <a:t> for further details around the same.</a:t>
            </a:r>
          </a:p>
          <a:p>
            <a:pPr algn="l"/>
            <a:endParaRPr lang="en-US" sz="1600" kern="0" spc="-220" dirty="0">
              <a:solidFill>
                <a:schemeClr val="accent6"/>
              </a:solidFill>
            </a:endParaRPr>
          </a:p>
          <a:p>
            <a:pPr algn="l"/>
            <a:r>
              <a:rPr lang="en-US" sz="1800" kern="0" spc="-220" dirty="0">
                <a:solidFill>
                  <a:schemeClr val="accent2"/>
                </a:solidFill>
              </a:rPr>
              <a:t>For Further Exploration –</a:t>
            </a:r>
            <a:r>
              <a:rPr lang="en-US" sz="2000" kern="0" spc="-220" dirty="0">
                <a:solidFill>
                  <a:schemeClr val="accent2"/>
                </a:solidFill>
              </a:rPr>
              <a:t> </a:t>
            </a:r>
          </a:p>
          <a:p>
            <a:pPr algn="l"/>
            <a:r>
              <a:rPr lang="en-IN" sz="1500" dirty="0">
                <a:hlinkClick r:id="rId15"/>
              </a:rPr>
              <a:t>ProgramGeneration_Trennung.PDF</a:t>
            </a:r>
            <a:endParaRPr lang="en-US" sz="1500" kern="0" spc="-220" dirty="0">
              <a:solidFill>
                <a:schemeClr val="accent6"/>
              </a:solidFill>
            </a:endParaRP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1500" dirty="0">
                <a:hlinkClick r:id="rId7"/>
              </a:rPr>
              <a:t>Early vs Late Binding, reflection, and type dynamic in C#</a:t>
            </a:r>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1500" dirty="0">
                <a:hlinkClick r:id="rId8"/>
              </a:rPr>
              <a:t>Understanding Late Binding: Dynamic Objects and Reflection in C# .NET | LinkedIn</a:t>
            </a:r>
            <a:endParaRPr lang="en-US" sz="15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6314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1500" dirty="0">
                <a:hlinkClick r:id="rId7"/>
              </a:rPr>
              <a:t>The Visitor Pattern and dynamic in C# 4 — </a:t>
            </a:r>
            <a:r>
              <a:rPr lang="en-US" sz="1500" dirty="0" err="1">
                <a:hlinkClick r:id="rId7"/>
              </a:rPr>
              <a:t>Faithlife</a:t>
            </a:r>
            <a:r>
              <a:rPr lang="en-US" sz="1500" dirty="0">
                <a:hlinkClick r:id="rId7"/>
              </a:rPr>
              <a:t> Code Blog</a:t>
            </a:r>
            <a:endParaRPr lang="en-US" sz="1500" dirty="0"/>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1500" dirty="0" err="1">
                <a:hlinkClick r:id="rId8"/>
              </a:rPr>
              <a:t>c#</a:t>
            </a:r>
            <a:r>
              <a:rPr lang="en-US" sz="1500" dirty="0">
                <a:hlinkClick r:id="rId8"/>
              </a:rPr>
              <a:t> - Differences between </a:t>
            </a:r>
            <a:r>
              <a:rPr lang="en-US" sz="1500" dirty="0" err="1">
                <a:hlinkClick r:id="rId8"/>
              </a:rPr>
              <a:t>ExpandoObject</a:t>
            </a:r>
            <a:r>
              <a:rPr lang="en-US" sz="1500" dirty="0">
                <a:hlinkClick r:id="rId8"/>
              </a:rPr>
              <a:t>, </a:t>
            </a:r>
            <a:r>
              <a:rPr lang="en-US" sz="1500" dirty="0" err="1">
                <a:hlinkClick r:id="rId8"/>
              </a:rPr>
              <a:t>DynamicObject</a:t>
            </a:r>
            <a:r>
              <a:rPr lang="en-US" sz="1500" dirty="0">
                <a:hlinkClick r:id="rId8"/>
              </a:rPr>
              <a:t> and dynamic - Stack Overflow</a:t>
            </a:r>
            <a:endParaRPr lang="en-US" sz="15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1500" dirty="0" err="1">
                <a:hlinkClick r:id="rId7"/>
              </a:rPr>
              <a:t>c#</a:t>
            </a:r>
            <a:r>
              <a:rPr lang="en-US" sz="1500" dirty="0">
                <a:hlinkClick r:id="rId7"/>
              </a:rPr>
              <a:t> - Why use strong named assemblies?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1500" dirty="0" err="1">
                <a:hlinkClick r:id="rId8"/>
              </a:rPr>
              <a:t>.net</a:t>
            </a:r>
            <a:r>
              <a:rPr lang="en-US" sz="1500" dirty="0">
                <a:hlinkClick r:id="rId8"/>
              </a:rPr>
              <a:t> - In what order are locations searched to load referenced DLLs? - Stack Overflow</a:t>
            </a:r>
            <a:endParaRPr lang="en-US" sz="1500" dirty="0"/>
          </a:p>
          <a:p>
            <a:pPr algn="l"/>
            <a:r>
              <a:rPr lang="en-US" sz="1500" dirty="0" err="1">
                <a:hlinkClick r:id="rId9"/>
              </a:rPr>
              <a:t>c#</a:t>
            </a:r>
            <a:r>
              <a:rPr lang="en-US" sz="1500" dirty="0">
                <a:hlinkClick r:id="rId9"/>
              </a:rPr>
              <a:t> - .NET use application config file to load an assembly that is referenced by another assembly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1500" dirty="0" err="1">
                <a:hlinkClick r:id="rId10"/>
              </a:rPr>
              <a:t>.net</a:t>
            </a:r>
            <a:r>
              <a:rPr lang="en-US" sz="1500" dirty="0">
                <a:hlinkClick r:id="rId10"/>
              </a:rPr>
              <a:t> - What is a satellite assembly? - Stack Overflow</a:t>
            </a:r>
            <a:endParaRPr lang="en-US" sz="1500" kern="0" spc="-220" dirty="0">
              <a:solidFill>
                <a:schemeClr val="accent6"/>
              </a:solidFill>
            </a:endParaRP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500" dirty="0">
                <a:hlinkClick r:id="rId7"/>
              </a:rPr>
              <a:t>jot.fm/issues/issue_2007_03/article1/</a:t>
            </a:r>
            <a:endParaRPr lang="en-US" sz="15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IN" sz="1500" dirty="0">
                <a:hlinkClick r:id="rId8"/>
              </a:rPr>
              <a:t>MSIL Rewriting – </a:t>
            </a:r>
            <a:r>
              <a:rPr lang="en-IN" sz="1500" dirty="0" err="1">
                <a:hlinkClick r:id="rId8"/>
              </a:rPr>
              <a:t>PostSharp</a:t>
            </a:r>
            <a:r>
              <a:rPr lang="en-IN" sz="1500" dirty="0">
                <a:hlinkClick r:id="rId8"/>
              </a:rPr>
              <a:t> Technologies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1500" dirty="0">
                <a:hlinkClick r:id="rId9"/>
              </a:rPr>
              <a:t>Middleware and Dependency Injection – </a:t>
            </a:r>
            <a:r>
              <a:rPr lang="en-US" sz="1500" dirty="0" err="1">
                <a:hlinkClick r:id="rId9"/>
              </a:rPr>
              <a:t>PostSharp</a:t>
            </a:r>
            <a:r>
              <a:rPr lang="en-US" sz="1500" dirty="0">
                <a:hlinkClick r:id="rId9"/>
              </a:rPr>
              <a:t> Technologies</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500" dirty="0">
                <a:hlinkClick r:id="rId10"/>
              </a:rPr>
              <a:t>DDD-Based-Enterprise-Application-Framework/Infrastructure/</a:t>
            </a:r>
            <a:r>
              <a:rPr lang="en-US" sz="1500" dirty="0" err="1">
                <a:hlinkClick r:id="rId10"/>
              </a:rPr>
              <a:t>AoP</a:t>
            </a:r>
            <a:r>
              <a:rPr lang="en-US" sz="1500" dirty="0">
                <a:hlinkClick r:id="rId10"/>
              </a:rPr>
              <a:t> at master · sandipray63in/DDD-Based-Enterprise-Application-Framework · GitHub</a:t>
            </a:r>
            <a:endParaRPr lang="en-US" sz="1500" kern="0" spc="-220" dirty="0">
              <a:solidFill>
                <a:schemeClr val="accent6"/>
              </a:solidFill>
            </a:endParaRP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500" dirty="0">
                <a:hlinkClick r:id="rId11"/>
              </a:rPr>
              <a:t>Aspect-Oriented Programming (AOP) - Microsoft Unity Succinctly </a:t>
            </a:r>
            <a:r>
              <a:rPr lang="en-US" sz="1500" dirty="0" err="1">
                <a:hlinkClick r:id="rId11"/>
              </a:rPr>
              <a:t>Ebook</a:t>
            </a:r>
            <a:endParaRPr lang="en-US" sz="1500" kern="0" spc="-220" dirty="0">
              <a:solidFill>
                <a:schemeClr val="accent6"/>
              </a:solidFill>
            </a:endParaRP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500" dirty="0" err="1">
                <a:hlinkClick r:id="rId8"/>
              </a:rPr>
              <a:t>SignalR</a:t>
            </a:r>
            <a:r>
              <a:rPr lang="en-US" sz="1500" dirty="0">
                <a:hlinkClick r:id="rId8"/>
              </a:rPr>
              <a:t> + RX (Streaming Data Demo App 1 of 2)- </a:t>
            </a:r>
            <a:r>
              <a:rPr lang="en-US" sz="1500" dirty="0" err="1">
                <a:hlinkClick r:id="rId8"/>
              </a:rPr>
              <a:t>CodeProject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500" dirty="0">
                <a:hlinkClick r:id="rId9"/>
              </a:rPr>
              <a:t>Rx.NET in the real world. Lessons that can help you when marbles… | by William Barbosa | Medium</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1500" kern="0" spc="-220" dirty="0">
                <a:solidFill>
                  <a:schemeClr val="accent6"/>
                </a:solidFill>
              </a:rPr>
              <a:t>     </a:t>
            </a:r>
            <a:r>
              <a:rPr lang="en-US" sz="1500" dirty="0">
                <a:hlinkClick r:id="rId7"/>
              </a:rPr>
              <a:t>A Solid Guide to SOLID Principles | </a:t>
            </a:r>
            <a:r>
              <a:rPr lang="en-US" sz="1500" dirty="0" err="1">
                <a:hlinkClick r:id="rId7"/>
              </a:rPr>
              <a:t>Baeldung</a:t>
            </a:r>
            <a:endParaRPr lang="en-US" sz="15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2780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500" kern="0" spc="-220" dirty="0">
                <a:solidFill>
                  <a:schemeClr val="accent6"/>
                </a:solidFill>
              </a:rPr>
              <a:t> </a:t>
            </a:r>
            <a:r>
              <a:rPr lang="en-IN" sz="1500" dirty="0">
                <a:hlinkClick r:id="rId7"/>
              </a:rPr>
              <a:t> Pros &amp; Cons of SOLID Principles | LinkedIn</a:t>
            </a:r>
            <a:endParaRPr lang="en-US" sz="1500" kern="0" spc="-220" dirty="0">
              <a:solidFill>
                <a:schemeClr val="accent6"/>
              </a:solidFill>
            </a:endParaRPr>
          </a:p>
          <a:p>
            <a:pPr marL="12700" marR="5080"/>
            <a:r>
              <a:rPr lang="en-US" sz="1600" kern="0" spc="-220" dirty="0">
                <a:solidFill>
                  <a:schemeClr val="accent6"/>
                </a:solidFill>
              </a:rPr>
              <a:t>  </a:t>
            </a:r>
            <a:r>
              <a:rPr lang="en-US" sz="1500" dirty="0">
                <a:hlinkClick r:id="rId8"/>
              </a:rPr>
              <a:t>Free </a:t>
            </a:r>
            <a:r>
              <a:rPr lang="en-US" sz="1500" dirty="0" err="1">
                <a:hlinkClick r:id="rId8"/>
              </a:rPr>
              <a:t>Ebook</a:t>
            </a:r>
            <a:r>
              <a:rPr lang="en-US" sz="1500" dirty="0">
                <a:hlinkClick r:id="rId8"/>
              </a:rPr>
              <a:t> - SOLID Principles Succinctly</a:t>
            </a:r>
            <a:endParaRPr lang="en-US" sz="1500" kern="0" spc="-220" dirty="0">
              <a:solidFill>
                <a:schemeClr val="accent6"/>
              </a:solidFill>
            </a:endParaRP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1500" dirty="0">
                <a:hlinkClick r:id="rId7"/>
              </a:rPr>
              <a:t>Inversion of Control vs Dependency Injection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500" kern="0" spc="-220" dirty="0">
                <a:solidFill>
                  <a:schemeClr val="accent6"/>
                </a:solidFill>
              </a:rPr>
              <a:t> </a:t>
            </a:r>
            <a:r>
              <a:rPr lang="en-IN" sz="1500" dirty="0">
                <a:hlinkClick r:id="rId8"/>
              </a:rPr>
              <a:t> To or Not To DI | LinkedIn</a:t>
            </a:r>
            <a:endParaRPr lang="en-US" sz="15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212983940"/>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US" sz="1100" dirty="0" err="1">
                          <a:hlinkClick r:id="rId7"/>
                        </a:rPr>
                        <a:t>WeatherForecastAzureFunctionAndAngularSample</a:t>
                      </a:r>
                      <a:r>
                        <a:rPr lang="en-US" sz="1100" dirty="0">
                          <a:hlinkClick r:id="rId7"/>
                        </a:rPr>
                        <a:t>/</a:t>
                      </a:r>
                      <a:r>
                        <a:rPr lang="en-US" sz="1100" dirty="0" err="1">
                          <a:hlinkClick r:id="rId7"/>
                        </a:rPr>
                        <a:t>WeatherForecastAPI</a:t>
                      </a:r>
                      <a:r>
                        <a:rPr lang="en-US" sz="1100" dirty="0">
                          <a:hlinkClick r:id="rId7"/>
                        </a:rPr>
                        <a:t>/</a:t>
                      </a:r>
                      <a:r>
                        <a:rPr lang="en-US" sz="1100" dirty="0" err="1">
                          <a:hlinkClick r:id="rId7"/>
                        </a:rPr>
                        <a:t>DomainServices</a:t>
                      </a:r>
                      <a:r>
                        <a:rPr lang="en-US" sz="1100" dirty="0">
                          <a:hlinkClick r:id="rId7"/>
                        </a:rPr>
                        <a:t> at master · sandipray63in/</a:t>
                      </a:r>
                      <a:r>
                        <a:rPr lang="en-US" sz="1100" dirty="0" err="1">
                          <a:hlinkClick r:id="rId7"/>
                        </a:rPr>
                        <a:t>WeatherForecastAzureFunctionAndAngularSample</a:t>
                      </a:r>
                      <a:r>
                        <a:rPr lang="en-US" sz="1100" dirty="0">
                          <a:hlinkClick r:id="rId7"/>
                        </a:rPr>
                        <a:t> · GitHub</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dirty="0">
                          <a:hlinkClick r:id="rId8"/>
                        </a:rPr>
                        <a:t>Refactoring </a:t>
                      </a:r>
                      <a:r>
                        <a:rPr lang="en-IN" sz="1100" dirty="0" err="1">
                          <a:hlinkClick r:id="rId8"/>
                        </a:rPr>
                        <a:t>Guru|Builder</a:t>
                      </a:r>
                      <a:r>
                        <a:rPr lang="en-IN" sz="1100" dirty="0">
                          <a:hlinkClick r:id="rId8"/>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dirty="0">
                          <a:hlinkClick r:id="rId9"/>
                        </a:rPr>
                        <a:t>DDD-Based-Enterprise-Application-Framework/Infrastructure/DI/</a:t>
                      </a:r>
                      <a:r>
                        <a:rPr lang="en-IN" sz="1100" dirty="0" err="1">
                          <a:hlinkClick r:id="rId9"/>
                        </a:rPr>
                        <a:t>Container.cs</a:t>
                      </a:r>
                      <a:r>
                        <a:rPr lang="en-IN" sz="1100" dirty="0">
                          <a:hlinkClick r:id="rId9"/>
                        </a:rPr>
                        <a:t> at master · sandipray63in/DDD-Based-Enterprise-Application-Framework · GitHub</a:t>
                      </a:r>
                      <a:r>
                        <a:rPr lang="en-IN" sz="1100" b="0" i="0" u="sng" strike="noStrike" dirty="0">
                          <a:solidFill>
                            <a:srgbClr val="0563C1"/>
                          </a:solidFill>
                          <a:effectLst/>
                          <a:latin typeface="Calibri" panose="020F0502020204030204" pitchFamily="34" charset="0"/>
                          <a:hlinkClick r:id="rId9"/>
                        </a:rPr>
                        <a:t>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a:t>
                      </a:r>
                      <a:r>
                        <a:rPr lang="en-IN" sz="1100" dirty="0" err="1">
                          <a:hlinkClick r:id="rId10"/>
                        </a:rPr>
                        <a:t>Multiton</a:t>
                      </a:r>
                      <a:r>
                        <a:rPr lang="en-IN" sz="1100" dirty="0">
                          <a:hlinkClick r:id="rId10"/>
                        </a:rPr>
                        <a:t> pattern - Wikipedia</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dirty="0">
                          <a:hlinkClick r:id="rId11"/>
                        </a:rPr>
                        <a:t>Prototype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dirty="0">
                          <a:hlinkClick r:id="rId12"/>
                        </a:rPr>
                        <a:t>Abstract factory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dirty="0">
                          <a:hlinkClick r:id="rId13"/>
                        </a:rPr>
                        <a:t>Lazy initialization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dirty="0">
                          <a:hlinkClick r:id="rId14"/>
                        </a:rPr>
                        <a:t>Object pool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3268110207"/>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dirty="0">
                          <a:hlinkClick r:id="rId7"/>
                        </a:rPr>
                        <a:t>Adapter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dirty="0">
                          <a:hlinkClick r:id="rId8"/>
                        </a:rPr>
                        <a:t>Refactoring Guru | Bridge Pattern </a:t>
                      </a:r>
                      <a:endParaRPr lang="en-IN" sz="1100" dirty="0"/>
                    </a:p>
                    <a:p>
                      <a:pPr algn="l" fontAlgn="b"/>
                      <a:r>
                        <a:rPr lang="en-IN" sz="1100" dirty="0">
                          <a:hlinkClick r:id="rId9"/>
                        </a:rPr>
                        <a:t>DDD-Based-Enterprise-Application-Framework/Repository/Base/</a:t>
                      </a:r>
                      <a:r>
                        <a:rPr lang="en-IN" sz="1100" dirty="0" err="1">
                          <a:hlinkClick r:id="rId9"/>
                        </a:rPr>
                        <a:t>IQueryableRepository.cs</a:t>
                      </a:r>
                      <a:r>
                        <a:rPr lang="en-IN" sz="1100" dirty="0">
                          <a:hlinkClick r:id="rId9"/>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dirty="0">
                          <a:hlinkClick r:id="rId10"/>
                        </a:rPr>
                        <a:t>Refactoring Guru | Composite 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1"/>
                        </a:rPr>
                        <a:t>Flyweight pattern - Wikipedia</a:t>
                      </a:r>
                      <a:endParaRPr lang="en-US" sz="1100" b="0" i="0" u="sng" strike="noStrike" dirty="0">
                        <a:solidFill>
                          <a:srgbClr val="0563C1"/>
                        </a:solidFill>
                        <a:effectLst/>
                        <a:latin typeface="Calibri" panose="020F0502020204030204" pitchFamily="34" charset="0"/>
                      </a:endParaRPr>
                    </a:p>
                    <a:p>
                      <a:pPr algn="l" fontAlgn="b"/>
                      <a:r>
                        <a:rPr lang="en-US" sz="1100" dirty="0">
                          <a:hlinkClick r:id="rId12"/>
                        </a:rPr>
                        <a:t>What is the reason for the name of the Flyweight Design Pattern? - Stack Overflow</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dirty="0">
                          <a:hlinkClick r:id="rId13"/>
                        </a:rPr>
                        <a:t>Facade pattern - Wikipedia</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dirty="0">
                          <a:hlinkClick r:id="rId14"/>
                        </a:rPr>
                        <a:t>Proxy pattern - Wikipedia</a:t>
                      </a:r>
                      <a:endParaRPr lang="en-IN" sz="1100" b="0" i="0" u="none" strike="noStrike" dirty="0">
                        <a:solidFill>
                          <a:srgbClr val="000000"/>
                        </a:solidFill>
                        <a:effectLst/>
                        <a:latin typeface="Calibri" panose="020F0502020204030204" pitchFamily="34" charset="0"/>
                        <a:ea typeface="+mn-ea"/>
                        <a:cs typeface="+mn-cs"/>
                      </a:endParaRP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4007285905"/>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dirty="0">
                          <a:hlinkClick r:id="rId7"/>
                        </a:rPr>
                        <a:t>Chain-of-responsibility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dirty="0" err="1">
                          <a:hlinkClick r:id="rId8"/>
                        </a:rPr>
                        <a:t>RefatoringGuru</a:t>
                      </a:r>
                      <a:r>
                        <a:rPr lang="en-IN" sz="1100" dirty="0">
                          <a:hlinkClick r:id="rId8"/>
                        </a:rPr>
                        <a:t> | Command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dirty="0">
                          <a:hlinkClick r:id="rId9"/>
                        </a:rPr>
                        <a:t>Interpreter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10"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dirty="0">
                          <a:hlinkClick r:id="rId11"/>
                        </a:rPr>
                        <a:t>DDD-Based-Enterprise-Application-Framework/</a:t>
                      </a:r>
                      <a:r>
                        <a:rPr lang="en-IN" sz="1100" dirty="0" err="1">
                          <a:hlinkClick r:id="rId11"/>
                        </a:rPr>
                        <a:t>ApplicationAndInfrastructureServices</a:t>
                      </a:r>
                      <a:r>
                        <a:rPr lang="en-IN" sz="1100" dirty="0">
                          <a:hlinkClick r:id="rId11"/>
                        </a:rPr>
                        <a:t>/</a:t>
                      </a:r>
                      <a:r>
                        <a:rPr lang="en-IN" sz="1100" dirty="0" err="1">
                          <a:hlinkClick r:id="rId11"/>
                        </a:rPr>
                        <a:t>BatchProcessing</a:t>
                      </a:r>
                      <a:r>
                        <a:rPr lang="en-IN" sz="1100" dirty="0">
                          <a:hlinkClick r:id="rId11"/>
                        </a:rPr>
                        <a:t>/</a:t>
                      </a:r>
                      <a:r>
                        <a:rPr lang="en-IN" sz="1100" dirty="0" err="1">
                          <a:hlinkClick r:id="rId11"/>
                        </a:rPr>
                        <a:t>BaseBatchSeedSelector.cs</a:t>
                      </a:r>
                      <a:r>
                        <a:rPr lang="en-IN" sz="1100" dirty="0">
                          <a:hlinkClick r:id="rId11"/>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rPr>
                        <a:t>Multi-Threading based Iterator?</a:t>
                      </a: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2325733435"/>
              </p:ext>
            </p:extLst>
          </p:nvPr>
        </p:nvGraphicFramePr>
        <p:xfrm>
          <a:off x="275300" y="807720"/>
          <a:ext cx="8716299" cy="5292394"/>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dirty="0">
                          <a:hlinkClick r:id="rId7"/>
                        </a:rPr>
                        <a:t>Refactoring </a:t>
                      </a:r>
                      <a:r>
                        <a:rPr lang="en-IN" sz="1100" dirty="0" err="1">
                          <a:hlinkClick r:id="rId7"/>
                        </a:rPr>
                        <a:t>Guru|Mediator</a:t>
                      </a:r>
                      <a:r>
                        <a:rPr lang="en-IN" sz="1100" dirty="0">
                          <a:hlinkClick r:id="rId7"/>
                        </a:rPr>
                        <a:t> Pattern</a:t>
                      </a:r>
                      <a:endParaRPr lang="en-IN" sz="1100" dirty="0"/>
                    </a:p>
                    <a:p>
                      <a:pPr algn="l" fontAlgn="b"/>
                      <a:r>
                        <a:rPr lang="en-IN" sz="1100" dirty="0">
                          <a:hlinkClick r:id="rId8"/>
                        </a:rPr>
                        <a:t>CQRS Pattern With </a:t>
                      </a:r>
                      <a:r>
                        <a:rPr lang="en-IN" sz="1100" dirty="0" err="1">
                          <a:hlinkClick r:id="rId8"/>
                        </a:rPr>
                        <a:t>MediatR</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9"/>
                        </a:rPr>
                        <a:t>Refactoring </a:t>
                      </a:r>
                      <a:r>
                        <a:rPr lang="en-IN" sz="1100" dirty="0" err="1">
                          <a:hlinkClick r:id="rId9"/>
                        </a:rPr>
                        <a:t>Guru|Memento</a:t>
                      </a:r>
                      <a:r>
                        <a:rPr lang="en-IN" sz="1100" dirty="0">
                          <a:hlinkClick r:id="rId9"/>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dirty="0">
                          <a:hlinkClick r:id="rId10"/>
                        </a:rPr>
                        <a:t>Refactoring Guru | Observer</a:t>
                      </a:r>
                      <a:endParaRPr lang="en-IN" sz="1100" dirty="0"/>
                    </a:p>
                    <a:p>
                      <a:pPr algn="l" fontAlgn="b"/>
                      <a:r>
                        <a:rPr lang="en-US" sz="1100" dirty="0">
                          <a:hlinkClick r:id="rId11"/>
                        </a:rPr>
                        <a:t>DDD-Based-Enterprise-Application-Framework/Infrastructure/Observers at master · sandipray63in/DDD-Based-Enterprise-Application-Framework · GitHub</a:t>
                      </a:r>
                      <a:endParaRPr lang="en-US" sz="1100" dirty="0"/>
                    </a:p>
                    <a:p>
                      <a:pPr algn="l" fontAlgn="b"/>
                      <a:r>
                        <a:rPr lang="en-US" sz="1100" dirty="0" err="1">
                          <a:hlinkClick r:id="rId12"/>
                        </a:rPr>
                        <a:t>SignalR</a:t>
                      </a:r>
                      <a:r>
                        <a:rPr lang="en-US" sz="1100" dirty="0">
                          <a:hlinkClick r:id="rId12"/>
                        </a:rPr>
                        <a:t> + RX (Streaming Data Demo App 1 of 2)- </a:t>
                      </a:r>
                      <a:r>
                        <a:rPr lang="en-US" sz="1100" dirty="0" err="1">
                          <a:hlinkClick r:id="rId12"/>
                        </a:rPr>
                        <a:t>CodeProject</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dirty="0">
                          <a:hlinkClick r:id="rId13"/>
                        </a:rPr>
                        <a:t>Refactoring Guru | State Pattern</a:t>
                      </a:r>
                      <a:endParaRPr lang="en-IN" sz="900" dirty="0"/>
                    </a:p>
                    <a:p>
                      <a:pPr algn="l" fontAlgn="b"/>
                      <a:r>
                        <a:rPr lang="en-IN" sz="900" dirty="0">
                          <a:hlinkClick r:id="rId14"/>
                        </a:rPr>
                        <a:t>Type Driven Development</a:t>
                      </a:r>
                      <a:endParaRPr lang="en-IN" sz="900" dirty="0"/>
                    </a:p>
                    <a:p>
                      <a:pPr algn="l" fontAlgn="b"/>
                      <a:r>
                        <a:rPr lang="en-IN" sz="900" b="0" i="0" dirty="0">
                          <a:solidFill>
                            <a:schemeClr val="dk1"/>
                          </a:solidFill>
                          <a:effectLst/>
                          <a:latin typeface="+mn-lt"/>
                          <a:ea typeface="+mn-ea"/>
                          <a:cs typeface="+mn-cs"/>
                        </a:rPr>
                        <a:t>Permissible States Rules Engine</a:t>
                      </a:r>
                    </a:p>
                    <a:p>
                      <a:pPr algn="l" fontAlgn="b"/>
                      <a:r>
                        <a:rPr lang="en-US" sz="900" dirty="0">
                          <a:hlinkClick r:id="rId15"/>
                        </a:rPr>
                        <a:t>Graph concepts and state machine</a:t>
                      </a:r>
                      <a:endParaRPr lang="en-US" sz="900" dirty="0"/>
                    </a:p>
                    <a:p>
                      <a:pPr algn="l" fontAlgn="b"/>
                      <a:r>
                        <a:rPr lang="en-US" sz="900" dirty="0">
                          <a:hlinkClick r:id="rId16"/>
                        </a:rPr>
                        <a:t>Domain-Specific Languages: An Introductory Example | 1.1 Gothic Security | </a:t>
                      </a:r>
                      <a:r>
                        <a:rPr lang="en-US" sz="900" dirty="0" err="1">
                          <a:hlinkClick r:id="rId16"/>
                        </a:rPr>
                        <a:t>InformIT</a:t>
                      </a:r>
                      <a:endParaRPr lang="en-IN" sz="900" b="0" i="0" dirty="0">
                        <a:solidFill>
                          <a:schemeClr val="dk1"/>
                        </a:solidFill>
                        <a:effectLst/>
                        <a:latin typeface="+mn-lt"/>
                        <a:ea typeface="+mn-ea"/>
                        <a:cs typeface="+mn-cs"/>
                      </a:endParaRPr>
                    </a:p>
                    <a:p>
                      <a:pPr algn="l" fontAlgn="b"/>
                      <a:r>
                        <a:rPr lang="en-US" sz="900" dirty="0">
                          <a:hlinkClick r:id="rId17"/>
                        </a:rPr>
                        <a:t>Embedded System Design using UML State Machines | Udemy</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8"/>
                        </a:rPr>
                        <a:t>Strategy pattern </a:t>
                      </a:r>
                      <a:r>
                        <a:rPr lang="en-IN" sz="1100" dirty="0">
                          <a:hlinkClick r:id="rId19"/>
                        </a:rPr>
                        <a:t>–</a:t>
                      </a:r>
                      <a:r>
                        <a:rPr lang="en-IN" sz="1100" dirty="0">
                          <a:hlinkClick r:id="rId18"/>
                        </a:rPr>
                        <a:t> Wikipedia</a:t>
                      </a:r>
                      <a:endParaRPr lang="en-IN" sz="1100" dirty="0"/>
                    </a:p>
                    <a:p>
                      <a:pPr algn="l" fontAlgn="b"/>
                      <a:r>
                        <a:rPr lang="en-US" sz="1100" dirty="0">
                          <a:hlinkClick r:id="rId20"/>
                        </a:rPr>
                        <a:t>Book Review: Software Architecture, by Juval Lowy | LinkedIn</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2490671202"/>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dirty="0">
                          <a:hlinkClick r:id="rId7"/>
                        </a:rPr>
                        <a:t>Template method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8"/>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8"/>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8"/>
                      </a:endParaRPr>
                    </a:p>
                    <a:p>
                      <a:pPr marL="0" algn="l" fontAlgn="b"/>
                      <a:r>
                        <a:rPr lang="en-IN" sz="1100" dirty="0">
                          <a:hlinkClick r:id="rId9"/>
                        </a:rPr>
                        <a:t>Refactoring Guru | Visitor Pattern</a:t>
                      </a:r>
                      <a:endParaRPr lang="en-IN" sz="1100" b="0" i="0" u="sng" strike="noStrike" dirty="0">
                        <a:solidFill>
                          <a:srgbClr val="0563C1"/>
                        </a:solidFill>
                        <a:effectLst/>
                        <a:latin typeface="Calibri" panose="020F0502020204030204" pitchFamily="34" charset="0"/>
                        <a:ea typeface="+mn-ea"/>
                        <a:cs typeface="+mn-cs"/>
                      </a:endParaRP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3234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IN" sz="1400" dirty="0">
                <a:hlinkClick r:id="rId10"/>
              </a:rPr>
              <a:t>Software design pattern - Wikipedia</a:t>
            </a:r>
            <a:r>
              <a:rPr lang="en-US" sz="2400" kern="0" spc="-220" dirty="0">
                <a:solidFill>
                  <a:schemeClr val="accent6"/>
                </a:solidFill>
              </a:rPr>
              <a:t> </a:t>
            </a:r>
          </a:p>
          <a:p>
            <a:pPr marL="12700" marR="5080"/>
            <a:r>
              <a:rPr lang="en-IN" sz="1400" dirty="0">
                <a:hlinkClick r:id="rId11"/>
              </a:rPr>
              <a:t>Refactoring Guru | Design Patterns</a:t>
            </a:r>
            <a:r>
              <a:rPr lang="en-US" sz="2400" kern="0" spc="-220" dirty="0">
                <a:solidFill>
                  <a:schemeClr val="accent6"/>
                </a:solidFill>
              </a:rPr>
              <a:t> </a:t>
            </a:r>
          </a:p>
          <a:p>
            <a:pPr marL="12700" marR="5080"/>
            <a:r>
              <a:rPr lang="en-IN" sz="1400" dirty="0">
                <a:hlinkClick r:id="rId12"/>
              </a:rPr>
              <a:t>Dinesh </a:t>
            </a:r>
            <a:r>
              <a:rPr lang="en-IN" sz="1400" dirty="0" err="1">
                <a:hlinkClick r:id="rId12"/>
              </a:rPr>
              <a:t>Variyani’s</a:t>
            </a:r>
            <a:r>
              <a:rPr lang="en-IN" sz="1400" dirty="0">
                <a:hlinkClick r:id="rId12"/>
              </a:rPr>
              <a:t> Design Patterns Post | LinkedIn</a:t>
            </a:r>
            <a:endParaRPr lang="en-US" sz="2400" kern="0" spc="-220" dirty="0">
              <a:solidFill>
                <a:schemeClr val="accent6"/>
              </a:solidFill>
            </a:endParaRP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1500" dirty="0">
                <a:hlinkClick r:id="rId7"/>
              </a:rPr>
              <a:t>ASP.NET Core Middleware | Microsoft Learn</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IN" sz="1500" dirty="0">
                <a:hlinkClick r:id="rId8"/>
              </a:rPr>
              <a:t>Web API_revised2</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IN" sz="1500" dirty="0" err="1">
                <a:hlinkClick r:id="rId9"/>
              </a:rPr>
              <a:t>gRPC</a:t>
            </a:r>
            <a:r>
              <a:rPr lang="en-IN" sz="1500" dirty="0">
                <a:hlinkClick r:id="rId9"/>
              </a:rPr>
              <a:t> interceptors on .NET | Microsoft Learn</a:t>
            </a:r>
            <a:endParaRPr lang="en-US" sz="1500" kern="0" spc="-220" dirty="0">
              <a:solidFill>
                <a:schemeClr val="accent6"/>
              </a:solidFill>
            </a:endParaRP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pt-BR" sz="1500" dirty="0">
                <a:hlinkClick r:id="rId7"/>
              </a:rPr>
              <a:t>Carlos Figueira Explains WCF Extensibility - InfoQ</a:t>
            </a:r>
            <a:endParaRPr lang="en-US" sz="1500" kern="0" spc="-220" dirty="0">
              <a:solidFill>
                <a:schemeClr val="accent6"/>
              </a:solidFill>
            </a:endParaRPr>
          </a:p>
          <a:p>
            <a:pPr marL="12700" marR="5080"/>
            <a:r>
              <a:rPr lang="en-US" sz="1500" dirty="0">
                <a:hlinkClick r:id="rId8"/>
              </a:rPr>
              <a:t>DDD-Based-Enterprise-Application-Framework/Infrastructure/</a:t>
            </a:r>
            <a:r>
              <a:rPr lang="en-US" sz="1500" dirty="0" err="1">
                <a:hlinkClick r:id="rId8"/>
              </a:rPr>
              <a:t>WCFExtensibility</a:t>
            </a:r>
            <a:r>
              <a:rPr lang="en-US" sz="1500" dirty="0">
                <a:hlinkClick r:id="rId8"/>
              </a:rPr>
              <a:t> at master · sandipray63in/DDD-Based-Enterprise-Application-Framework · GitHub</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IN" sz="1500" dirty="0">
                <a:hlinkClick r:id="rId9"/>
              </a:rPr>
              <a:t>asp.net - HTTP handler vs HTTP module - Stack Overflow</a:t>
            </a:r>
            <a:endParaRPr lang="en-IN" sz="1500" dirty="0"/>
          </a:p>
          <a:p>
            <a:pPr marL="12700" marR="5080"/>
            <a:r>
              <a:rPr lang="en-US" sz="1500" dirty="0">
                <a:hlinkClick r:id="rId10"/>
              </a:rPr>
              <a:t>The Two Interceptors: </a:t>
            </a:r>
            <a:r>
              <a:rPr lang="en-US" sz="1500" dirty="0" err="1">
                <a:hlinkClick r:id="rId10"/>
              </a:rPr>
              <a:t>HttpModule</a:t>
            </a:r>
            <a:r>
              <a:rPr lang="en-US" sz="1500" dirty="0">
                <a:hlinkClick r:id="rId10"/>
              </a:rPr>
              <a:t> and </a:t>
            </a:r>
            <a:r>
              <a:rPr lang="en-US" sz="1500" dirty="0" err="1">
                <a:hlinkClick r:id="rId10"/>
              </a:rPr>
              <a:t>HttpHandlers</a:t>
            </a:r>
            <a:r>
              <a:rPr lang="en-US" sz="1500" dirty="0">
                <a:hlinkClick r:id="rId10"/>
              </a:rPr>
              <a:t>- </a:t>
            </a:r>
            <a:r>
              <a:rPr lang="en-US" sz="1500" dirty="0" err="1">
                <a:hlinkClick r:id="rId10"/>
              </a:rPr>
              <a:t>CodeProject</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1500" dirty="0">
                <a:hlinkClick r:id="rId7"/>
              </a:rPr>
              <a:t>Understand Advanced </a:t>
            </a:r>
            <a:r>
              <a:rPr lang="en-US" sz="1500" dirty="0" err="1">
                <a:hlinkClick r:id="rId7"/>
              </a:rPr>
              <a:t>AssemblyLoadContext</a:t>
            </a:r>
            <a:r>
              <a:rPr lang="en-US" sz="1500" dirty="0">
                <a:hlinkClick r:id="rId7"/>
              </a:rPr>
              <a:t> with C# | by Tsuyoshi Ushio | Medium</a:t>
            </a:r>
            <a:endParaRPr lang="en-US" sz="1500" dirty="0"/>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8"/>
              </a:rPr>
              <a:t>c#</a:t>
            </a:r>
            <a:r>
              <a:rPr lang="en-US" sz="1500" dirty="0">
                <a:hlinkClick r:id="rId8"/>
              </a:rPr>
              <a:t> - Replacing .NET </a:t>
            </a:r>
            <a:r>
              <a:rPr lang="en-US" sz="1500" dirty="0" err="1">
                <a:hlinkClick r:id="rId8"/>
              </a:rPr>
              <a:t>AppDomains</a:t>
            </a:r>
            <a:r>
              <a:rPr lang="en-US" sz="1500" dirty="0">
                <a:hlinkClick r:id="rId8"/>
              </a:rPr>
              <a:t> with </a:t>
            </a:r>
            <a:r>
              <a:rPr lang="en-US" sz="1500" dirty="0" err="1">
                <a:hlinkClick r:id="rId8"/>
              </a:rPr>
              <a:t>AssemblyLoadContexts</a:t>
            </a:r>
            <a:r>
              <a:rPr lang="en-US" sz="1500" dirty="0">
                <a:hlinkClick r:id="rId8"/>
              </a:rPr>
              <a:t> - Stack Overflow</a:t>
            </a:r>
            <a:endParaRPr lang="en-US" sz="1500" dirty="0"/>
          </a:p>
          <a:p>
            <a:pPr marL="12700" marR="5080"/>
            <a:r>
              <a:rPr lang="en-US" sz="1500" kern="0" spc="-220" dirty="0">
                <a:solidFill>
                  <a:schemeClr val="accent6"/>
                </a:solidFill>
              </a:rPr>
              <a:t>         </a:t>
            </a:r>
            <a:r>
              <a:rPr lang="en-US" sz="1500" dirty="0" err="1">
                <a:hlinkClick r:id="rId9"/>
              </a:rPr>
              <a:t>c#</a:t>
            </a:r>
            <a:r>
              <a:rPr lang="en-US" sz="1500" dirty="0">
                <a:hlinkClick r:id="rId9"/>
              </a:rPr>
              <a:t> - Does </a:t>
            </a:r>
            <a:r>
              <a:rPr lang="en-US" sz="1500" dirty="0" err="1">
                <a:hlinkClick r:id="rId9"/>
              </a:rPr>
              <a:t>AssemblyLoadContext</a:t>
            </a:r>
            <a:r>
              <a:rPr lang="en-US" sz="1500" dirty="0">
                <a:hlinkClick r:id="rId9"/>
              </a:rPr>
              <a:t> isolate static variables?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1500" dirty="0">
                <a:hlinkClick r:id="rId10"/>
              </a:rPr>
              <a:t>From Zero to Proficient with MEF- </a:t>
            </a:r>
            <a:r>
              <a:rPr lang="en-US" sz="1500" dirty="0" err="1">
                <a:hlinkClick r:id="rId10"/>
              </a:rPr>
              <a:t>CodeProject</a:t>
            </a:r>
            <a:endParaRPr lang="en-US" sz="1500" dirty="0"/>
          </a:p>
          <a:p>
            <a:pPr marL="12700" marR="5080"/>
            <a:r>
              <a:rPr lang="en-IN" sz="1500" dirty="0" err="1">
                <a:hlinkClick r:id="rId11"/>
              </a:rPr>
              <a:t>Anuraj</a:t>
            </a:r>
            <a:r>
              <a:rPr lang="en-IN" sz="1500" dirty="0">
                <a:hlinkClick r:id="rId11"/>
              </a:rPr>
              <a:t> - Using MEF in .NET Core</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1509459496"/>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Language workbench - Wikipedia</a:t>
                      </a:r>
                      <a:endParaRPr lang="en-IN" sz="1400" dirty="0"/>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59531" y="407027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500" dirty="0">
                <a:hlinkClick r:id="rId8"/>
              </a:rPr>
              <a:t>GitHub - sandipray63in/</a:t>
            </a:r>
            <a:r>
              <a:rPr lang="en-US" sz="1500" dirty="0" err="1">
                <a:hlinkClick r:id="rId8"/>
              </a:rPr>
              <a:t>MerchantsGuideToGalaxy</a:t>
            </a:r>
            <a:r>
              <a:rPr lang="en-US" sz="1500" dirty="0">
                <a:hlinkClick r:id="rId8"/>
              </a:rPr>
              <a:t>: Merchant's Guide to Galaxy Solution</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28600" y="51170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500" dirty="0">
                <a:hlinkClick r:id="rId9"/>
              </a:rPr>
              <a:t>How does </a:t>
            </a:r>
            <a:r>
              <a:rPr lang="en-US" sz="1500" dirty="0" err="1">
                <a:hlinkClick r:id="rId9"/>
              </a:rPr>
              <a:t>graphQL</a:t>
            </a:r>
            <a:r>
              <a:rPr lang="en-US" sz="1500" dirty="0">
                <a:hlinkClick r:id="rId9"/>
              </a:rPr>
              <a:t> work anyway?. Understand how </a:t>
            </a:r>
            <a:r>
              <a:rPr lang="en-US" sz="1500" dirty="0" err="1">
                <a:hlinkClick r:id="rId9"/>
              </a:rPr>
              <a:t>graphQL</a:t>
            </a:r>
            <a:r>
              <a:rPr lang="en-US" sz="1500" dirty="0">
                <a:hlinkClick r:id="rId9"/>
              </a:rPr>
              <a:t> query execution… | by Rajesh Babu | Medium</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1500" dirty="0">
                <a:hlinkClick r:id="rId7"/>
              </a:rPr>
              <a:t>Free </a:t>
            </a:r>
            <a:r>
              <a:rPr lang="en-US" sz="1500" dirty="0" err="1">
                <a:hlinkClick r:id="rId7"/>
              </a:rPr>
              <a:t>Ebook</a:t>
            </a:r>
            <a:r>
              <a:rPr lang="en-US" sz="1500" dirty="0">
                <a:hlinkClick r:id="rId7"/>
              </a:rPr>
              <a:t> - NuGet </a:t>
            </a:r>
            <a:r>
              <a:rPr lang="en-US" sz="1500">
                <a:hlinkClick r:id="rId7"/>
              </a:rPr>
              <a:t>In-House Succinctly</a:t>
            </a:r>
            <a:r>
              <a:rPr lang="en-US" sz="2400" kern="0" spc="-220">
                <a:solidFill>
                  <a:schemeClr val="accent6"/>
                </a:solidFill>
              </a:rPr>
              <a:t>)</a:t>
            </a:r>
            <a:endParaRPr lang="en-US" sz="2400" kern="0" spc="-220" dirty="0">
              <a:solidFill>
                <a:schemeClr val="accent6"/>
              </a:solidFill>
            </a:endParaRP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799" y="762000"/>
            <a:ext cx="8624937"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900" dirty="0" err="1">
                <a:hlinkClick r:id="rId7"/>
              </a:rPr>
              <a:t>Category:Programming</a:t>
            </a:r>
            <a:r>
              <a:rPr lang="en-IN" sz="900" dirty="0">
                <a:hlinkClick r:id="rId7"/>
              </a:rPr>
              <a:t> Tasks - Rosetta Code</a:t>
            </a:r>
            <a:r>
              <a:rPr lang="en-US" sz="900" kern="0" spc="-220" dirty="0">
                <a:solidFill>
                  <a:schemeClr val="accent6"/>
                </a:solidFill>
              </a:rPr>
              <a:t> </a:t>
            </a:r>
          </a:p>
          <a:p>
            <a:pPr marL="12700" marR="5080"/>
            <a:r>
              <a:rPr lang="en-US" sz="900" dirty="0">
                <a:hlinkClick r:id="rId8"/>
              </a:rPr>
              <a:t>GitHub - </a:t>
            </a:r>
            <a:r>
              <a:rPr lang="en-US" sz="900" dirty="0" err="1">
                <a:hlinkClick r:id="rId8"/>
              </a:rPr>
              <a:t>gamontal</a:t>
            </a:r>
            <a:r>
              <a:rPr lang="en-US" sz="900" dirty="0">
                <a:hlinkClick r:id="rId8"/>
              </a:rPr>
              <a:t>/awesome-katas: A curated list of code katas</a:t>
            </a:r>
            <a:endParaRPr lang="en-US" sz="900" dirty="0"/>
          </a:p>
          <a:p>
            <a:pPr marL="12700" marR="5080"/>
            <a:r>
              <a:rPr lang="en-US" sz="900" dirty="0">
                <a:hlinkClick r:id="rId9"/>
              </a:rPr>
              <a:t>Coding Challenges | John </a:t>
            </a:r>
            <a:r>
              <a:rPr lang="en-US" sz="900" dirty="0" err="1">
                <a:hlinkClick r:id="rId9"/>
              </a:rPr>
              <a:t>Crickett</a:t>
            </a:r>
            <a:r>
              <a:rPr lang="en-US" sz="900" dirty="0">
                <a:hlinkClick r:id="rId9"/>
              </a:rPr>
              <a:t> | Substack</a:t>
            </a:r>
            <a:endParaRPr lang="en-US" sz="900" dirty="0"/>
          </a:p>
          <a:p>
            <a:pPr marL="12700" marR="5080"/>
            <a:r>
              <a:rPr lang="en-US" sz="900" dirty="0">
                <a:hlinkClick r:id="rId10"/>
              </a:rPr>
              <a:t>GitHub - ashishps1/awesome-low-level-design: Learn Low Level Design (LLD) and prepare for interviews using free resources.</a:t>
            </a:r>
            <a:endParaRPr lang="en-US" sz="900" dirty="0"/>
          </a:p>
          <a:p>
            <a:pPr marL="12700" marR="5080"/>
            <a:r>
              <a:rPr lang="en-US" sz="900" dirty="0">
                <a:hlinkClick r:id="rId11"/>
              </a:rPr>
              <a:t>GitHub - </a:t>
            </a:r>
            <a:r>
              <a:rPr lang="en-US" sz="900" dirty="0" err="1">
                <a:hlinkClick r:id="rId11"/>
              </a:rPr>
              <a:t>prasadgujar</a:t>
            </a:r>
            <a:r>
              <a:rPr lang="en-US" sz="900" dirty="0">
                <a:hlinkClick r:id="rId11"/>
              </a:rPr>
              <a:t>/low-level-design-primer: Dedicated Resources for the Low-Level System Design. Learn how to design and implement large-scale systems. Prep for the system design interview.</a:t>
            </a:r>
            <a:endParaRPr lang="en-US" sz="900" dirty="0"/>
          </a:p>
          <a:p>
            <a:pPr marL="12700" marR="5080"/>
            <a:r>
              <a:rPr lang="en-IN" sz="900" dirty="0">
                <a:hlinkClick r:id="rId12"/>
              </a:rPr>
              <a:t>C# | Version History </a:t>
            </a:r>
            <a:r>
              <a:rPr lang="en-IN" sz="900" dirty="0">
                <a:hlinkClick r:id="rId7"/>
              </a:rPr>
              <a:t>–</a:t>
            </a:r>
            <a:r>
              <a:rPr lang="en-IN" sz="900" dirty="0">
                <a:hlinkClick r:id="rId12"/>
              </a:rPr>
              <a:t> </a:t>
            </a:r>
            <a:r>
              <a:rPr lang="en-IN" sz="900" dirty="0" err="1">
                <a:hlinkClick r:id="rId12"/>
              </a:rPr>
              <a:t>GeeksforGeeks</a:t>
            </a:r>
            <a:endParaRPr lang="en-IN" sz="900" dirty="0"/>
          </a:p>
          <a:p>
            <a:pPr marL="12700" marR="5080"/>
            <a:r>
              <a:rPr lang="en-US" sz="900" dirty="0" err="1">
                <a:hlinkClick r:id="rId13"/>
              </a:rPr>
              <a:t>c#</a:t>
            </a:r>
            <a:r>
              <a:rPr lang="en-US" sz="900" dirty="0">
                <a:hlinkClick r:id="rId13"/>
              </a:rPr>
              <a:t> - how do I chunk an enumerable? - Stack Overflow</a:t>
            </a:r>
            <a:endParaRPr lang="en-US" sz="900" dirty="0"/>
          </a:p>
          <a:p>
            <a:pPr marL="12700" marR="5080"/>
            <a:r>
              <a:rPr lang="en-US" sz="900" dirty="0">
                <a:hlinkClick r:id="rId14"/>
              </a:rPr>
              <a:t>How To Write Elegant Code with C# Switch Expressions</a:t>
            </a:r>
            <a:endParaRPr lang="en-US" sz="900" dirty="0"/>
          </a:p>
          <a:p>
            <a:pPr marL="12700" marR="5080"/>
            <a:r>
              <a:rPr lang="en-US" sz="900" dirty="0">
                <a:hlinkClick r:id="rId15"/>
              </a:rPr>
              <a:t>Declare and use C# primary constructors in classes and structs | Microsoft Learn</a:t>
            </a:r>
            <a:endParaRPr lang="en-US" sz="900" dirty="0"/>
          </a:p>
          <a:p>
            <a:pPr marL="12700" marR="5080"/>
            <a:r>
              <a:rPr lang="en-US" sz="900" dirty="0">
                <a:hlinkClick r:id="rId16"/>
              </a:rPr>
              <a:t>Deconstructing tuples and other types - C# | Microsoft Learn</a:t>
            </a:r>
            <a:endParaRPr lang="en-US" sz="900" dirty="0"/>
          </a:p>
          <a:p>
            <a:pPr marL="12700" marR="5080"/>
            <a:r>
              <a:rPr lang="en-US" sz="900" dirty="0">
                <a:hlinkClick r:id="rId17"/>
              </a:rPr>
              <a:t>asynchronous - Why would one use Task&lt;T&gt; over </a:t>
            </a:r>
            <a:r>
              <a:rPr lang="en-US" sz="900" dirty="0" err="1">
                <a:hlinkClick r:id="rId17"/>
              </a:rPr>
              <a:t>ValueTask</a:t>
            </a:r>
            <a:r>
              <a:rPr lang="en-US" sz="900" dirty="0">
                <a:hlinkClick r:id="rId17"/>
              </a:rPr>
              <a:t>&lt;T&gt; in C#? - Stack Overflow</a:t>
            </a:r>
            <a:endParaRPr lang="en-US" sz="900" dirty="0"/>
          </a:p>
          <a:p>
            <a:pPr marL="12700" marR="5080"/>
            <a:r>
              <a:rPr lang="en-US" sz="900" dirty="0">
                <a:hlinkClick r:id="rId18"/>
              </a:rPr>
              <a:t>GitHub - </a:t>
            </a:r>
            <a:r>
              <a:rPr lang="en-US" sz="900" dirty="0" err="1">
                <a:hlinkClick r:id="rId18"/>
              </a:rPr>
              <a:t>markjprice</a:t>
            </a:r>
            <a:r>
              <a:rPr lang="en-US" sz="900" dirty="0">
                <a:hlinkClick r:id="rId18"/>
              </a:rPr>
              <a:t>/apps-services-net8: Repository for the </a:t>
            </a:r>
            <a:r>
              <a:rPr lang="en-US" sz="900" dirty="0" err="1">
                <a:hlinkClick r:id="rId18"/>
              </a:rPr>
              <a:t>Packt</a:t>
            </a:r>
            <a:r>
              <a:rPr lang="en-US" sz="900" dirty="0">
                <a:hlinkClick r:id="rId18"/>
              </a:rPr>
              <a:t> Publishing book titled "Apps and Services with .NET 8" by Mark J. Price</a:t>
            </a:r>
            <a:endParaRPr lang="en-US" sz="900" dirty="0"/>
          </a:p>
          <a:p>
            <a:pPr marL="12700" marR="5080"/>
            <a:r>
              <a:rPr lang="en-US" sz="900" dirty="0">
                <a:hlinkClick r:id="rId19"/>
              </a:rPr>
              <a:t>GitHub - </a:t>
            </a:r>
            <a:r>
              <a:rPr lang="en-US" sz="900" dirty="0" err="1">
                <a:hlinkClick r:id="rId19"/>
              </a:rPr>
              <a:t>markjprice</a:t>
            </a:r>
            <a:r>
              <a:rPr lang="en-US" sz="900" dirty="0">
                <a:hlinkClick r:id="rId19"/>
              </a:rPr>
              <a:t>/cs12dotnet8: Repository for the </a:t>
            </a:r>
            <a:r>
              <a:rPr lang="en-US" sz="900" dirty="0" err="1">
                <a:hlinkClick r:id="rId19"/>
              </a:rPr>
              <a:t>Packt</a:t>
            </a:r>
            <a:r>
              <a:rPr lang="en-US" sz="900" dirty="0">
                <a:hlinkClick r:id="rId19"/>
              </a:rPr>
              <a:t> Publishing book titled "C# 12 and .NET 8 - Modern Cross-Platform Development Fundamentals" by Mark J. Price</a:t>
            </a:r>
            <a:endParaRPr lang="en-US" sz="900" dirty="0"/>
          </a:p>
          <a:p>
            <a:pPr marL="12700" marR="5080"/>
            <a:r>
              <a:rPr lang="en-US" sz="900" dirty="0">
                <a:hlinkClick r:id="rId20"/>
              </a:rPr>
              <a:t>GitHub - </a:t>
            </a:r>
            <a:r>
              <a:rPr lang="en-US" sz="900" dirty="0" err="1">
                <a:hlinkClick r:id="rId20"/>
              </a:rPr>
              <a:t>miholler</a:t>
            </a:r>
            <a:r>
              <a:rPr lang="en-US" sz="900" dirty="0">
                <a:hlinkClick r:id="rId20"/>
              </a:rPr>
              <a:t>/</a:t>
            </a:r>
            <a:r>
              <a:rPr lang="en-US" sz="900" dirty="0" err="1">
                <a:hlinkClick r:id="rId20"/>
              </a:rPr>
              <a:t>NSpecifications</a:t>
            </a:r>
            <a:r>
              <a:rPr lang="en-US" sz="900" dirty="0">
                <a:hlinkClick r:id="rId20"/>
              </a:rPr>
              <a:t>: Specification Pattern for </a:t>
            </a:r>
            <a:r>
              <a:rPr lang="en-US" sz="900" dirty="0" err="1">
                <a:hlinkClick r:id="rId20"/>
              </a:rPr>
              <a:t>.Net</a:t>
            </a:r>
            <a:endParaRPr lang="en-US" sz="900" dirty="0"/>
          </a:p>
          <a:p>
            <a:pPr marL="12700" marR="5080"/>
            <a:r>
              <a:rPr lang="en-US" sz="900" dirty="0" err="1">
                <a:hlinkClick r:id="rId21"/>
              </a:rPr>
              <a:t>c#</a:t>
            </a:r>
            <a:r>
              <a:rPr lang="en-US" sz="900" dirty="0">
                <a:hlinkClick r:id="rId21"/>
              </a:rPr>
              <a:t> - Specification Pattern vs (Fluent) Validation - Stack Overflow</a:t>
            </a:r>
            <a:endParaRPr lang="en-US" sz="900" dirty="0"/>
          </a:p>
          <a:p>
            <a:pPr marL="12700" marR="5080"/>
            <a:r>
              <a:rPr lang="en-US" sz="900" dirty="0">
                <a:hlinkClick r:id="rId22"/>
              </a:rPr>
              <a:t>Creating a .NET Cron Job for Kubernetes | </a:t>
            </a:r>
            <a:r>
              <a:rPr lang="en-US" sz="900" dirty="0" err="1">
                <a:hlinkClick r:id="rId22"/>
              </a:rPr>
              <a:t>benbrougher.tech</a:t>
            </a:r>
            <a:endParaRPr lang="en-US" sz="900" dirty="0"/>
          </a:p>
          <a:p>
            <a:pPr marL="12700" marR="5080"/>
            <a:r>
              <a:rPr lang="en-IN" sz="900" dirty="0">
                <a:hlinkClick r:id="rId23"/>
              </a:rPr>
              <a:t>The Ultimate Kubernetes </a:t>
            </a:r>
            <a:r>
              <a:rPr lang="en-IN" sz="900" dirty="0" err="1">
                <a:hlinkClick r:id="rId23"/>
              </a:rPr>
              <a:t>CronJob</a:t>
            </a:r>
            <a:r>
              <a:rPr lang="en-IN" sz="900" dirty="0">
                <a:hlinkClick r:id="rId23"/>
              </a:rPr>
              <a:t> Guide</a:t>
            </a:r>
            <a:endParaRPr lang="en-IN" sz="900" dirty="0"/>
          </a:p>
          <a:p>
            <a:pPr marL="12700" marR="5080"/>
            <a:r>
              <a:rPr lang="en-US" sz="900" dirty="0">
                <a:hlinkClick r:id="rId24"/>
              </a:rPr>
              <a:t>Clean Code Cheat Sheet – planetgeek.ch</a:t>
            </a:r>
            <a:endParaRPr lang="en-US" sz="900" dirty="0"/>
          </a:p>
          <a:p>
            <a:pPr marL="12700" marR="5080"/>
            <a:r>
              <a:rPr lang="en-IN" sz="900" dirty="0">
                <a:hlinkClick r:id="rId25"/>
              </a:rPr>
              <a:t>Must Know Data Structures | LinkedIn</a:t>
            </a:r>
            <a:endParaRPr lang="en-IN" sz="900" dirty="0"/>
          </a:p>
          <a:p>
            <a:pPr marL="12700" marR="5080"/>
            <a:r>
              <a:rPr lang="en-US" sz="900" dirty="0">
                <a:hlinkClick r:id="rId26"/>
              </a:rPr>
              <a:t>Data Structures and Algorithms Roadmap</a:t>
            </a:r>
            <a:endParaRPr lang="en-IN" sz="900" dirty="0"/>
          </a:p>
          <a:p>
            <a:pPr marL="12700" marR="5080"/>
            <a:r>
              <a:rPr lang="en-IN" sz="900" dirty="0">
                <a:hlinkClick r:id="rId27"/>
              </a:rPr>
              <a:t>Coding Interview Patterns LinkedIn</a:t>
            </a:r>
            <a:endParaRPr lang="en-IN" sz="900" dirty="0"/>
          </a:p>
          <a:p>
            <a:pPr marL="12700" marR="5080"/>
            <a:r>
              <a:rPr lang="en-IN" sz="900" dirty="0">
                <a:hlinkClick r:id="rId28"/>
              </a:rPr>
              <a:t>Coding Problems Patterns | LinkedIn</a:t>
            </a:r>
            <a:endParaRPr lang="en-IN" sz="900" dirty="0"/>
          </a:p>
          <a:p>
            <a:pPr marL="12700" marR="5080"/>
            <a:r>
              <a:rPr lang="en-US" sz="900" dirty="0">
                <a:hlinkClick r:id="rId29"/>
              </a:rPr>
              <a:t>GitHub - </a:t>
            </a:r>
            <a:r>
              <a:rPr lang="en-US" sz="900" dirty="0" err="1">
                <a:hlinkClick r:id="rId29"/>
              </a:rPr>
              <a:t>PacktPublishing</a:t>
            </a:r>
            <a:r>
              <a:rPr lang="en-US" sz="900" dirty="0">
                <a:hlinkClick r:id="rId29"/>
              </a:rPr>
              <a:t>/Systems-Programming-with-C-Sharp-and-.NET: , published by </a:t>
            </a:r>
            <a:r>
              <a:rPr lang="en-US" sz="900" dirty="0" err="1">
                <a:hlinkClick r:id="rId29"/>
              </a:rPr>
              <a:t>Packt</a:t>
            </a:r>
            <a:endParaRPr lang="en-US" sz="900" dirty="0"/>
          </a:p>
          <a:p>
            <a:pPr marL="12700" marR="5080"/>
            <a:r>
              <a:rPr lang="it-IT" sz="900" dirty="0">
                <a:hlinkClick r:id="rId30"/>
              </a:rPr>
              <a:t>Native interoperability - .NET | Microsoft Learn</a:t>
            </a:r>
            <a:endParaRPr lang="it-IT" sz="900" dirty="0"/>
          </a:p>
          <a:p>
            <a:pPr marL="12700" marR="5080"/>
            <a:r>
              <a:rPr lang="en-US" sz="900" dirty="0">
                <a:hlinkClick r:id="rId31"/>
              </a:rPr>
              <a:t>GitHub - </a:t>
            </a:r>
            <a:r>
              <a:rPr lang="en-US" sz="900" dirty="0" err="1">
                <a:hlinkClick r:id="rId31"/>
              </a:rPr>
              <a:t>ziishaned</a:t>
            </a:r>
            <a:r>
              <a:rPr lang="en-US" sz="900" dirty="0">
                <a:hlinkClick r:id="rId31"/>
              </a:rPr>
              <a:t>/learn-regex: Learn regex the easy way</a:t>
            </a:r>
            <a:endParaRPr lang="en-US" sz="900" dirty="0"/>
          </a:p>
          <a:p>
            <a:pPr marL="12700" marR="5080"/>
            <a:r>
              <a:rPr lang="en-US" sz="900" dirty="0">
                <a:hlinkClick r:id="rId32"/>
              </a:rPr>
              <a:t>Free Programming Books – GoalKicker.com</a:t>
            </a:r>
            <a:r>
              <a:rPr lang="en-US" sz="900" dirty="0"/>
              <a:t> </a:t>
            </a:r>
          </a:p>
          <a:p>
            <a:pPr marL="12700" marR="5080"/>
            <a:r>
              <a:rPr lang="en-US" sz="900" dirty="0">
                <a:hlinkClick r:id="rId33"/>
              </a:rPr>
              <a:t>Regular Expressions Cookbook, 2nd Edition[Book]</a:t>
            </a:r>
            <a:endParaRPr lang="en-US" sz="900" dirty="0"/>
          </a:p>
          <a:p>
            <a:pPr marL="12700" marR="5080"/>
            <a:r>
              <a:rPr lang="en-IN" sz="900" dirty="0">
                <a:hlinkClick r:id="rId34"/>
              </a:rPr>
              <a:t>GitHub - PacktPublishing/High-Performance-Programming-in-C-Sharp-and-.NET</a:t>
            </a:r>
            <a:endParaRPr lang="en-IN" sz="900" dirty="0"/>
          </a:p>
          <a:p>
            <a:pPr marL="12700" marR="5080"/>
            <a:r>
              <a:rPr lang="en-US" sz="900" dirty="0">
                <a:hlinkClick r:id="rId35"/>
              </a:rPr>
              <a:t>GitHub - </a:t>
            </a:r>
            <a:r>
              <a:rPr lang="en-US" sz="900" dirty="0" err="1">
                <a:hlinkClick r:id="rId35"/>
              </a:rPr>
              <a:t>milanm</a:t>
            </a:r>
            <a:r>
              <a:rPr lang="en-US" sz="900" dirty="0">
                <a:hlinkClick r:id="rId35"/>
              </a:rPr>
              <a:t>/</a:t>
            </a:r>
            <a:r>
              <a:rPr lang="en-US" sz="900" dirty="0" err="1">
                <a:hlinkClick r:id="rId35"/>
              </a:rPr>
              <a:t>DotNet</a:t>
            </a:r>
            <a:r>
              <a:rPr lang="en-US" sz="900" dirty="0">
                <a:hlinkClick r:id="rId35"/>
              </a:rPr>
              <a:t>-Developer-Roadmap: The comprehensive .NET Developer Roadmap by seniority level.</a:t>
            </a:r>
            <a:endParaRPr lang="en-US" sz="900" dirty="0"/>
          </a:p>
          <a:p>
            <a:pPr marL="12700" marR="5080"/>
            <a:r>
              <a:rPr lang="en-IN" sz="900" dirty="0" err="1">
                <a:hlinkClick r:id="rId36"/>
              </a:rPr>
              <a:t>Postgre</a:t>
            </a:r>
            <a:r>
              <a:rPr lang="en-IN" sz="900" dirty="0">
                <a:hlinkClick r:id="rId36"/>
              </a:rPr>
              <a:t> </a:t>
            </a:r>
            <a:r>
              <a:rPr lang="en-IN" sz="900" dirty="0" err="1">
                <a:hlinkClick r:id="rId36"/>
              </a:rPr>
              <a:t>Sql</a:t>
            </a:r>
            <a:r>
              <a:rPr lang="en-IN" sz="900" dirty="0">
                <a:hlinkClick r:id="rId36"/>
              </a:rPr>
              <a:t> Query Execution Flow| LinkedIn</a:t>
            </a:r>
            <a:endParaRPr lang="en-IN" sz="900" dirty="0"/>
          </a:p>
          <a:p>
            <a:pPr marL="12700" marR="5080"/>
            <a:r>
              <a:rPr lang="en-IN" sz="900" dirty="0">
                <a:hlinkClick r:id="rId37"/>
              </a:rPr>
              <a:t>Free Postgres SQL Internals Book </a:t>
            </a:r>
            <a:endParaRPr lang="en-IN" sz="900" dirty="0"/>
          </a:p>
          <a:p>
            <a:pPr marL="12700" marR="5080"/>
            <a:r>
              <a:rPr lang="en-US" sz="900" dirty="0">
                <a:hlinkClick r:id="rId38"/>
              </a:rPr>
              <a:t>GATE CS Notes (According to GATE 2025 Syllabus) </a:t>
            </a:r>
            <a:r>
              <a:rPr lang="en-US" sz="900" dirty="0">
                <a:hlinkClick r:id="rId39"/>
              </a:rPr>
              <a:t>–</a:t>
            </a:r>
            <a:r>
              <a:rPr lang="en-US" sz="900" dirty="0">
                <a:hlinkClick r:id="rId38"/>
              </a:rPr>
              <a:t> </a:t>
            </a:r>
            <a:r>
              <a:rPr lang="en-US" sz="900" dirty="0" err="1">
                <a:hlinkClick r:id="rId38"/>
              </a:rPr>
              <a:t>GeeksforGeeks</a:t>
            </a:r>
            <a:endParaRPr lang="en-US" sz="900" dirty="0"/>
          </a:p>
          <a:p>
            <a:pPr marL="12700" marR="5080"/>
            <a:r>
              <a:rPr lang="en-US" sz="900" dirty="0">
                <a:hlinkClick r:id="rId40"/>
              </a:rPr>
              <a:t>Computer Science Roadmap: Curriculum for the self taught developer</a:t>
            </a:r>
            <a:endParaRPr lang="en-US" sz="900" dirty="0"/>
          </a:p>
          <a:p>
            <a:pPr marL="12700" marR="5080"/>
            <a:r>
              <a:rPr lang="en-US" sz="900" dirty="0">
                <a:hlinkClick r:id="rId41"/>
              </a:rPr>
              <a:t>Make a Web Browser: Beginner's Guide</a:t>
            </a:r>
            <a:endParaRPr lang="en-US" sz="900" dirty="0"/>
          </a:p>
          <a:p>
            <a:pPr marL="12700" marR="5080"/>
            <a:r>
              <a:rPr lang="en-IN" sz="900" dirty="0">
                <a:hlinkClick r:id="rId42"/>
              </a:rPr>
              <a:t>Web Browser Engineering</a:t>
            </a:r>
            <a:endParaRPr lang="en-IN" sz="900" dirty="0"/>
          </a:p>
          <a:p>
            <a:pPr marL="12700" marR="5080"/>
            <a:r>
              <a:rPr lang="en-US" sz="900" dirty="0" err="1">
                <a:hlinkClick r:id="rId43"/>
              </a:rPr>
              <a:t>c#</a:t>
            </a:r>
            <a:r>
              <a:rPr lang="en-US" sz="900" dirty="0">
                <a:hlinkClick r:id="rId43"/>
              </a:rPr>
              <a:t> - Replacing .NET </a:t>
            </a:r>
            <a:r>
              <a:rPr lang="en-US" sz="900" dirty="0" err="1">
                <a:hlinkClick r:id="rId43"/>
              </a:rPr>
              <a:t>WebBrowser</a:t>
            </a:r>
            <a:r>
              <a:rPr lang="en-US" sz="900" dirty="0">
                <a:hlinkClick r:id="rId43"/>
              </a:rPr>
              <a:t> control with a better browser, like Chrome? - Stack Overflow</a:t>
            </a:r>
            <a:endParaRPr lang="en-US" sz="900" dirty="0"/>
          </a:p>
          <a:p>
            <a:pPr marL="12700" marR="5080"/>
            <a:endParaRPr lang="en-US" sz="900" dirty="0"/>
          </a:p>
          <a:p>
            <a:pPr marL="12700" marR="5080"/>
            <a:endParaRPr lang="en-US" sz="900" dirty="0"/>
          </a:p>
          <a:p>
            <a:pPr marL="12700" marR="5080"/>
            <a:endParaRPr lang="en-US" sz="9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939150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into RAM([memory ] &amp; then do further processing – this is needed mainly to improve performance since COM calls are pretty slow)</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as properties &amp; 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 - 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IN" sz="1500" dirty="0">
                <a:hlinkClick r:id="rId7"/>
              </a:rPr>
              <a:t>Free </a:t>
            </a:r>
            <a:r>
              <a:rPr lang="en-IN" sz="1500" dirty="0" err="1">
                <a:hlinkClick r:id="rId7"/>
              </a:rPr>
              <a:t>Ebook</a:t>
            </a:r>
            <a:r>
              <a:rPr lang="en-IN" sz="1500" dirty="0">
                <a:hlinkClick r:id="rId7"/>
              </a:rPr>
              <a:t> - C++ Succinctly</a:t>
            </a:r>
            <a:endParaRPr lang="en-US" sz="1500" kern="0" spc="-220" dirty="0">
              <a:solidFill>
                <a:schemeClr val="accent6"/>
              </a:solidFill>
            </a:endParaRP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15511</TotalTime>
  <Words>9111</Words>
  <Application>Microsoft Office PowerPoint</Application>
  <PresentationFormat>Custom</PresentationFormat>
  <Paragraphs>1112</Paragraphs>
  <Slides>98</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98</vt:i4>
      </vt:variant>
    </vt:vector>
  </HeadingPairs>
  <TitlesOfParts>
    <vt:vector size="107" baseType="lpstr">
      <vt:lpstr>Aptos Narrow</vt:lpstr>
      <vt:lpstr>Arial</vt:lpstr>
      <vt:lpstr>Arial</vt:lpstr>
      <vt:lpstr>Calibri</vt:lpstr>
      <vt:lpstr>Lucida Sans</vt:lpstr>
      <vt:lpstr>Monaco</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1061</cp:revision>
  <dcterms:created xsi:type="dcterms:W3CDTF">2020-11-03T17:16:52Z</dcterms:created>
  <dcterms:modified xsi:type="dcterms:W3CDTF">2024-12-18T02:20:21Z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