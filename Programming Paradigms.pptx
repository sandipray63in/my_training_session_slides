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36"/>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7/17/2024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7/17/2024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7/17/2024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7/17/2024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7/17/2024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7/17/2024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7/17/2024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10" Type="http://schemas.openxmlformats.org/officeDocument/2006/relationships/hyperlink" Target="https://stackoverflow.com/questions/2257563/what-are-the-generations-in-garbage-collection" TargetMode="External"/><Relationship Id="rId4" Type="http://schemas.openxmlformats.org/officeDocument/2006/relationships/diagramQuickStyle" Target="../diagrams/quickStyle46.xml"/><Relationship Id="rId9" Type="http://schemas.openxmlformats.org/officeDocument/2006/relationships/hyperlink" Target="https://stackify.com/c-garbage-collection/"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packtpub.com/product/hands-on-network-programming-with-c-and-net-core/9781789340761" TargetMode="External"/><Relationship Id="rId3" Type="http://schemas.openxmlformats.org/officeDocument/2006/relationships/diagramLayout" Target="../diagrams/layout72.xml"/><Relationship Id="rId7" Type="http://schemas.openxmlformats.org/officeDocument/2006/relationships/image" Target="../media/image15.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10" Type="http://schemas.openxmlformats.org/officeDocument/2006/relationships/hyperlink" Target="https://hpbn.co/" TargetMode="External"/><Relationship Id="rId4" Type="http://schemas.openxmlformats.org/officeDocument/2006/relationships/diagramQuickStyle" Target="../diagrams/quickStyle72.xml"/><Relationship Id="rId9"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www.voelter.de/data/pub/ProgramGeneration.pdf"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arpit-adlakha-30691a101_problem-solving-patterns-which-will-teach-activity-7179351051190374400-Zw83"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is in Nested Classes</a:t>
            </a:r>
          </a:p>
          <a:p>
            <a:pPr marL="12700" marR="5080"/>
            <a:r>
              <a:rPr lang="en-US" sz="2400" kern="0" spc="-220" dirty="0">
                <a:solidFill>
                  <a:schemeClr val="accent6"/>
                </a:solidFill>
              </a:rPr>
              <a:t>Example – </a:t>
            </a:r>
          </a:p>
          <a:p>
            <a:pPr marL="12700" marR="5080"/>
            <a:r>
              <a:rPr lang="en-US" sz="2400" kern="0" spc="-220" dirty="0">
                <a:solidFill>
                  <a:schemeClr val="accent6"/>
                </a:solidFill>
              </a:rPr>
              <a:t>public class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a:t>
            </a:r>
            <a:r>
              <a:rPr lang="en-US" sz="2400" kern="0" spc="-220" dirty="0" err="1">
                <a:solidFill>
                  <a:schemeClr val="accent6"/>
                </a:solidFill>
              </a:rPr>
              <a:t>InnerClass</a:t>
            </a:r>
            <a:r>
              <a:rPr lang="en-US" sz="2400" kern="0" spc="-220" dirty="0">
                <a:solidFill>
                  <a:schemeClr val="accent6"/>
                </a:solidFill>
              </a:rPr>
              <a:t> </a:t>
            </a:r>
            <a:r>
              <a:rPr lang="en-US" sz="2400" kern="0" spc="-220" dirty="0" err="1">
                <a:solidFill>
                  <a:schemeClr val="accent6"/>
                </a:solidFill>
              </a:rPr>
              <a:t>ic</a:t>
            </a:r>
            <a:r>
              <a:rPr lang="en-US" sz="2400" kern="0" spc="-220" dirty="0">
                <a:solidFill>
                  <a:schemeClr val="accent6"/>
                </a:solidFill>
              </a:rPr>
              <a:t> = new </a:t>
            </a:r>
            <a:r>
              <a:rPr lang="en-US" sz="2400" kern="0" spc="-220" dirty="0" err="1">
                <a:solidFill>
                  <a:schemeClr val="accent6"/>
                </a:solidFill>
              </a:rPr>
              <a:t>InnerClass</a:t>
            </a:r>
            <a:r>
              <a:rPr lang="en-US" sz="2400" kern="0" spc="-220" dirty="0">
                <a:solidFill>
                  <a:schemeClr val="accent6"/>
                </a:solidFill>
              </a:rPr>
              <a:t>{Name=“</a:t>
            </a:r>
            <a:r>
              <a:rPr lang="en-US" sz="2400" kern="0" spc="-220" dirty="0" err="1">
                <a:solidFill>
                  <a:schemeClr val="accent6"/>
                </a:solidFill>
              </a:rPr>
              <a:t>abc</a:t>
            </a:r>
            <a:r>
              <a:rPr lang="en-US" sz="2400" kern="0" spc="-220" dirty="0">
                <a:solidFill>
                  <a:schemeClr val="accent6"/>
                </a:solidFill>
              </a:rPr>
              <a:t>”, Email=“x@y.com”};</a:t>
            </a:r>
          </a:p>
          <a:p>
            <a:pPr marL="12700" marR="5080"/>
            <a:r>
              <a:rPr lang="en-US" sz="2400" kern="0" spc="-220" dirty="0">
                <a:solidFill>
                  <a:schemeClr val="accent6"/>
                </a:solidFill>
              </a:rPr>
              <a:t>   }</a:t>
            </a:r>
          </a:p>
          <a:p>
            <a:pPr marL="12700" marR="5080"/>
            <a:r>
              <a:rPr lang="en-US" sz="2400" kern="0" spc="-220" dirty="0">
                <a:solidFill>
                  <a:schemeClr val="accent6"/>
                </a:solidFill>
              </a:rPr>
              <a:t>   private class </a:t>
            </a:r>
            <a:r>
              <a:rPr lang="en-US" sz="2400" kern="0" spc="-220" dirty="0" err="1">
                <a:solidFill>
                  <a:schemeClr val="accent6"/>
                </a:solidFill>
              </a:rPr>
              <a:t>InnerClass</a:t>
            </a:r>
            <a:r>
              <a:rPr lang="en-US" sz="2400" kern="0" spc="-220" dirty="0">
                <a:solidFill>
                  <a:schemeClr val="accent6"/>
                </a:solidFill>
              </a:rPr>
              <a:t>{</a:t>
            </a:r>
          </a:p>
          <a:p>
            <a:pPr marL="12700" marR="5080"/>
            <a:r>
              <a:rPr lang="en-US" sz="2400" kern="0" spc="-220" dirty="0">
                <a:solidFill>
                  <a:schemeClr val="accent6"/>
                </a:solidFill>
              </a:rPr>
              <a:t>       public string Name{</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public string Email{</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r>
              <a:rPr lang="en-US" sz="2400" kern="0" spc="-220" dirty="0">
                <a:solidFill>
                  <a:schemeClr val="accent6"/>
                </a:solidFill>
              </a:rPr>
              <a:t>But after introduction of Tuples in .NET, Tuples are more cleaner way to handle such stuffs instead of private class</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295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438400"/>
            <a:ext cx="8624937" cy="32624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err="1">
                <a:solidFill>
                  <a:schemeClr val="accent6"/>
                </a:solidFill>
              </a:rPr>
              <a:t>FluentValidations</a:t>
            </a:r>
            <a:r>
              <a:rPr lang="en-US" sz="2000" kern="0" spc="-220" dirty="0">
                <a:solidFill>
                  <a:schemeClr val="accent6"/>
                </a:solidFill>
              </a:rPr>
              <a:t>(</a:t>
            </a:r>
            <a:r>
              <a:rPr lang="en-US" sz="2000" kern="0" spc="-220" dirty="0">
                <a:solidFill>
                  <a:schemeClr val="accent6"/>
                </a:solidFill>
                <a:hlinkClick r:id="rId10"/>
              </a:rPr>
              <a:t>https://docs.fluentvalidation.net/en/latest/</a:t>
            </a:r>
            <a:r>
              <a:rPr lang="en-US" sz="2000" kern="0" spc="-220" dirty="0">
                <a:solidFill>
                  <a:schemeClr val="accent6"/>
                </a:solidFill>
              </a:rPr>
              <a:t> ) is another library built using Fluent API concepts mainly for validations. Its something similar to </a:t>
            </a:r>
            <a:r>
              <a:rPr lang="en-US" sz="2000" kern="0" spc="-220" dirty="0" err="1">
                <a:solidFill>
                  <a:schemeClr val="accent6"/>
                </a:solidFill>
              </a:rPr>
              <a:t>Persistance</a:t>
            </a:r>
            <a:r>
              <a:rPr lang="en-US" sz="2000" kern="0" spc="-220" dirty="0">
                <a:solidFill>
                  <a:schemeClr val="accent6"/>
                </a:solidFill>
              </a:rPr>
              <a:t> Ignorance since it provides Validation Ignorance w.r.t domain objects.</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36486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https://stackify.com/c-garbage-collection/</a:t>
            </a:r>
            <a:r>
              <a:rPr lang="en-US" sz="2000" kern="0" spc="-220" dirty="0">
                <a:solidFill>
                  <a:schemeClr val="accent6"/>
                </a:solidFill>
              </a:rPr>
              <a:t> </a:t>
            </a:r>
          </a:p>
          <a:p>
            <a:pPr algn="l"/>
            <a:r>
              <a:rPr lang="en-US" sz="2000" kern="0" spc="-220" dirty="0">
                <a:solidFill>
                  <a:schemeClr val="accent6"/>
                </a:solidFill>
                <a:hlinkClick r:id="rId10"/>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3088938"/>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4662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https://www.packtpub.com/product/hands-on-network-programming-with-c-and-net-core/9781789340761</a:t>
            </a:r>
            <a:r>
              <a:rPr lang="en-US" sz="1800" kern="0" spc="-220" dirty="0">
                <a:solidFill>
                  <a:schemeClr val="accent2"/>
                </a:solidFill>
              </a:rPr>
              <a:t> </a:t>
            </a:r>
          </a:p>
          <a:p>
            <a:pPr algn="l"/>
            <a:r>
              <a:rPr lang="en-US" sz="1800" kern="0" spc="-220" dirty="0">
                <a:solidFill>
                  <a:schemeClr val="accent2"/>
                </a:solidFill>
                <a:hlinkClick r:id="rId9"/>
              </a:rPr>
              <a:t>https://learn.microsoft.com/en-us/dotnet/fundamentals/networking/overview</a:t>
            </a:r>
            <a:endParaRPr lang="en-US" sz="1800" kern="0" spc="-220" dirty="0">
              <a:solidFill>
                <a:schemeClr val="accent2"/>
              </a:solidFill>
            </a:endParaRPr>
          </a:p>
          <a:p>
            <a:pPr algn="l"/>
            <a:r>
              <a:rPr lang="en-US" sz="1800" kern="0" spc="-220" dirty="0">
                <a:solidFill>
                  <a:schemeClr val="accent2"/>
                </a:solidFill>
                <a:hlinkClick r:id="rId10"/>
              </a:rPr>
              <a:t>https://hpbn.co/</a:t>
            </a:r>
            <a:r>
              <a:rPr lang="en-US" sz="18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2775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Generation Performance Improvement –</a:t>
            </a:r>
          </a:p>
          <a:p>
            <a:pPr algn="l"/>
            <a:r>
              <a:rPr lang="en-US" sz="1800" kern="0" spc="-220" dirty="0">
                <a:solidFill>
                  <a:schemeClr val="accent6"/>
                </a:solidFill>
              </a:rPr>
              <a:t>Mainly done via some In-Memory Caching </a:t>
            </a:r>
          </a:p>
          <a:p>
            <a:pPr algn="l"/>
            <a:endParaRPr lang="en-US" sz="1800" kern="0" spc="-220" dirty="0">
              <a:solidFill>
                <a:schemeClr val="accent6"/>
              </a:solidFill>
            </a:endParaRPr>
          </a:p>
          <a:p>
            <a:pPr algn="l"/>
            <a:r>
              <a:rPr lang="en-US" sz="1800" kern="0" spc="-220" dirty="0">
                <a:solidFill>
                  <a:schemeClr val="accent6"/>
                </a:solidFill>
              </a:rPr>
              <a:t>By the way, </a:t>
            </a:r>
            <a:r>
              <a:rPr lang="en-US" sz="1800" kern="0" spc="-220" dirty="0" err="1">
                <a:solidFill>
                  <a:schemeClr val="accent6"/>
                </a:solidFill>
              </a:rPr>
              <a:t>Automapper</a:t>
            </a:r>
            <a:r>
              <a:rPr lang="en-US" sz="1800" kern="0" spc="-220" dirty="0">
                <a:solidFill>
                  <a:schemeClr val="accent6"/>
                </a:solidFill>
              </a:rPr>
              <a:t>(</a:t>
            </a:r>
            <a:r>
              <a:rPr lang="en-US" sz="1800" kern="0" spc="-220" dirty="0">
                <a:solidFill>
                  <a:schemeClr val="accent6"/>
                </a:solidFill>
                <a:hlinkClick r:id="rId13"/>
              </a:rPr>
              <a:t>https://www.bytehide.com/blog/automapper-csharp</a:t>
            </a:r>
            <a:r>
              <a:rPr lang="en-US" sz="1800" kern="0" spc="-220" dirty="0">
                <a:solidFill>
                  <a:schemeClr val="accent6"/>
                </a:solidFill>
              </a:rPr>
              <a:t>) which is a  pretty cool library w.r.t object mapping, is build using mainly Reflection.</a:t>
            </a:r>
          </a:p>
          <a:p>
            <a:pPr algn="l"/>
            <a:endParaRPr lang="en-US" sz="1800" kern="0" spc="-220" dirty="0">
              <a:solidFill>
                <a:schemeClr val="accent6"/>
              </a:solidFill>
            </a:endParaRPr>
          </a:p>
          <a:p>
            <a:pPr algn="l"/>
            <a:r>
              <a:rPr lang="en-US" sz="1800" kern="0" spc="-220" dirty="0">
                <a:solidFill>
                  <a:schemeClr val="accent6"/>
                </a:solidFill>
              </a:rPr>
              <a:t>For Further Exploration –</a:t>
            </a:r>
            <a:r>
              <a:rPr lang="en-US" sz="2000" kern="0" spc="-220" dirty="0">
                <a:solidFill>
                  <a:schemeClr val="accent6"/>
                </a:solidFill>
              </a:rPr>
              <a:t> </a:t>
            </a:r>
          </a:p>
          <a:p>
            <a:pPr algn="l"/>
            <a:r>
              <a:rPr lang="en-US" sz="1800" kern="0" spc="-220" dirty="0">
                <a:solidFill>
                  <a:schemeClr val="accent6"/>
                </a:solidFill>
                <a:hlinkClick r:id="rId14"/>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3013368132"/>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hlinkClick r:id="rId7"/>
              </a:rPr>
              <a:t>https://rosettacode.org/wiki/Category:Programming_Tasks</a:t>
            </a:r>
            <a:r>
              <a:rPr lang="en-US" sz="2000" kern="0" spc="-220" dirty="0">
                <a:solidFill>
                  <a:schemeClr val="accent6"/>
                </a:solidFill>
              </a:rPr>
              <a:t> </a:t>
            </a:r>
          </a:p>
          <a:p>
            <a:pPr marL="12700" marR="5080"/>
            <a:r>
              <a:rPr lang="en-US" sz="2000" kern="0" spc="-220" dirty="0">
                <a:solidFill>
                  <a:schemeClr val="accent6"/>
                </a:solidFill>
                <a:hlinkClick r:id="rId8"/>
              </a:rPr>
              <a:t>https://github.com/gamontal/awesome-katas</a:t>
            </a:r>
            <a:r>
              <a:rPr lang="en-US" sz="2000" kern="0" spc="-220" dirty="0">
                <a:solidFill>
                  <a:schemeClr val="accent6"/>
                </a:solidFill>
              </a:rPr>
              <a:t> </a:t>
            </a:r>
          </a:p>
          <a:p>
            <a:pPr marL="12700" marR="5080"/>
            <a:r>
              <a:rPr lang="en-US" sz="2000" kern="0" spc="-220" dirty="0">
                <a:solidFill>
                  <a:schemeClr val="accent6"/>
                </a:solidFill>
                <a:hlinkClick r:id="rId9"/>
              </a:rPr>
              <a:t>https://codingchallenges.substack.com/</a:t>
            </a:r>
            <a:r>
              <a:rPr lang="en-US" sz="2000" kern="0" spc="-220" dirty="0">
                <a:solidFill>
                  <a:schemeClr val="accent6"/>
                </a:solidFill>
              </a:rPr>
              <a:t> </a:t>
            </a:r>
          </a:p>
          <a:p>
            <a:pPr marL="12700" marR="5080"/>
            <a:r>
              <a:rPr lang="en-US" sz="2000" kern="0" spc="-220" dirty="0">
                <a:solidFill>
                  <a:schemeClr val="accent6"/>
                </a:solidFill>
                <a:hlinkClick r:id="rId10"/>
              </a:rPr>
              <a:t>https://github.com/ashishps1/awesome-low-level-design</a:t>
            </a:r>
            <a:r>
              <a:rPr lang="en-US" sz="2000" kern="0" spc="-220" dirty="0">
                <a:solidFill>
                  <a:schemeClr val="accent6"/>
                </a:solidFill>
              </a:rPr>
              <a:t> </a:t>
            </a:r>
          </a:p>
          <a:p>
            <a:pPr marL="12700" marR="5080"/>
            <a:r>
              <a:rPr lang="en-US" sz="2000" kern="0" spc="-220" dirty="0">
                <a:solidFill>
                  <a:schemeClr val="accent6"/>
                </a:solidFill>
                <a:hlinkClick r:id="rId11"/>
              </a:rPr>
              <a:t>https://github.com/prasadgujar/low-level-design-primer</a:t>
            </a:r>
            <a:r>
              <a:rPr lang="en-US" sz="2000" kern="0" spc="-220" dirty="0">
                <a:solidFill>
                  <a:schemeClr val="accent6"/>
                </a:solidFill>
              </a:rPr>
              <a:t> </a:t>
            </a:r>
          </a:p>
          <a:p>
            <a:pPr marL="12700" marR="5080"/>
            <a:r>
              <a:rPr lang="en-US" sz="2000" kern="0" spc="-220" dirty="0">
                <a:solidFill>
                  <a:schemeClr val="accent6"/>
                </a:solidFill>
                <a:hlinkClick r:id="rId12"/>
              </a:rPr>
              <a:t>https://daily.dev/blog/make-a-web-browser-beginners-guide</a:t>
            </a:r>
            <a:r>
              <a:rPr lang="en-US" sz="2000" kern="0" spc="-220" dirty="0">
                <a:solidFill>
                  <a:schemeClr val="accent6"/>
                </a:solidFill>
              </a:rPr>
              <a:t> </a:t>
            </a:r>
          </a:p>
          <a:p>
            <a:pPr marL="12700" marR="5080"/>
            <a:r>
              <a:rPr lang="en-US" sz="2000" kern="0" spc="-220" dirty="0">
                <a:solidFill>
                  <a:schemeClr val="accent6"/>
                </a:solidFill>
                <a:hlinkClick r:id="rId13"/>
              </a:rPr>
              <a:t>https://browser.engineering/</a:t>
            </a:r>
            <a:r>
              <a:rPr lang="en-US" sz="2000" kern="0" spc="-220" dirty="0">
                <a:solidFill>
                  <a:schemeClr val="accent6"/>
                </a:solidFill>
              </a:rPr>
              <a:t> </a:t>
            </a:r>
          </a:p>
          <a:p>
            <a:pPr marL="12700" marR="5080"/>
            <a:r>
              <a:rPr lang="en-US" sz="2000" kern="0" spc="-220" dirty="0">
                <a:solidFill>
                  <a:schemeClr val="accent6"/>
                </a:solidFill>
                <a:hlinkClick r:id="rId14"/>
              </a:rPr>
              <a:t>https://stackoverflow.com/questions/790542/replacing-net-webbrowser-control-with-a-better-browser-like-chrome</a:t>
            </a:r>
            <a:r>
              <a:rPr lang="en-US" sz="2000" kern="0" spc="-220" dirty="0">
                <a:solidFill>
                  <a:schemeClr val="accent6"/>
                </a:solidFill>
              </a:rPr>
              <a:t> </a:t>
            </a:r>
          </a:p>
          <a:p>
            <a:pPr marL="12700" marR="5080"/>
            <a:r>
              <a:rPr lang="en-US" sz="2000" kern="0" spc="-220" dirty="0">
                <a:solidFill>
                  <a:schemeClr val="accent6"/>
                </a:solidFill>
                <a:hlinkClick r:id="rId15"/>
              </a:rPr>
              <a:t>https://www.planetgeek.ch/2013/06/05/clean-code-cheat-sheet/</a:t>
            </a:r>
            <a:r>
              <a:rPr lang="en-US" sz="2000" kern="0" spc="-220" dirty="0">
                <a:solidFill>
                  <a:schemeClr val="accent6"/>
                </a:solidFill>
              </a:rPr>
              <a:t> </a:t>
            </a:r>
          </a:p>
          <a:p>
            <a:pPr marL="12700" marR="5080"/>
            <a:r>
              <a:rPr lang="en-US" sz="2000" kern="0" spc="-220" dirty="0">
                <a:solidFill>
                  <a:schemeClr val="accent6"/>
                </a:solidFill>
                <a:hlinkClick r:id="rId16"/>
              </a:rPr>
              <a:t>https://www.linkedin.com/posts/maheshma_postgresql-sql-systemdesign-activity-7167707514266996736-HqMi</a:t>
            </a:r>
            <a:r>
              <a:rPr lang="en-US" sz="2000" kern="0" spc="-220" dirty="0">
                <a:solidFill>
                  <a:schemeClr val="accent6"/>
                </a:solidFill>
              </a:rPr>
              <a:t> </a:t>
            </a:r>
          </a:p>
          <a:p>
            <a:pPr marL="12700" marR="5080"/>
            <a:r>
              <a:rPr lang="en-US" sz="2000" kern="0" spc="-220" dirty="0">
                <a:solidFill>
                  <a:schemeClr val="accent6"/>
                </a:solidFill>
                <a:hlinkClick r:id="rId17"/>
              </a:rPr>
              <a:t>https://www.linkedin.com/posts/arpit-adlakha-30691a101</a:t>
            </a:r>
            <a:r>
              <a:rPr lang="en-US" sz="2000" kern="0" spc="-220">
                <a:solidFill>
                  <a:schemeClr val="accent6"/>
                </a:solidFill>
                <a:hlinkClick r:id="rId17"/>
              </a:rPr>
              <a:t>_problem-solving-patterns-which-will-teach-activity-7179351051190374400-Zw83</a:t>
            </a:r>
            <a:r>
              <a:rPr lang="en-US" sz="2000" kern="0" spc="-22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COM </a:t>
            </a:r>
            <a:r>
              <a:rPr lang="en-US" sz="2400" kern="0" spc="-220" dirty="0" err="1">
                <a:solidFill>
                  <a:schemeClr val="accent6"/>
                </a:solidFill>
              </a:rPr>
              <a:t>InterOperability</a:t>
            </a:r>
            <a:r>
              <a:rPr lang="en-US" sz="2400" kern="0" spc="-220" dirty="0">
                <a:solidFill>
                  <a:schemeClr val="accent6"/>
                </a:solidFill>
              </a:rPr>
              <a:t>(fetch as much data as possible from COM &amp; then do further processing)</a:t>
            </a:r>
          </a:p>
          <a:p>
            <a:pPr marL="12700" marR="5080"/>
            <a:r>
              <a:rPr lang="en-US" sz="2400" kern="0" spc="-220" dirty="0" err="1">
                <a:solidFill>
                  <a:schemeClr val="accent6"/>
                </a:solidFill>
              </a:rPr>
              <a:t>NodeJs</a:t>
            </a:r>
            <a:r>
              <a:rPr lang="en-US" sz="2400" kern="0" spc="-220" dirty="0">
                <a:solidFill>
                  <a:schemeClr val="accent6"/>
                </a:solidFill>
              </a:rPr>
              <a:t>(by default async &amp; only partly STA[Single Threaded Application] – mainly used in IO intensive apps &amp; not much suitable for Compute[/CPU] intensive apps)</a:t>
            </a:r>
          </a:p>
          <a:p>
            <a:pPr marL="12700" marR="5080"/>
            <a:r>
              <a:rPr lang="en-US" sz="2400" kern="0" spc="-220" dirty="0">
                <a:solidFill>
                  <a:schemeClr val="accent6"/>
                </a:solidFill>
              </a:rPr>
              <a:t>Python(check List Comprehension &amp; </a:t>
            </a:r>
            <a:r>
              <a:rPr lang="en-US" sz="2400" kern="0" spc="-220" dirty="0" err="1">
                <a:solidFill>
                  <a:schemeClr val="accent6"/>
                </a:solidFill>
              </a:rPr>
              <a:t>Numpy</a:t>
            </a:r>
            <a:r>
              <a:rPr lang="en-US" sz="2400" kern="0" spc="-220" dirty="0">
                <a:solidFill>
                  <a:schemeClr val="accent6"/>
                </a:solidFill>
              </a:rPr>
              <a:t> Multi-Dimensional Array)</a:t>
            </a:r>
          </a:p>
          <a:p>
            <a:pPr marL="12700" marR="5080"/>
            <a:r>
              <a:rPr lang="en-US" sz="2400" kern="0" spc="-220" dirty="0">
                <a:solidFill>
                  <a:schemeClr val="accent6"/>
                </a:solidFill>
              </a:rPr>
              <a:t>Java(doesn’t have Exception Bubbling &amp; async-await </a:t>
            </a:r>
            <a:r>
              <a:rPr lang="en-US" sz="2400" kern="0" spc="-220" dirty="0">
                <a:solidFill>
                  <a:schemeClr val="tx2">
                    <a:lumMod val="60000"/>
                    <a:lumOff val="40000"/>
                  </a:schemeClr>
                </a:solidFill>
              </a:rPr>
              <a:t>by default</a:t>
            </a:r>
            <a:r>
              <a:rPr lang="en-US" sz="2400" kern="0" spc="-220" dirty="0">
                <a:solidFill>
                  <a:schemeClr val="accent6"/>
                </a:solidFill>
              </a:rPr>
              <a:t>)</a:t>
            </a:r>
          </a:p>
          <a:p>
            <a:pPr marL="12700" marR="5080"/>
            <a:r>
              <a:rPr lang="en-US" sz="24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2400" kern="0" spc="-220" dirty="0" err="1">
                <a:solidFill>
                  <a:schemeClr val="accent6"/>
                </a:solidFill>
              </a:rPr>
              <a:t>Systems.A</a:t>
            </a:r>
            <a:r>
              <a:rPr lang="en-US" sz="2400" kern="0" spc="-220" dirty="0">
                <a:solidFill>
                  <a:schemeClr val="accent6"/>
                </a:solidFill>
              </a:rPr>
              <a:t> good C++ reference for .NET Developers is </a:t>
            </a:r>
            <a:r>
              <a:rPr lang="en-US" sz="2400" kern="0" spc="-220" dirty="0">
                <a:solidFill>
                  <a:schemeClr val="accent6"/>
                </a:solidFill>
                <a:hlinkClick r:id="rId7"/>
              </a:rPr>
              <a:t>https://www.syncfusion.com/succinctly-free-ebooks/cplusplus</a:t>
            </a:r>
            <a:r>
              <a:rPr lang="en-US" sz="24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15049</TotalTime>
  <Words>8535</Words>
  <Application>Microsoft Office PowerPoint</Application>
  <PresentationFormat>Custom</PresentationFormat>
  <Paragraphs>1038</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901</cp:revision>
  <dcterms:created xsi:type="dcterms:W3CDTF">2020-11-03T17:16:52Z</dcterms:created>
  <dcterms:modified xsi:type="dcterms:W3CDTF">2024-07-17T14:53:47Z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