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8/29/2024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8/29/2024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8/29/2024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8/29/2024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8/29/2024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8/29/2024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8/29/2024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i/147766522/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i/144661145/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linkedin.com/posts/curiouslearner_softwaredevelopment-network-technology-activity-7186228909519077376-PMns/" TargetMode="External"/><Relationship Id="rId3" Type="http://schemas.openxmlformats.org/officeDocument/2006/relationships/diagramLayout" Target="../diagrams/layout72.xml"/><Relationship Id="rId7" Type="http://schemas.openxmlformats.org/officeDocument/2006/relationships/image" Target="../media/image15.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hpbn.co/" TargetMode="External"/><Relationship Id="rId5" Type="http://schemas.openxmlformats.org/officeDocument/2006/relationships/diagramColors" Target="../diagrams/colors72.xml"/><Relationship Id="rId10" Type="http://schemas.openxmlformats.org/officeDocument/2006/relationships/hyperlink" Target="https://learn.microsoft.com/en-us/dotnet/fundamentals/networking/overview" TargetMode="External"/><Relationship Id="rId4" Type="http://schemas.openxmlformats.org/officeDocument/2006/relationships/diagramQuickStyle" Target="../diagrams/quickStyle72.xml"/><Relationship Id="rId9" Type="http://schemas.openxmlformats.org/officeDocument/2006/relationships/hyperlink" Target="https://www.packtpub.com/product/hands-on-network-programming-with-c-and-net-core/9781789340761"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 Id="rId14" Type="http://schemas.openxmlformats.org/officeDocument/2006/relationships/hyperlink" Target="https://www.linkedin.com/pulse/book-review-software-architecture-juval-lowy-michael-rarela-fiabf"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18" Type="http://schemas.openxmlformats.org/officeDocument/2006/relationships/hyperlink" Target="https://www.linkedin.com/posts/akashsinnghh_dsa-dsaquestions-datastructures-activity-7231521586510479361-hTqM?utm_source=share&amp;utm_medium=member_desktop"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ray-rahul_%3F%3F%3F%3F%3F-%3F%3F%3F%3F%3F%3F%3F%3F-%3F%3F%3F%3F-%3F%3F-activity-7231616658820251651-FMD-/"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309336"/>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759404"/>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is in Nested Classes</a:t>
            </a:r>
          </a:p>
          <a:p>
            <a:pPr marL="12700" marR="5080"/>
            <a:r>
              <a:rPr lang="en-US" sz="2400" kern="0" spc="-220" dirty="0">
                <a:solidFill>
                  <a:schemeClr val="accent6"/>
                </a:solidFill>
              </a:rPr>
              <a:t>Example – </a:t>
            </a:r>
          </a:p>
          <a:p>
            <a:pPr marL="12700" marR="5080"/>
            <a:r>
              <a:rPr lang="en-US" sz="2400" kern="0" spc="-220" dirty="0">
                <a:solidFill>
                  <a:schemeClr val="accent6"/>
                </a:solidFill>
              </a:rPr>
              <a:t>public class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a:t>
            </a:r>
            <a:r>
              <a:rPr lang="en-US" sz="2400" kern="0" spc="-220" dirty="0" err="1">
                <a:solidFill>
                  <a:schemeClr val="accent6"/>
                </a:solidFill>
              </a:rPr>
              <a:t>InnerClass</a:t>
            </a:r>
            <a:r>
              <a:rPr lang="en-US" sz="2400" kern="0" spc="-220" dirty="0">
                <a:solidFill>
                  <a:schemeClr val="accent6"/>
                </a:solidFill>
              </a:rPr>
              <a:t> </a:t>
            </a:r>
            <a:r>
              <a:rPr lang="en-US" sz="2400" kern="0" spc="-220" dirty="0" err="1">
                <a:solidFill>
                  <a:schemeClr val="accent6"/>
                </a:solidFill>
              </a:rPr>
              <a:t>ic</a:t>
            </a:r>
            <a:r>
              <a:rPr lang="en-US" sz="2400" kern="0" spc="-220" dirty="0">
                <a:solidFill>
                  <a:schemeClr val="accent6"/>
                </a:solidFill>
              </a:rPr>
              <a:t> = new </a:t>
            </a:r>
            <a:r>
              <a:rPr lang="en-US" sz="2400" kern="0" spc="-220" dirty="0" err="1">
                <a:solidFill>
                  <a:schemeClr val="accent6"/>
                </a:solidFill>
              </a:rPr>
              <a:t>InnerClass</a:t>
            </a:r>
            <a:r>
              <a:rPr lang="en-US" sz="2400" kern="0" spc="-220" dirty="0">
                <a:solidFill>
                  <a:schemeClr val="accent6"/>
                </a:solidFill>
              </a:rPr>
              <a:t>{Name=“</a:t>
            </a:r>
            <a:r>
              <a:rPr lang="en-US" sz="2400" kern="0" spc="-220" dirty="0" err="1">
                <a:solidFill>
                  <a:schemeClr val="accent6"/>
                </a:solidFill>
              </a:rPr>
              <a:t>abc</a:t>
            </a:r>
            <a:r>
              <a:rPr lang="en-US" sz="2400" kern="0" spc="-220" dirty="0">
                <a:solidFill>
                  <a:schemeClr val="accent6"/>
                </a:solidFill>
              </a:rPr>
              <a:t>”, Email=“x@y.com”};</a:t>
            </a:r>
          </a:p>
          <a:p>
            <a:pPr marL="12700" marR="5080"/>
            <a:r>
              <a:rPr lang="en-US" sz="2400" kern="0" spc="-220" dirty="0">
                <a:solidFill>
                  <a:schemeClr val="accent6"/>
                </a:solidFill>
              </a:rPr>
              <a:t>   }</a:t>
            </a:r>
          </a:p>
          <a:p>
            <a:pPr marL="12700" marR="5080"/>
            <a:r>
              <a:rPr lang="en-US" sz="2400" kern="0" spc="-220" dirty="0">
                <a:solidFill>
                  <a:schemeClr val="accent6"/>
                </a:solidFill>
              </a:rPr>
              <a:t>   private class </a:t>
            </a:r>
            <a:r>
              <a:rPr lang="en-US" sz="2400" kern="0" spc="-220" dirty="0" err="1">
                <a:solidFill>
                  <a:schemeClr val="accent6"/>
                </a:solidFill>
              </a:rPr>
              <a:t>InnerClass</a:t>
            </a:r>
            <a:r>
              <a:rPr lang="en-US" sz="2400" kern="0" spc="-220" dirty="0">
                <a:solidFill>
                  <a:schemeClr val="accent6"/>
                </a:solidFill>
              </a:rPr>
              <a:t>{</a:t>
            </a:r>
          </a:p>
          <a:p>
            <a:pPr marL="12700" marR="5080"/>
            <a:r>
              <a:rPr lang="en-US" sz="2400" kern="0" spc="-220" dirty="0">
                <a:solidFill>
                  <a:schemeClr val="accent6"/>
                </a:solidFill>
              </a:rPr>
              <a:t>       public string Name{</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public string Email{</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r>
              <a:rPr lang="en-US" sz="2400" kern="0" spc="-220" dirty="0">
                <a:solidFill>
                  <a:schemeClr val="accent6"/>
                </a:solidFill>
              </a:rPr>
              <a:t>But after introduction of Tuples in .NET, Tuples are more cleaner way to handle such stuffs instead of private class</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548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US" sz="1600" kern="0" spc="-220" dirty="0">
                <a:solidFill>
                  <a:schemeClr val="accent6"/>
                </a:solidFill>
                <a:hlinkClick r:id="rId10"/>
              </a:rPr>
              <a:t>https://docs.fluentvalidation.net/en/latest/</a:t>
            </a:r>
            <a:r>
              <a:rPr lang="en-US" sz="1600" kern="0" spc="-220" dirty="0">
                <a:solidFill>
                  <a:schemeClr val="accent6"/>
                </a:solidFill>
              </a:rPr>
              <a:t> )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a:t>
            </a:r>
            <a:r>
              <a:rPr lang="en-US" sz="1600" kern="0" spc="-220">
                <a:solidFill>
                  <a:schemeClr val="accent6"/>
                </a:solidFill>
              </a:rPr>
              <a:t>workarounds for the </a:t>
            </a:r>
            <a:r>
              <a:rPr lang="en-US" sz="1600" kern="0" spc="-220" dirty="0">
                <a:solidFill>
                  <a:schemeClr val="accent6"/>
                </a:solidFill>
              </a:rPr>
              <a:t>same &amp; for that an example that can be referred is </a:t>
            </a:r>
            <a:r>
              <a:rPr lang="en-US" sz="1600" kern="0" spc="-220" dirty="0">
                <a:solidFill>
                  <a:schemeClr val="accent6"/>
                </a:solidFill>
                <a:hlinkClick r:id="rId11"/>
              </a:rPr>
              <a:t>https://vikutech.blogspot.com/2018/03/making-fluentvalidation-compatible-with-swagger-including-enum-or-fixed-list-support.html</a:t>
            </a:r>
            <a:r>
              <a:rPr lang="en-US" sz="16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https://blog.bytebytego.com/i/147766522/how-does-garbage-collection-work</a:t>
            </a:r>
            <a:r>
              <a:rPr lang="en-US" sz="2000" kern="0" spc="-220" dirty="0">
                <a:solidFill>
                  <a:schemeClr val="accent6"/>
                </a:solidFill>
              </a:rPr>
              <a:t> </a:t>
            </a:r>
          </a:p>
          <a:p>
            <a:pPr algn="l"/>
            <a:r>
              <a:rPr lang="en-US" sz="2000" kern="0" spc="-220" dirty="0">
                <a:solidFill>
                  <a:schemeClr val="accent6"/>
                </a:solidFill>
                <a:hlinkClick r:id="rId10"/>
              </a:rPr>
              <a:t>https://stackify.com/c-garbage-collection/</a:t>
            </a:r>
            <a:r>
              <a:rPr lang="en-US" sz="2000" kern="0" spc="-220" dirty="0">
                <a:solidFill>
                  <a:schemeClr val="accent6"/>
                </a:solidFill>
              </a:rPr>
              <a:t> </a:t>
            </a:r>
          </a:p>
          <a:p>
            <a:pPr algn="l"/>
            <a:r>
              <a:rPr lang="en-US" sz="2000" kern="0" spc="-220" dirty="0">
                <a:solidFill>
                  <a:schemeClr val="accent6"/>
                </a:solidFill>
                <a:hlinkClick r:id="rId11"/>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76200" y="5345668"/>
            <a:ext cx="8915400" cy="369332"/>
          </a:xfrm>
          <a:prstGeom prst="rect">
            <a:avLst/>
          </a:prstGeom>
          <a:noFill/>
        </p:spPr>
        <p:txBody>
          <a:bodyPr wrap="square">
            <a:spAutoFit/>
          </a:bodyPr>
          <a:lstStyle/>
          <a:p>
            <a:r>
              <a:rPr lang="en-IN" dirty="0">
                <a:hlinkClick r:id="rId9"/>
              </a:rPr>
              <a:t>https://blog.bytebytego.com/i/144661145/what-is-a-deadlock</a:t>
            </a:r>
            <a:r>
              <a:rPr lang="en-IN" dirty="0"/>
              <a:t> </a:t>
            </a:r>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9389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700" kern="0" spc="-220" dirty="0">
                <a:solidFill>
                  <a:schemeClr val="accent2"/>
                </a:solidFill>
                <a:hlinkClick r:id="rId8"/>
              </a:rPr>
              <a:t>https://www.linkedin.com/posts/curiouslearner_softwaredevelopment-network-technology-activity-7186228909519077376-PMns/</a:t>
            </a:r>
            <a:r>
              <a:rPr lang="en-US" sz="1700" kern="0" spc="-220" dirty="0">
                <a:solidFill>
                  <a:schemeClr val="accent2"/>
                </a:solidFill>
              </a:rPr>
              <a:t> </a:t>
            </a:r>
          </a:p>
          <a:p>
            <a:pPr algn="l"/>
            <a:r>
              <a:rPr lang="en-US" sz="1700" kern="0" spc="-220" dirty="0">
                <a:solidFill>
                  <a:schemeClr val="accent2"/>
                </a:solidFill>
                <a:hlinkClick r:id="rId9"/>
              </a:rPr>
              <a:t>https://www.packtpub.com/product/hands-on-network-programming-with-c-and-net-core/9781789340761</a:t>
            </a:r>
            <a:r>
              <a:rPr lang="en-US" sz="1700" kern="0" spc="-220" dirty="0">
                <a:solidFill>
                  <a:schemeClr val="accent2"/>
                </a:solidFill>
              </a:rPr>
              <a:t> </a:t>
            </a:r>
          </a:p>
          <a:p>
            <a:pPr algn="l"/>
            <a:r>
              <a:rPr lang="en-US" sz="1700" kern="0" spc="-220" dirty="0">
                <a:solidFill>
                  <a:schemeClr val="accent2"/>
                </a:solidFill>
                <a:hlinkClick r:id="rId10"/>
              </a:rPr>
              <a:t>https://learn.microsoft.com/en-us/dotnet/fundamentals/networking/overview</a:t>
            </a:r>
            <a:endParaRPr lang="en-US" sz="1700" kern="0" spc="-220" dirty="0">
              <a:solidFill>
                <a:schemeClr val="accent2"/>
              </a:solidFill>
            </a:endParaRPr>
          </a:p>
          <a:p>
            <a:pPr algn="l"/>
            <a:r>
              <a:rPr lang="en-US" sz="1700" kern="0" spc="-220" dirty="0">
                <a:solidFill>
                  <a:schemeClr val="accent2"/>
                </a:solidFill>
                <a:hlinkClick r:id="rId11"/>
              </a:rPr>
              <a:t>https://hpbn.co/</a:t>
            </a:r>
            <a:r>
              <a:rPr lang="en-US" sz="1700" kern="0" spc="-220" dirty="0">
                <a:solidFill>
                  <a:schemeClr val="accent2"/>
                </a:solidFill>
              </a:rPr>
              <a:t> </a:t>
            </a: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kern="0" spc="-220" dirty="0">
                <a:solidFill>
                  <a:schemeClr val="accent6"/>
                </a:solidFill>
              </a:rPr>
              <a:t> </a:t>
            </a:r>
            <a:r>
              <a:rPr lang="en-US" sz="1400" kern="0" spc="-220" dirty="0">
                <a:solidFill>
                  <a:schemeClr val="accent6"/>
                </a:solidFill>
                <a:hlinkClick r:id="rId7"/>
              </a:rPr>
              <a:t>https://www.thinktecture.com/en/net/roslyn-source-generators-introduction/</a:t>
            </a:r>
            <a:endParaRPr lang="en-US" sz="1400" kern="0" spc="-220" dirty="0">
              <a:solidFill>
                <a:schemeClr val="accent6"/>
              </a:solidFill>
            </a:endParaRPr>
          </a:p>
          <a:p>
            <a:pPr algn="l"/>
            <a:r>
              <a:rPr lang="en-US" sz="1400" kern="0" spc="-220" dirty="0">
                <a:solidFill>
                  <a:schemeClr val="accent6"/>
                </a:solidFill>
              </a:rPr>
              <a:t> </a:t>
            </a:r>
            <a:r>
              <a:rPr lang="en-US" sz="1400" kern="0" spc="-220" dirty="0">
                <a:solidFill>
                  <a:schemeClr val="accent6"/>
                </a:solidFill>
                <a:hlinkClick r:id="rId8"/>
              </a:rPr>
              <a:t>https://code-maze.com/csharp-source-generators/</a:t>
            </a:r>
            <a:r>
              <a:rPr lang="en-US" sz="1400" kern="0" spc="-220" dirty="0">
                <a:solidFill>
                  <a:schemeClr val="accent6"/>
                </a:solidFill>
              </a:rPr>
              <a:t> </a:t>
            </a:r>
          </a:p>
          <a:p>
            <a:pPr algn="l"/>
            <a:r>
              <a:rPr lang="en-US" sz="1400" kern="0" spc="-220" dirty="0">
                <a:solidFill>
                  <a:schemeClr val="accent6"/>
                </a:solidFill>
                <a:hlinkClick r:id="rId9"/>
              </a:rPr>
              <a:t> https://learn.microsoft.com/en-us/dotnet/csharp/roslyn-sdk/source-generators-</a:t>
            </a:r>
          </a:p>
          <a:p>
            <a:pPr algn="l"/>
            <a:r>
              <a:rPr lang="en-US" sz="1400" kern="0" spc="-220" dirty="0">
                <a:solidFill>
                  <a:schemeClr val="accent6"/>
                </a:solidFill>
                <a:hlinkClick r:id="rId9"/>
              </a:rPr>
              <a:t> overview</a:t>
            </a:r>
            <a:r>
              <a:rPr lang="en-US" sz="1400" kern="0" spc="-220" dirty="0">
                <a:solidFill>
                  <a:schemeClr val="accent6"/>
                </a:solidFill>
              </a:rPr>
              <a:t> </a:t>
            </a:r>
          </a:p>
          <a:p>
            <a:r>
              <a:rPr lang="en-US" sz="1400" kern="0" spc="-220" dirty="0">
                <a:solidFill>
                  <a:schemeClr val="accent6"/>
                </a:solidFill>
              </a:rPr>
              <a:t> </a:t>
            </a:r>
            <a:r>
              <a:rPr lang="en-US" sz="1400" kern="0" spc="-220" dirty="0">
                <a:solidFill>
                  <a:schemeClr val="accent6"/>
                </a:solidFill>
                <a:hlinkClick r:id="rId10"/>
              </a:rPr>
              <a:t>https://www.syncfusion.com/succinctly-free-ebooks/roslyn</a:t>
            </a:r>
            <a:r>
              <a:rPr lang="en-US" sz="14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400" kern="0" spc="-220" dirty="0">
                <a:solidFill>
                  <a:schemeClr val="accent6"/>
                </a:solidFill>
                <a:hlinkClick r:id="rId12"/>
              </a:rPr>
              <a:t>https://bagoum.medium.com/dynamic-code-generation-in-c-with-expression-trees-2ec4eebcb8ec</a:t>
            </a:r>
            <a:endParaRPr lang="en-US" sz="14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6"/>
                </a:solidFill>
              </a:rPr>
              <a:t>Code Generation Performance Improvement –</a:t>
            </a:r>
          </a:p>
          <a:p>
            <a:pPr algn="l"/>
            <a:r>
              <a:rPr lang="en-US" sz="1400" kern="0" spc="-220" dirty="0">
                <a:solidFill>
                  <a:schemeClr val="accent6"/>
                </a:solidFill>
              </a:rPr>
              <a:t>Mainly done via some In-Memory Caching </a:t>
            </a: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a:t>
            </a:r>
            <a:r>
              <a:rPr lang="en-US" sz="1400" kern="0" spc="-220">
                <a:solidFill>
                  <a:schemeClr val="accent6"/>
                </a:solidFill>
              </a:rPr>
              <a:t>Refer </a:t>
            </a:r>
            <a:r>
              <a:rPr lang="en-US" sz="1400" kern="0" spc="-220" dirty="0">
                <a:solidFill>
                  <a:schemeClr val="accent6"/>
                </a:solidFill>
                <a:hlinkClick r:id="rId13"/>
              </a:rPr>
              <a:t>https://www.bytehide.com/blog/automapper-csharp</a:t>
            </a:r>
            <a:r>
              <a:rPr lang="en-US" sz="1400" kern="0" spc="-220" dirty="0">
                <a:solidFill>
                  <a:schemeClr val="accent6"/>
                </a:solidFill>
              </a:rPr>
              <a:t> &amp; </a:t>
            </a:r>
            <a:r>
              <a:rPr lang="en-US" sz="1400" kern="0" spc="-220" dirty="0">
                <a:solidFill>
                  <a:schemeClr val="accent6"/>
                </a:solidFill>
                <a:hlinkClick r:id="rId14"/>
              </a:rPr>
              <a:t>https://stackoverflow.com/questions/44435759/automapper-map-if-source-member-is-null</a:t>
            </a:r>
            <a:r>
              <a:rPr lang="en-US" sz="1400" kern="0" spc="-220" dirty="0">
                <a:solidFill>
                  <a:schemeClr val="accent6"/>
                </a:solidFill>
              </a:rPr>
              <a:t>  for further details around the same.</a:t>
            </a:r>
          </a:p>
          <a:p>
            <a:pPr algn="l"/>
            <a:endParaRPr lang="en-US" sz="1600" kern="0" spc="-220" dirty="0">
              <a:solidFill>
                <a:schemeClr val="accent6"/>
              </a:solidFill>
            </a:endParaRPr>
          </a:p>
          <a:p>
            <a:pPr algn="l"/>
            <a:r>
              <a:rPr lang="en-US" sz="1800" kern="0" spc="-220" dirty="0">
                <a:solidFill>
                  <a:schemeClr val="accent2"/>
                </a:solidFill>
              </a:rPr>
              <a:t>For Further Exploration –</a:t>
            </a:r>
            <a:r>
              <a:rPr lang="en-US" sz="2000" kern="0" spc="-220" dirty="0">
                <a:solidFill>
                  <a:schemeClr val="accent2"/>
                </a:solidFill>
              </a:rPr>
              <a:t> </a:t>
            </a:r>
          </a:p>
          <a:p>
            <a:pPr algn="l"/>
            <a:r>
              <a:rPr lang="en-US" sz="1800" kern="0" spc="-220" dirty="0">
                <a:solidFill>
                  <a:schemeClr val="accent6"/>
                </a:solidFill>
                <a:hlinkClick r:id="rId15"/>
              </a:rPr>
              <a:t>http://www.voelter.de/data/pub/ProgramGeneration.pdf</a:t>
            </a:r>
            <a:r>
              <a:rPr lang="en-US" sz="18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2353398584"/>
              </p:ext>
            </p:extLst>
          </p:nvPr>
        </p:nvGraphicFramePr>
        <p:xfrm>
          <a:off x="275300" y="939800"/>
          <a:ext cx="8716299" cy="479866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11"/>
                        </a:rPr>
                        <a:t>https://refactoring.guru/design-patterns/state</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2"/>
                        </a:rPr>
                        <a:t>https://blog.ploeh.dk/2015/08/10/type-driven-development/</a:t>
                      </a:r>
                      <a:endParaRPr lang="en-IN" sz="1100" b="0" i="0" u="sng" strike="noStrike" dirty="0">
                        <a:solidFill>
                          <a:srgbClr val="0563C1"/>
                        </a:solidFill>
                        <a:effectLst/>
                        <a:latin typeface="Calibri" panose="020F0502020204030204" pitchFamily="34" charset="0"/>
                      </a:endParaRPr>
                    </a:p>
                    <a:p>
                      <a:pPr algn="l" fontAlgn="b"/>
                      <a:r>
                        <a:rPr lang="en-IN" sz="1100" b="0" i="0" dirty="0">
                          <a:solidFill>
                            <a:schemeClr val="dk1"/>
                          </a:solidFill>
                          <a:effectLst/>
                          <a:latin typeface="+mn-lt"/>
                          <a:ea typeface="+mn-ea"/>
                          <a:cs typeface="+mn-cs"/>
                        </a:rPr>
                        <a:t>Permissible States Rules Engine</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3"/>
                        </a:rPr>
                        <a:t>https://en.wikipedia.org/wiki/Strategy_pattern</a:t>
                      </a:r>
                      <a:r>
                        <a:rPr lang="en-IN" sz="1100" b="0" i="0" u="none" strike="noStrike" dirty="0">
                          <a:solidFill>
                            <a:srgbClr val="000000"/>
                          </a:solidFill>
                          <a:effectLst/>
                          <a:latin typeface="Calibri" panose="020F0502020204030204" pitchFamily="34" charset="0"/>
                        </a:rPr>
                        <a:t> </a:t>
                      </a:r>
                    </a:p>
                    <a:p>
                      <a:pPr algn="l" fontAlgn="b"/>
                      <a:r>
                        <a:rPr lang="en-IN" sz="1100" b="0" i="0" u="none" strike="noStrike" dirty="0">
                          <a:solidFill>
                            <a:srgbClr val="000000"/>
                          </a:solidFill>
                          <a:effectLst/>
                          <a:latin typeface="Calibri" panose="020F0502020204030204" pitchFamily="34" charset="0"/>
                          <a:hlinkClick r:id="rId14"/>
                        </a:rPr>
                        <a:t>https://www.linkedin.com/pulse/book-review-software-architecture-juval-lowy-michael-rarela-fiabf</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9"/>
              </a:rPr>
              <a:t>https://martinfowler.com/dsl.html</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0"/>
              </a:rPr>
              <a:t>https://pragprog.com/titles/tpdsl/language-implementation-patterns/</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1"/>
              </a:rPr>
              <a:t>https://www.syncfusion.com/succinctly-free-ebooks/implementing-a-custom-language</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2"/>
              </a:rPr>
              <a:t>https://www.syncfusion.com/succinctly-free-ebooks/writing-native-mobile-apps-in-a-functional-language-succinctly</a:t>
            </a:r>
            <a:r>
              <a:rPr lang="en-US" sz="16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hlinkClick r:id="rId7"/>
              </a:rPr>
              <a:t>https://rosettacode.org/wiki/Category:Programming_Tasks</a:t>
            </a:r>
            <a:r>
              <a:rPr lang="en-US" sz="1800" kern="0" spc="-220" dirty="0">
                <a:solidFill>
                  <a:schemeClr val="accent6"/>
                </a:solidFill>
              </a:rPr>
              <a:t> </a:t>
            </a:r>
          </a:p>
          <a:p>
            <a:pPr marL="12700" marR="5080"/>
            <a:r>
              <a:rPr lang="en-US" sz="1800" kern="0" spc="-220" dirty="0">
                <a:solidFill>
                  <a:schemeClr val="accent6"/>
                </a:solidFill>
                <a:hlinkClick r:id="rId8"/>
              </a:rPr>
              <a:t>https://github.com/gamontal/awesome-katas</a:t>
            </a:r>
            <a:r>
              <a:rPr lang="en-US" sz="1800" kern="0" spc="-220" dirty="0">
                <a:solidFill>
                  <a:schemeClr val="accent6"/>
                </a:solidFill>
              </a:rPr>
              <a:t> </a:t>
            </a:r>
          </a:p>
          <a:p>
            <a:pPr marL="12700" marR="5080"/>
            <a:r>
              <a:rPr lang="en-US" sz="1800" kern="0" spc="-220" dirty="0">
                <a:solidFill>
                  <a:schemeClr val="accent6"/>
                </a:solidFill>
                <a:hlinkClick r:id="rId9"/>
              </a:rPr>
              <a:t>https://codingchallenges.substack.com/</a:t>
            </a:r>
            <a:r>
              <a:rPr lang="en-US" sz="1800" kern="0" spc="-220" dirty="0">
                <a:solidFill>
                  <a:schemeClr val="accent6"/>
                </a:solidFill>
              </a:rPr>
              <a:t> </a:t>
            </a:r>
          </a:p>
          <a:p>
            <a:pPr marL="12700" marR="5080"/>
            <a:r>
              <a:rPr lang="en-US" sz="1800" kern="0" spc="-220" dirty="0">
                <a:solidFill>
                  <a:schemeClr val="accent6"/>
                </a:solidFill>
                <a:hlinkClick r:id="rId10"/>
              </a:rPr>
              <a:t>https://github.com/ashishps1/awesome-low-level-design</a:t>
            </a:r>
            <a:r>
              <a:rPr lang="en-US" sz="1800" kern="0" spc="-220" dirty="0">
                <a:solidFill>
                  <a:schemeClr val="accent6"/>
                </a:solidFill>
              </a:rPr>
              <a:t> </a:t>
            </a:r>
          </a:p>
          <a:p>
            <a:pPr marL="12700" marR="5080"/>
            <a:r>
              <a:rPr lang="en-US" sz="1800" kern="0" spc="-220" dirty="0">
                <a:solidFill>
                  <a:schemeClr val="accent6"/>
                </a:solidFill>
                <a:hlinkClick r:id="rId11"/>
              </a:rPr>
              <a:t>https://github.com/prasadgujar/low-level-design-primer</a:t>
            </a:r>
            <a:r>
              <a:rPr lang="en-US" sz="1800" kern="0" spc="-220" dirty="0">
                <a:solidFill>
                  <a:schemeClr val="accent6"/>
                </a:solidFill>
              </a:rPr>
              <a:t> </a:t>
            </a:r>
          </a:p>
          <a:p>
            <a:pPr marL="12700" marR="5080"/>
            <a:r>
              <a:rPr lang="en-US" sz="1800" kern="0" spc="-220" dirty="0">
                <a:solidFill>
                  <a:schemeClr val="accent6"/>
                </a:solidFill>
                <a:hlinkClick r:id="rId12"/>
              </a:rPr>
              <a:t>https://daily.dev/blog/make-a-web-browser-beginners-guide</a:t>
            </a:r>
            <a:r>
              <a:rPr lang="en-US" sz="1800" kern="0" spc="-220" dirty="0">
                <a:solidFill>
                  <a:schemeClr val="accent6"/>
                </a:solidFill>
              </a:rPr>
              <a:t> </a:t>
            </a:r>
          </a:p>
          <a:p>
            <a:pPr marL="12700" marR="5080"/>
            <a:r>
              <a:rPr lang="en-US" sz="1800" kern="0" spc="-220" dirty="0">
                <a:solidFill>
                  <a:schemeClr val="accent6"/>
                </a:solidFill>
                <a:hlinkClick r:id="rId13"/>
              </a:rPr>
              <a:t>https://browser.engineering/</a:t>
            </a:r>
            <a:r>
              <a:rPr lang="en-US" sz="1800" kern="0" spc="-220" dirty="0">
                <a:solidFill>
                  <a:schemeClr val="accent6"/>
                </a:solidFill>
              </a:rPr>
              <a:t> </a:t>
            </a:r>
          </a:p>
          <a:p>
            <a:pPr marL="12700" marR="5080"/>
            <a:r>
              <a:rPr lang="en-US" sz="1800" kern="0" spc="-220" dirty="0">
                <a:solidFill>
                  <a:schemeClr val="accent6"/>
                </a:solidFill>
                <a:hlinkClick r:id="rId14"/>
              </a:rPr>
              <a:t>https://stackoverflow.com/questions/790542/replacing-net-webbrowser-control-with-a-better-browser-like-chrome</a:t>
            </a:r>
            <a:r>
              <a:rPr lang="en-US" sz="1800" kern="0" spc="-220" dirty="0">
                <a:solidFill>
                  <a:schemeClr val="accent6"/>
                </a:solidFill>
              </a:rPr>
              <a:t> </a:t>
            </a:r>
          </a:p>
          <a:p>
            <a:pPr marL="12700" marR="5080"/>
            <a:r>
              <a:rPr lang="en-US" sz="1800" kern="0" spc="-220" dirty="0">
                <a:solidFill>
                  <a:schemeClr val="accent6"/>
                </a:solidFill>
                <a:hlinkClick r:id="rId15"/>
              </a:rPr>
              <a:t>https://www.planetgeek.ch/2013/06/05/clean-code-cheat-sheet/</a:t>
            </a:r>
            <a:r>
              <a:rPr lang="en-US" sz="1800" kern="0" spc="-220" dirty="0">
                <a:solidFill>
                  <a:schemeClr val="accent6"/>
                </a:solidFill>
              </a:rPr>
              <a:t> </a:t>
            </a:r>
          </a:p>
          <a:p>
            <a:pPr marL="12700" marR="5080"/>
            <a:r>
              <a:rPr lang="en-US" sz="1800" kern="0" spc="-220" dirty="0">
                <a:solidFill>
                  <a:schemeClr val="accent6"/>
                </a:solidFill>
                <a:hlinkClick r:id="rId16"/>
              </a:rPr>
              <a:t>https://www.linkedin.com/posts/maheshma_postgresql-sql-systemdesign-activity-7167707514266996736-HqMi</a:t>
            </a:r>
            <a:r>
              <a:rPr lang="en-US" sz="1800" kern="0" spc="-220" dirty="0">
                <a:solidFill>
                  <a:schemeClr val="accent6"/>
                </a:solidFill>
              </a:rPr>
              <a:t> </a:t>
            </a:r>
          </a:p>
          <a:p>
            <a:pPr marL="12700" marR="5080"/>
            <a:r>
              <a:rPr lang="en-US" sz="1800" kern="0" spc="-220" dirty="0">
                <a:solidFill>
                  <a:schemeClr val="accent6"/>
                </a:solidFill>
                <a:hlinkClick r:id="rId17"/>
              </a:rPr>
              <a:t>https://www.linkedin.com/posts/ray-rahul_%3F%3F%3F%3F%3F-%3F%3F%3F%3F%3F%3F%3F%3F-%3F%3F%3F%3F-%3F%3F-activity-7231616658820251651-FMD-/</a:t>
            </a:r>
            <a:r>
              <a:rPr lang="en-US" sz="2000" kern="0" spc="-220" dirty="0">
                <a:solidFill>
                  <a:schemeClr val="accent6"/>
                </a:solidFill>
              </a:rPr>
              <a:t> </a:t>
            </a:r>
          </a:p>
          <a:p>
            <a:pPr marL="12700" marR="5080"/>
            <a:r>
              <a:rPr lang="en-US" sz="2000" kern="0" spc="-220" dirty="0">
                <a:solidFill>
                  <a:schemeClr val="accent6"/>
                </a:solidFill>
                <a:hlinkClick r:id="rId18"/>
              </a:rPr>
              <a:t>https://www.linkedin.com/posts/akashsinnghh_dsa-dsaquestions-datastructures-activity-7231521586510479361-hTqM?utm_source=share&amp;utm_medium=member_desktop</a:t>
            </a:r>
            <a:r>
              <a:rPr lang="en-US" sz="2000" kern="0" spc="-220" dirty="0">
                <a:solidFill>
                  <a:schemeClr val="accent6"/>
                </a:solidFill>
              </a:rPr>
              <a:t> </a:t>
            </a: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&amp; then do further processing)</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t>
            </a:r>
            <a:r>
              <a:rPr lang="en-US" sz="1700" kern="0" spc="-220">
                <a:solidFill>
                  <a:schemeClr val="accent6"/>
                </a:solidFill>
              </a:rPr>
              <a:t>as properties &amp; </a:t>
            </a:r>
            <a:r>
              <a:rPr lang="en-US" sz="1700" kern="0" spc="-220" dirty="0">
                <a:solidFill>
                  <a:schemeClr val="accent6"/>
                </a:solidFill>
              </a:rPr>
              <a:t>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1700" kern="0" spc="-220" dirty="0" err="1">
                <a:solidFill>
                  <a:schemeClr val="accent6"/>
                </a:solidFill>
              </a:rPr>
              <a:t>Systems.A</a:t>
            </a:r>
            <a:r>
              <a:rPr lang="en-US" sz="1700" kern="0" spc="-220" dirty="0">
                <a:solidFill>
                  <a:schemeClr val="accent6"/>
                </a:solidFill>
              </a:rPr>
              <a:t> good C++ reference for .NET Developers is  </a:t>
            </a:r>
            <a:r>
              <a:rPr lang="en-US" sz="1700" kern="0" spc="-220" dirty="0">
                <a:solidFill>
                  <a:schemeClr val="accent6"/>
                </a:solidFill>
                <a:hlinkClick r:id="rId7"/>
              </a:rPr>
              <a:t>https://www.syncfusion.com/succinctly-free-ebooks/cplusplus</a:t>
            </a:r>
            <a:r>
              <a:rPr lang="en-US" sz="17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15083</TotalTime>
  <Words>8843</Words>
  <Application>Microsoft Office PowerPoint</Application>
  <PresentationFormat>Custom</PresentationFormat>
  <Paragraphs>1047</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915</cp:revision>
  <dcterms:created xsi:type="dcterms:W3CDTF">2020-11-03T17:16:52Z</dcterms:created>
  <dcterms:modified xsi:type="dcterms:W3CDTF">2024-08-29T06:13:05Z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