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03"/>
  </p:notesMasterIdLst>
  <p:sldIdLst>
    <p:sldId id="256" r:id="rId5"/>
    <p:sldId id="297" r:id="rId6"/>
    <p:sldId id="314" r:id="rId7"/>
    <p:sldId id="315" r:id="rId8"/>
    <p:sldId id="316" r:id="rId9"/>
    <p:sldId id="317" r:id="rId10"/>
    <p:sldId id="318" r:id="rId11"/>
    <p:sldId id="319" r:id="rId12"/>
    <p:sldId id="320" r:id="rId13"/>
    <p:sldId id="321" r:id="rId14"/>
    <p:sldId id="322" r:id="rId15"/>
    <p:sldId id="323" r:id="rId16"/>
    <p:sldId id="365" r:id="rId17"/>
    <p:sldId id="325" r:id="rId18"/>
    <p:sldId id="326" r:id="rId19"/>
    <p:sldId id="327" r:id="rId20"/>
    <p:sldId id="328" r:id="rId21"/>
    <p:sldId id="329" r:id="rId22"/>
    <p:sldId id="330" r:id="rId23"/>
    <p:sldId id="342" r:id="rId24"/>
    <p:sldId id="331" r:id="rId25"/>
    <p:sldId id="332" r:id="rId26"/>
    <p:sldId id="333" r:id="rId27"/>
    <p:sldId id="334" r:id="rId28"/>
    <p:sldId id="336" r:id="rId29"/>
    <p:sldId id="337" r:id="rId30"/>
    <p:sldId id="338" r:id="rId31"/>
    <p:sldId id="339" r:id="rId32"/>
    <p:sldId id="340" r:id="rId33"/>
    <p:sldId id="341" r:id="rId34"/>
    <p:sldId id="343" r:id="rId35"/>
    <p:sldId id="344" r:id="rId36"/>
    <p:sldId id="345" r:id="rId37"/>
    <p:sldId id="346" r:id="rId38"/>
    <p:sldId id="347" r:id="rId39"/>
    <p:sldId id="348" r:id="rId40"/>
    <p:sldId id="351" r:id="rId41"/>
    <p:sldId id="352" r:id="rId42"/>
    <p:sldId id="349" r:id="rId43"/>
    <p:sldId id="350" r:id="rId44"/>
    <p:sldId id="353" r:id="rId45"/>
    <p:sldId id="354" r:id="rId46"/>
    <p:sldId id="355" r:id="rId47"/>
    <p:sldId id="356" r:id="rId48"/>
    <p:sldId id="366" r:id="rId49"/>
    <p:sldId id="357" r:id="rId50"/>
    <p:sldId id="358" r:id="rId51"/>
    <p:sldId id="359" r:id="rId52"/>
    <p:sldId id="526" r:id="rId53"/>
    <p:sldId id="382" r:id="rId54"/>
    <p:sldId id="384" r:id="rId55"/>
    <p:sldId id="385" r:id="rId56"/>
    <p:sldId id="383" r:id="rId57"/>
    <p:sldId id="387" r:id="rId58"/>
    <p:sldId id="524" r:id="rId59"/>
    <p:sldId id="388" r:id="rId60"/>
    <p:sldId id="386" r:id="rId61"/>
    <p:sldId id="389" r:id="rId62"/>
    <p:sldId id="525" r:id="rId63"/>
    <p:sldId id="390" r:id="rId64"/>
    <p:sldId id="391" r:id="rId65"/>
    <p:sldId id="392" r:id="rId66"/>
    <p:sldId id="360" r:id="rId67"/>
    <p:sldId id="530" r:id="rId68"/>
    <p:sldId id="531" r:id="rId69"/>
    <p:sldId id="532" r:id="rId70"/>
    <p:sldId id="533" r:id="rId71"/>
    <p:sldId id="534" r:id="rId72"/>
    <p:sldId id="535" r:id="rId73"/>
    <p:sldId id="536" r:id="rId74"/>
    <p:sldId id="537" r:id="rId75"/>
    <p:sldId id="538" r:id="rId76"/>
    <p:sldId id="361" r:id="rId77"/>
    <p:sldId id="362" r:id="rId78"/>
    <p:sldId id="363" r:id="rId79"/>
    <p:sldId id="364" r:id="rId80"/>
    <p:sldId id="367" r:id="rId81"/>
    <p:sldId id="368" r:id="rId82"/>
    <p:sldId id="369" r:id="rId83"/>
    <p:sldId id="370" r:id="rId84"/>
    <p:sldId id="393" r:id="rId85"/>
    <p:sldId id="371" r:id="rId86"/>
    <p:sldId id="372" r:id="rId87"/>
    <p:sldId id="377" r:id="rId88"/>
    <p:sldId id="373" r:id="rId89"/>
    <p:sldId id="374" r:id="rId90"/>
    <p:sldId id="528" r:id="rId91"/>
    <p:sldId id="376" r:id="rId92"/>
    <p:sldId id="529" r:id="rId93"/>
    <p:sldId id="375" r:id="rId94"/>
    <p:sldId id="381" r:id="rId95"/>
    <p:sldId id="379" r:id="rId96"/>
    <p:sldId id="521" r:id="rId97"/>
    <p:sldId id="523" r:id="rId98"/>
    <p:sldId id="380" r:id="rId99"/>
    <p:sldId id="539" r:id="rId100"/>
    <p:sldId id="527" r:id="rId101"/>
    <p:sldId id="294" r:id="rId102"/>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3979" autoAdjust="0"/>
  </p:normalViewPr>
  <p:slideViewPr>
    <p:cSldViewPr>
      <p:cViewPr varScale="1">
        <p:scale>
          <a:sx n="73" d="100"/>
          <a:sy n="73" d="100"/>
        </p:scale>
        <p:origin x="1104" y="40"/>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6" Type="http://schemas.openxmlformats.org/officeDocument/2006/relationships/slide" Target="slides/slide12.xml"/><Relationship Id="rId107" Type="http://schemas.openxmlformats.org/officeDocument/2006/relationships/theme" Target="theme/theme1.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notesMaster" Target="notesMasters/notesMaster1.xml"/><Relationship Id="rId108"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commentAuthors" Target="commentAuthor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s>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Programming Paradigms[mainly in .NET]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592" custLinFactNeighborY="19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OOP Principles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Core Principles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Pure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Closure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Shared State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Advantages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Recursion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Advanced</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Const &amp; </a:t>
          </a:r>
          <a:r>
            <a:rPr lang="en-US" b="1" i="0" dirty="0" err="1"/>
            <a:t>Readonly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a:t>
          </a:r>
          <a:r>
            <a:rPr lang="en-US" b="1" i="0" dirty="0" err="1"/>
            <a:t>Clases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Delegates – Predicate/ Action / </a:t>
          </a:r>
          <a:r>
            <a:rPr lang="en-US" b="1" i="0" dirty="0" err="1"/>
            <a:t>Func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Marker Interface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Descriptor Pattern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Async/Await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07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Assemblies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err="1"/>
            <a:t>AoP</a:t>
          </a:r>
          <a:r>
            <a:rPr lang="en-US" dirty="0"/>
            <a:t>(Aspect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Reactive Programming(Rx.NET)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IoC/DI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Creational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Structural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Plugins Development </a:t>
          </a:r>
          <a:r>
            <a:rPr lang="en-US" dirty="0"/>
            <a:t>in </a:t>
          </a:r>
          <a:r>
            <a:rPr lang="en-US"/>
            <a:t>.NET(Core)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DSLs(Domain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Important Design Time NFRs(Non Functional Requirements)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Coding &amp; Low Level Design Katas &amp; Beyond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Things Not Covered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7008"/>
          <a:ext cx="8716300" cy="17339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Programming Paradigms[mainly in .NET]</a:t>
          </a:r>
        </a:p>
        <a:p>
          <a:pPr marL="0" lvl="0" indent="0" algn="l" defTabSz="1689100">
            <a:lnSpc>
              <a:spcPct val="90000"/>
            </a:lnSpc>
            <a:spcBef>
              <a:spcPct val="0"/>
            </a:spcBef>
            <a:spcAft>
              <a:spcPct val="35000"/>
            </a:spcAft>
            <a:buNone/>
          </a:pPr>
          <a:r>
            <a:rPr lang="en-US" sz="3800" b="1" i="0" kern="1200" dirty="0"/>
            <a:t>(Refresher)</a:t>
          </a:r>
          <a:endParaRPr lang="en-US" sz="3800" kern="1200" dirty="0"/>
        </a:p>
      </dsp:txBody>
      <dsp:txXfrm>
        <a:off x="84644" y="411652"/>
        <a:ext cx="8547012" cy="15646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OOP Principles Basics</a:t>
          </a:r>
          <a:endParaRPr lang="en-US" sz="6500" kern="1200" dirty="0"/>
        </a:p>
      </dsp:txBody>
      <dsp:txXfrm>
        <a:off x="76105" y="147698"/>
        <a:ext cx="8564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FP Basics</a:t>
          </a:r>
          <a:endParaRPr lang="en-US" sz="6500" kern="1200" dirty="0"/>
        </a:p>
      </dsp:txBody>
      <dsp:txXfrm>
        <a:off x="76105" y="147698"/>
        <a:ext cx="8564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Core Principles</a:t>
          </a:r>
          <a:endParaRPr lang="en-US" sz="4400" kern="1200" dirty="0"/>
        </a:p>
      </dsp:txBody>
      <dsp:txXfrm>
        <a:off x="51517" y="51517"/>
        <a:ext cx="8613266" cy="9523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Pure Function</a:t>
          </a:r>
          <a:endParaRPr lang="en-US" sz="4400" kern="1200" dirty="0"/>
        </a:p>
      </dsp:txBody>
      <dsp:txXfrm>
        <a:off x="51517" y="51517"/>
        <a:ext cx="8613266" cy="95230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Closure</a:t>
          </a:r>
          <a:endParaRPr lang="en-US" sz="4400" kern="1200" dirty="0"/>
        </a:p>
      </dsp:txBody>
      <dsp:txXfrm>
        <a:off x="51517" y="51517"/>
        <a:ext cx="8613266" cy="95230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Shared State</a:t>
          </a:r>
          <a:endParaRPr lang="en-US" sz="4400" kern="1200" dirty="0"/>
        </a:p>
      </dsp:txBody>
      <dsp:txXfrm>
        <a:off x="51517" y="51517"/>
        <a:ext cx="8613266" cy="95230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Advantages</a:t>
          </a:r>
          <a:endParaRPr lang="en-US" sz="4400" kern="1200" dirty="0"/>
        </a:p>
      </dsp:txBody>
      <dsp:txXfrm>
        <a:off x="51517" y="51517"/>
        <a:ext cx="8613266" cy="95230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Recursion</a:t>
          </a:r>
          <a:endParaRPr lang="en-US" sz="4400" kern="1200" dirty="0"/>
        </a:p>
      </dsp:txBody>
      <dsp:txXfrm>
        <a:off x="51517" y="51517"/>
        <a:ext cx="8613266" cy="952306"/>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Advanced</a:t>
          </a:r>
          <a:endParaRPr lang="en-US" sz="4400" kern="1200" dirty="0"/>
        </a:p>
      </dsp:txBody>
      <dsp:txXfrm>
        <a:off x="51517" y="51517"/>
        <a:ext cx="8613266" cy="952306"/>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Const &amp; </a:t>
          </a:r>
          <a:r>
            <a:rPr lang="en-US" sz="4400" b="1" i="0" kern="1200" dirty="0" err="1"/>
            <a:t>Readonly</a:t>
          </a:r>
          <a:endParaRPr lang="en-US" sz="4400" kern="1200" dirty="0"/>
        </a:p>
      </dsp:txBody>
      <dsp:txXfrm>
        <a:off x="51517" y="51517"/>
        <a:ext cx="8613266" cy="952306"/>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a:t>
          </a:r>
          <a:endParaRPr lang="en-US" sz="4400" kern="1200" dirty="0"/>
        </a:p>
      </dsp:txBody>
      <dsp:txXfrm>
        <a:off x="51517" y="51517"/>
        <a:ext cx="8613266" cy="952306"/>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Constructor</a:t>
          </a:r>
          <a:endParaRPr lang="en-US" sz="4400" kern="1200" dirty="0"/>
        </a:p>
      </dsp:txBody>
      <dsp:txXfrm>
        <a:off x="51517" y="51517"/>
        <a:ext cx="8613266" cy="952306"/>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Constructor</a:t>
          </a:r>
          <a:endParaRPr lang="en-US" sz="3100" kern="1200" dirty="0"/>
        </a:p>
      </dsp:txBody>
      <dsp:txXfrm>
        <a:off x="36296" y="36296"/>
        <a:ext cx="8643708" cy="670943"/>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a:t>
          </a:r>
          <a:r>
            <a:rPr lang="en-US" sz="3100" b="1" i="0" kern="1200" dirty="0" err="1"/>
            <a:t>Clases</a:t>
          </a:r>
          <a:endParaRPr lang="en-US" sz="3100" kern="1200" dirty="0"/>
        </a:p>
      </dsp:txBody>
      <dsp:txXfrm>
        <a:off x="36296" y="36296"/>
        <a:ext cx="8643708" cy="670943"/>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Delegates – Predicate/ Action / </a:t>
          </a:r>
          <a:r>
            <a:rPr lang="en-US" sz="3100" b="1" i="0" kern="1200" dirty="0" err="1"/>
            <a:t>Func</a:t>
          </a:r>
          <a:endParaRPr lang="en-US" sz="3100" kern="1200" dirty="0"/>
        </a:p>
      </dsp:txBody>
      <dsp:txXfrm>
        <a:off x="36296" y="36296"/>
        <a:ext cx="8643708" cy="670943"/>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Marker Interface</a:t>
          </a:r>
          <a:endParaRPr lang="en-US" sz="3100" kern="1200" dirty="0"/>
        </a:p>
      </dsp:txBody>
      <dsp:txXfrm>
        <a:off x="36296" y="36296"/>
        <a:ext cx="8643708" cy="670943"/>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Descriptor Pattern</a:t>
          </a:r>
          <a:endParaRPr lang="en-US" sz="3100" kern="1200" dirty="0"/>
        </a:p>
      </dsp:txBody>
      <dsp:txXfrm>
        <a:off x="36296" y="36296"/>
        <a:ext cx="8643708" cy="670943"/>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Async/Await</a:t>
          </a:r>
          <a:endParaRPr lang="en-US" sz="3100" kern="1200" dirty="0"/>
        </a:p>
      </dsp:txBody>
      <dsp:txXfrm>
        <a:off x="36296" y="36296"/>
        <a:ext cx="8643708" cy="670943"/>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4"/>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7520"/>
        <a:ext cx="8643708" cy="670943"/>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Assemblies</a:t>
          </a:r>
        </a:p>
      </dsp:txBody>
      <dsp:txXfrm>
        <a:off x="36296" y="36296"/>
        <a:ext cx="8643708" cy="670943"/>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err="1"/>
            <a:t>AoP</a:t>
          </a:r>
          <a:r>
            <a:rPr lang="en-US" sz="3100" kern="1200" dirty="0"/>
            <a:t>(Aspect Oriented Programming)</a:t>
          </a:r>
        </a:p>
      </dsp:txBody>
      <dsp:txXfrm>
        <a:off x="36296" y="36296"/>
        <a:ext cx="8643708" cy="670943"/>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Reactive Programming(Rx.NET)</a:t>
          </a:r>
        </a:p>
      </dsp:txBody>
      <dsp:txXfrm>
        <a:off x="36296" y="36296"/>
        <a:ext cx="8643708" cy="670943"/>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IoC/DI</a:t>
          </a:r>
        </a:p>
      </dsp:txBody>
      <dsp:txXfrm>
        <a:off x="36296" y="36296"/>
        <a:ext cx="8643708" cy="670943"/>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Creational Patterns</a:t>
          </a:r>
        </a:p>
      </dsp:txBody>
      <dsp:txXfrm>
        <a:off x="36296" y="36296"/>
        <a:ext cx="8643708" cy="670943"/>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Structural Patterns</a:t>
          </a:r>
        </a:p>
      </dsp:txBody>
      <dsp:txXfrm>
        <a:off x="36296" y="36296"/>
        <a:ext cx="8643708" cy="670943"/>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a:t>
          </a:r>
        </a:p>
      </dsp:txBody>
      <dsp:txXfrm>
        <a:off x="36296" y="36296"/>
        <a:ext cx="8643708" cy="670943"/>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a:t>
          </a:r>
        </a:p>
      </dsp:txBody>
      <dsp:txXfrm>
        <a:off x="36296" y="36296"/>
        <a:ext cx="8643708" cy="670943"/>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 </a:t>
          </a:r>
        </a:p>
      </dsp:txBody>
      <dsp:txXfrm>
        <a:off x="36296" y="36296"/>
        <a:ext cx="8643708" cy="670943"/>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Plugins Development </a:t>
          </a:r>
          <a:r>
            <a:rPr lang="en-US" sz="3100" kern="1200" dirty="0"/>
            <a:t>in </a:t>
          </a:r>
          <a:r>
            <a:rPr lang="en-US" sz="3100" kern="1200"/>
            <a:t>.NET(Core)</a:t>
          </a:r>
          <a:endParaRPr lang="en-US" sz="3100" kern="1200" dirty="0"/>
        </a:p>
      </dsp:txBody>
      <dsp:txXfrm>
        <a:off x="36296" y="36296"/>
        <a:ext cx="8643708" cy="670943"/>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DSLs(Domain Specific Languages) -  </a:t>
          </a:r>
        </a:p>
      </dsp:txBody>
      <dsp:txXfrm>
        <a:off x="21162" y="21162"/>
        <a:ext cx="7149976"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Domain Specific Languages -  </a:t>
          </a:r>
        </a:p>
      </dsp:txBody>
      <dsp:txXfrm>
        <a:off x="21162" y="21162"/>
        <a:ext cx="7149976"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Some Important Design Time NFRs(Non Functional Requirements)</a:t>
          </a:r>
        </a:p>
      </dsp:txBody>
      <dsp:txXfrm>
        <a:off x="28100" y="110717"/>
        <a:ext cx="8660100" cy="51943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Coding &amp; Low Level Design Katas &amp; Beyond</a:t>
          </a:r>
        </a:p>
      </dsp:txBody>
      <dsp:txXfrm>
        <a:off x="36296" y="36296"/>
        <a:ext cx="8643708" cy="670943"/>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Things Not Covered</a:t>
          </a:r>
        </a:p>
      </dsp:txBody>
      <dsp:txXfrm>
        <a:off x="36296" y="36296"/>
        <a:ext cx="8643708" cy="670943"/>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8/5/2024</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8/5/2024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8/5/2024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8/5/2024</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8/5/2024</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8/5/2024</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8/5/2024</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8" Type="http://schemas.openxmlformats.org/officeDocument/2006/relationships/hyperlink" Target="https://stackoverflow.com/questions/30165810/why-use-immutablelist-over-readonlycollection" TargetMode="External"/><Relationship Id="rId3" Type="http://schemas.openxmlformats.org/officeDocument/2006/relationships/diagramLayout" Target="../diagrams/layout13.xml"/><Relationship Id="rId7" Type="http://schemas.openxmlformats.org/officeDocument/2006/relationships/hyperlink" Target="https://www.linkedin.com/pulse/immutability-record-types-keyword-c-sebastiano-gazzola#:~:text=In%20C%23%209%2C%20a%20new,and%20fields%20being%20read%2Donly" TargetMode="Externa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hyperlink" Target="https://ericlippert.com/tag/immutability/page/2/" TargetMode="Externa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hyperlink" Target="https://github.com/sandipray63in/DDD-Based-Enterprise-Application-Framework/blob/master/Infrastructure/Concurrency/Synchronization/SharedDataProtection/BaseLocking.cs"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20.xml"/><Relationship Id="rId7" Type="http://schemas.openxmlformats.org/officeDocument/2006/relationships/hyperlink" Target="https://event-driven.io/en/memoization_a_useful_pattern_for_quick_optimisation/"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4" Type="http://schemas.openxmlformats.org/officeDocument/2006/relationships/diagramQuickStyle" Target="../diagrams/quickStyle20.xml"/></Relationships>
</file>

<file path=ppt/slides/_rels/slide21.xml.rels><?xml version="1.0" encoding="UTF-8" standalone="yes"?>
<Relationships xmlns="http://schemas.openxmlformats.org/package/2006/relationships"><Relationship Id="rId8" Type="http://schemas.openxmlformats.org/officeDocument/2006/relationships/hyperlink" Target="https://weblogs.asp.net/dixin/category-theory-via-csharp-2-monoid#:~:text=Monoid%20as%20category,a%20morphism%20in%20category%20C" TargetMode="External"/><Relationship Id="rId3" Type="http://schemas.openxmlformats.org/officeDocument/2006/relationships/diagramLayout" Target="../diagrams/layout21.xml"/><Relationship Id="rId7" Type="http://schemas.openxmlformats.org/officeDocument/2006/relationships/hyperlink" Target="https://functionalprogrammingcsharp.com/functors-monads" TargetMode="Externa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10" Type="http://schemas.openxmlformats.org/officeDocument/2006/relationships/hyperlink" Target="https://fsharpforfunandprofit.com/fppatterns/" TargetMode="External"/><Relationship Id="rId4" Type="http://schemas.openxmlformats.org/officeDocument/2006/relationships/diagramQuickStyle" Target="../diagrams/quickStyle21.xml"/><Relationship Id="rId9" Type="http://schemas.openxmlformats.org/officeDocument/2006/relationships/hyperlink" Target="https://github.com/caiorss/Functional-Programming/blob/master/haskell/Functional_Programming_Concepts.org" TargetMode="Externa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5.xml"/><Relationship Id="rId7" Type="http://schemas.openxmlformats.org/officeDocument/2006/relationships/hyperlink" Target="https://stackoverflow.com/questions/26128893/loading-assembly-in-sandbox-appdomain-securityexception" TargetMode="External"/><Relationship Id="rId2" Type="http://schemas.openxmlformats.org/officeDocument/2006/relationships/diagramData" Target="../diagrams/data25.xml"/><Relationship Id="rId1" Type="http://schemas.openxmlformats.org/officeDocument/2006/relationships/slideLayout" Target="../slideLayouts/slideLayout2.xml"/><Relationship Id="rId6" Type="http://schemas.microsoft.com/office/2007/relationships/diagramDrawing" Target="../diagrams/drawing25.xml"/><Relationship Id="rId5" Type="http://schemas.openxmlformats.org/officeDocument/2006/relationships/diagramColors" Target="../diagrams/colors25.xml"/><Relationship Id="rId4" Type="http://schemas.openxmlformats.org/officeDocument/2006/relationships/diagramQuickStyle" Target="../diagrams/quickStyle25.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6.xm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4" Type="http://schemas.openxmlformats.org/officeDocument/2006/relationships/diagramQuickStyle" Target="../diagrams/quickStyle26.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7.xm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8.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5" Type="http://schemas.openxmlformats.org/officeDocument/2006/relationships/diagramColors" Target="../diagrams/colors28.xml"/><Relationship Id="rId4" Type="http://schemas.openxmlformats.org/officeDocument/2006/relationships/diagramQuickStyle" Target="../diagrams/quickStyle28.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29.xml"/><Relationship Id="rId7" Type="http://schemas.openxmlformats.org/officeDocument/2006/relationships/image" Target="../media/image2.png"/><Relationship Id="rId2" Type="http://schemas.openxmlformats.org/officeDocument/2006/relationships/diagramData" Target="../diagrams/data29.xml"/><Relationship Id="rId1" Type="http://schemas.openxmlformats.org/officeDocument/2006/relationships/slideLayout" Target="../slideLayouts/slideLayout2.xml"/><Relationship Id="rId6" Type="http://schemas.microsoft.com/office/2007/relationships/diagramDrawing" Target="../diagrams/drawing29.xml"/><Relationship Id="rId5" Type="http://schemas.openxmlformats.org/officeDocument/2006/relationships/diagramColors" Target="../diagrams/colors29.xml"/><Relationship Id="rId4" Type="http://schemas.openxmlformats.org/officeDocument/2006/relationships/diagramQuickStyle" Target="../diagrams/quickStyle29.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0.xml"/><Relationship Id="rId7" Type="http://schemas.openxmlformats.org/officeDocument/2006/relationships/hyperlink" Target="https://github.com/sandipray63in/DDD-Based-Enterprise-Application-Framework/blob/master/Repository/UnitOfWork/IUnitOfWork.cs" TargetMode="Externa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5" Type="http://schemas.openxmlformats.org/officeDocument/2006/relationships/diagramColors" Target="../diagrams/colors30.xml"/><Relationship Id="rId4" Type="http://schemas.openxmlformats.org/officeDocument/2006/relationships/diagramQuickStyle" Target="../diagrams/quickStyle30.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1.xml"/><Relationship Id="rId7" Type="http://schemas.openxmlformats.org/officeDocument/2006/relationships/hyperlink" Target="https://github.com/sandipray63in/DDD-Based-Enterprise-Application-Framework/blob/master/Repository/Base/BaseUnitOfWorkRepository.cs" TargetMode="External"/><Relationship Id="rId2" Type="http://schemas.openxmlformats.org/officeDocument/2006/relationships/diagramData" Target="../diagrams/data31.xml"/><Relationship Id="rId1" Type="http://schemas.openxmlformats.org/officeDocument/2006/relationships/slideLayout" Target="../slideLayouts/slideLayout2.xml"/><Relationship Id="rId6" Type="http://schemas.microsoft.com/office/2007/relationships/diagramDrawing" Target="../diagrams/drawing31.xml"/><Relationship Id="rId5" Type="http://schemas.openxmlformats.org/officeDocument/2006/relationships/diagramColors" Target="../diagrams/colors31.xml"/><Relationship Id="rId4" Type="http://schemas.openxmlformats.org/officeDocument/2006/relationships/diagramQuickStyle" Target="../diagrams/quickStyle31.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2.xml"/><Relationship Id="rId2" Type="http://schemas.openxmlformats.org/officeDocument/2006/relationships/diagramData" Target="../diagrams/data32.xml"/><Relationship Id="rId1" Type="http://schemas.openxmlformats.org/officeDocument/2006/relationships/slideLayout" Target="../slideLayouts/slideLayout2.xml"/><Relationship Id="rId6" Type="http://schemas.microsoft.com/office/2007/relationships/diagramDrawing" Target="../diagrams/drawing32.xml"/><Relationship Id="rId5" Type="http://schemas.openxmlformats.org/officeDocument/2006/relationships/diagramColors" Target="../diagrams/colors32.xml"/><Relationship Id="rId4" Type="http://schemas.openxmlformats.org/officeDocument/2006/relationships/diagramQuickStyle" Target="../diagrams/quickStyle3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33.xml"/><Relationship Id="rId2"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3.xml"/><Relationship Id="rId5" Type="http://schemas.openxmlformats.org/officeDocument/2006/relationships/diagramColors" Target="../diagrams/colors33.xml"/><Relationship Id="rId4" Type="http://schemas.openxmlformats.org/officeDocument/2006/relationships/diagramQuickStyle" Target="../diagrams/quickStyle33.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34.xml"/><Relationship Id="rId7" Type="http://schemas.openxmlformats.org/officeDocument/2006/relationships/hyperlink" Target="https://stackoverflow.com/questions/129389/how-do-you-do-a-deep-copy-of-an-object-in-net" TargetMode="Externa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5.xm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36.xm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5" Type="http://schemas.openxmlformats.org/officeDocument/2006/relationships/diagramColors" Target="../diagrams/colors36.xml"/><Relationship Id="rId4" Type="http://schemas.openxmlformats.org/officeDocument/2006/relationships/diagramQuickStyle" Target="../diagrams/quickStyle36.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37.xm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5" Type="http://schemas.openxmlformats.org/officeDocument/2006/relationships/diagramColors" Target="../diagrams/colors37.xml"/><Relationship Id="rId4" Type="http://schemas.openxmlformats.org/officeDocument/2006/relationships/diagramQuickStyle" Target="../diagrams/quickStyle37.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38.xml"/><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39.xm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40.xml"/><Relationship Id="rId2" Type="http://schemas.openxmlformats.org/officeDocument/2006/relationships/diagramData" Target="../diagrams/data40.xml"/><Relationship Id="rId1" Type="http://schemas.openxmlformats.org/officeDocument/2006/relationships/slideLayout" Target="../slideLayouts/slideLayout2.xml"/><Relationship Id="rId6" Type="http://schemas.microsoft.com/office/2007/relationships/diagramDrawing" Target="../diagrams/drawing40.xml"/><Relationship Id="rId5" Type="http://schemas.openxmlformats.org/officeDocument/2006/relationships/diagramColors" Target="../diagrams/colors40.xml"/><Relationship Id="rId4" Type="http://schemas.openxmlformats.org/officeDocument/2006/relationships/diagramQuickStyle" Target="../diagrams/quickStyle40.xml"/></Relationships>
</file>

<file path=ppt/slides/_rels/slide4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FluentRepository" TargetMode="External"/><Relationship Id="rId3" Type="http://schemas.openxmlformats.org/officeDocument/2006/relationships/diagramLayout" Target="../diagrams/layout41.xml"/><Relationship Id="rId7" Type="http://schemas.openxmlformats.org/officeDocument/2006/relationships/hyperlink" Target="https://killalldefects.com/2020/01/18/using-extension-methods-in-c-to-build-fluent-code/" TargetMode="External"/><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5" Type="http://schemas.openxmlformats.org/officeDocument/2006/relationships/diagramColors" Target="../diagrams/colors41.xml"/><Relationship Id="rId10" Type="http://schemas.openxmlformats.org/officeDocument/2006/relationships/hyperlink" Target="https://docs.fluentvalidation.net/en/latest/" TargetMode="External"/><Relationship Id="rId4" Type="http://schemas.openxmlformats.org/officeDocument/2006/relationships/diagramQuickStyle" Target="../diagrams/quickStyle41.xml"/><Relationship Id="rId9" Type="http://schemas.openxmlformats.org/officeDocument/2006/relationships/hyperlink" Target="https://github.com/sandipray63in/DDD-Based-Enterprise-Application-Framework/tree/master/Testing.FluentRepository" TargetMode="Externa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42.xml"/><Relationship Id="rId7" Type="http://schemas.openxmlformats.org/officeDocument/2006/relationships/hyperlink" Target="https://www.c-sharpcorner.com/UploadFile/b942f9/how-to-create-mixin-using-C-Sharp-4-0/" TargetMode="External"/><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7" Type="http://schemas.openxmlformats.org/officeDocument/2006/relationships/hyperlink" Target="https://learn.microsoft.com/en-us/dotnet/csharp/advanced-topics/interface-implementation/mixins-with-default-interface-methods" TargetMode="Externa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7" Type="http://schemas.openxmlformats.org/officeDocument/2006/relationships/hyperlink" Target="https://gist.github.com/sandipray63in/0ef6a1faa6614da41ef1d242f40cd0c9" TargetMode="Externa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Infrastructure/DisposableClass.cs" TargetMode="External"/><Relationship Id="rId3" Type="http://schemas.openxmlformats.org/officeDocument/2006/relationships/diagramLayout" Target="../diagrams/layout45.xml"/><Relationship Id="rId7" Type="http://schemas.openxmlformats.org/officeDocument/2006/relationships/hyperlink" Target="https://michaelscodingspot.com/find-fix-and-avoid-memory-leaks-in-c-net-8-best-practices/" TargetMode="External"/><Relationship Id="rId12" Type="http://schemas.openxmlformats.org/officeDocument/2006/relationships/hyperlink" Target="https://medium.com/@josiahmahachi/in-memory-caching-in-net-6aa5d827b341" TargetMode="External"/><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11" Type="http://schemas.openxmlformats.org/officeDocument/2006/relationships/hyperlink" Target="https://paulstovell.com/weakevents/" TargetMode="External"/><Relationship Id="rId5" Type="http://schemas.openxmlformats.org/officeDocument/2006/relationships/diagramColors" Target="../diagrams/colors45.xml"/><Relationship Id="rId10" Type="http://schemas.openxmlformats.org/officeDocument/2006/relationships/hyperlink" Target="https://stackoverflow.com/questions/18465630/understanding-conditionalweaktable" TargetMode="External"/><Relationship Id="rId4" Type="http://schemas.openxmlformats.org/officeDocument/2006/relationships/diagramQuickStyle" Target="../diagrams/quickStyle45.xml"/><Relationship Id="rId9" Type="http://schemas.openxmlformats.org/officeDocument/2006/relationships/hyperlink" Target="https://www.codeproject.com/Articles/664282/Understanding-weak-references-in-NET" TargetMode="External"/></Relationships>
</file>

<file path=ppt/slides/_rels/slide46.xml.rels><?xml version="1.0" encoding="UTF-8" standalone="yes"?>
<Relationships xmlns="http://schemas.openxmlformats.org/package/2006/relationships"><Relationship Id="rId8" Type="http://schemas.openxmlformats.org/officeDocument/2006/relationships/hyperlink" Target="https://www.linkedin.com/pulse/mark-sweep-garbage-collection-algorithm-arpit-bhayani" TargetMode="External"/><Relationship Id="rId3" Type="http://schemas.openxmlformats.org/officeDocument/2006/relationships/diagramLayout" Target="../diagrams/layout46.xml"/><Relationship Id="rId7" Type="http://schemas.openxmlformats.org/officeDocument/2006/relationships/hyperlink" Target="https://stackoverflow.com/questions/3680281/usages-of-object-resurrection"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5" Type="http://schemas.openxmlformats.org/officeDocument/2006/relationships/diagramColors" Target="../diagrams/colors46.xml"/><Relationship Id="rId10" Type="http://schemas.openxmlformats.org/officeDocument/2006/relationships/hyperlink" Target="https://stackoverflow.com/questions/2257563/what-are-the-generations-in-garbage-collection" TargetMode="External"/><Relationship Id="rId4" Type="http://schemas.openxmlformats.org/officeDocument/2006/relationships/diagramQuickStyle" Target="../diagrams/quickStyle46.xml"/><Relationship Id="rId9" Type="http://schemas.openxmlformats.org/officeDocument/2006/relationships/hyperlink" Target="https://stackify.com/c-garbage-collection/" TargetMode="Externa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47.xm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48.xml"/><Relationship Id="rId7" Type="http://schemas.openxmlformats.org/officeDocument/2006/relationships/hyperlink" Target="https://weblogs.asp.net/mehfuzh/creating-linqtotwitter-library-using-linqextender" TargetMode="External"/><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49.xml.rels><?xml version="1.0" encoding="UTF-8" standalone="yes"?>
<Relationships xmlns="http://schemas.openxmlformats.org/package/2006/relationships"><Relationship Id="rId8" Type="http://schemas.openxmlformats.org/officeDocument/2006/relationships/hyperlink" Target="https://lukewickstead.wordpress.com/2014/02/07/processes-threads-appdomains-object-contexts" TargetMode="External"/><Relationship Id="rId3" Type="http://schemas.openxmlformats.org/officeDocument/2006/relationships/diagramLayout" Target="../diagrams/layout49.xml"/><Relationship Id="rId7" Type="http://schemas.openxmlformats.org/officeDocument/2006/relationships/image" Target="../media/image3.jpeg"/><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8" Type="http://schemas.openxmlformats.org/officeDocument/2006/relationships/hyperlink" Target="https://dotnettutorials.net/lesson/how-to-retrieve-data-from-a-thread-function/" TargetMode="External"/><Relationship Id="rId3" Type="http://schemas.openxmlformats.org/officeDocument/2006/relationships/diagramLayout" Target="../diagrams/layout50.xml"/><Relationship Id="rId7" Type="http://schemas.openxmlformats.org/officeDocument/2006/relationships/hyperlink" Target="https://dotnettutorials.net/lesson/how-to-pass-data-to-the-thread-function-in-a-type-safe-manner/" TargetMode="External"/><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11" Type="http://schemas.openxmlformats.org/officeDocument/2006/relationships/hyperlink" Target="https://learn.microsoft.com/en-us/dotnet/api/system.threading.tasks.task?view=net-8.0" TargetMode="External"/><Relationship Id="rId5" Type="http://schemas.openxmlformats.org/officeDocument/2006/relationships/diagramColors" Target="../diagrams/colors50.xml"/><Relationship Id="rId10" Type="http://schemas.openxmlformats.org/officeDocument/2006/relationships/hyperlink" Target="https://stackoverflow.com/questions/4130194/what-is-the-difference-between-task-and-thread" TargetMode="External"/><Relationship Id="rId4" Type="http://schemas.openxmlformats.org/officeDocument/2006/relationships/diagramQuickStyle" Target="../diagrams/quickStyle50.xml"/><Relationship Id="rId9" Type="http://schemas.openxmlformats.org/officeDocument/2006/relationships/hyperlink" Target="https://learn.microsoft.com/en-us/windows/win32/procthread/thread-pools" TargetMode="Externa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Layout" Target="../diagrams/layout52.xml"/><Relationship Id="rId7" Type="http://schemas.openxmlformats.org/officeDocument/2006/relationships/hyperlink" Target="https://www.wallarm.com/what/what-is-a-race-condition" TargetMode="Externa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s>
</file>

<file path=ppt/slides/_rels/slide53.xml.rels><?xml version="1.0" encoding="UTF-8" standalone="yes"?>
<Relationships xmlns="http://schemas.openxmlformats.org/package/2006/relationships"><Relationship Id="rId3" Type="http://schemas.openxmlformats.org/officeDocument/2006/relationships/diagramLayout" Target="../diagrams/layout53.xm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s>
</file>

<file path=ppt/slides/_rels/slide54.xml.rels><?xml version="1.0" encoding="UTF-8" standalone="yes"?>
<Relationships xmlns="http://schemas.openxmlformats.org/package/2006/relationships"><Relationship Id="rId3" Type="http://schemas.openxmlformats.org/officeDocument/2006/relationships/diagramLayout" Target="../diagrams/layout54.xml"/><Relationship Id="rId7" Type="http://schemas.openxmlformats.org/officeDocument/2006/relationships/image" Target="../media/image5.png"/><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8" Type="http://schemas.openxmlformats.org/officeDocument/2006/relationships/hyperlink" Target="https://www.derpturkey.com/c-cross-process-synchronization/" TargetMode="External"/><Relationship Id="rId3" Type="http://schemas.openxmlformats.org/officeDocument/2006/relationships/diagramLayout" Target="../diagrams/layout55.xml"/><Relationship Id="rId7" Type="http://schemas.openxmlformats.org/officeDocument/2006/relationships/image" Target="../media/image6.png"/><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 Id="rId9" Type="http://schemas.openxmlformats.org/officeDocument/2006/relationships/hyperlink" Target="https://iq.direct/blog/54-using-c-mutexes-for-inter-interprocess-synchronization.html" TargetMode="Externa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56.xml"/><Relationship Id="rId7" Type="http://schemas.openxmlformats.org/officeDocument/2006/relationships/hyperlink" Target="https://medium.com/@kamaleshs48/lock-vs-monitor-in-c-a16560c49a23" TargetMode="External"/><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s>
</file>

<file path=ppt/slides/_rels/slide57.xml.rels><?xml version="1.0" encoding="UTF-8" standalone="yes"?>
<Relationships xmlns="http://schemas.openxmlformats.org/package/2006/relationships"><Relationship Id="rId8" Type="http://schemas.openxmlformats.org/officeDocument/2006/relationships/hyperlink" Target="https://blog.cdemi.io/async-waiting-inside-c-sharp-locks/" TargetMode="External"/><Relationship Id="rId3" Type="http://schemas.openxmlformats.org/officeDocument/2006/relationships/diagramLayout" Target="../diagrams/layout57.xml"/><Relationship Id="rId7" Type="http://schemas.openxmlformats.org/officeDocument/2006/relationships/hyperlink" Target="https://learn.microsoft.com/en-us/dotnet/api/system.threading.semaphoreslim" TargetMode="Externa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10" Type="http://schemas.openxmlformats.org/officeDocument/2006/relationships/hyperlink" Target="https://www.infoworld.com/article/3674845/how-to-use-cancellation-tokens-in-aspnet-core-7.html" TargetMode="External"/><Relationship Id="rId4" Type="http://schemas.openxmlformats.org/officeDocument/2006/relationships/diagramQuickStyle" Target="../diagrams/quickStyle57.xml"/><Relationship Id="rId9" Type="http://schemas.openxmlformats.org/officeDocument/2006/relationships/hyperlink" Target="https://www.albahari.com/threading/part3.aspx#_Safe_Cancellation" TargetMode="Externa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58.xml"/><Relationship Id="rId7" Type="http://schemas.openxmlformats.org/officeDocument/2006/relationships/image" Target="../media/image7.png"/><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59.xml"/><Relationship Id="rId7" Type="http://schemas.openxmlformats.org/officeDocument/2006/relationships/image" Target="../media/image8.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s>
</file>

<file path=ppt/slides/_rels/slide60.xml.rels><?xml version="1.0" encoding="UTF-8" standalone="yes"?>
<Relationships xmlns="http://schemas.openxmlformats.org/package/2006/relationships"><Relationship Id="rId8" Type="http://schemas.openxmlformats.org/officeDocument/2006/relationships/hyperlink" Target="https://jenkov.com/tutorials/java-concurrency/compare-and-swap.html" TargetMode="External"/><Relationship Id="rId13" Type="http://schemas.openxmlformats.org/officeDocument/2006/relationships/hyperlink" Target="https://www.syncfusion.com/succinctly-free-ebooks/webservers" TargetMode="External"/><Relationship Id="rId3" Type="http://schemas.openxmlformats.org/officeDocument/2006/relationships/diagramLayout" Target="../diagrams/layout60.xml"/><Relationship Id="rId7" Type="http://schemas.openxmlformats.org/officeDocument/2006/relationships/hyperlink" Target="https://stackoverflow.com/questions/52196678/what-are-atomic-operations-for-newbies" TargetMode="External"/><Relationship Id="rId12" Type="http://schemas.openxmlformats.org/officeDocument/2006/relationships/hyperlink" Target="https://github.com/Wintellect/PowerThreading" TargetMode="External"/><Relationship Id="rId2" Type="http://schemas.openxmlformats.org/officeDocument/2006/relationships/diagramData" Target="../diagrams/data60.xml"/><Relationship Id="rId1" Type="http://schemas.openxmlformats.org/officeDocument/2006/relationships/slideLayout" Target="../slideLayouts/slideLayout2.xml"/><Relationship Id="rId6" Type="http://schemas.microsoft.com/office/2007/relationships/diagramDrawing" Target="../diagrams/drawing60.xml"/><Relationship Id="rId11" Type="http://schemas.openxmlformats.org/officeDocument/2006/relationships/hyperlink" Target="https://github.com/MikeMKH/concurrency-in-csharp-cookbook" TargetMode="External"/><Relationship Id="rId5" Type="http://schemas.openxmlformats.org/officeDocument/2006/relationships/diagramColors" Target="../diagrams/colors60.xml"/><Relationship Id="rId10" Type="http://schemas.openxmlformats.org/officeDocument/2006/relationships/hyperlink" Target="https://stackoverflow.com/questions/44123180/lock-splitting-vs-lock-striping" TargetMode="External"/><Relationship Id="rId4" Type="http://schemas.openxmlformats.org/officeDocument/2006/relationships/diagramQuickStyle" Target="../diagrams/quickStyle60.xml"/><Relationship Id="rId9" Type="http://schemas.openxmlformats.org/officeDocument/2006/relationships/hyperlink" Target="https://www.albahari.com/threading/part4.aspx"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www.albahari.com/threading/part5.aspx#_SpinLock_and_SpinWait" TargetMode="External"/><Relationship Id="rId3" Type="http://schemas.openxmlformats.org/officeDocument/2006/relationships/diagramLayout" Target="../diagrams/layout61.xml"/><Relationship Id="rId7" Type="http://schemas.openxmlformats.org/officeDocument/2006/relationships/hyperlink" Target="https://stackoverflow.com/questions/2510593/how-can-i-set-processor-affinity-to-a-thread-or-a-task-in-net" TargetMode="External"/><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10" Type="http://schemas.openxmlformats.org/officeDocument/2006/relationships/hyperlink" Target="https://www.albahari.com/threading/part5.aspx#_PLINQ" TargetMode="External"/><Relationship Id="rId4" Type="http://schemas.openxmlformats.org/officeDocument/2006/relationships/diagramQuickStyle" Target="../diagrams/quickStyle61.xml"/><Relationship Id="rId9" Type="http://schemas.openxmlformats.org/officeDocument/2006/relationships/hyperlink" Target="https://www.albahari.com/threading/part5.aspx#_The_Parallel_Class" TargetMode="External"/></Relationships>
</file>

<file path=ppt/slides/_rels/slide62.xml.rels><?xml version="1.0" encoding="UTF-8" standalone="yes"?>
<Relationships xmlns="http://schemas.openxmlformats.org/package/2006/relationships"><Relationship Id="rId8" Type="http://schemas.openxmlformats.org/officeDocument/2006/relationships/hyperlink" Target="https://stackoverflow.com/questions/52581135/when-immutable-collections-are-preferable-than-concurrent" TargetMode="External"/><Relationship Id="rId3" Type="http://schemas.openxmlformats.org/officeDocument/2006/relationships/diagramLayout" Target="../diagrams/layout62.xml"/><Relationship Id="rId7" Type="http://schemas.openxmlformats.org/officeDocument/2006/relationships/hyperlink" Target="https://www.albahari.com/threading/part5.aspx#_Concurrent_Collections" TargetMode="External"/><Relationship Id="rId2" Type="http://schemas.openxmlformats.org/officeDocument/2006/relationships/diagramData" Target="../diagrams/data62.xml"/><Relationship Id="rId1" Type="http://schemas.openxmlformats.org/officeDocument/2006/relationships/slideLayout" Target="../slideLayouts/slideLayout2.xml"/><Relationship Id="rId6" Type="http://schemas.microsoft.com/office/2007/relationships/diagramDrawing" Target="../diagrams/drawing62.xml"/><Relationship Id="rId5" Type="http://schemas.openxmlformats.org/officeDocument/2006/relationships/diagramColors" Target="../diagrams/colors62.xml"/><Relationship Id="rId10" Type="http://schemas.openxmlformats.org/officeDocument/2006/relationships/hyperlink" Target="https://learn.microsoft.com/en-us/dotnet/standard/parallel-programming/for-further-reading-parallel-programming" TargetMode="External"/><Relationship Id="rId4" Type="http://schemas.openxmlformats.org/officeDocument/2006/relationships/diagramQuickStyle" Target="../diagrams/quickStyle62.xml"/><Relationship Id="rId9" Type="http://schemas.openxmlformats.org/officeDocument/2006/relationships/hyperlink" Target="https://github.com/ChadBurggraf/parallel-extensions-extras" TargetMode="External"/></Relationships>
</file>

<file path=ppt/slides/_rels/slide63.xml.rels><?xml version="1.0" encoding="UTF-8" standalone="yes"?>
<Relationships xmlns="http://schemas.openxmlformats.org/package/2006/relationships"><Relationship Id="rId8" Type="http://schemas.openxmlformats.org/officeDocument/2006/relationships/hyperlink" Target="https://neuecc.medium.com/patterns-practices-for-efficiently-handling-c-async-await-cancel-processing-and-timeouts-b419ce5f69a4" TargetMode="External"/><Relationship Id="rId3" Type="http://schemas.openxmlformats.org/officeDocument/2006/relationships/diagramLayout" Target="../diagrams/layout63.xml"/><Relationship Id="rId7" Type="http://schemas.openxmlformats.org/officeDocument/2006/relationships/hyperlink" Target="https://learn.microsoft.com/en-us/archive/msdn-magazine/2013/march/async-await-best-practices-in-asynchronous-programming" TargetMode="External"/><Relationship Id="rId2" Type="http://schemas.openxmlformats.org/officeDocument/2006/relationships/diagramData" Target="../diagrams/data63.xml"/><Relationship Id="rId1" Type="http://schemas.openxmlformats.org/officeDocument/2006/relationships/slideLayout" Target="../slideLayouts/slideLayout2.xml"/><Relationship Id="rId6" Type="http://schemas.microsoft.com/office/2007/relationships/diagramDrawing" Target="../diagrams/drawing63.xml"/><Relationship Id="rId11" Type="http://schemas.openxmlformats.org/officeDocument/2006/relationships/hyperlink" Target="https://www.oreilly.com/library/view/async-in-c/9781449337155/" TargetMode="External"/><Relationship Id="rId5" Type="http://schemas.openxmlformats.org/officeDocument/2006/relationships/diagramColors" Target="../diagrams/colors63.xml"/><Relationship Id="rId10" Type="http://schemas.openxmlformats.org/officeDocument/2006/relationships/hyperlink" Target="https://learn.microsoft.com/en-us/dotnet/standard/asynchronous-programming-patterns/" TargetMode="External"/><Relationship Id="rId4" Type="http://schemas.openxmlformats.org/officeDocument/2006/relationships/diagramQuickStyle" Target="../diagrams/quickStyle63.xml"/><Relationship Id="rId9" Type="http://schemas.openxmlformats.org/officeDocument/2006/relationships/hyperlink" Target="https://devblogs.microsoft.com/pfxteam/await-anything/" TargetMode="External"/></Relationships>
</file>

<file path=ppt/slides/_rels/slide64.xml.rels><?xml version="1.0" encoding="UTF-8" standalone="yes"?>
<Relationships xmlns="http://schemas.openxmlformats.org/package/2006/relationships"><Relationship Id="rId3" Type="http://schemas.openxmlformats.org/officeDocument/2006/relationships/diagramLayout" Target="../diagrams/layout64.xm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4" Type="http://schemas.openxmlformats.org/officeDocument/2006/relationships/diagramQuickStyle" Target="../diagrams/quickStyle64.xm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9.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6.xml"/><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7.xml.rels><?xml version="1.0" encoding="UTF-8" standalone="yes"?>
<Relationships xmlns="http://schemas.openxmlformats.org/package/2006/relationships"><Relationship Id="rId8" Type="http://schemas.openxmlformats.org/officeDocument/2006/relationships/hyperlink" Target="https://stackoverflow.com/questions/7238929/stream-seek0-seekorigin-begin-or-position-0" TargetMode="External"/><Relationship Id="rId3" Type="http://schemas.openxmlformats.org/officeDocument/2006/relationships/diagramLayout" Target="../diagrams/layout67.xml"/><Relationship Id="rId7" Type="http://schemas.openxmlformats.org/officeDocument/2006/relationships/image" Target="../media/image10.PNG"/><Relationship Id="rId2" Type="http://schemas.openxmlformats.org/officeDocument/2006/relationships/diagramData" Target="../diagrams/data67.xml"/><Relationship Id="rId1" Type="http://schemas.openxmlformats.org/officeDocument/2006/relationships/slideLayout" Target="../slideLayouts/slideLayout2.xml"/><Relationship Id="rId6" Type="http://schemas.microsoft.com/office/2007/relationships/diagramDrawing" Target="../diagrams/drawing67.xml"/><Relationship Id="rId5" Type="http://schemas.openxmlformats.org/officeDocument/2006/relationships/diagramColors" Target="../diagrams/colors67.xml"/><Relationship Id="rId4" Type="http://schemas.openxmlformats.org/officeDocument/2006/relationships/diagramQuickStyle" Target="../diagrams/quickStyle67.xml"/><Relationship Id="rId9" Type="http://schemas.openxmlformats.org/officeDocument/2006/relationships/hyperlink" Target="https://learn.microsoft.com/en-us/dotnet/api/system.io.streamreader.peek?view=net-8.0" TargetMode="External"/></Relationships>
</file>

<file path=ppt/slides/_rels/slide68.xml.rels><?xml version="1.0" encoding="UTF-8" standalone="yes"?>
<Relationships xmlns="http://schemas.openxmlformats.org/package/2006/relationships"><Relationship Id="rId8" Type="http://schemas.openxmlformats.org/officeDocument/2006/relationships/hyperlink" Target="https://www.codeproject.com/Articles/1087779/Anonymous-Pipes-Made-Easy" TargetMode="External"/><Relationship Id="rId3" Type="http://schemas.openxmlformats.org/officeDocument/2006/relationships/diagramLayout" Target="../diagrams/layout68.xml"/><Relationship Id="rId7" Type="http://schemas.openxmlformats.org/officeDocument/2006/relationships/image" Target="../media/image11.PNG"/><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69.xml"/><Relationship Id="rId7" Type="http://schemas.openxmlformats.org/officeDocument/2006/relationships/image" Target="../media/image12.PNG"/><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70.xml.rels><?xml version="1.0" encoding="UTF-8" standalone="yes"?>
<Relationships xmlns="http://schemas.openxmlformats.org/package/2006/relationships"><Relationship Id="rId8" Type="http://schemas.openxmlformats.org/officeDocument/2006/relationships/hyperlink" Target="https://learn.microsoft.com/en-us/dotnet/api/system.io?view=net-8.0" TargetMode="External"/><Relationship Id="rId3" Type="http://schemas.openxmlformats.org/officeDocument/2006/relationships/diagramLayout" Target="../diagrams/layout70.xml"/><Relationship Id="rId7" Type="http://schemas.openxmlformats.org/officeDocument/2006/relationships/image" Target="../media/image13.PNG"/><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5" Type="http://schemas.openxmlformats.org/officeDocument/2006/relationships/diagramColors" Target="../diagrams/colors70.xml"/><Relationship Id="rId10" Type="http://schemas.openxmlformats.org/officeDocument/2006/relationships/hyperlink" Target="https://learn.microsoft.com/en-us/dotnet/standard/io/memory-mapped-files" TargetMode="External"/><Relationship Id="rId4" Type="http://schemas.openxmlformats.org/officeDocument/2006/relationships/diagramQuickStyle" Target="../diagrams/quickStyle70.xml"/><Relationship Id="rId9" Type="http://schemas.openxmlformats.org/officeDocument/2006/relationships/hyperlink" Target="https://learn.microsoft.com/en-us/dotnet/api/system.environment.specialfolder?view=net-8.0" TargetMode="External"/></Relationships>
</file>

<file path=ppt/slides/_rels/slide71.xml.rels><?xml version="1.0" encoding="UTF-8" standalone="yes"?>
<Relationships xmlns="http://schemas.openxmlformats.org/package/2006/relationships"><Relationship Id="rId8" Type="http://schemas.openxmlformats.org/officeDocument/2006/relationships/hyperlink" Target="https://www.quora.com/In-the-OSI-layers-in-what-format-would-the-data-or-message-be-in-each-layer" TargetMode="External"/><Relationship Id="rId3" Type="http://schemas.openxmlformats.org/officeDocument/2006/relationships/diagramLayout" Target="../diagrams/layout71.xml"/><Relationship Id="rId7" Type="http://schemas.openxmlformats.org/officeDocument/2006/relationships/image" Target="../media/image14.gif"/><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2.xml.rels><?xml version="1.0" encoding="UTF-8" standalone="yes"?>
<Relationships xmlns="http://schemas.openxmlformats.org/package/2006/relationships"><Relationship Id="rId8" Type="http://schemas.openxmlformats.org/officeDocument/2006/relationships/hyperlink" Target="https://www.packtpub.com/product/hands-on-network-programming-with-c-and-net-core/9781789340761" TargetMode="External"/><Relationship Id="rId3" Type="http://schemas.openxmlformats.org/officeDocument/2006/relationships/diagramLayout" Target="../diagrams/layout72.xml"/><Relationship Id="rId7" Type="http://schemas.openxmlformats.org/officeDocument/2006/relationships/image" Target="../media/image15.png"/><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5" Type="http://schemas.openxmlformats.org/officeDocument/2006/relationships/diagramColors" Target="../diagrams/colors72.xml"/><Relationship Id="rId10" Type="http://schemas.openxmlformats.org/officeDocument/2006/relationships/hyperlink" Target="https://hpbn.co/" TargetMode="External"/><Relationship Id="rId4" Type="http://schemas.openxmlformats.org/officeDocument/2006/relationships/diagramQuickStyle" Target="../diagrams/quickStyle72.xml"/><Relationship Id="rId9" Type="http://schemas.openxmlformats.org/officeDocument/2006/relationships/hyperlink" Target="https://learn.microsoft.com/en-us/dotnet/fundamentals/networking/overview" TargetMode="Externa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3.xml"/><Relationship Id="rId7" Type="http://schemas.openxmlformats.org/officeDocument/2006/relationships/hyperlink" Target="https://learn.microsoft.com/en-us/previous-versions/dotnet/netframework-1.1/f7ykdhsy(v=vs.71)?redirectedfrom=MSDN" TargetMode="Externa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74.xml"/><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75.xml.rels><?xml version="1.0" encoding="UTF-8" standalone="yes"?>
<Relationships xmlns="http://schemas.openxmlformats.org/package/2006/relationships"><Relationship Id="rId8" Type="http://schemas.openxmlformats.org/officeDocument/2006/relationships/hyperlink" Target="https://www.syncfusion.com/succinctly-free-ebooks/t4succinctly" TargetMode="External"/><Relationship Id="rId13" Type="http://schemas.openxmlformats.org/officeDocument/2006/relationships/hyperlink" Target="https://www.abhisheksur.com/2010/10/dlr-using-reflectionemit-in-depth-part_24.html#more" TargetMode="External"/><Relationship Id="rId3" Type="http://schemas.openxmlformats.org/officeDocument/2006/relationships/diagramLayout" Target="../diagrams/layout75.xml"/><Relationship Id="rId7" Type="http://schemas.openxmlformats.org/officeDocument/2006/relationships/hyperlink" Target="https://www.hanselman.com/blog/t4-text-template-transformation-toolkit-code-generation-best-kept-visual-studio-secret" TargetMode="External"/><Relationship Id="rId12" Type="http://schemas.openxmlformats.org/officeDocument/2006/relationships/hyperlink" Target="https://jeremydmiller.com/2015/11/11/using-roslyn-for-runtime-code-generation-in-marten/" TargetMode="External"/><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11" Type="http://schemas.openxmlformats.org/officeDocument/2006/relationships/hyperlink" Target="https://stackoverflow.com/questions/2366921/reflection-emit-vs-codedom" TargetMode="External"/><Relationship Id="rId5" Type="http://schemas.openxmlformats.org/officeDocument/2006/relationships/diagramColors" Target="../diagrams/colors75.xml"/><Relationship Id="rId10" Type="http://schemas.openxmlformats.org/officeDocument/2006/relationships/hyperlink" Target="https://topic.alibabacloud.com/a/code-generation-technology-codedom-vs-t4_8_8_32071393.html" TargetMode="External"/><Relationship Id="rId4" Type="http://schemas.openxmlformats.org/officeDocument/2006/relationships/diagramQuickStyle" Target="../diagrams/quickStyle75.xml"/><Relationship Id="rId9" Type="http://schemas.openxmlformats.org/officeDocument/2006/relationships/hyperlink" Target="https://www.codeproject.com/Articles/5253617/CodeDOM-Go-Kit-The-CodeDOM-is-Dead-Long-Live-the-C" TargetMode="External"/></Relationships>
</file>

<file path=ppt/slides/_rels/slide76.xml.rels><?xml version="1.0" encoding="UTF-8" standalone="yes"?>
<Relationships xmlns="http://schemas.openxmlformats.org/package/2006/relationships"><Relationship Id="rId8" Type="http://schemas.openxmlformats.org/officeDocument/2006/relationships/hyperlink" Target="https://code-maze.com/csharp-source-generators/" TargetMode="External"/><Relationship Id="rId13" Type="http://schemas.openxmlformats.org/officeDocument/2006/relationships/hyperlink" Target="https://www.bytehide.com/blog/automapper-csharp" TargetMode="External"/><Relationship Id="rId3" Type="http://schemas.openxmlformats.org/officeDocument/2006/relationships/diagramLayout" Target="../diagrams/layout76.xml"/><Relationship Id="rId7" Type="http://schemas.openxmlformats.org/officeDocument/2006/relationships/hyperlink" Target="https://www.thinktecture.com/en/net/roslyn-source-generators-introduction/" TargetMode="External"/><Relationship Id="rId12" Type="http://schemas.openxmlformats.org/officeDocument/2006/relationships/hyperlink" Target="https://bagoum.medium.com/dynamic-code-generation-in-c-with-expression-trees-2ec4eebcb8ec#:~:text=Expression%20trees%20are%20a%20powerful,want%20to%20use%20expression%20trees" TargetMode="External"/><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11" Type="http://schemas.openxmlformats.org/officeDocument/2006/relationships/hyperlink" Target="https://www.freecodecamp.org/news/how-to-automatically-generate-code-snippets-visual-studio/" TargetMode="External"/><Relationship Id="rId5" Type="http://schemas.openxmlformats.org/officeDocument/2006/relationships/diagramColors" Target="../diagrams/colors76.xml"/><Relationship Id="rId10" Type="http://schemas.openxmlformats.org/officeDocument/2006/relationships/hyperlink" Target="https://www.syncfusion.com/succinctly-free-ebooks/roslyn" TargetMode="External"/><Relationship Id="rId4" Type="http://schemas.openxmlformats.org/officeDocument/2006/relationships/diagramQuickStyle" Target="../diagrams/quickStyle76.xml"/><Relationship Id="rId9" Type="http://schemas.openxmlformats.org/officeDocument/2006/relationships/hyperlink" Target="https://learn.microsoft.com/en-us/dotnet/csharp/roslyn-sdk/source-generators-overview" TargetMode="External"/><Relationship Id="rId14" Type="http://schemas.openxmlformats.org/officeDocument/2006/relationships/hyperlink" Target="http://www.voelter.de/data/pub/ProgramGeneration.pdf" TargetMode="External"/></Relationships>
</file>

<file path=ppt/slides/_rels/slide77.xml.rels><?xml version="1.0" encoding="UTF-8" standalone="yes"?>
<Relationships xmlns="http://schemas.openxmlformats.org/package/2006/relationships"><Relationship Id="rId8" Type="http://schemas.openxmlformats.org/officeDocument/2006/relationships/hyperlink" Target="https://www.linkedin.com/pulse/understanding-late-binding-dynamic-objects-reflection-amr-saafan#:~:text=By%20deferring%20method%20resolution%20until,essential%20for%20enabling%20late%20binding" TargetMode="External"/><Relationship Id="rId3" Type="http://schemas.openxmlformats.org/officeDocument/2006/relationships/diagramLayout" Target="../diagrams/layout77.xml"/><Relationship Id="rId7" Type="http://schemas.openxmlformats.org/officeDocument/2006/relationships/hyperlink" Target="https://www.blackwasp.co.uk/ReflectionLateBinding.aspx" TargetMode="External"/><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s>
</file>

<file path=ppt/slides/_rels/slide78.xml.rels><?xml version="1.0" encoding="UTF-8" standalone="yes"?>
<Relationships xmlns="http://schemas.openxmlformats.org/package/2006/relationships"><Relationship Id="rId8" Type="http://schemas.openxmlformats.org/officeDocument/2006/relationships/hyperlink" Target="https://stackoverflow.com/questions/3565481/differences-between-expandoobject-dynamicobject-and-dynamic" TargetMode="External"/><Relationship Id="rId3" Type="http://schemas.openxmlformats.org/officeDocument/2006/relationships/diagramLayout" Target="../diagrams/layout78.xml"/><Relationship Id="rId7" Type="http://schemas.openxmlformats.org/officeDocument/2006/relationships/hyperlink" Target="https://faithlife.codes/blog/2010/03/the_visitor_pattern_and_dynamic_in_c_4/" TargetMode="External"/><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9.xml.rels><?xml version="1.0" encoding="UTF-8" standalone="yes"?>
<Relationships xmlns="http://schemas.openxmlformats.org/package/2006/relationships"><Relationship Id="rId8" Type="http://schemas.openxmlformats.org/officeDocument/2006/relationships/hyperlink" Target="https://stackoverflow.com/questions/49972/in-what-order-are-locations-searched-to-load-referenced-dlls" TargetMode="External"/><Relationship Id="rId3" Type="http://schemas.openxmlformats.org/officeDocument/2006/relationships/diagramLayout" Target="../diagrams/layout79.xml"/><Relationship Id="rId7" Type="http://schemas.openxmlformats.org/officeDocument/2006/relationships/hyperlink" Target="https://stackoverflow.com/questions/2354129/why-use-strong-named-assemblies" TargetMode="External"/><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10" Type="http://schemas.openxmlformats.org/officeDocument/2006/relationships/hyperlink" Target="https://stackoverflow.com/questions/365569/what-is-a-satellite-assembly" TargetMode="External"/><Relationship Id="rId4" Type="http://schemas.openxmlformats.org/officeDocument/2006/relationships/diagramQuickStyle" Target="../diagrams/quickStyle79.xml"/><Relationship Id="rId9" Type="http://schemas.openxmlformats.org/officeDocument/2006/relationships/hyperlink" Target="https://stackoverflow.com/questions/49288920/net-use-application-config-file-to-load-an-assembly-that-is-referenced-by-anoth" TargetMode="External"/></Relationships>
</file>

<file path=ppt/slides/_rels/slide80.xml.rels><?xml version="1.0" encoding="UTF-8" standalone="yes"?>
<Relationships xmlns="http://schemas.openxmlformats.org/package/2006/relationships"><Relationship Id="rId8" Type="http://schemas.openxmlformats.org/officeDocument/2006/relationships/hyperlink" Target="https://www.postsharp.net/aop.net/compiletime-weaving#:~:text=Source%2DLevel%20Weaving,of%20constructions%20to%20the%20syntax" TargetMode="External"/><Relationship Id="rId3" Type="http://schemas.openxmlformats.org/officeDocument/2006/relationships/diagramLayout" Target="../diagrams/layout80.xml"/><Relationship Id="rId7" Type="http://schemas.openxmlformats.org/officeDocument/2006/relationships/hyperlink" Target="https://www.jot.fm/issues/issue_2007_03/article1/" TargetMode="Externa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11" Type="http://schemas.openxmlformats.org/officeDocument/2006/relationships/hyperlink" Target="https://www.syncfusion.com/succinctly-free-ebooks/microsoftunity/aspect-oriented-programming-aop" TargetMode="External"/><Relationship Id="rId5" Type="http://schemas.openxmlformats.org/officeDocument/2006/relationships/diagramColors" Target="../diagrams/colors80.xml"/><Relationship Id="rId10" Type="http://schemas.openxmlformats.org/officeDocument/2006/relationships/hyperlink" Target="https://github.com/sandipray63in/DDD-Based-Enterprise-Application-Framework/tree/master/Infrastructure/AoP" TargetMode="External"/><Relationship Id="rId4" Type="http://schemas.openxmlformats.org/officeDocument/2006/relationships/diagramQuickStyle" Target="../diagrams/quickStyle80.xml"/><Relationship Id="rId9" Type="http://schemas.openxmlformats.org/officeDocument/2006/relationships/hyperlink" Target="https://www.postsharp.net/aop.net/runtime-weaving" TargetMode="External"/></Relationships>
</file>

<file path=ppt/slides/_rels/slide81.xml.rels><?xml version="1.0" encoding="UTF-8" standalone="yes"?>
<Relationships xmlns="http://schemas.openxmlformats.org/package/2006/relationships"><Relationship Id="rId8" Type="http://schemas.openxmlformats.org/officeDocument/2006/relationships/hyperlink" Target="https://www.codeproject.com/Articles/851437/SignalR-plus-RX-Streaming-Data-Demo-App-of" TargetMode="External"/><Relationship Id="rId3" Type="http://schemas.openxmlformats.org/officeDocument/2006/relationships/diagramLayout" Target="../diagrams/layout81.xml"/><Relationship Id="rId7" Type="http://schemas.openxmlformats.org/officeDocument/2006/relationships/image" Target="../media/image16.jpeg"/><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 Id="rId9" Type="http://schemas.openxmlformats.org/officeDocument/2006/relationships/hyperlink" Target="https://medium.com/@heytherewill/rx-net-in-the-real-world-be61e0287a93" TargetMode="Externa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82.xml"/><Relationship Id="rId7" Type="http://schemas.openxmlformats.org/officeDocument/2006/relationships/hyperlink" Target="https://www.baeldung.com/solid-principles" TargetMode="Externa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3.xml.rels><?xml version="1.0" encoding="UTF-8" standalone="yes"?>
<Relationships xmlns="http://schemas.openxmlformats.org/package/2006/relationships"><Relationship Id="rId8" Type="http://schemas.openxmlformats.org/officeDocument/2006/relationships/hyperlink" Target="https://www.syncfusion.com/succinctly-free-ebooks/solidprinciplessuccinctly" TargetMode="External"/><Relationship Id="rId3" Type="http://schemas.openxmlformats.org/officeDocument/2006/relationships/diagramLayout" Target="../diagrams/layout83.xml"/><Relationship Id="rId7" Type="http://schemas.openxmlformats.org/officeDocument/2006/relationships/hyperlink" Target="https://www.linkedin.com/posts/davidcallan_softwareengineering-softwaredevelopment-devlife-activity-7120800278076891139-4cr8"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s>
</file>

<file path=ppt/slides/_rels/slide84.xml.rels><?xml version="1.0" encoding="UTF-8" standalone="yes"?>
<Relationships xmlns="http://schemas.openxmlformats.org/package/2006/relationships"><Relationship Id="rId8" Type="http://schemas.openxmlformats.org/officeDocument/2006/relationships/hyperlink" Target="https://www.linkedin.com/posts/raul-junco_i-couldnt-understand-%3F%3F%3F%3F%3F%3F%3F%3F%3F%3F-activity-7121094128729223168--aiC/?trk=public_profile_like_view" TargetMode="External"/><Relationship Id="rId3" Type="http://schemas.openxmlformats.org/officeDocument/2006/relationships/diagramLayout" Target="../diagrams/layout84.xml"/><Relationship Id="rId7" Type="http://schemas.openxmlformats.org/officeDocument/2006/relationships/hyperlink" Target="https://stackoverflow.com/questions/6550700/inversion-of-control-vs-dependency-injection" TargetMode="External"/><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5.xml.rels><?xml version="1.0" encoding="UTF-8" standalone="yes"?>
<Relationships xmlns="http://schemas.openxmlformats.org/package/2006/relationships"><Relationship Id="rId8" Type="http://schemas.openxmlformats.org/officeDocument/2006/relationships/hyperlink" Target="https://refactoring.guru/design-patterns/builder" TargetMode="External"/><Relationship Id="rId13" Type="http://schemas.openxmlformats.org/officeDocument/2006/relationships/hyperlink" Target="https://en.wikipedia.org/wiki/Object_pool_pattern" TargetMode="External"/><Relationship Id="rId3" Type="http://schemas.openxmlformats.org/officeDocument/2006/relationships/diagramLayout" Target="../diagrams/layout85.xml"/><Relationship Id="rId7" Type="http://schemas.openxmlformats.org/officeDocument/2006/relationships/hyperlink" Target="https://github.com/sandipray63in/WeatherForecastAzureFunctionAndAngularSample/tree/master/WeatherForecastAPI/DomainServices" TargetMode="External"/><Relationship Id="rId12" Type="http://schemas.openxmlformats.org/officeDocument/2006/relationships/hyperlink" Target="https://en.wikipedia.org/wiki/Lazy_initialization" TargetMode="Externa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11" Type="http://schemas.openxmlformats.org/officeDocument/2006/relationships/hyperlink" Target="https://en.wikipedia.org/wiki/Abstract_factory_pattern" TargetMode="External"/><Relationship Id="rId5" Type="http://schemas.openxmlformats.org/officeDocument/2006/relationships/diagramColors" Target="../diagrams/colors85.xml"/><Relationship Id="rId10" Type="http://schemas.openxmlformats.org/officeDocument/2006/relationships/hyperlink" Target="https://en.wikipedia.org/wiki/Prototype_pattern" TargetMode="External"/><Relationship Id="rId4" Type="http://schemas.openxmlformats.org/officeDocument/2006/relationships/diagramQuickStyle" Target="../diagrams/quickStyle85.xml"/><Relationship Id="rId9" Type="http://schemas.openxmlformats.org/officeDocument/2006/relationships/hyperlink" Target="https://github.com/sandipray63in/DDD-Based-Enterprise-Application-Framework/blob/master/Infrastructure/DI/Container.cs" TargetMode="External"/></Relationships>
</file>

<file path=ppt/slides/_rels/slide86.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Repository/Base/IQueryableRepository.cs" TargetMode="External"/><Relationship Id="rId3" Type="http://schemas.openxmlformats.org/officeDocument/2006/relationships/diagramLayout" Target="../diagrams/layout86.xml"/><Relationship Id="rId7" Type="http://schemas.openxmlformats.org/officeDocument/2006/relationships/hyperlink" Target="https://en.wikipedia.org/wiki/Adapter_pattern" TargetMode="Externa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11" Type="http://schemas.openxmlformats.org/officeDocument/2006/relationships/hyperlink" Target="https://en.wikipedia.org/wiki/Proxy_pattern" TargetMode="External"/><Relationship Id="rId5" Type="http://schemas.openxmlformats.org/officeDocument/2006/relationships/diagramColors" Target="../diagrams/colors86.xml"/><Relationship Id="rId10" Type="http://schemas.openxmlformats.org/officeDocument/2006/relationships/hyperlink" Target="https://en.wikipedia.org/wiki/Facade_pattern" TargetMode="External"/><Relationship Id="rId4" Type="http://schemas.openxmlformats.org/officeDocument/2006/relationships/diagramQuickStyle" Target="../diagrams/quickStyle86.xml"/><Relationship Id="rId9" Type="http://schemas.openxmlformats.org/officeDocument/2006/relationships/hyperlink" Target="https://en.wikipedia.org/wiki/Flyweight_pattern" TargetMode="External"/></Relationships>
</file>

<file path=ppt/slides/_rels/slide87.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ApplicationAndInfrastructureServices/BatchProcessing/BaseBatchSeedSelector.cs" TargetMode="External"/><Relationship Id="rId3" Type="http://schemas.openxmlformats.org/officeDocument/2006/relationships/diagramLayout" Target="../diagrams/layout87.xml"/><Relationship Id="rId7" Type="http://schemas.openxmlformats.org/officeDocument/2006/relationships/hyperlink" Target="https://en.wikipedia.org/wiki/Aggregate_pattern" TargetMode="External"/><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4" Type="http://schemas.openxmlformats.org/officeDocument/2006/relationships/diagramQuickStyle" Target="../diagrams/quickStyle87.xml"/></Relationships>
</file>

<file path=ppt/slides/_rels/slide88.xml.rels><?xml version="1.0" encoding="UTF-8" standalone="yes"?>
<Relationships xmlns="http://schemas.openxmlformats.org/package/2006/relationships"><Relationship Id="rId8" Type="http://schemas.openxmlformats.org/officeDocument/2006/relationships/hyperlink" Target="https://refactoring.guru/design-patterns/memento" TargetMode="External"/><Relationship Id="rId13" Type="http://schemas.openxmlformats.org/officeDocument/2006/relationships/hyperlink" Target="https://en.wikipedia.org/wiki/Strategy_pattern" TargetMode="External"/><Relationship Id="rId3" Type="http://schemas.openxmlformats.org/officeDocument/2006/relationships/diagramLayout" Target="../diagrams/layout88.xml"/><Relationship Id="rId7" Type="http://schemas.openxmlformats.org/officeDocument/2006/relationships/hyperlink" Target="https://refactoring.guru/design-patterns/mediator" TargetMode="External"/><Relationship Id="rId12" Type="http://schemas.openxmlformats.org/officeDocument/2006/relationships/hyperlink" Target="https://blog.ploeh.dk/2015/08/10/type-driven-development/" TargetMode="External"/><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11" Type="http://schemas.openxmlformats.org/officeDocument/2006/relationships/hyperlink" Target="https://refactoring.guru/design-patterns/state" TargetMode="External"/><Relationship Id="rId5" Type="http://schemas.openxmlformats.org/officeDocument/2006/relationships/diagramColors" Target="../diagrams/colors88.xml"/><Relationship Id="rId10" Type="http://schemas.openxmlformats.org/officeDocument/2006/relationships/hyperlink" Target="https://github.com/sandipray63in/DDD-Based-Enterprise-Application-Framework/tree/master/Infrastructure/Observers" TargetMode="External"/><Relationship Id="rId4" Type="http://schemas.openxmlformats.org/officeDocument/2006/relationships/diagramQuickStyle" Target="../diagrams/quickStyle88.xml"/><Relationship Id="rId9" Type="http://schemas.openxmlformats.org/officeDocument/2006/relationships/hyperlink" Target="https://refactoring.guru/design-patterns/observer" TargetMode="External"/><Relationship Id="rId14" Type="http://schemas.openxmlformats.org/officeDocument/2006/relationships/hyperlink" Target="https://www.linkedin.com/pulse/book-review-software-architecture-juval-lowy-michael-rarela-fiabf" TargetMode="External"/></Relationships>
</file>

<file path=ppt/slides/_rels/slide89.xml.rels><?xml version="1.0" encoding="UTF-8" standalone="yes"?>
<Relationships xmlns="http://schemas.openxmlformats.org/package/2006/relationships"><Relationship Id="rId8" Type="http://schemas.openxmlformats.org/officeDocument/2006/relationships/hyperlink" Target="https://en.wikipedia.org/wiki/Software_design_pattern" TargetMode="External"/><Relationship Id="rId3" Type="http://schemas.openxmlformats.org/officeDocument/2006/relationships/diagramLayout" Target="../diagrams/layout89.xml"/><Relationship Id="rId7" Type="http://schemas.openxmlformats.org/officeDocument/2006/relationships/hyperlink" Target="https://en.wikipedia.org/wiki/Visitor_pattern" TargetMode="External"/><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5" Type="http://schemas.openxmlformats.org/officeDocument/2006/relationships/diagramColors" Target="../diagrams/colors89.xml"/><Relationship Id="rId4" Type="http://schemas.openxmlformats.org/officeDocument/2006/relationships/diagramQuickStyle" Target="../diagrams/quickStyle89.xml"/><Relationship Id="rId9" Type="http://schemas.openxmlformats.org/officeDocument/2006/relationships/hyperlink" Target="https://refactoring.guru/design-patterns" TargetMode="External"/></Relationships>
</file>

<file path=ppt/slides/_rels/slide90.xml.rels><?xml version="1.0" encoding="UTF-8" standalone="yes"?>
<Relationships xmlns="http://schemas.openxmlformats.org/package/2006/relationships"><Relationship Id="rId8" Type="http://schemas.openxmlformats.org/officeDocument/2006/relationships/hyperlink" Target="https://www.asp.net/media/4071077/aspnet-web-api-poster.pdf" TargetMode="External"/><Relationship Id="rId3" Type="http://schemas.openxmlformats.org/officeDocument/2006/relationships/diagramLayout" Target="../diagrams/layout90.xml"/><Relationship Id="rId7" Type="http://schemas.openxmlformats.org/officeDocument/2006/relationships/hyperlink" Target="https://learn.microsoft.com/en-us/aspnet/core/fundamentals/middleware/?view=aspnetcore-8.0" TargetMode="External"/><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 Id="rId9" Type="http://schemas.openxmlformats.org/officeDocument/2006/relationships/hyperlink" Target="https://learn.microsoft.com/en-us/aspnet/core/grpc/interceptors?view=aspnetcore-8.0" TargetMode="External"/></Relationships>
</file>

<file path=ppt/slides/_rels/slide9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Infrastructure/WCFExtensibility" TargetMode="External"/><Relationship Id="rId3" Type="http://schemas.openxmlformats.org/officeDocument/2006/relationships/diagramLayout" Target="../diagrams/layout91.xml"/><Relationship Id="rId7" Type="http://schemas.openxmlformats.org/officeDocument/2006/relationships/hyperlink" Target="https://www.infoq.com/news/2011/04/WCF-Extensibility/" TargetMode="External"/><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10" Type="http://schemas.openxmlformats.org/officeDocument/2006/relationships/hyperlink" Target="https://www.codeproject.com/Articles/30907/The-Two-Interceptors-HttpModule-and-HttpHandlers" TargetMode="External"/><Relationship Id="rId4" Type="http://schemas.openxmlformats.org/officeDocument/2006/relationships/diagramQuickStyle" Target="../diagrams/quickStyle91.xml"/><Relationship Id="rId9" Type="http://schemas.openxmlformats.org/officeDocument/2006/relationships/hyperlink" Target="https://stackoverflow.com/questions/6449132/http-handler-vs-http-module" TargetMode="External"/></Relationships>
</file>

<file path=ppt/slides/_rels/slide92.xml.rels><?xml version="1.0" encoding="UTF-8" standalone="yes"?>
<Relationships xmlns="http://schemas.openxmlformats.org/package/2006/relationships"><Relationship Id="rId8" Type="http://schemas.openxmlformats.org/officeDocument/2006/relationships/hyperlink" Target="https://stackoverflow.com/questions/73972754/replacing-net-appdomains-with-assemblyloadcontexts" TargetMode="External"/><Relationship Id="rId3" Type="http://schemas.openxmlformats.org/officeDocument/2006/relationships/diagramLayout" Target="../diagrams/layout92.xml"/><Relationship Id="rId7" Type="http://schemas.openxmlformats.org/officeDocument/2006/relationships/hyperlink" Target="https://tsuyoshiushio.medium.com/understand-advanced-assemblyloadcontext-with-c-16a9d0cfeae3" TargetMode="External"/><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11" Type="http://schemas.openxmlformats.org/officeDocument/2006/relationships/hyperlink" Target="https://dotnetthoughts.net/using-mef-in-dotnet-core/#:~:text=NET%20Core.,and%20avoid%20fragile%20hard%20dependencies" TargetMode="External"/><Relationship Id="rId5" Type="http://schemas.openxmlformats.org/officeDocument/2006/relationships/diagramColors" Target="../diagrams/colors92.xml"/><Relationship Id="rId10" Type="http://schemas.openxmlformats.org/officeDocument/2006/relationships/hyperlink" Target="https://www.codeproject.com/Articles/376033/From-Zero-to-Proficient-with-MEF" TargetMode="External"/><Relationship Id="rId4" Type="http://schemas.openxmlformats.org/officeDocument/2006/relationships/diagramQuickStyle" Target="../diagrams/quickStyle92.xml"/><Relationship Id="rId9" Type="http://schemas.openxmlformats.org/officeDocument/2006/relationships/hyperlink" Target="https://www.appsloveworld.com/csharp/100/257/does-assemblyloadcontext-isolate-static-variables" TargetMode="External"/></Relationships>
</file>

<file path=ppt/slides/_rels/slide93.xml.rels><?xml version="1.0" encoding="UTF-8" standalone="yes"?>
<Relationships xmlns="http://schemas.openxmlformats.org/package/2006/relationships"><Relationship Id="rId3" Type="http://schemas.openxmlformats.org/officeDocument/2006/relationships/diagramLayout" Target="../diagrams/layout93.xml"/><Relationship Id="rId7" Type="http://schemas.openxmlformats.org/officeDocument/2006/relationships/image" Target="../media/image17.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4.xml.rels><?xml version="1.0" encoding="UTF-8" standalone="yes"?>
<Relationships xmlns="http://schemas.openxmlformats.org/package/2006/relationships"><Relationship Id="rId8" Type="http://schemas.openxmlformats.org/officeDocument/2006/relationships/hyperlink" Target="https://github.com/sandipray63in/MerchantsGuideToGalaxy" TargetMode="External"/><Relationship Id="rId3" Type="http://schemas.openxmlformats.org/officeDocument/2006/relationships/diagramLayout" Target="../diagrams/layout94.xml"/><Relationship Id="rId7" Type="http://schemas.openxmlformats.org/officeDocument/2006/relationships/hyperlink" Target="https://en.wikipedia.org/wiki/Language_workbench" TargetMode="External"/><Relationship Id="rId12" Type="http://schemas.openxmlformats.org/officeDocument/2006/relationships/hyperlink" Target="https://www.syncfusion.com/succinctly-free-ebooks/writing-native-mobile-apps-in-a-functional-language-succinctly" TargetMode="External"/><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11" Type="http://schemas.openxmlformats.org/officeDocument/2006/relationships/hyperlink" Target="https://www.syncfusion.com/succinctly-free-ebooks/implementing-a-custom-language" TargetMode="External"/><Relationship Id="rId5" Type="http://schemas.openxmlformats.org/officeDocument/2006/relationships/diagramColors" Target="../diagrams/colors94.xml"/><Relationship Id="rId10" Type="http://schemas.openxmlformats.org/officeDocument/2006/relationships/hyperlink" Target="https://pragprog.com/titles/tpdsl/language-implementation-patterns/" TargetMode="External"/><Relationship Id="rId4" Type="http://schemas.openxmlformats.org/officeDocument/2006/relationships/diagramQuickStyle" Target="../diagrams/quickStyle94.xml"/><Relationship Id="rId9" Type="http://schemas.openxmlformats.org/officeDocument/2006/relationships/hyperlink" Target="https://martinfowler.com/dsl.html" TargetMode="Externa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95.xml"/><Relationship Id="rId7" Type="http://schemas.openxmlformats.org/officeDocument/2006/relationships/hyperlink" Target="https://www.syncfusion.com/succinctly-free-ebooks/nuget-in-house-succinctly" TargetMode="Externa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s>
</file>

<file path=ppt/slides/_rels/slide96.xml.rels><?xml version="1.0" encoding="UTF-8" standalone="yes"?>
<Relationships xmlns="http://schemas.openxmlformats.org/package/2006/relationships"><Relationship Id="rId8" Type="http://schemas.openxmlformats.org/officeDocument/2006/relationships/hyperlink" Target="https://github.com/gamontal/awesome-katas" TargetMode="External"/><Relationship Id="rId13" Type="http://schemas.openxmlformats.org/officeDocument/2006/relationships/hyperlink" Target="https://browser.engineering/" TargetMode="External"/><Relationship Id="rId3" Type="http://schemas.openxmlformats.org/officeDocument/2006/relationships/diagramLayout" Target="../diagrams/layout96.xml"/><Relationship Id="rId7" Type="http://schemas.openxmlformats.org/officeDocument/2006/relationships/hyperlink" Target="https://rosettacode.org/wiki/Category:Programming_Tasks" TargetMode="External"/><Relationship Id="rId12" Type="http://schemas.openxmlformats.org/officeDocument/2006/relationships/hyperlink" Target="https://daily.dev/blog/make-a-web-browser-beginners-guide" TargetMode="External"/><Relationship Id="rId17" Type="http://schemas.openxmlformats.org/officeDocument/2006/relationships/hyperlink" Target="https://www.linkedin.com/posts/arpit-adlakha-30691a101_problem-solving-patterns-which-will-teach-activity-7179351051190374400-Zw83" TargetMode="External"/><Relationship Id="rId2" Type="http://schemas.openxmlformats.org/officeDocument/2006/relationships/diagramData" Target="../diagrams/data96.xml"/><Relationship Id="rId16" Type="http://schemas.openxmlformats.org/officeDocument/2006/relationships/hyperlink" Target="https://www.linkedin.com/posts/maheshma_postgresql-sql-systemdesign-activity-7167707514266996736-HqMi" TargetMode="External"/><Relationship Id="rId1" Type="http://schemas.openxmlformats.org/officeDocument/2006/relationships/slideLayout" Target="../slideLayouts/slideLayout2.xml"/><Relationship Id="rId6" Type="http://schemas.microsoft.com/office/2007/relationships/diagramDrawing" Target="../diagrams/drawing96.xml"/><Relationship Id="rId11" Type="http://schemas.openxmlformats.org/officeDocument/2006/relationships/hyperlink" Target="https://github.com/prasadgujar/low-level-design-primer" TargetMode="External"/><Relationship Id="rId5" Type="http://schemas.openxmlformats.org/officeDocument/2006/relationships/diagramColors" Target="../diagrams/colors96.xml"/><Relationship Id="rId15" Type="http://schemas.openxmlformats.org/officeDocument/2006/relationships/hyperlink" Target="https://www.planetgeek.ch/2013/06/05/clean-code-cheat-sheet/" TargetMode="External"/><Relationship Id="rId10" Type="http://schemas.openxmlformats.org/officeDocument/2006/relationships/hyperlink" Target="https://github.com/ashishps1/awesome-low-level-design" TargetMode="External"/><Relationship Id="rId4" Type="http://schemas.openxmlformats.org/officeDocument/2006/relationships/diagramQuickStyle" Target="../diagrams/quickStyle96.xml"/><Relationship Id="rId9" Type="http://schemas.openxmlformats.org/officeDocument/2006/relationships/hyperlink" Target="https://codingchallenges.substack.com/" TargetMode="External"/><Relationship Id="rId14" Type="http://schemas.openxmlformats.org/officeDocument/2006/relationships/hyperlink" Target="https://stackoverflow.com/questions/790542/replacing-net-webbrowser-control-with-a-better-browser-like-chrome" TargetMode="Externa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97.xml"/><Relationship Id="rId7" Type="http://schemas.openxmlformats.org/officeDocument/2006/relationships/hyperlink" Target="https://www.syncfusion.com/succinctly-free-ebooks/cplusplus" TargetMode="Externa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5883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7899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6431430"/>
              </p:ext>
            </p:extLst>
          </p:nvPr>
        </p:nvGraphicFramePr>
        <p:xfrm>
          <a:off x="275300" y="228600"/>
          <a:ext cx="8716300" cy="2321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2871102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309336"/>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Encapsulation</a:t>
            </a:r>
          </a:p>
          <a:p>
            <a:pPr marL="12700" marR="5080"/>
            <a:r>
              <a:rPr lang="en-US" sz="2000" kern="0" spc="-220" dirty="0">
                <a:solidFill>
                  <a:schemeClr val="accent6"/>
                </a:solidFill>
              </a:rPr>
              <a:t>Abstraction</a:t>
            </a:r>
          </a:p>
          <a:p>
            <a:pPr marL="12700" marR="5080"/>
            <a:r>
              <a:rPr lang="en-US" sz="2000" kern="0" spc="-220" dirty="0">
                <a:solidFill>
                  <a:schemeClr val="accent6"/>
                </a:solidFill>
              </a:rPr>
              <a:t>Inheritance</a:t>
            </a:r>
          </a:p>
          <a:p>
            <a:pPr marL="12700" marR="5080"/>
            <a:r>
              <a:rPr lang="en-US" sz="2000" kern="0" spc="-220" dirty="0">
                <a:solidFill>
                  <a:schemeClr val="accent6"/>
                </a:solidFill>
              </a:rPr>
              <a:t>Polymorphism</a:t>
            </a:r>
          </a:p>
          <a:p>
            <a:pPr marL="12700" marR="5080"/>
            <a:r>
              <a:rPr lang="en-US" sz="2000" kern="0" spc="-220" dirty="0">
                <a:solidFill>
                  <a:schemeClr val="accent6"/>
                </a:solidFill>
              </a:rPr>
              <a:t>Coupling &amp; Cohesion</a:t>
            </a:r>
          </a:p>
          <a:p>
            <a:pPr marL="12700" marR="5080"/>
            <a:r>
              <a:rPr lang="en-US" sz="2000" kern="0" spc="-220" dirty="0">
                <a:solidFill>
                  <a:schemeClr val="accent6"/>
                </a:solidFill>
              </a:rPr>
              <a:t>Association vs Aggregation vs Composition</a:t>
            </a:r>
          </a:p>
        </p:txBody>
      </p:sp>
      <p:sp>
        <p:nvSpPr>
          <p:cNvPr id="2" name="object 2">
            <a:extLst>
              <a:ext uri="{FF2B5EF4-FFF2-40B4-BE49-F238E27FC236}">
                <a16:creationId xmlns:a16="http://schemas.microsoft.com/office/drawing/2014/main" id="{0402884A-1686-4B3B-5C91-0F9630C5B17E}"/>
              </a:ext>
            </a:extLst>
          </p:cNvPr>
          <p:cNvSpPr txBox="1">
            <a:spLocks/>
          </p:cNvSpPr>
          <p:nvPr/>
        </p:nvSpPr>
        <p:spPr>
          <a:xfrm>
            <a:off x="381000" y="4759404"/>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Check in google once - </a:t>
            </a:r>
            <a:r>
              <a:rPr lang="en-US" sz="2000" kern="0" spc="-220" dirty="0">
                <a:solidFill>
                  <a:schemeClr val="accent6"/>
                </a:solidFill>
              </a:rPr>
              <a:t> </a:t>
            </a:r>
          </a:p>
          <a:p>
            <a:pPr marL="12700" marR="5080"/>
            <a:r>
              <a:rPr lang="en-US" sz="2000" kern="0" spc="-220" dirty="0">
                <a:solidFill>
                  <a:schemeClr val="accent6"/>
                </a:solidFill>
              </a:rPr>
              <a:t> Diamond Problem</a:t>
            </a:r>
          </a:p>
          <a:p>
            <a:pPr marL="12700" marR="5080"/>
            <a:r>
              <a:rPr lang="en-US" sz="2000" kern="0" spc="-220" dirty="0">
                <a:solidFill>
                  <a:schemeClr val="accent6"/>
                </a:solidFill>
              </a:rPr>
              <a:t> virtual &amp; new in C#</a:t>
            </a: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7884939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209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 Imperative &amp; Object Oriented programming you pass data to function but in </a:t>
            </a:r>
            <a:r>
              <a:rPr lang="en-US" sz="2400" kern="0" spc="-220" dirty="0">
                <a:solidFill>
                  <a:schemeClr val="tx2">
                    <a:lumMod val="60000"/>
                    <a:lumOff val="40000"/>
                  </a:schemeClr>
                </a:solidFill>
              </a:rPr>
              <a:t>FP(Functional Programming) </a:t>
            </a:r>
            <a:r>
              <a:rPr lang="en-US" sz="2400" kern="0" spc="-220" dirty="0">
                <a:solidFill>
                  <a:schemeClr val="accent6"/>
                </a:solidFill>
              </a:rPr>
              <a:t>you apply some function to data</a:t>
            </a:r>
            <a:endParaRPr lang="en-US" sz="2400" kern="0" spc="-80" dirty="0">
              <a:solidFill>
                <a:schemeClr val="accent6"/>
              </a:solidFill>
            </a:endParaRPr>
          </a:p>
        </p:txBody>
      </p:sp>
      <p:sp>
        <p:nvSpPr>
          <p:cNvPr id="2" name="object 2">
            <a:extLst>
              <a:ext uri="{FF2B5EF4-FFF2-40B4-BE49-F238E27FC236}">
                <a16:creationId xmlns:a16="http://schemas.microsoft.com/office/drawing/2014/main" id="{66FA3965-879C-C2ED-2FCE-0646129B2312}"/>
              </a:ext>
            </a:extLst>
          </p:cNvPr>
          <p:cNvSpPr txBox="1">
            <a:spLocks/>
          </p:cNvSpPr>
          <p:nvPr/>
        </p:nvSpPr>
        <p:spPr>
          <a:xfrm>
            <a:off x="457200" y="3376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Normal Programming Example</a:t>
            </a:r>
          </a:p>
          <a:p>
            <a:pPr marL="12700" marR="5080"/>
            <a:r>
              <a:rPr lang="en-US" sz="2400" kern="0" spc="-220" dirty="0">
                <a:solidFill>
                  <a:schemeClr val="accent6"/>
                </a:solidFill>
              </a:rPr>
              <a:t> </a:t>
            </a:r>
            <a:r>
              <a:rPr lang="en-US" sz="2400" kern="0" spc="-220" dirty="0" err="1">
                <a:solidFill>
                  <a:schemeClr val="accent6"/>
                </a:solidFill>
              </a:rPr>
              <a:t>a.method</a:t>
            </a:r>
            <a:r>
              <a:rPr lang="en-US" sz="2400" kern="0" spc="-220" dirty="0">
                <a:solidFill>
                  <a:schemeClr val="accent6"/>
                </a:solidFill>
              </a:rPr>
              <a:t>(</a:t>
            </a:r>
            <a:r>
              <a:rPr lang="en-US" sz="2400" kern="0" spc="-220" dirty="0" err="1">
                <a:solidFill>
                  <a:schemeClr val="accent6"/>
                </a:solidFill>
              </a:rPr>
              <a:t>someData</a:t>
            </a:r>
            <a:r>
              <a:rPr lang="en-US" sz="2400" kern="0" spc="-220" dirty="0">
                <a:solidFill>
                  <a:schemeClr val="accent6"/>
                </a:solidFill>
              </a:rPr>
              <a:t>)</a:t>
            </a:r>
            <a:endParaRPr lang="en-US" sz="2400" kern="0" spc="-80" dirty="0">
              <a:solidFill>
                <a:schemeClr val="accent6"/>
              </a:solidFill>
            </a:endParaRPr>
          </a:p>
        </p:txBody>
      </p:sp>
      <p:sp>
        <p:nvSpPr>
          <p:cNvPr id="3" name="object 2">
            <a:extLst>
              <a:ext uri="{FF2B5EF4-FFF2-40B4-BE49-F238E27FC236}">
                <a16:creationId xmlns:a16="http://schemas.microsoft.com/office/drawing/2014/main" id="{B92F9BAB-8577-355F-68EB-79B5137240AF}"/>
              </a:ext>
            </a:extLst>
          </p:cNvPr>
          <p:cNvSpPr txBox="1">
            <a:spLocks/>
          </p:cNvSpPr>
          <p:nvPr/>
        </p:nvSpPr>
        <p:spPr>
          <a:xfrm>
            <a:off x="457200" y="44429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FP (</a:t>
            </a:r>
            <a:r>
              <a:rPr lang="en-US" sz="2400" kern="0" spc="-220" dirty="0" err="1">
                <a:solidFill>
                  <a:schemeClr val="accent6"/>
                </a:solidFill>
              </a:rPr>
              <a:t>Linq</a:t>
            </a:r>
            <a:r>
              <a:rPr lang="en-US" sz="2400" kern="0" spc="-220" dirty="0">
                <a:solidFill>
                  <a:schemeClr val="accent6"/>
                </a:solidFill>
              </a:rPr>
              <a:t> based) Example</a:t>
            </a:r>
          </a:p>
          <a:p>
            <a:pPr marL="12700" marR="5080"/>
            <a:r>
              <a:rPr lang="en-US" sz="2400" kern="0" spc="-220" dirty="0" err="1">
                <a:solidFill>
                  <a:schemeClr val="accent6"/>
                </a:solidFill>
              </a:rPr>
              <a:t>SomeList.Where</a:t>
            </a:r>
            <a:r>
              <a:rPr lang="en-US" sz="2400" kern="0" spc="-220" dirty="0">
                <a:solidFill>
                  <a:schemeClr val="accent6"/>
                </a:solidFill>
              </a:rPr>
              <a:t>(x =&gt; </a:t>
            </a:r>
            <a:r>
              <a:rPr lang="en-US" sz="2400" kern="0" spc="-220" dirty="0" err="1">
                <a:solidFill>
                  <a:schemeClr val="accent6"/>
                </a:solidFill>
              </a:rPr>
              <a:t>x.SomePredicate</a:t>
            </a:r>
            <a:r>
              <a:rPr lang="en-US" sz="2400" kern="0" spc="-220" dirty="0">
                <a:solidFill>
                  <a:schemeClr val="accent6"/>
                </a:solidFill>
              </a:rPr>
              <a:t> == true)</a:t>
            </a:r>
            <a:endParaRPr lang="en-US" sz="2400" kern="0" spc="-80" dirty="0">
              <a:solidFill>
                <a:schemeClr val="accent6"/>
              </a:solidFill>
            </a:endParaRPr>
          </a:p>
        </p:txBody>
      </p:sp>
    </p:spTree>
    <p:extLst>
      <p:ext uri="{BB962C8B-B14F-4D97-AF65-F5344CB8AC3E}">
        <p14:creationId xmlns:p14="http://schemas.microsoft.com/office/powerpoint/2010/main" val="6305675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0711911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object 2">
            <a:extLst>
              <a:ext uri="{FF2B5EF4-FFF2-40B4-BE49-F238E27FC236}">
                <a16:creationId xmlns:a16="http://schemas.microsoft.com/office/drawing/2014/main" id="{48C9FF86-3219-5086-7F9F-FA348C4BAEAB}"/>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Avoid Side Effects</a:t>
            </a:r>
          </a:p>
          <a:p>
            <a:pPr marL="12700" marR="5080"/>
            <a:r>
              <a:rPr lang="en-US" sz="2400" kern="0" spc="-220" dirty="0">
                <a:solidFill>
                  <a:schemeClr val="accent6"/>
                </a:solidFill>
              </a:rPr>
              <a:t>Use Pure Function</a:t>
            </a:r>
          </a:p>
          <a:p>
            <a:pPr marL="12700" marR="5080"/>
            <a:r>
              <a:rPr lang="en-US" sz="2400" kern="0" spc="-220" dirty="0">
                <a:solidFill>
                  <a:schemeClr val="accent6"/>
                </a:solidFill>
              </a:rPr>
              <a:t>Avoid Shared State</a:t>
            </a:r>
          </a:p>
          <a:p>
            <a:pPr marL="12700" marR="5080"/>
            <a:r>
              <a:rPr lang="en-US" sz="2400" kern="0" spc="-220" dirty="0">
                <a:solidFill>
                  <a:schemeClr val="accent6"/>
                </a:solidFill>
              </a:rPr>
              <a:t>Avoid Mutations</a:t>
            </a:r>
          </a:p>
          <a:p>
            <a:pPr marL="12700" marR="5080"/>
            <a:r>
              <a:rPr lang="en-US" sz="2400" kern="0" spc="-220" dirty="0">
                <a:solidFill>
                  <a:schemeClr val="accent6"/>
                </a:solidFill>
              </a:rPr>
              <a:t>Use Function Composition</a:t>
            </a:r>
          </a:p>
          <a:p>
            <a:pPr marL="12700" marR="5080"/>
            <a:r>
              <a:rPr lang="en-US" sz="2400" kern="0" spc="-220" dirty="0">
                <a:solidFill>
                  <a:schemeClr val="accent6"/>
                </a:solidFill>
              </a:rPr>
              <a:t>Use Declarative Code Instead of Imperative Code</a:t>
            </a:r>
            <a:endParaRPr lang="en-US" sz="2400" kern="0" spc="-80" dirty="0">
              <a:solidFill>
                <a:schemeClr val="accent6"/>
              </a:solidFill>
            </a:endParaRPr>
          </a:p>
        </p:txBody>
      </p:sp>
    </p:spTree>
    <p:extLst>
      <p:ext uri="{BB962C8B-B14F-4D97-AF65-F5344CB8AC3E}">
        <p14:creationId xmlns:p14="http://schemas.microsoft.com/office/powerpoint/2010/main" val="220172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729479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 Example - </a:t>
            </a:r>
          </a:p>
          <a:p>
            <a:pPr marL="12700" marR="5080"/>
            <a:r>
              <a:rPr lang="en-US" sz="2400" kern="0" spc="-80" dirty="0">
                <a:solidFill>
                  <a:schemeClr val="accent6"/>
                </a:solidFill>
              </a:rPr>
              <a:t>let x = 1;</a:t>
            </a:r>
          </a:p>
          <a:p>
            <a:pPr marL="12700" marR="5080"/>
            <a:r>
              <a:rPr lang="en-US" sz="2400" kern="0" spc="-80" dirty="0">
                <a:solidFill>
                  <a:schemeClr val="accent6"/>
                </a:solidFill>
              </a:rPr>
              <a:t>func1();</a:t>
            </a:r>
          </a:p>
          <a:p>
            <a:pPr marL="12700" marR="5080"/>
            <a:r>
              <a:rPr lang="en-US" sz="2400" kern="0" spc="-80" dirty="0">
                <a:solidFill>
                  <a:schemeClr val="accent6"/>
                </a:solidFill>
              </a:rPr>
              <a:t>console.log(x);</a:t>
            </a:r>
          </a:p>
          <a:p>
            <a:pPr marL="12700" marR="5080"/>
            <a:r>
              <a:rPr lang="en-US" sz="2400" kern="0" spc="-80" dirty="0">
                <a:solidFill>
                  <a:schemeClr val="accent6"/>
                </a:solidFill>
              </a:rPr>
              <a:t>func2();</a:t>
            </a:r>
          </a:p>
          <a:p>
            <a:pPr marL="12700" marR="5080"/>
            <a:r>
              <a:rPr lang="en-US" sz="2400" kern="0" spc="-80" dirty="0">
                <a:solidFill>
                  <a:schemeClr val="accent6"/>
                </a:solidFill>
              </a:rPr>
              <a:t>console.log(x);</a:t>
            </a:r>
          </a:p>
          <a:p>
            <a:pPr marL="12700" marR="5080"/>
            <a:endParaRPr lang="en-US" sz="2400" kern="0" spc="-80" dirty="0">
              <a:solidFill>
                <a:schemeClr val="accent6"/>
              </a:solidFill>
            </a:endParaRPr>
          </a:p>
          <a:p>
            <a:pPr marL="12700" marR="5080"/>
            <a:r>
              <a:rPr lang="en-US" sz="2400" kern="0" spc="-80" dirty="0">
                <a:solidFill>
                  <a:schemeClr val="accent6"/>
                </a:solidFill>
              </a:rPr>
              <a:t>What’s the guarantee that x has not changed?</a:t>
            </a:r>
          </a:p>
        </p:txBody>
      </p:sp>
    </p:spTree>
    <p:extLst>
      <p:ext uri="{BB962C8B-B14F-4D97-AF65-F5344CB8AC3E}">
        <p14:creationId xmlns:p14="http://schemas.microsoft.com/office/powerpoint/2010/main" val="534697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8717932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 Side Effect Example - </a:t>
            </a:r>
          </a:p>
          <a:p>
            <a:pPr marL="12700" marR="5080"/>
            <a:r>
              <a:rPr lang="en-US" sz="2400" kern="0" spc="-80" dirty="0">
                <a:solidFill>
                  <a:schemeClr val="accent6"/>
                </a:solidFill>
              </a:rPr>
              <a:t>const x = 5;</a:t>
            </a:r>
          </a:p>
          <a:p>
            <a:pPr marL="12700" marR="5080"/>
            <a:r>
              <a:rPr lang="en-US" sz="2400" kern="0" spc="-80" dirty="0">
                <a:solidFill>
                  <a:schemeClr val="accent6"/>
                </a:solidFill>
              </a:rPr>
              <a:t>let z = </a:t>
            </a:r>
            <a:r>
              <a:rPr lang="en-US" sz="2400" kern="0" spc="-80" dirty="0" err="1">
                <a:solidFill>
                  <a:schemeClr val="accent6"/>
                </a:solidFill>
              </a:rPr>
              <a:t>func</a:t>
            </a:r>
            <a:r>
              <a:rPr lang="en-US" sz="2400" kern="0" spc="-80" dirty="0">
                <a:solidFill>
                  <a:schemeClr val="accent6"/>
                </a:solidFill>
              </a:rPr>
              <a:t>(num){</a:t>
            </a:r>
          </a:p>
          <a:p>
            <a:pPr marL="12700" marR="5080"/>
            <a:r>
              <a:rPr lang="en-US" sz="2400" kern="0" spc="-80" dirty="0">
                <a:solidFill>
                  <a:schemeClr val="accent6"/>
                </a:solidFill>
              </a:rPr>
              <a:t>   let y = 3;</a:t>
            </a:r>
          </a:p>
          <a:p>
            <a:pPr marL="12700" marR="5080"/>
            <a:r>
              <a:rPr lang="en-US" sz="2400" kern="0" spc="-80" dirty="0">
                <a:solidFill>
                  <a:schemeClr val="accent6"/>
                </a:solidFill>
              </a:rPr>
              <a:t>   return num * x * y++;</a:t>
            </a:r>
          </a:p>
          <a:p>
            <a:pPr marL="12700" marR="5080"/>
            <a:r>
              <a:rPr lang="en-US" sz="2400" kern="0" spc="-80" dirty="0">
                <a:solidFill>
                  <a:schemeClr val="accent6"/>
                </a:solidFill>
              </a:rPr>
              <a:t>}</a:t>
            </a:r>
          </a:p>
        </p:txBody>
      </p:sp>
    </p:spTree>
    <p:extLst>
      <p:ext uri="{BB962C8B-B14F-4D97-AF65-F5344CB8AC3E}">
        <p14:creationId xmlns:p14="http://schemas.microsoft.com/office/powerpoint/2010/main" val="26681197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0718139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Effects Caused By – </a:t>
            </a:r>
          </a:p>
          <a:p>
            <a:pPr marL="469900" marR="5080" indent="-457200">
              <a:buAutoNum type="arabicParenR"/>
            </a:pPr>
            <a:r>
              <a:rPr lang="en-US" sz="2400" kern="0" spc="-220" dirty="0">
                <a:solidFill>
                  <a:schemeClr val="accent6"/>
                </a:solidFill>
              </a:rPr>
              <a:t>If a function changes some external data or input argument that’s outside of its scope. Its okay if the function changes some data within it’s scope (just like variable y in earlier slide – that’s not a side effect)</a:t>
            </a:r>
          </a:p>
          <a:p>
            <a:pPr marL="469900" marR="5080" indent="-457200">
              <a:buAutoNum type="arabicParenR"/>
            </a:pPr>
            <a:r>
              <a:rPr lang="en-US" sz="2400" kern="0" spc="-220" dirty="0">
                <a:solidFill>
                  <a:schemeClr val="accent6"/>
                </a:solidFill>
              </a:rPr>
              <a:t>Throwing an Exception</a:t>
            </a:r>
          </a:p>
          <a:p>
            <a:pPr marL="469900" marR="5080" indent="-457200">
              <a:buAutoNum type="arabicParenR"/>
            </a:pPr>
            <a:r>
              <a:rPr lang="en-US" sz="2400" kern="0" spc="-220" dirty="0">
                <a:solidFill>
                  <a:schemeClr val="accent6"/>
                </a:solidFill>
              </a:rPr>
              <a:t>Invoking functions that have a side effect</a:t>
            </a:r>
          </a:p>
          <a:p>
            <a:pPr marL="469900" marR="5080" indent="-457200">
              <a:buAutoNum type="arabicParenR"/>
            </a:pPr>
            <a:r>
              <a:rPr lang="en-US" sz="2400" kern="0" spc="-220" dirty="0">
                <a:solidFill>
                  <a:schemeClr val="accent6"/>
                </a:solidFill>
              </a:rPr>
              <a:t>Triggering an external process</a:t>
            </a:r>
            <a:endParaRPr lang="en-US" sz="2400" kern="0" spc="-80" dirty="0">
              <a:solidFill>
                <a:schemeClr val="accent6"/>
              </a:solidFill>
            </a:endParaRPr>
          </a:p>
        </p:txBody>
      </p:sp>
    </p:spTree>
    <p:extLst>
      <p:ext uri="{BB962C8B-B14F-4D97-AF65-F5344CB8AC3E}">
        <p14:creationId xmlns:p14="http://schemas.microsoft.com/office/powerpoint/2010/main" val="27366659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23165493"/>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2356009"/>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Conditions for a function to be a pure function – </a:t>
            </a:r>
          </a:p>
          <a:p>
            <a:pPr marL="469900" marR="5080" indent="-457200">
              <a:buAutoNum type="arabicParenR"/>
            </a:pPr>
            <a:r>
              <a:rPr lang="en-US" sz="2400" kern="0" spc="-220" dirty="0">
                <a:solidFill>
                  <a:schemeClr val="accent6"/>
                </a:solidFill>
              </a:rPr>
              <a:t>No side effects – FP cannot totally avoid side effects(since sometimes that’s inevitable) but it can minimize that</a:t>
            </a:r>
          </a:p>
          <a:p>
            <a:pPr marL="469900" marR="5080" indent="-457200">
              <a:buAutoNum type="arabicParenR"/>
            </a:pPr>
            <a:r>
              <a:rPr lang="en-US" sz="2400" kern="0" spc="-220" dirty="0">
                <a:solidFill>
                  <a:schemeClr val="accent6"/>
                </a:solidFill>
              </a:rPr>
              <a:t>Idempotent – returns every time the same value for same inputs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641569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7310433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304800" y="1447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implemented using callbacks</a:t>
            </a: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AA60F4E6-694E-CDF7-9F44-2E41ADE17F5D}"/>
              </a:ext>
            </a:extLst>
          </p:cNvPr>
          <p:cNvSpPr txBox="1">
            <a:spLocks/>
          </p:cNvSpPr>
          <p:nvPr/>
        </p:nvSpPr>
        <p:spPr>
          <a:xfrm>
            <a:off x="304800" y="1816417"/>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var a=10, b = 2;</a:t>
            </a:r>
          </a:p>
          <a:p>
            <a:pPr marL="12700" marR="5080"/>
            <a:r>
              <a:rPr lang="en-US" sz="2400" kern="0" spc="-220" dirty="0">
                <a:solidFill>
                  <a:schemeClr val="accent6"/>
                </a:solidFill>
              </a:rPr>
              <a:t>var  </a:t>
            </a:r>
            <a:r>
              <a:rPr lang="en-US" sz="2400" kern="0" spc="-220" dirty="0" err="1">
                <a:solidFill>
                  <a:schemeClr val="accent6"/>
                </a:solidFill>
              </a:rPr>
              <a:t>func</a:t>
            </a:r>
            <a:r>
              <a:rPr lang="en-US" sz="2400" kern="0" spc="-220" dirty="0">
                <a:solidFill>
                  <a:schemeClr val="accent6"/>
                </a:solidFill>
              </a:rPr>
              <a:t> = function(){</a:t>
            </a:r>
          </a:p>
          <a:p>
            <a:pPr marL="12700" marR="5080"/>
            <a:r>
              <a:rPr lang="en-US" sz="2400" kern="0" spc="-220" dirty="0">
                <a:solidFill>
                  <a:schemeClr val="accent6"/>
                </a:solidFill>
              </a:rPr>
              <a:t>   console.log(</a:t>
            </a:r>
            <a:r>
              <a:rPr lang="en-US" sz="2400" kern="0" spc="-220" dirty="0" err="1">
                <a:solidFill>
                  <a:schemeClr val="accent6"/>
                </a:solidFill>
              </a:rPr>
              <a:t>a+b</a:t>
            </a:r>
            <a:r>
              <a:rPr lang="en-US" sz="2400" kern="0" spc="-220" dirty="0">
                <a:solidFill>
                  <a:schemeClr val="accent6"/>
                </a:solidFill>
              </a:rPr>
              <a:t>);</a:t>
            </a:r>
          </a:p>
          <a:p>
            <a:pPr marL="12700" marR="5080"/>
            <a:r>
              <a:rPr lang="en-US" sz="2400" kern="0" spc="-220" dirty="0">
                <a:solidFill>
                  <a:schemeClr val="accent6"/>
                </a:solidFill>
              </a:rPr>
              <a:t>};</a:t>
            </a:r>
          </a:p>
          <a:p>
            <a:pPr marL="12700" marR="5080"/>
            <a:r>
              <a:rPr lang="en-US" sz="2400" kern="0" spc="-220" dirty="0" err="1">
                <a:solidFill>
                  <a:schemeClr val="accent6"/>
                </a:solidFill>
              </a:rPr>
              <a:t>setTimeout</a:t>
            </a:r>
            <a:r>
              <a:rPr lang="en-US" sz="2400" kern="0" spc="-220" dirty="0">
                <a:solidFill>
                  <a:schemeClr val="accent6"/>
                </a:solidFill>
              </a:rPr>
              <a:t>(</a:t>
            </a:r>
            <a:r>
              <a:rPr lang="en-US" sz="2400" kern="0" spc="-220" dirty="0" err="1">
                <a:solidFill>
                  <a:schemeClr val="accent6"/>
                </a:solidFill>
              </a:rPr>
              <a:t>func</a:t>
            </a:r>
            <a:r>
              <a:rPr lang="en-US" sz="2400" kern="0" spc="-220" dirty="0">
                <a:solidFill>
                  <a:schemeClr val="accent6"/>
                </a:solidFill>
              </a:rPr>
              <a:t>, 2000);</a:t>
            </a:r>
          </a:p>
          <a:p>
            <a:pPr marL="12700" marR="5080"/>
            <a:r>
              <a:rPr lang="en-US" sz="2400" kern="0" spc="-220" dirty="0">
                <a:solidFill>
                  <a:schemeClr val="accent6"/>
                </a:solidFill>
              </a:rPr>
              <a:t>a = 20, b = 5; </a:t>
            </a:r>
          </a:p>
          <a:p>
            <a:pPr marL="12700" marR="5080"/>
            <a:r>
              <a:rPr lang="en-US" sz="2400" kern="0" spc="-220" dirty="0">
                <a:solidFill>
                  <a:schemeClr val="accent6"/>
                </a:solidFill>
              </a:rPr>
              <a:t>Although this </a:t>
            </a:r>
            <a:r>
              <a:rPr lang="en-US" sz="2400" kern="0" spc="-220" dirty="0" err="1">
                <a:solidFill>
                  <a:schemeClr val="accent6"/>
                </a:solidFill>
              </a:rPr>
              <a:t>func</a:t>
            </a:r>
            <a:r>
              <a:rPr lang="en-US" sz="2400" kern="0" spc="-220" dirty="0">
                <a:solidFill>
                  <a:schemeClr val="accent6"/>
                </a:solidFill>
              </a:rPr>
              <a:t> gets invoked immediately &amp; then </a:t>
            </a:r>
            <a:r>
              <a:rPr lang="en-US" sz="2400" kern="0" spc="-220" dirty="0" err="1">
                <a:solidFill>
                  <a:schemeClr val="accent6"/>
                </a:solidFill>
              </a:rPr>
              <a:t>setTimeout</a:t>
            </a:r>
            <a:r>
              <a:rPr lang="en-US" sz="2400" kern="0" spc="-220" dirty="0">
                <a:solidFill>
                  <a:schemeClr val="accent6"/>
                </a:solidFill>
              </a:rPr>
              <a:t> invokes </a:t>
            </a:r>
            <a:r>
              <a:rPr lang="en-US" sz="2400" kern="0" spc="-220" dirty="0" err="1">
                <a:solidFill>
                  <a:schemeClr val="accent6"/>
                </a:solidFill>
              </a:rPr>
              <a:t>func</a:t>
            </a:r>
            <a:r>
              <a:rPr lang="en-US" sz="2400" kern="0" spc="-220" dirty="0">
                <a:solidFill>
                  <a:schemeClr val="accent6"/>
                </a:solidFill>
              </a:rPr>
              <a:t> after 2 secs but still </a:t>
            </a:r>
            <a:r>
              <a:rPr lang="en-US" sz="2400" kern="0" spc="-220" dirty="0" err="1">
                <a:solidFill>
                  <a:schemeClr val="accent6"/>
                </a:solidFill>
              </a:rPr>
              <a:t>func</a:t>
            </a:r>
            <a:r>
              <a:rPr lang="en-US" sz="2400" kern="0" spc="-220" dirty="0">
                <a:solidFill>
                  <a:schemeClr val="accent6"/>
                </a:solidFill>
              </a:rPr>
              <a:t> has access to new a &amp; b values.</a:t>
            </a:r>
          </a:p>
          <a:p>
            <a:pPr marL="12700" marR="5080"/>
            <a:r>
              <a:rPr lang="en-US" sz="2400" kern="0" spc="-220" dirty="0">
                <a:solidFill>
                  <a:schemeClr val="accent6"/>
                </a:solidFill>
              </a:rPr>
              <a:t>In .NET closures are also known as Captured Variables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809771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6101010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154733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state is shared via  - </a:t>
            </a:r>
          </a:p>
          <a:p>
            <a:pPr marL="469900" marR="5080" indent="-457200">
              <a:buAutoNum type="arabicParenR"/>
            </a:pPr>
            <a:r>
              <a:rPr lang="en-US" sz="2400" kern="0" spc="-220" dirty="0">
                <a:solidFill>
                  <a:schemeClr val="accent6"/>
                </a:solidFill>
              </a:rPr>
              <a:t>Global Scope</a:t>
            </a:r>
          </a:p>
          <a:p>
            <a:pPr marL="469900" marR="5080" indent="-457200">
              <a:buAutoNum type="arabicParenR"/>
            </a:pPr>
            <a:r>
              <a:rPr lang="en-US" sz="2400" kern="0" spc="-220" dirty="0">
                <a:solidFill>
                  <a:schemeClr val="accent6"/>
                </a:solidFill>
              </a:rPr>
              <a:t>Closures</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317087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 per FP,  state should not be shared but rather passed between functions &amp; use state clone to work on functions internally</a:t>
            </a:r>
          </a:p>
        </p:txBody>
      </p:sp>
    </p:spTree>
    <p:extLst>
      <p:ext uri="{BB962C8B-B14F-4D97-AF65-F5344CB8AC3E}">
        <p14:creationId xmlns:p14="http://schemas.microsoft.com/office/powerpoint/2010/main" val="35372721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807777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2104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Diff.  between  String &amp; StringBuilder in .NET?</a:t>
            </a:r>
          </a:p>
          <a:p>
            <a:pPr marL="12700" marR="5080"/>
            <a:r>
              <a:rPr lang="en-US" sz="2400" kern="0" spc="-220" dirty="0">
                <a:solidFill>
                  <a:schemeClr val="accent6"/>
                </a:solidFill>
              </a:rPr>
              <a:t>   Probably everyone knows the answer(that being a common interview question)</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9249" y="3757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But how do you make a custom immutable class in .NET(or any other language)</a:t>
            </a:r>
          </a:p>
        </p:txBody>
      </p:sp>
    </p:spTree>
    <p:extLst>
      <p:ext uri="{BB962C8B-B14F-4D97-AF65-F5344CB8AC3E}">
        <p14:creationId xmlns:p14="http://schemas.microsoft.com/office/powerpoint/2010/main" val="1404539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16002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Allow the state of the object to be changed only during construction(&amp; not via any other means e.g. a public setter) &amp; use getters to get the current state of the object</a:t>
            </a:r>
          </a:p>
        </p:txBody>
      </p:sp>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2854404"/>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Immutable Class Example – </a:t>
            </a:r>
          </a:p>
          <a:p>
            <a:pPr marL="12700" marR="5080"/>
            <a:r>
              <a:rPr lang="en-US" sz="2400" kern="0" spc="-220" dirty="0">
                <a:solidFill>
                  <a:schemeClr val="accent6"/>
                </a:solidFill>
              </a:rPr>
              <a:t>public class </a:t>
            </a:r>
            <a:r>
              <a:rPr lang="en-US" sz="2400" kern="0" spc="-220" dirty="0" err="1">
                <a:solidFill>
                  <a:schemeClr val="accent6"/>
                </a:solidFill>
              </a:rPr>
              <a:t>ImmutableClass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ImmutableClass</a:t>
            </a:r>
            <a:r>
              <a:rPr lang="en-US" sz="2400" kern="0" spc="-220" dirty="0">
                <a:solidFill>
                  <a:schemeClr val="accent6"/>
                </a:solidFill>
              </a:rPr>
              <a:t>(</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 =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 { get { return _</a:t>
            </a:r>
            <a:r>
              <a:rPr lang="en-US" sz="2400" kern="0" spc="-220" dirty="0" err="1">
                <a:solidFill>
                  <a:schemeClr val="accent6"/>
                </a:solidFill>
              </a:rPr>
              <a:t>someData</a:t>
            </a:r>
            <a:r>
              <a:rPr lang="en-US" sz="2400" kern="0" spc="-220" dirty="0">
                <a:solidFill>
                  <a:schemeClr val="accent6"/>
                </a:solidFill>
              </a:rPr>
              <a:t>; } }</a:t>
            </a:r>
          </a:p>
          <a:p>
            <a:pPr marL="12700" marR="5080"/>
            <a:r>
              <a:rPr lang="en-US" sz="2400" kern="0" spc="-220" dirty="0">
                <a:solidFill>
                  <a:schemeClr val="accent6"/>
                </a:solidFill>
              </a:rPr>
              <a:t>}</a:t>
            </a:r>
          </a:p>
        </p:txBody>
      </p:sp>
    </p:spTree>
    <p:extLst>
      <p:ext uri="{BB962C8B-B14F-4D97-AF65-F5344CB8AC3E}">
        <p14:creationId xmlns:p14="http://schemas.microsoft.com/office/powerpoint/2010/main" val="23389173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1524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Immutability in C# using Record Type</a:t>
            </a:r>
          </a:p>
          <a:p>
            <a:pPr marL="12700" marR="5080"/>
            <a:r>
              <a:rPr lang="en-US" sz="2000" kern="0" spc="-220" dirty="0">
                <a:solidFill>
                  <a:schemeClr val="accent6"/>
                </a:solidFill>
                <a:hlinkClick r:id="rId7"/>
              </a:rPr>
              <a:t>https://www.linkedin.com/pulse/immutability-record-types-keyword-c-sebastiano-gazzola</a:t>
            </a:r>
            <a:endParaRPr lang="en-US" sz="2000" kern="0" spc="-220" dirty="0">
              <a:solidFill>
                <a:schemeClr val="accent6"/>
              </a:solidFill>
            </a:endParaRPr>
          </a:p>
        </p:txBody>
      </p:sp>
      <p:sp>
        <p:nvSpPr>
          <p:cNvPr id="3" name="object 2">
            <a:extLst>
              <a:ext uri="{FF2B5EF4-FFF2-40B4-BE49-F238E27FC236}">
                <a16:creationId xmlns:a16="http://schemas.microsoft.com/office/drawing/2014/main" id="{DFC8C61A-5CAD-1C8E-2683-EB4A7575C7DE}"/>
              </a:ext>
            </a:extLst>
          </p:cNvPr>
          <p:cNvSpPr txBox="1">
            <a:spLocks/>
          </p:cNvSpPr>
          <p:nvPr/>
        </p:nvSpPr>
        <p:spPr>
          <a:xfrm>
            <a:off x="290463" y="2995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great advantage of Immutable Classes – </a:t>
            </a:r>
          </a:p>
          <a:p>
            <a:pPr marL="12700" marR="5080"/>
            <a:r>
              <a:rPr lang="en-US" sz="2400" kern="0" spc="-220" dirty="0">
                <a:solidFill>
                  <a:schemeClr val="accent6"/>
                </a:solidFill>
              </a:rPr>
              <a:t>Inherently Thread Safe</a:t>
            </a:r>
          </a:p>
        </p:txBody>
      </p:sp>
      <p:sp>
        <p:nvSpPr>
          <p:cNvPr id="8" name="object 2">
            <a:extLst>
              <a:ext uri="{FF2B5EF4-FFF2-40B4-BE49-F238E27FC236}">
                <a16:creationId xmlns:a16="http://schemas.microsoft.com/office/drawing/2014/main" id="{B813D944-93DA-42C3-4F52-3B86EF12F423}"/>
              </a:ext>
            </a:extLst>
          </p:cNvPr>
          <p:cNvSpPr txBox="1">
            <a:spLocks/>
          </p:cNvSpPr>
          <p:nvPr/>
        </p:nvSpPr>
        <p:spPr>
          <a:xfrm>
            <a:off x="304800" y="38862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vs Immutable Collections – </a:t>
            </a:r>
          </a:p>
          <a:p>
            <a:pPr marL="12700" marR="5080"/>
            <a:r>
              <a:rPr lang="en-US" sz="2000" kern="0" spc="-220" dirty="0">
                <a:solidFill>
                  <a:schemeClr val="accent6"/>
                </a:solidFill>
                <a:hlinkClick r:id="rId8"/>
              </a:rPr>
              <a:t>https://stackoverflow.com/questions/30165810/why-use-immutablelist-over-readonlycollection</a:t>
            </a:r>
            <a:r>
              <a:rPr lang="en-US" sz="2000" kern="0" spc="-220" dirty="0">
                <a:solidFill>
                  <a:schemeClr val="accent6"/>
                </a:solidFill>
              </a:rPr>
              <a:t> </a:t>
            </a:r>
          </a:p>
        </p:txBody>
      </p:sp>
      <p:sp>
        <p:nvSpPr>
          <p:cNvPr id="2" name="object 2">
            <a:extLst>
              <a:ext uri="{FF2B5EF4-FFF2-40B4-BE49-F238E27FC236}">
                <a16:creationId xmlns:a16="http://schemas.microsoft.com/office/drawing/2014/main" id="{CDFADBBB-A3FD-B664-A088-0F1674D5540F}"/>
              </a:ext>
            </a:extLst>
          </p:cNvPr>
          <p:cNvSpPr txBox="1">
            <a:spLocks/>
          </p:cNvSpPr>
          <p:nvPr/>
        </p:nvSpPr>
        <p:spPr>
          <a:xfrm>
            <a:off x="304800" y="50525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Eric Lippert’s Immutability Series –</a:t>
            </a:r>
          </a:p>
          <a:p>
            <a:pPr marL="12700" marR="5080"/>
            <a:r>
              <a:rPr lang="en-US" sz="2000" kern="0" spc="-220" dirty="0">
                <a:solidFill>
                  <a:schemeClr val="accent6"/>
                </a:solidFill>
                <a:hlinkClick r:id="rId9"/>
              </a:rPr>
              <a:t>https://ericlippert.com/tag/immutability/page/2/</a:t>
            </a:r>
            <a:r>
              <a:rPr lang="en-US" sz="2000" kern="0" spc="-220" dirty="0">
                <a:solidFill>
                  <a:schemeClr val="accent6"/>
                </a:solidFill>
              </a:rPr>
              <a:t> </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812609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409507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Advantages of FP – </a:t>
            </a:r>
          </a:p>
          <a:p>
            <a:pPr marL="12700" marR="5080"/>
            <a:r>
              <a:rPr lang="en-US" sz="2400" kern="0" spc="-220" dirty="0">
                <a:solidFill>
                  <a:schemeClr val="accent6"/>
                </a:solidFill>
              </a:rPr>
              <a:t>Inherently Thread Safe</a:t>
            </a:r>
          </a:p>
          <a:p>
            <a:pPr marL="12700" marR="5080"/>
            <a:r>
              <a:rPr lang="en-US" sz="2400" kern="0" spc="-220" dirty="0">
                <a:solidFill>
                  <a:schemeClr val="accent6"/>
                </a:solidFill>
              </a:rPr>
              <a:t>Declarative Style of Programming which increases readability</a:t>
            </a:r>
          </a:p>
        </p:txBody>
      </p:sp>
    </p:spTree>
    <p:extLst>
      <p:ext uri="{BB962C8B-B14F-4D97-AF65-F5344CB8AC3E}">
        <p14:creationId xmlns:p14="http://schemas.microsoft.com/office/powerpoint/2010/main" val="3547488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03863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function in FP is a higher order function if  - </a:t>
            </a:r>
          </a:p>
          <a:p>
            <a:pPr marL="12700" marR="5080"/>
            <a:r>
              <a:rPr lang="en-US" sz="2400" kern="0" spc="-220" dirty="0">
                <a:solidFill>
                  <a:schemeClr val="accent6"/>
                </a:solidFill>
              </a:rPr>
              <a:t>1) You pass some other function to the function</a:t>
            </a:r>
          </a:p>
          <a:p>
            <a:pPr marL="12700" marR="5080"/>
            <a:r>
              <a:rPr lang="en-US" sz="2400" kern="0" spc="-220" dirty="0">
                <a:solidFill>
                  <a:schemeClr val="accent6"/>
                </a:solidFill>
              </a:rPr>
              <a:t>2) You return some other function from the function</a:t>
            </a:r>
          </a:p>
          <a:p>
            <a:pPr marL="12700" marR="5080"/>
            <a:r>
              <a:rPr lang="en-US" sz="2400" kern="0" spc="-220" dirty="0">
                <a:solidFill>
                  <a:schemeClr val="accent6"/>
                </a:solidFill>
              </a:rPr>
              <a:t>3) Both 1 &amp; 2 above</a:t>
            </a:r>
          </a:p>
        </p:txBody>
      </p:sp>
      <p:sp>
        <p:nvSpPr>
          <p:cNvPr id="3" name="object 2">
            <a:extLst>
              <a:ext uri="{FF2B5EF4-FFF2-40B4-BE49-F238E27FC236}">
                <a16:creationId xmlns:a16="http://schemas.microsoft.com/office/drawing/2014/main" id="{7032A276-7827-6CD9-783F-99A42C4CADE3}"/>
              </a:ext>
            </a:extLst>
          </p:cNvPr>
          <p:cNvSpPr txBox="1">
            <a:spLocks/>
          </p:cNvSpPr>
          <p:nvPr/>
        </p:nvSpPr>
        <p:spPr>
          <a:xfrm>
            <a:off x="304800" y="3048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 Action&lt;T2&gt; </a:t>
            </a:r>
            <a:r>
              <a:rPr lang="en-US" sz="2400" kern="0" spc="-220" dirty="0" err="1">
                <a:solidFill>
                  <a:schemeClr val="accent6"/>
                </a:solidFill>
              </a:rPr>
              <a:t>SomeMethod</a:t>
            </a:r>
            <a:r>
              <a:rPr lang="en-US" sz="2400" kern="0" spc="-220" dirty="0">
                <a:solidFill>
                  <a:schemeClr val="accent6"/>
                </a:solidFill>
              </a:rPr>
              <a:t>(Action&lt;T1&gt; action)</a:t>
            </a:r>
          </a:p>
        </p:txBody>
      </p:sp>
    </p:spTree>
    <p:extLst>
      <p:ext uri="{BB962C8B-B14F-4D97-AF65-F5344CB8AC3E}">
        <p14:creationId xmlns:p14="http://schemas.microsoft.com/office/powerpoint/2010/main" val="39950051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400" kern="0" spc="-220" dirty="0">
                <a:solidFill>
                  <a:schemeClr val="accent6"/>
                </a:solidFill>
              </a:rPr>
              <a:t>Exception Handling using Higher Order Functions – </a:t>
            </a:r>
          </a:p>
          <a:p>
            <a:pPr marL="12700" marR="5080"/>
            <a:r>
              <a:rPr lang="en-US" sz="2400" kern="0" spc="-220" dirty="0">
                <a:solidFill>
                  <a:schemeClr val="accent6"/>
                </a:solidFill>
              </a:rPr>
              <a:t>void </a:t>
            </a:r>
            <a:r>
              <a:rPr lang="en-US" sz="2400" kern="0" spc="-220" dirty="0" err="1">
                <a:solidFill>
                  <a:schemeClr val="accent6"/>
                </a:solidFill>
              </a:rPr>
              <a:t>HandleException</a:t>
            </a:r>
            <a:r>
              <a:rPr lang="en-US" sz="2400" kern="0" spc="-220" dirty="0">
                <a:solidFill>
                  <a:schemeClr val="accent6"/>
                </a:solidFill>
              </a:rPr>
              <a:t>(Action&lt;T&gt; action, T t){</a:t>
            </a:r>
          </a:p>
          <a:p>
            <a:pPr marL="12700" marR="5080"/>
            <a:r>
              <a:rPr lang="en-US" sz="2400" kern="0" spc="-220" dirty="0">
                <a:solidFill>
                  <a:schemeClr val="accent6"/>
                </a:solidFill>
              </a:rPr>
              <a:t>    try{</a:t>
            </a:r>
          </a:p>
          <a:p>
            <a:pPr marL="12700" marR="5080"/>
            <a:r>
              <a:rPr lang="en-US" sz="2400" kern="0" spc="-220" dirty="0">
                <a:solidFill>
                  <a:schemeClr val="accent6"/>
                </a:solidFill>
              </a:rPr>
              <a:t>      action(t);</a:t>
            </a:r>
          </a:p>
          <a:p>
            <a:pPr marL="12700" marR="5080"/>
            <a:r>
              <a:rPr lang="en-US" sz="2400" kern="0" spc="-220" dirty="0">
                <a:solidFill>
                  <a:schemeClr val="accent6"/>
                </a:solidFill>
              </a:rPr>
              <a:t>    }</a:t>
            </a:r>
          </a:p>
          <a:p>
            <a:pPr marL="12700" marR="5080"/>
            <a:r>
              <a:rPr lang="en-US" sz="2400" kern="0" spc="-220" dirty="0">
                <a:solidFill>
                  <a:schemeClr val="accent6"/>
                </a:solidFill>
              </a:rPr>
              <a:t>    catch(Exception ex){</a:t>
            </a:r>
          </a:p>
          <a:p>
            <a:pPr marL="12700" marR="5080"/>
            <a:r>
              <a:rPr lang="en-US" sz="2400" kern="0" spc="-220" dirty="0">
                <a:solidFill>
                  <a:schemeClr val="accent6"/>
                </a:solidFill>
              </a:rPr>
              <a:t>      logger.log(</a:t>
            </a:r>
            <a:r>
              <a:rPr lang="en-US" sz="2400" kern="0" spc="-220" dirty="0" err="1">
                <a:solidFill>
                  <a:schemeClr val="accent6"/>
                </a:solidFill>
              </a:rPr>
              <a:t>ex.ToString</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4565518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611892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Arity – Number of parameters passed to a function</a:t>
            </a:r>
          </a:p>
          <a:p>
            <a:pPr marL="12700" marR="5080"/>
            <a:endParaRPr lang="en-US" sz="2400" kern="0" spc="-220" dirty="0">
              <a:solidFill>
                <a:schemeClr val="accent6"/>
              </a:solidFill>
            </a:endParaRPr>
          </a:p>
          <a:p>
            <a:pPr marL="12700" marR="5080"/>
            <a:r>
              <a:rPr lang="en-US" sz="2400" kern="0" spc="-220" dirty="0">
                <a:solidFill>
                  <a:schemeClr val="accent6"/>
                </a:solidFill>
              </a:rPr>
              <a:t>Currying – Reduce arity from a higher to lower value function</a:t>
            </a:r>
          </a:p>
          <a:p>
            <a:pPr marL="12700" marR="5080"/>
            <a:r>
              <a:rPr lang="en-US" sz="2400" kern="0" spc="-220" dirty="0">
                <a:solidFill>
                  <a:schemeClr val="accent6"/>
                </a:solidFill>
              </a:rPr>
              <a:t> Example – </a:t>
            </a:r>
          </a:p>
          <a:p>
            <a:pPr marL="12700" marR="5080"/>
            <a:r>
              <a:rPr lang="en-US" sz="2400" kern="0" spc="-220" dirty="0">
                <a:solidFill>
                  <a:schemeClr val="accent6"/>
                </a:solidFill>
              </a:rPr>
              <a:t>  function add(a){</a:t>
            </a:r>
          </a:p>
          <a:p>
            <a:pPr marL="12700" marR="5080"/>
            <a:r>
              <a:rPr lang="en-US" sz="2400" kern="0" spc="-220" dirty="0">
                <a:solidFill>
                  <a:schemeClr val="accent6"/>
                </a:solidFill>
              </a:rPr>
              <a:t>    return function(b){‘</a:t>
            </a:r>
          </a:p>
          <a:p>
            <a:pPr marL="12700" marR="5080"/>
            <a:r>
              <a:rPr lang="en-US" sz="2400" kern="0" spc="-220" dirty="0">
                <a:solidFill>
                  <a:schemeClr val="accent6"/>
                </a:solidFill>
              </a:rPr>
              <a:t>      return a + b;</a:t>
            </a:r>
          </a:p>
          <a:p>
            <a:pPr marL="12700" marR="5080"/>
            <a:r>
              <a:rPr lang="en-US" sz="2400" kern="0" spc="-220" dirty="0">
                <a:solidFill>
                  <a:schemeClr val="accent6"/>
                </a:solidFill>
              </a:rPr>
              <a:t>    }</a:t>
            </a:r>
          </a:p>
          <a:p>
            <a:pPr marL="12700" marR="5080"/>
            <a:r>
              <a:rPr lang="en-US" sz="2400" kern="0" spc="-220" dirty="0">
                <a:solidFill>
                  <a:schemeClr val="accent6"/>
                </a:solidFill>
              </a:rPr>
              <a:t>  }</a:t>
            </a:r>
          </a:p>
          <a:p>
            <a:pPr marL="12700" marR="5080"/>
            <a:r>
              <a:rPr lang="en-US" sz="2400" kern="0" spc="-220" dirty="0">
                <a:solidFill>
                  <a:schemeClr val="accent6"/>
                </a:solidFill>
              </a:rPr>
              <a:t>  add(a)(b);</a:t>
            </a:r>
          </a:p>
          <a:p>
            <a:pPr marL="12700" marR="5080"/>
            <a:r>
              <a:rPr lang="en-US" sz="2400" kern="0" spc="-220" dirty="0">
                <a:solidFill>
                  <a:schemeClr val="accent6"/>
                </a:solidFill>
              </a:rPr>
              <a:t> </a:t>
            </a:r>
          </a:p>
          <a:p>
            <a:pPr marL="12700" marR="5080"/>
            <a:r>
              <a:rPr lang="en-US" sz="2400" kern="0" spc="-220" dirty="0">
                <a:solidFill>
                  <a:schemeClr val="accent6"/>
                </a:solidFill>
              </a:rPr>
              <a:t>Basically, currying tries to produce nested unary(1-ary) functions.</a:t>
            </a:r>
          </a:p>
        </p:txBody>
      </p:sp>
    </p:spTree>
    <p:extLst>
      <p:ext uri="{BB962C8B-B14F-4D97-AF65-F5344CB8AC3E}">
        <p14:creationId xmlns:p14="http://schemas.microsoft.com/office/powerpoint/2010/main" val="31773014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Partial Application – </a:t>
            </a:r>
          </a:p>
          <a:p>
            <a:pPr marL="12700" marR="5080"/>
            <a:r>
              <a:rPr lang="en-US" sz="2400" kern="0" spc="-220" dirty="0">
                <a:solidFill>
                  <a:schemeClr val="accent6"/>
                </a:solidFill>
              </a:rPr>
              <a:t>Some parameters are actual values while others remain as variables</a:t>
            </a:r>
          </a:p>
          <a:p>
            <a:pPr marL="12700" marR="5080"/>
            <a:endParaRPr lang="en-US" sz="2400" kern="0" spc="-220" dirty="0">
              <a:solidFill>
                <a:schemeClr val="accent6"/>
              </a:solidFill>
            </a:endParaRPr>
          </a:p>
          <a:p>
            <a:pPr marL="12700" marR="5080"/>
            <a:r>
              <a:rPr lang="en-US" sz="2400" kern="0" spc="-220" dirty="0">
                <a:solidFill>
                  <a:schemeClr val="accent6"/>
                </a:solidFill>
              </a:rPr>
              <a:t>Example</a:t>
            </a:r>
          </a:p>
          <a:p>
            <a:pPr marL="12700" marR="5080"/>
            <a:r>
              <a:rPr lang="en-US" sz="2400" kern="0" spc="-220" dirty="0">
                <a:solidFill>
                  <a:schemeClr val="accent6"/>
                </a:solidFill>
              </a:rPr>
              <a:t> div(</a:t>
            </a:r>
            <a:r>
              <a:rPr lang="en-US" sz="2400" kern="0" spc="-220" dirty="0" err="1">
                <a:solidFill>
                  <a:schemeClr val="accent6"/>
                </a:solidFill>
              </a:rPr>
              <a:t>x,y</a:t>
            </a:r>
            <a:r>
              <a:rPr lang="en-US" sz="2400" kern="0" spc="-220" dirty="0">
                <a:solidFill>
                  <a:schemeClr val="accent6"/>
                </a:solidFill>
              </a:rPr>
              <a:t>) = x/y </a:t>
            </a:r>
          </a:p>
          <a:p>
            <a:pPr marL="12700" marR="5080"/>
            <a:r>
              <a:rPr lang="en-US" sz="2400" kern="0" spc="-220" dirty="0">
                <a:solidFill>
                  <a:schemeClr val="accent6"/>
                </a:solidFill>
              </a:rPr>
              <a:t> div1(y) = div(1,y) = 1/y;</a:t>
            </a:r>
          </a:p>
          <a:p>
            <a:pPr marL="12700" marR="5080"/>
            <a:endParaRPr lang="en-US" sz="2400" kern="0" spc="-220" dirty="0">
              <a:solidFill>
                <a:schemeClr val="accent6"/>
              </a:solidFill>
            </a:endParaRPr>
          </a:p>
          <a:p>
            <a:pPr marL="12700" marR="5080"/>
            <a:r>
              <a:rPr lang="en-US" sz="2400" kern="0" spc="-220" dirty="0">
                <a:solidFill>
                  <a:schemeClr val="accent6"/>
                </a:solidFill>
              </a:rPr>
              <a:t> Basically, Partial application tends to produce functions that have an arbitrary number of arguments &amp; the transformed functions usually have a lot of differences from the original one.</a:t>
            </a:r>
          </a:p>
        </p:txBody>
      </p:sp>
    </p:spTree>
    <p:extLst>
      <p:ext uri="{BB962C8B-B14F-4D97-AF65-F5344CB8AC3E}">
        <p14:creationId xmlns:p14="http://schemas.microsoft.com/office/powerpoint/2010/main" val="25738306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842736"/>
            <a:ext cx="8624937" cy="13542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000" kern="0" spc="-220" dirty="0">
                <a:solidFill>
                  <a:schemeClr val="accent6"/>
                </a:solidFill>
                <a:hlinkClick r:id="rId7"/>
              </a:rPr>
              <a:t>https://github.com/sandipray63in/DDD-Based-Enterprise-Application-Framework/blob/master/Infrastructure/Concurrency/Synchronization/SharedDataProtection/BaseLocking.cs</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7646920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85646213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https://event-driven.io/en/memoization_a_useful_pattern_for_quick_optimisation/</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658619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519842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362200"/>
            <a:ext cx="8624937" cy="20313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References – </a:t>
            </a:r>
          </a:p>
          <a:p>
            <a:pPr marL="12700" marR="5080"/>
            <a:r>
              <a:rPr lang="en-US" sz="2000" kern="0" spc="-220" dirty="0">
                <a:solidFill>
                  <a:schemeClr val="accent6"/>
                </a:solidFill>
              </a:rPr>
              <a:t>  </a:t>
            </a:r>
            <a:r>
              <a:rPr lang="en-US" sz="2000" kern="0" spc="-220" dirty="0">
                <a:solidFill>
                  <a:schemeClr val="accent6"/>
                </a:solidFill>
                <a:hlinkClick r:id="rId7"/>
              </a:rPr>
              <a:t>https://functionalprogrammingcsharp.com/functors-monads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https://weblogs.asp.net/dixin/category-theory-via-csharp-2-monoid</a:t>
            </a:r>
            <a:endParaRPr lang="en-US" sz="2000" kern="0" spc="-220" dirty="0">
              <a:solidFill>
                <a:schemeClr val="accent6"/>
              </a:solidFill>
            </a:endParaRPr>
          </a:p>
          <a:p>
            <a:pPr marL="12700" marR="5080"/>
            <a:r>
              <a:rPr lang="en-US" sz="2400" kern="0" spc="-220" dirty="0">
                <a:solidFill>
                  <a:schemeClr val="accent6"/>
                </a:solidFill>
              </a:rPr>
              <a:t>  </a:t>
            </a:r>
            <a:r>
              <a:rPr lang="en-US" sz="2000" kern="0" spc="-220" dirty="0">
                <a:solidFill>
                  <a:schemeClr val="accent6"/>
                </a:solidFill>
                <a:hlinkClick r:id="rId9"/>
              </a:rPr>
              <a:t>https://github.com/caiorss/Functional-Programming/blob/master/haskell/Functional_Programming_Concepts.org</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10"/>
              </a:rPr>
              <a:t>https://fsharpforfunandprofit.com/fppatterns/</a:t>
            </a:r>
            <a:r>
              <a:rPr lang="en-US" sz="2000" kern="0" spc="-220" dirty="0">
                <a:solidFill>
                  <a:schemeClr val="accent6"/>
                </a:solidFill>
              </a:rPr>
              <a:t> </a:t>
            </a:r>
          </a:p>
        </p:txBody>
      </p:sp>
    </p:spTree>
    <p:extLst>
      <p:ext uri="{BB962C8B-B14F-4D97-AF65-F5344CB8AC3E}">
        <p14:creationId xmlns:p14="http://schemas.microsoft.com/office/powerpoint/2010/main" val="728319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5536114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Const – </a:t>
            </a:r>
          </a:p>
          <a:p>
            <a:pPr marL="12700" marR="5080"/>
            <a:r>
              <a:rPr lang="en-US" sz="2400" kern="0" spc="-220" dirty="0">
                <a:solidFill>
                  <a:schemeClr val="accent6"/>
                </a:solidFill>
              </a:rPr>
              <a:t>A const once initialized cannot be changed </a:t>
            </a:r>
          </a:p>
        </p:txBody>
      </p:sp>
      <p:sp>
        <p:nvSpPr>
          <p:cNvPr id="3" name="object 2">
            <a:extLst>
              <a:ext uri="{FF2B5EF4-FFF2-40B4-BE49-F238E27FC236}">
                <a16:creationId xmlns:a16="http://schemas.microsoft.com/office/drawing/2014/main" id="{E4025663-C6BB-C173-C59A-9BA551A1E4BE}"/>
              </a:ext>
            </a:extLst>
          </p:cNvPr>
          <p:cNvSpPr txBox="1">
            <a:spLocks/>
          </p:cNvSpPr>
          <p:nvPr/>
        </p:nvSpPr>
        <p:spPr>
          <a:xfrm>
            <a:off x="304800" y="300680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a:t>
            </a:r>
          </a:p>
          <a:p>
            <a:pPr marL="12700" marR="5080"/>
            <a:r>
              <a:rPr lang="en-US" sz="2400" kern="0" spc="-220" dirty="0">
                <a:solidFill>
                  <a:schemeClr val="accent6"/>
                </a:solidFill>
              </a:rPr>
              <a:t>It can be set only in 2 places – </a:t>
            </a:r>
          </a:p>
          <a:p>
            <a:pPr marL="12700" marR="5080"/>
            <a:r>
              <a:rPr lang="en-US" sz="2400" kern="0" spc="-220" dirty="0">
                <a:solidFill>
                  <a:schemeClr val="accent6"/>
                </a:solidFill>
              </a:rPr>
              <a:t> 1) While declaration at class level for initialization</a:t>
            </a:r>
          </a:p>
          <a:p>
            <a:pPr marL="12700" marR="5080"/>
            <a:r>
              <a:rPr lang="en-US" sz="2400" kern="0" spc="-220" dirty="0">
                <a:solidFill>
                  <a:schemeClr val="accent6"/>
                </a:solidFill>
              </a:rPr>
              <a:t> 2) Within a constructor</a:t>
            </a:r>
          </a:p>
        </p:txBody>
      </p:sp>
    </p:spTree>
    <p:extLst>
      <p:ext uri="{BB962C8B-B14F-4D97-AF65-F5344CB8AC3E}">
        <p14:creationId xmlns:p14="http://schemas.microsoft.com/office/powerpoint/2010/main" val="25814655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2629739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static class doesn’t need to be instantiated &amp; the methods and properties can be accessed via the Class name only</a:t>
            </a:r>
          </a:p>
          <a:p>
            <a:pPr marL="12700" marR="5080"/>
            <a:r>
              <a:rPr lang="en-US" sz="2400" kern="0" spc="-220" dirty="0">
                <a:solidFill>
                  <a:schemeClr val="accent6"/>
                </a:solidFill>
              </a:rPr>
              <a:t> Also, if a static variable is changed at some place then that change gets reflected across all the other places wherever it is used</a:t>
            </a:r>
          </a:p>
          <a:p>
            <a:pPr marL="12700" marR="5080"/>
            <a:endParaRPr lang="en-US" sz="2400" kern="0" spc="-220" dirty="0">
              <a:solidFill>
                <a:schemeClr val="accent6"/>
              </a:solidFill>
            </a:endParaRPr>
          </a:p>
          <a:p>
            <a:pPr marL="12700" marR="5080"/>
            <a:r>
              <a:rPr lang="en-US" sz="2400" kern="0" spc="-220" dirty="0">
                <a:solidFill>
                  <a:schemeClr val="accent6"/>
                </a:solidFill>
              </a:rPr>
              <a:t>But static variables can cause Threading &amp; Memory issues</a:t>
            </a:r>
          </a:p>
          <a:p>
            <a:pPr marL="12700" marR="5080"/>
            <a:endParaRPr lang="en-US" sz="2400" kern="0" spc="-220" dirty="0">
              <a:solidFill>
                <a:schemeClr val="accent6"/>
              </a:solidFill>
            </a:endParaRPr>
          </a:p>
          <a:p>
            <a:pPr marL="12700" marR="5080"/>
            <a:r>
              <a:rPr lang="en-US" sz="2400" kern="0" spc="-220" dirty="0">
                <a:solidFill>
                  <a:schemeClr val="accent6"/>
                </a:solidFill>
              </a:rPr>
              <a:t>Also, What’s the relation between static variables &amp; </a:t>
            </a:r>
            <a:r>
              <a:rPr lang="en-US" sz="2400" kern="0" spc="-220" dirty="0" err="1">
                <a:solidFill>
                  <a:schemeClr val="accent6"/>
                </a:solidFill>
              </a:rPr>
              <a:t>AppDomain</a:t>
            </a:r>
            <a:r>
              <a:rPr lang="en-US" sz="2400" kern="0" spc="-220" dirty="0">
                <a:solidFill>
                  <a:schemeClr val="accent6"/>
                </a:solidFill>
              </a:rPr>
              <a:t> in .NET?</a:t>
            </a:r>
          </a:p>
        </p:txBody>
      </p:sp>
    </p:spTree>
    <p:extLst>
      <p:ext uri="{BB962C8B-B14F-4D97-AF65-F5344CB8AC3E}">
        <p14:creationId xmlns:p14="http://schemas.microsoft.com/office/powerpoint/2010/main" val="3181181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238251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Static variables are per </a:t>
            </a:r>
            <a:r>
              <a:rPr lang="en-US" sz="2400" kern="0" spc="-220" dirty="0" err="1">
                <a:solidFill>
                  <a:schemeClr val="accent6"/>
                </a:solidFill>
              </a:rPr>
              <a:t>AppDomain</a:t>
            </a:r>
            <a:r>
              <a:rPr lang="en-US" sz="2400" kern="0" spc="-220" dirty="0">
                <a:solidFill>
                  <a:schemeClr val="accent6"/>
                </a:solidFill>
              </a:rPr>
              <a:t> in .NET</a:t>
            </a:r>
          </a:p>
          <a:p>
            <a:pPr marL="12700" marR="5080"/>
            <a:endParaRPr lang="en-US" sz="2400" kern="0" spc="-220" dirty="0">
              <a:solidFill>
                <a:schemeClr val="accent6"/>
              </a:solidFill>
            </a:endParaRPr>
          </a:p>
          <a:p>
            <a:pPr marL="12700" marR="5080"/>
            <a:r>
              <a:rPr lang="en-US" sz="2400" kern="0" spc="-220" dirty="0">
                <a:solidFill>
                  <a:schemeClr val="accent6"/>
                </a:solidFill>
              </a:rPr>
              <a:t>But then what’s an </a:t>
            </a:r>
            <a:r>
              <a:rPr lang="en-US" sz="2400" kern="0" spc="-220" dirty="0" err="1">
                <a:solidFill>
                  <a:schemeClr val="accent6"/>
                </a:solidFill>
              </a:rPr>
              <a:t>AppDomain</a:t>
            </a:r>
            <a:r>
              <a:rPr lang="en-US" sz="2400" kern="0" spc="-220" dirty="0">
                <a:solidFill>
                  <a:schemeClr val="accent6"/>
                </a:solidFill>
              </a:rPr>
              <a:t>?</a:t>
            </a:r>
          </a:p>
          <a:p>
            <a:pPr marL="12700" marR="5080"/>
            <a:r>
              <a:rPr lang="en-US" sz="2400" kern="0" spc="-220" dirty="0">
                <a:solidFill>
                  <a:schemeClr val="accent6"/>
                </a:solidFill>
              </a:rPr>
              <a:t>An </a:t>
            </a:r>
            <a:r>
              <a:rPr lang="en-US" sz="2400" kern="0" spc="-220" dirty="0" err="1">
                <a:solidFill>
                  <a:schemeClr val="accent6"/>
                </a:solidFill>
              </a:rPr>
              <a:t>AppDomain</a:t>
            </a:r>
            <a:r>
              <a:rPr lang="en-US" sz="2400" kern="0" spc="-220" dirty="0">
                <a:solidFill>
                  <a:schemeClr val="accent6"/>
                </a:solidFill>
              </a:rPr>
              <a:t> basically provides an isolated region in which code runs inside of a process</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220" dirty="0">
                <a:solidFill>
                  <a:schemeClr val="accent6"/>
                </a:solidFill>
              </a:rPr>
              <a:t>What are the use cases where we might need to create our own </a:t>
            </a:r>
            <a:r>
              <a:rPr lang="en-US" sz="2400" kern="0" spc="-220" dirty="0" err="1">
                <a:solidFill>
                  <a:schemeClr val="accent6"/>
                </a:solidFill>
              </a:rPr>
              <a:t>AppDomain</a:t>
            </a:r>
            <a:r>
              <a:rPr lang="en-US" sz="2400" kern="0" spc="-220" dirty="0">
                <a:solidFill>
                  <a:schemeClr val="accent6"/>
                </a:solidFill>
              </a:rPr>
              <a:t>?</a:t>
            </a:r>
          </a:p>
        </p:txBody>
      </p:sp>
    </p:spTree>
    <p:extLst>
      <p:ext uri="{BB962C8B-B14F-4D97-AF65-F5344CB8AC3E}">
        <p14:creationId xmlns:p14="http://schemas.microsoft.com/office/powerpoint/2010/main" val="39969627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custom </a:t>
            </a:r>
            <a:r>
              <a:rPr lang="en-US" sz="2400" kern="0" spc="-220" dirty="0" err="1">
                <a:solidFill>
                  <a:schemeClr val="accent6"/>
                </a:solidFill>
              </a:rPr>
              <a:t>AppDomain</a:t>
            </a:r>
            <a:r>
              <a:rPr lang="en-US" sz="2400" kern="0" spc="-220" dirty="0">
                <a:solidFill>
                  <a:schemeClr val="accent6"/>
                </a:solidFill>
              </a:rPr>
              <a:t> Use Cases – </a:t>
            </a:r>
          </a:p>
          <a:p>
            <a:pPr marL="469900" marR="5080" indent="-457200">
              <a:buAutoNum type="arabicParenR"/>
            </a:pPr>
            <a:r>
              <a:rPr lang="en-US" sz="2000" kern="0" spc="-220" dirty="0">
                <a:solidFill>
                  <a:schemeClr val="accent6"/>
                </a:solidFill>
              </a:rPr>
              <a:t>Once a </a:t>
            </a:r>
            <a:r>
              <a:rPr lang="en-US" sz="2000" kern="0" spc="-220" dirty="0" err="1">
                <a:solidFill>
                  <a:schemeClr val="accent6"/>
                </a:solidFill>
              </a:rPr>
              <a:t>dll</a:t>
            </a:r>
            <a:r>
              <a:rPr lang="en-US" sz="2000" kern="0" spc="-220" dirty="0">
                <a:solidFill>
                  <a:schemeClr val="accent6"/>
                </a:solidFill>
              </a:rPr>
              <a:t> is loaded in default/main </a:t>
            </a:r>
            <a:r>
              <a:rPr lang="en-US" sz="2000" kern="0" spc="-220" dirty="0" err="1">
                <a:solidFill>
                  <a:schemeClr val="accent6"/>
                </a:solidFill>
              </a:rPr>
              <a:t>AppDomain</a:t>
            </a:r>
            <a:r>
              <a:rPr lang="en-US" sz="2000" kern="0" spc="-220" dirty="0">
                <a:solidFill>
                  <a:schemeClr val="accent6"/>
                </a:solidFill>
              </a:rPr>
              <a:t>, it cannot be unloaded. But if you create your own </a:t>
            </a:r>
            <a:r>
              <a:rPr lang="en-US" sz="2000" kern="0" spc="-220" dirty="0" err="1">
                <a:solidFill>
                  <a:schemeClr val="accent6"/>
                </a:solidFill>
              </a:rPr>
              <a:t>AppDomain</a:t>
            </a:r>
            <a:r>
              <a:rPr lang="en-US" sz="2000" kern="0" spc="-220" dirty="0">
                <a:solidFill>
                  <a:schemeClr val="accent6"/>
                </a:solidFill>
              </a:rPr>
              <a:t> and load a </a:t>
            </a:r>
            <a:r>
              <a:rPr lang="en-US" sz="2000" kern="0" spc="-220" dirty="0" err="1">
                <a:solidFill>
                  <a:schemeClr val="accent6"/>
                </a:solidFill>
              </a:rPr>
              <a:t>dll</a:t>
            </a:r>
            <a:r>
              <a:rPr lang="en-US" sz="2000" kern="0" spc="-220" dirty="0">
                <a:solidFill>
                  <a:schemeClr val="accent6"/>
                </a:solidFill>
              </a:rPr>
              <a:t> in it, you can unload the </a:t>
            </a:r>
            <a:r>
              <a:rPr lang="en-US" sz="2000" kern="0" spc="-220" dirty="0" err="1">
                <a:solidFill>
                  <a:schemeClr val="accent6"/>
                </a:solidFill>
              </a:rPr>
              <a:t>dll</a:t>
            </a:r>
            <a:r>
              <a:rPr lang="en-US" sz="2000" kern="0" spc="-220" dirty="0">
                <a:solidFill>
                  <a:schemeClr val="accent6"/>
                </a:solidFill>
              </a:rPr>
              <a:t> from it if needed.</a:t>
            </a:r>
          </a:p>
          <a:p>
            <a:pPr marL="469900" marR="5080" indent="-457200">
              <a:buAutoNum type="arabicParenR"/>
            </a:pPr>
            <a:endParaRPr lang="en-US" sz="2000" kern="0" spc="-220" dirty="0">
              <a:solidFill>
                <a:schemeClr val="accent6"/>
              </a:solidFill>
            </a:endParaRPr>
          </a:p>
          <a:p>
            <a:pPr marL="469900" marR="5080" indent="-457200">
              <a:buAutoNum type="arabicParenR"/>
            </a:pPr>
            <a:r>
              <a:rPr lang="en-US" sz="2000" kern="0" spc="-220" dirty="0">
                <a:solidFill>
                  <a:schemeClr val="accent6"/>
                </a:solidFill>
              </a:rPr>
              <a:t>Another example – Port Scanner</a:t>
            </a:r>
          </a:p>
          <a:p>
            <a:pPr marL="12700" marR="5080"/>
            <a:r>
              <a:rPr lang="en-US" sz="2000" kern="0" spc="-220" dirty="0">
                <a:solidFill>
                  <a:schemeClr val="accent6"/>
                </a:solidFill>
              </a:rPr>
              <a:t>       Requirement – There are N number of ports and each needs to be scanned in an isolated &amp; secured region/boundary.</a:t>
            </a:r>
          </a:p>
          <a:p>
            <a:pPr marL="12700" marR="5080"/>
            <a:endParaRPr lang="en-US" sz="2000" kern="0" spc="-220" dirty="0">
              <a:solidFill>
                <a:schemeClr val="accent6"/>
              </a:solidFill>
            </a:endParaRPr>
          </a:p>
          <a:p>
            <a:pPr marL="469900" marR="5080" indent="-457200">
              <a:buAutoNum type="arabicParenR" startAt="3"/>
            </a:pPr>
            <a:r>
              <a:rPr lang="en-US" sz="2000" kern="0" spc="-220" dirty="0">
                <a:solidFill>
                  <a:schemeClr val="accent6"/>
                </a:solidFill>
              </a:rPr>
              <a:t>Sandboxed </a:t>
            </a:r>
            <a:r>
              <a:rPr lang="en-US" sz="2000" kern="0" spc="-220" dirty="0" err="1">
                <a:solidFill>
                  <a:schemeClr val="accent6"/>
                </a:solidFill>
              </a:rPr>
              <a:t>AppDomain</a:t>
            </a:r>
            <a:r>
              <a:rPr lang="en-US" sz="2000" kern="0" spc="-220" dirty="0">
                <a:solidFill>
                  <a:schemeClr val="accent6"/>
                </a:solidFill>
              </a:rPr>
              <a:t> for Partially Trusted Code – </a:t>
            </a:r>
          </a:p>
          <a:p>
            <a:pPr marL="12700" marR="5080"/>
            <a:r>
              <a:rPr lang="en-US" sz="2000" kern="0" spc="-220" dirty="0">
                <a:solidFill>
                  <a:schemeClr val="accent6"/>
                </a:solidFill>
              </a:rPr>
              <a:t>     </a:t>
            </a:r>
            <a:r>
              <a:rPr lang="en-US" sz="2000" kern="0" spc="-220" dirty="0">
                <a:solidFill>
                  <a:schemeClr val="accent6"/>
                </a:solidFill>
                <a:hlinkClick r:id="rId7"/>
              </a:rPr>
              <a:t>https://stackoverflow.com/questions/26128893/loading-assembly-in-sandbox-appdomain-securityexception</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4) Loading multiple versions of same </a:t>
            </a:r>
            <a:r>
              <a:rPr lang="en-US" sz="2000" kern="0" spc="-220" dirty="0" err="1">
                <a:solidFill>
                  <a:schemeClr val="accent6"/>
                </a:solidFill>
              </a:rPr>
              <a:t>dll</a:t>
            </a:r>
            <a:r>
              <a:rPr lang="en-US" sz="2000" kern="0" spc="-220" dirty="0">
                <a:solidFill>
                  <a:schemeClr val="accent6"/>
                </a:solidFill>
              </a:rPr>
              <a:t> using multiple </a:t>
            </a:r>
            <a:r>
              <a:rPr lang="en-US" sz="2000" kern="0" spc="-220" dirty="0" err="1">
                <a:solidFill>
                  <a:schemeClr val="accent6"/>
                </a:solidFill>
              </a:rPr>
              <a:t>AppDomains</a:t>
            </a:r>
            <a:endParaRPr lang="en-US" sz="2000" kern="0" spc="-220" dirty="0">
              <a:solidFill>
                <a:schemeClr val="accent6"/>
              </a:solidFill>
            </a:endParaRPr>
          </a:p>
          <a:p>
            <a:pPr marL="469900" marR="5080" indent="-457200">
              <a:buAutoNum type="arabicParenR" startAt="3"/>
            </a:pPr>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3264093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242141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usage – </a:t>
            </a:r>
          </a:p>
          <a:p>
            <a:pPr marL="12700" marR="5080"/>
            <a:r>
              <a:rPr lang="en-US" sz="2400" kern="0" spc="-220" dirty="0">
                <a:solidFill>
                  <a:schemeClr val="accent6"/>
                </a:solidFill>
              </a:rPr>
              <a:t>To initialize something at the start-up of an application relevant to that class.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8737292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4895626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165622"/>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Private constructor – </a:t>
            </a:r>
          </a:p>
          <a:p>
            <a:pPr marL="12700" marR="5080"/>
            <a:r>
              <a:rPr lang="en-US" sz="2400" kern="0" spc="-220" dirty="0">
                <a:solidFill>
                  <a:schemeClr val="accent6"/>
                </a:solidFill>
              </a:rPr>
              <a:t>used when you don’t want to allow the user of the class to create the instance</a:t>
            </a:r>
          </a:p>
          <a:p>
            <a:pPr marL="12700" marR="5080"/>
            <a:r>
              <a:rPr lang="en-US" sz="2400" kern="0" spc="-220" dirty="0">
                <a:solidFill>
                  <a:schemeClr val="accent6"/>
                </a:solidFill>
              </a:rPr>
              <a:t>But then </a:t>
            </a:r>
            <a:r>
              <a:rPr lang="en-US" sz="2400" kern="0" spc="-220">
                <a:solidFill>
                  <a:schemeClr val="accent6"/>
                </a:solidFill>
              </a:rPr>
              <a:t>how to </a:t>
            </a:r>
            <a:r>
              <a:rPr lang="en-US" sz="2400" kern="0" spc="-220" dirty="0">
                <a:solidFill>
                  <a:schemeClr val="accent6"/>
                </a:solidFill>
              </a:rPr>
              <a:t>get an instance of the class from outside the class?</a:t>
            </a:r>
          </a:p>
          <a:p>
            <a:pPr marL="12700" marR="5080"/>
            <a:r>
              <a:rPr lang="en-US" sz="2400" kern="0" spc="-220" dirty="0">
                <a:solidFill>
                  <a:schemeClr val="accent6"/>
                </a:solidFill>
              </a:rPr>
              <a:t>Create the instance within the same class and get the instance using some static property or method</a:t>
            </a:r>
          </a:p>
          <a:p>
            <a:pPr marL="12700" marR="5080"/>
            <a:r>
              <a:rPr lang="en-US" sz="2400" kern="0" spc="-220" dirty="0">
                <a:solidFill>
                  <a:schemeClr val="accent6"/>
                </a:solidFill>
              </a:rPr>
              <a:t>Example</a:t>
            </a:r>
          </a:p>
          <a:p>
            <a:pPr marL="12700" marR="5080"/>
            <a:r>
              <a:rPr lang="en-US" sz="2400" kern="0" spc="-220" dirty="0">
                <a:solidFill>
                  <a:schemeClr val="accent6"/>
                </a:solidFill>
              </a:rPr>
              <a:t> public class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private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public static </a:t>
            </a:r>
            <a:r>
              <a:rPr lang="en-US" sz="2400" kern="0" spc="-220" dirty="0" err="1">
                <a:solidFill>
                  <a:schemeClr val="accent6"/>
                </a:solidFill>
              </a:rPr>
              <a:t>SomeClass</a:t>
            </a:r>
            <a:r>
              <a:rPr lang="en-US" sz="2400" kern="0" spc="-220" dirty="0">
                <a:solidFill>
                  <a:schemeClr val="accent6"/>
                </a:solidFill>
              </a:rPr>
              <a:t> </a:t>
            </a:r>
            <a:r>
              <a:rPr lang="en-US" sz="2400" kern="0" spc="-220" dirty="0" err="1">
                <a:solidFill>
                  <a:schemeClr val="accent6"/>
                </a:solidFill>
              </a:rPr>
              <a:t>GetSomeClassInstance</a:t>
            </a:r>
            <a:r>
              <a:rPr lang="en-US" sz="2400" kern="0" spc="-220" dirty="0">
                <a:solidFill>
                  <a:schemeClr val="accent6"/>
                </a:solidFill>
              </a:rPr>
              <a:t>(){</a:t>
            </a:r>
          </a:p>
          <a:p>
            <a:pPr marL="12700" marR="5080"/>
            <a:r>
              <a:rPr lang="en-US" sz="2400" kern="0" spc="-220" dirty="0">
                <a:solidFill>
                  <a:schemeClr val="accent6"/>
                </a:solidFill>
              </a:rPr>
              <a:t>       return new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0876559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1203308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242536"/>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Usage is in Nested Classes</a:t>
            </a:r>
          </a:p>
          <a:p>
            <a:pPr marL="12700" marR="5080"/>
            <a:r>
              <a:rPr lang="en-US" sz="2400" kern="0" spc="-220" dirty="0">
                <a:solidFill>
                  <a:schemeClr val="accent6"/>
                </a:solidFill>
              </a:rPr>
              <a:t>Example – </a:t>
            </a:r>
          </a:p>
          <a:p>
            <a:pPr marL="12700" marR="5080"/>
            <a:r>
              <a:rPr lang="en-US" sz="2400" kern="0" spc="-220" dirty="0">
                <a:solidFill>
                  <a:schemeClr val="accent6"/>
                </a:solidFill>
              </a:rPr>
              <a:t>public class </a:t>
            </a:r>
            <a:r>
              <a:rPr lang="en-US" sz="2400" kern="0" spc="-220" dirty="0" err="1">
                <a:solidFill>
                  <a:schemeClr val="accent6"/>
                </a:solidFill>
              </a:rPr>
              <a:t>OuterClass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OuterClass</a:t>
            </a:r>
            <a:r>
              <a:rPr lang="en-US" sz="2400" kern="0" spc="-220" dirty="0">
                <a:solidFill>
                  <a:schemeClr val="accent6"/>
                </a:solidFill>
              </a:rPr>
              <a:t>(){</a:t>
            </a:r>
          </a:p>
          <a:p>
            <a:pPr marL="12700" marR="5080"/>
            <a:r>
              <a:rPr lang="en-US" sz="2400" kern="0" spc="-220" dirty="0">
                <a:solidFill>
                  <a:schemeClr val="accent6"/>
                </a:solidFill>
              </a:rPr>
              <a:t>      </a:t>
            </a:r>
            <a:r>
              <a:rPr lang="en-US" sz="2400" kern="0" spc="-220" dirty="0" err="1">
                <a:solidFill>
                  <a:schemeClr val="accent6"/>
                </a:solidFill>
              </a:rPr>
              <a:t>InnerClass</a:t>
            </a:r>
            <a:r>
              <a:rPr lang="en-US" sz="2400" kern="0" spc="-220" dirty="0">
                <a:solidFill>
                  <a:schemeClr val="accent6"/>
                </a:solidFill>
              </a:rPr>
              <a:t> </a:t>
            </a:r>
            <a:r>
              <a:rPr lang="en-US" sz="2400" kern="0" spc="-220" dirty="0" err="1">
                <a:solidFill>
                  <a:schemeClr val="accent6"/>
                </a:solidFill>
              </a:rPr>
              <a:t>ic</a:t>
            </a:r>
            <a:r>
              <a:rPr lang="en-US" sz="2400" kern="0" spc="-220" dirty="0">
                <a:solidFill>
                  <a:schemeClr val="accent6"/>
                </a:solidFill>
              </a:rPr>
              <a:t> = new </a:t>
            </a:r>
            <a:r>
              <a:rPr lang="en-US" sz="2400" kern="0" spc="-220" dirty="0" err="1">
                <a:solidFill>
                  <a:schemeClr val="accent6"/>
                </a:solidFill>
              </a:rPr>
              <a:t>InnerClass</a:t>
            </a:r>
            <a:r>
              <a:rPr lang="en-US" sz="2400" kern="0" spc="-220" dirty="0">
                <a:solidFill>
                  <a:schemeClr val="accent6"/>
                </a:solidFill>
              </a:rPr>
              <a:t>{Name=“</a:t>
            </a:r>
            <a:r>
              <a:rPr lang="en-US" sz="2400" kern="0" spc="-220" dirty="0" err="1">
                <a:solidFill>
                  <a:schemeClr val="accent6"/>
                </a:solidFill>
              </a:rPr>
              <a:t>abc</a:t>
            </a:r>
            <a:r>
              <a:rPr lang="en-US" sz="2400" kern="0" spc="-220" dirty="0">
                <a:solidFill>
                  <a:schemeClr val="accent6"/>
                </a:solidFill>
              </a:rPr>
              <a:t>”, Email=“x@y.com”};</a:t>
            </a:r>
          </a:p>
          <a:p>
            <a:pPr marL="12700" marR="5080"/>
            <a:r>
              <a:rPr lang="en-US" sz="2400" kern="0" spc="-220" dirty="0">
                <a:solidFill>
                  <a:schemeClr val="accent6"/>
                </a:solidFill>
              </a:rPr>
              <a:t>   }</a:t>
            </a:r>
          </a:p>
          <a:p>
            <a:pPr marL="12700" marR="5080"/>
            <a:r>
              <a:rPr lang="en-US" sz="2400" kern="0" spc="-220" dirty="0">
                <a:solidFill>
                  <a:schemeClr val="accent6"/>
                </a:solidFill>
              </a:rPr>
              <a:t>   private class </a:t>
            </a:r>
            <a:r>
              <a:rPr lang="en-US" sz="2400" kern="0" spc="-220" dirty="0" err="1">
                <a:solidFill>
                  <a:schemeClr val="accent6"/>
                </a:solidFill>
              </a:rPr>
              <a:t>InnerClass</a:t>
            </a:r>
            <a:r>
              <a:rPr lang="en-US" sz="2400" kern="0" spc="-220" dirty="0">
                <a:solidFill>
                  <a:schemeClr val="accent6"/>
                </a:solidFill>
              </a:rPr>
              <a:t>{</a:t>
            </a:r>
          </a:p>
          <a:p>
            <a:pPr marL="12700" marR="5080"/>
            <a:r>
              <a:rPr lang="en-US" sz="2400" kern="0" spc="-220" dirty="0">
                <a:solidFill>
                  <a:schemeClr val="accent6"/>
                </a:solidFill>
              </a:rPr>
              <a:t>       public string Name{</a:t>
            </a:r>
            <a:r>
              <a:rPr lang="en-US" sz="2400" kern="0" spc="-220" dirty="0" err="1">
                <a:solidFill>
                  <a:schemeClr val="accent6"/>
                </a:solidFill>
              </a:rPr>
              <a:t>get;set</a:t>
            </a:r>
            <a:r>
              <a:rPr lang="en-US" sz="2400" kern="0" spc="-220" dirty="0">
                <a:solidFill>
                  <a:schemeClr val="accent6"/>
                </a:solidFill>
              </a:rPr>
              <a:t>;}</a:t>
            </a:r>
          </a:p>
          <a:p>
            <a:pPr marL="12700" marR="5080"/>
            <a:r>
              <a:rPr lang="en-US" sz="2400" kern="0" spc="-220" dirty="0">
                <a:solidFill>
                  <a:schemeClr val="accent6"/>
                </a:solidFill>
              </a:rPr>
              <a:t>        public string Email{</a:t>
            </a:r>
            <a:r>
              <a:rPr lang="en-US" sz="2400" kern="0" spc="-220" dirty="0" err="1">
                <a:solidFill>
                  <a:schemeClr val="accent6"/>
                </a:solidFill>
              </a:rPr>
              <a:t>get;set</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r>
              <a:rPr lang="en-US" sz="2400" kern="0" spc="-220" dirty="0">
                <a:solidFill>
                  <a:schemeClr val="accent6"/>
                </a:solidFill>
              </a:rPr>
              <a:t>But after introduction of Tuples in .NET, Tuples are more cleaner way to handle such stuffs instead of private class</a:t>
            </a:r>
          </a:p>
        </p:txBody>
      </p:sp>
    </p:spTree>
    <p:extLst>
      <p:ext uri="{BB962C8B-B14F-4D97-AF65-F5344CB8AC3E}">
        <p14:creationId xmlns:p14="http://schemas.microsoft.com/office/powerpoint/2010/main" val="1339851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8916406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 name="Picture 7">
            <a:extLst>
              <a:ext uri="{FF2B5EF4-FFF2-40B4-BE49-F238E27FC236}">
                <a16:creationId xmlns:a16="http://schemas.microsoft.com/office/drawing/2014/main" id="{D8BAEA26-342C-8386-3315-488219393DE3}"/>
              </a:ext>
            </a:extLst>
          </p:cNvPr>
          <p:cNvPicPr>
            <a:picLocks noChangeAspect="1"/>
          </p:cNvPicPr>
          <p:nvPr/>
        </p:nvPicPr>
        <p:blipFill>
          <a:blip r:embed="rId7"/>
          <a:stretch>
            <a:fillRect/>
          </a:stretch>
        </p:blipFill>
        <p:spPr>
          <a:xfrm>
            <a:off x="0" y="1143000"/>
            <a:ext cx="8991600" cy="4757738"/>
          </a:xfrm>
          <a:prstGeom prst="rect">
            <a:avLst/>
          </a:prstGeom>
        </p:spPr>
      </p:pic>
    </p:spTree>
    <p:extLst>
      <p:ext uri="{BB962C8B-B14F-4D97-AF65-F5344CB8AC3E}">
        <p14:creationId xmlns:p14="http://schemas.microsoft.com/office/powerpoint/2010/main" val="26593807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Design Goals – </a:t>
            </a:r>
          </a:p>
          <a:p>
            <a:pPr marL="12700" marR="5080"/>
            <a:r>
              <a:rPr lang="en-US" sz="2000" kern="0" spc="-220" dirty="0">
                <a:solidFill>
                  <a:schemeClr val="accent6"/>
                </a:solidFill>
              </a:rPr>
              <a:t> Interface – Has-A relationship</a:t>
            </a:r>
          </a:p>
          <a:p>
            <a:pPr marL="12700" marR="5080"/>
            <a:r>
              <a:rPr lang="en-US" sz="2000" kern="0" spc="-220" dirty="0">
                <a:solidFill>
                  <a:schemeClr val="accent6"/>
                </a:solidFill>
              </a:rPr>
              <a:t> Abstract Class – Is-A relationship</a:t>
            </a:r>
          </a:p>
          <a:p>
            <a:pPr marL="12700" marR="5080"/>
            <a:endParaRPr lang="en-US" sz="2000" kern="0" spc="-220" dirty="0">
              <a:solidFill>
                <a:schemeClr val="accent6"/>
              </a:solidFill>
            </a:endParaRPr>
          </a:p>
          <a:p>
            <a:pPr marL="12700" marR="5080"/>
            <a:r>
              <a:rPr lang="en-US" sz="2000" kern="0" spc="-220" dirty="0">
                <a:solidFill>
                  <a:schemeClr val="accent6"/>
                </a:solidFill>
              </a:rPr>
              <a:t>If you envision that there can be multiple base abstractions, start with an interface &amp; then have the base abstractions as Abstract Classes &amp; the concrete classes inherit and override the base Abstract class(es) methods.</a:t>
            </a:r>
          </a:p>
          <a:p>
            <a:pPr marL="12700" marR="5080"/>
            <a:endParaRPr lang="en-US" sz="2400" kern="0" spc="-220" dirty="0">
              <a:solidFill>
                <a:schemeClr val="accent6"/>
              </a:solidFill>
            </a:endParaRPr>
          </a:p>
          <a:p>
            <a:pPr marL="12700" marR="5080"/>
            <a:r>
              <a:rPr lang="en-US" sz="2000" kern="0" spc="-220" dirty="0">
                <a:solidFill>
                  <a:schemeClr val="accent6"/>
                </a:solidFill>
              </a:rPr>
              <a:t>Also google for implementing an interface implicitly/explicitly in .NET.</a:t>
            </a:r>
          </a:p>
          <a:p>
            <a:pPr marL="12700" marR="5080"/>
            <a:endParaRPr lang="en-US" sz="2400" kern="0" spc="-220" dirty="0">
              <a:solidFill>
                <a:schemeClr val="accent6"/>
              </a:solidFill>
            </a:endParaRPr>
          </a:p>
          <a:p>
            <a:pPr marL="12700" marR="5080"/>
            <a:r>
              <a:rPr lang="en-US" sz="2000" kern="0" spc="-220" dirty="0">
                <a:solidFill>
                  <a:schemeClr val="accent6"/>
                </a:solidFill>
              </a:rPr>
              <a:t>A practical Example – </a:t>
            </a:r>
          </a:p>
          <a:p>
            <a:pPr marL="12700" marR="5080"/>
            <a:r>
              <a:rPr lang="en-US" sz="2400" kern="0" spc="-220" dirty="0">
                <a:solidFill>
                  <a:schemeClr val="accent6"/>
                </a:solidFill>
              </a:rPr>
              <a:t> </a:t>
            </a:r>
            <a:r>
              <a:rPr lang="en-US" sz="2000" kern="0" spc="-220" dirty="0">
                <a:solidFill>
                  <a:schemeClr val="accent6"/>
                </a:solidFill>
                <a:hlinkClick r:id="rId7"/>
              </a:rPr>
              <a:t>https://github.com/sandipray63in/DDD-Based-Enterprise-Application-Framework/blob/master/Repository/UnitOfWork/IUnitOfWork.cs</a:t>
            </a:r>
            <a:r>
              <a:rPr lang="en-US" sz="20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5731081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5540101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17851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Generics came into being – </a:t>
            </a:r>
          </a:p>
          <a:p>
            <a:pPr marL="469900" marR="5080" indent="-457200">
              <a:buAutoNum type="arabicParenR"/>
            </a:pPr>
            <a:r>
              <a:rPr lang="en-US" sz="2400" kern="0" spc="-220" dirty="0">
                <a:solidFill>
                  <a:schemeClr val="accent6"/>
                </a:solidFill>
              </a:rPr>
              <a:t>To solve boxing/unboxing performance issue</a:t>
            </a:r>
          </a:p>
          <a:p>
            <a:pPr marL="469900" marR="5080" indent="-457200">
              <a:buAutoNum type="arabicParenR"/>
            </a:pPr>
            <a:r>
              <a:rPr lang="en-US" sz="2400" kern="0" spc="-220" dirty="0">
                <a:solidFill>
                  <a:schemeClr val="accent6"/>
                </a:solidFill>
              </a:rPr>
              <a:t>To support multiple types for the same class or interface</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
        <p:nvSpPr>
          <p:cNvPr id="3" name="object 2">
            <a:extLst>
              <a:ext uri="{FF2B5EF4-FFF2-40B4-BE49-F238E27FC236}">
                <a16:creationId xmlns:a16="http://schemas.microsoft.com/office/drawing/2014/main" id="{A8A8BD0F-E80D-E884-9FB2-EB29ED8D7B26}"/>
              </a:ext>
            </a:extLst>
          </p:cNvPr>
          <p:cNvSpPr txBox="1">
            <a:spLocks/>
          </p:cNvSpPr>
          <p:nvPr/>
        </p:nvSpPr>
        <p:spPr>
          <a:xfrm>
            <a:off x="304800" y="3367207"/>
            <a:ext cx="8624937"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https://github.com/sandipray63in/DDD-Based-Enterprise-Application-Framework/blob/master/Repository/Base/BaseUnitOfWorkRepository.cs</a:t>
            </a:r>
            <a:r>
              <a:rPr lang="en-US" sz="2000" kern="0" spc="-220" dirty="0">
                <a:solidFill>
                  <a:schemeClr val="accent6"/>
                </a:solidFill>
              </a:rPr>
              <a:t> </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1046466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8209573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 Function pointers are not type-safe but C# Delegates are </a:t>
            </a:r>
            <a:r>
              <a:rPr lang="en-US" sz="2800" kern="0" spc="-220" dirty="0">
                <a:solidFill>
                  <a:schemeClr val="accent6"/>
                </a:solidFill>
              </a:rPr>
              <a:t>type safe</a:t>
            </a:r>
            <a:r>
              <a:rPr lang="en-US" sz="2400" kern="0" spc="-220" dirty="0">
                <a:solidFill>
                  <a:schemeClr val="accent6"/>
                </a:solidFill>
              </a:rPr>
              <a:t> function pointers</a:t>
            </a:r>
          </a:p>
          <a:p>
            <a:pPr marL="12700" marR="5080"/>
            <a:endParaRPr lang="en-US" sz="2400" kern="0" spc="-220" dirty="0">
              <a:solidFill>
                <a:schemeClr val="accent6"/>
              </a:solidFill>
            </a:endParaRPr>
          </a:p>
          <a:p>
            <a:pPr marL="12700" marR="5080"/>
            <a:r>
              <a:rPr lang="en-US" sz="2400" kern="0" spc="-220" dirty="0">
                <a:solidFill>
                  <a:schemeClr val="accent6"/>
                </a:solidFill>
              </a:rPr>
              <a:t>Multicast Delegates &amp; Events Example – </a:t>
            </a:r>
          </a:p>
          <a:p>
            <a:pPr marL="12700" marR="5080"/>
            <a:r>
              <a:rPr lang="en-IN" sz="1400" b="0" i="0" dirty="0">
                <a:solidFill>
                  <a:srgbClr val="333333"/>
                </a:solidFill>
                <a:effectLst/>
                <a:latin typeface="Monaco"/>
              </a:rPr>
              <a:t>public delegate int </a:t>
            </a:r>
            <a:r>
              <a:rPr lang="en-IN" sz="1400" b="0" i="0" dirty="0" err="1">
                <a:solidFill>
                  <a:srgbClr val="333333"/>
                </a:solidFill>
                <a:effectLst/>
                <a:latin typeface="Monaco"/>
              </a:rPr>
              <a:t>MyNewEventType</a:t>
            </a:r>
            <a:r>
              <a:rPr lang="en-IN" sz="1400" b="0" i="0" dirty="0">
                <a:solidFill>
                  <a:srgbClr val="333333"/>
                </a:solidFill>
                <a:effectLst/>
                <a:latin typeface="Monaco"/>
              </a:rPr>
              <a:t>(string param);</a:t>
            </a:r>
          </a:p>
          <a:p>
            <a:pPr marL="12700" marR="5080"/>
            <a:r>
              <a:rPr lang="en-IN" sz="1400" b="0" i="0" dirty="0">
                <a:solidFill>
                  <a:srgbClr val="333333"/>
                </a:solidFill>
                <a:effectLst/>
                <a:latin typeface="Monaco"/>
              </a:rPr>
              <a:t>public event </a:t>
            </a:r>
            <a:r>
              <a:rPr lang="en-IN" sz="1400" b="0" i="0" dirty="0" err="1">
                <a:solidFill>
                  <a:srgbClr val="333333"/>
                </a:solidFill>
                <a:effectLst/>
                <a:latin typeface="Monaco"/>
              </a:rPr>
              <a:t>MyNewEventType</a:t>
            </a:r>
            <a:r>
              <a:rPr lang="en-IN" sz="1400" b="0" i="0" dirty="0">
                <a:solidFill>
                  <a:srgbClr val="333333"/>
                </a:solidFill>
                <a:effectLst/>
                <a:latin typeface="Monaco"/>
              </a:rPr>
              <a:t> </a:t>
            </a:r>
            <a:r>
              <a:rPr lang="en-IN" sz="1400" b="0" i="0" dirty="0" err="1">
                <a:solidFill>
                  <a:srgbClr val="333333"/>
                </a:solidFill>
                <a:effectLst/>
                <a:latin typeface="Monaco"/>
              </a:rPr>
              <a:t>MyNewEvent</a:t>
            </a:r>
            <a:r>
              <a:rPr lang="en-IN" sz="1400" b="0" i="0" dirty="0">
                <a:solidFill>
                  <a:srgbClr val="333333"/>
                </a:solidFill>
                <a:effectLst/>
                <a:latin typeface="Monaco"/>
              </a:rPr>
              <a:t>;</a:t>
            </a:r>
            <a:endParaRPr lang="en-IN" sz="1400" b="0" dirty="0">
              <a:solidFill>
                <a:srgbClr val="333333"/>
              </a:solidFill>
              <a:latin typeface="Monaco"/>
            </a:endParaRPr>
          </a:p>
          <a:p>
            <a:pPr marL="12700" marR="5080"/>
            <a:endParaRPr lang="en-IN" sz="1000" b="0" i="0" dirty="0">
              <a:solidFill>
                <a:srgbClr val="333333"/>
              </a:solidFill>
              <a:effectLst/>
              <a:latin typeface="Monaco"/>
            </a:endParaRPr>
          </a:p>
          <a:p>
            <a:pPr marL="12700" marR="5080"/>
            <a:r>
              <a:rPr lang="en-IN" sz="1000" b="0" i="0" dirty="0" err="1">
                <a:solidFill>
                  <a:srgbClr val="333333"/>
                </a:solidFill>
                <a:effectLst/>
                <a:latin typeface="Monaco"/>
              </a:rPr>
              <a:t>MyNewEvent</a:t>
            </a:r>
            <a:r>
              <a:rPr lang="en-IN" sz="1000" b="0" i="0" dirty="0">
                <a:solidFill>
                  <a:srgbClr val="333333"/>
                </a:solidFill>
                <a:effectLst/>
                <a:latin typeface="Monaco"/>
              </a:rPr>
              <a:t> += (string param) =&gt;</a:t>
            </a:r>
            <a:br>
              <a:rPr lang="en-IN" sz="1000" dirty="0"/>
            </a:br>
            <a:r>
              <a:rPr lang="en-IN" sz="1000" b="0" i="0" dirty="0">
                <a:solidFill>
                  <a:srgbClr val="333333"/>
                </a:solidFill>
                <a:effectLst/>
                <a:latin typeface="Monaco"/>
              </a:rPr>
              <a:t>{</a:t>
            </a:r>
            <a:br>
              <a:rPr lang="en-IN" sz="1000" dirty="0"/>
            </a:br>
            <a:r>
              <a:rPr lang="en-IN" sz="1000" b="0" i="0" dirty="0">
                <a:solidFill>
                  <a:srgbClr val="333333"/>
                </a:solidFill>
                <a:effectLst/>
                <a:latin typeface="Monaco"/>
              </a:rPr>
              <a:t> </a:t>
            </a:r>
            <a:r>
              <a:rPr lang="en-IN" sz="1000" b="0" i="0" dirty="0" err="1">
                <a:solidFill>
                  <a:srgbClr val="333333"/>
                </a:solidFill>
                <a:effectLst/>
                <a:latin typeface="Monaco"/>
              </a:rPr>
              <a:t>MessageBox.Show</a:t>
            </a:r>
            <a:r>
              <a:rPr lang="en-IN" sz="1000" b="0" i="0" dirty="0">
                <a:solidFill>
                  <a:srgbClr val="333333"/>
                </a:solidFill>
                <a:effectLst/>
                <a:latin typeface="Monaco"/>
              </a:rPr>
              <a:t>("Goodbye " + param);</a:t>
            </a:r>
            <a:br>
              <a:rPr lang="en-IN" sz="1000" dirty="0"/>
            </a:br>
            <a:r>
              <a:rPr lang="en-IN" sz="1000" b="0" i="0" dirty="0">
                <a:solidFill>
                  <a:srgbClr val="333333"/>
                </a:solidFill>
                <a:effectLst/>
                <a:latin typeface="Monaco"/>
              </a:rPr>
              <a:t> return 2;</a:t>
            </a:r>
            <a:br>
              <a:rPr lang="en-IN" sz="1000" dirty="0"/>
            </a:br>
            <a:r>
              <a:rPr lang="en-IN" sz="1000" b="0" i="0" dirty="0">
                <a:solidFill>
                  <a:srgbClr val="333333"/>
                </a:solidFill>
                <a:effectLst/>
                <a:latin typeface="Monaco"/>
              </a:rPr>
              <a:t>}</a:t>
            </a:r>
          </a:p>
          <a:p>
            <a:pPr marL="12700" marR="5080"/>
            <a:endParaRPr lang="en-IN" sz="1000" b="0" kern="0" spc="-220" dirty="0">
              <a:solidFill>
                <a:srgbClr val="333333"/>
              </a:solidFill>
              <a:latin typeface="Monaco"/>
            </a:endParaRPr>
          </a:p>
          <a:p>
            <a:pPr marL="12700" marR="5080"/>
            <a:r>
              <a:rPr lang="en-US" sz="2400" kern="0" spc="-220" dirty="0">
                <a:solidFill>
                  <a:schemeClr val="accent6"/>
                </a:solidFill>
              </a:rPr>
              <a:t>But Why does Multicast Delegates have “+=” or “-=” operations and not “=” operation?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6350702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1663148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206817"/>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Binary – </a:t>
            </a:r>
          </a:p>
          <a:p>
            <a:pPr marL="12700" marR="5080"/>
            <a:r>
              <a:rPr lang="en-US" sz="2000" kern="0" spc="-220" dirty="0">
                <a:solidFill>
                  <a:schemeClr val="accent6"/>
                </a:solidFill>
              </a:rPr>
              <a:t>Recommended for same language (e.g. .NET &lt;-&gt; .NET ) interoperability, being the fastest serialization technique for communication between same languages projects</a:t>
            </a:r>
          </a:p>
          <a:p>
            <a:pPr marL="12700" marR="5080"/>
            <a:endParaRPr lang="en-US" sz="2400" kern="0" spc="-220" dirty="0">
              <a:solidFill>
                <a:schemeClr val="accent6"/>
              </a:solidFill>
            </a:endParaRPr>
          </a:p>
          <a:p>
            <a:pPr marL="12700" marR="5080"/>
            <a:r>
              <a:rPr lang="en-US" sz="2400" kern="0" spc="-220" dirty="0">
                <a:solidFill>
                  <a:schemeClr val="accent6"/>
                </a:solidFill>
              </a:rPr>
              <a:t>Json &amp; XML –</a:t>
            </a:r>
          </a:p>
          <a:p>
            <a:pPr marL="12700" marR="5080"/>
            <a:r>
              <a:rPr lang="en-US" sz="2000" kern="0" spc="-220" dirty="0">
                <a:solidFill>
                  <a:schemeClr val="accent6"/>
                </a:solidFill>
              </a:rPr>
              <a:t>Recommended for cross language interoperability(e.g. .NET &lt;-&gt; Java).Nowadays Json is the default serialization technique for cross language interoperability but some legacy apps use xml for the same.</a:t>
            </a:r>
          </a:p>
          <a:p>
            <a:pPr marL="12700" marR="5080"/>
            <a:endParaRPr lang="en-US" sz="2400" kern="0" spc="-220" dirty="0">
              <a:solidFill>
                <a:schemeClr val="accent6"/>
              </a:solidFill>
            </a:endParaRPr>
          </a:p>
          <a:p>
            <a:pPr marL="12700" marR="5080"/>
            <a:r>
              <a:rPr lang="en-US" sz="2400" kern="0" spc="-220" dirty="0">
                <a:solidFill>
                  <a:schemeClr val="accent6"/>
                </a:solidFill>
              </a:rPr>
              <a:t>Custom – </a:t>
            </a:r>
          </a:p>
          <a:p>
            <a:pPr marL="12700" marR="5080"/>
            <a:r>
              <a:rPr lang="en-US" sz="2000" kern="0" spc="-220" dirty="0">
                <a:solidFill>
                  <a:schemeClr val="accent6"/>
                </a:solidFill>
              </a:rPr>
              <a:t>Need to implement </a:t>
            </a:r>
            <a:r>
              <a:rPr lang="en-US" sz="2000" kern="0" spc="-220" dirty="0" err="1">
                <a:solidFill>
                  <a:schemeClr val="accent6"/>
                </a:solidFill>
              </a:rPr>
              <a:t>ISerializable</a:t>
            </a:r>
            <a:r>
              <a:rPr lang="en-US" sz="2000" kern="0" spc="-220" dirty="0">
                <a:solidFill>
                  <a:schemeClr val="accent6"/>
                </a:solidFill>
              </a:rPr>
              <a:t> interface</a:t>
            </a:r>
          </a:p>
          <a:p>
            <a:pPr marL="12700" marR="5080"/>
            <a:r>
              <a:rPr lang="en-US" sz="2000" kern="0" spc="-220" dirty="0">
                <a:solidFill>
                  <a:schemeClr val="accent6"/>
                </a:solidFill>
              </a:rPr>
              <a:t>Some legacy apps have custom Serialization </a:t>
            </a:r>
            <a:r>
              <a:rPr lang="en-US" sz="2000" kern="0" spc="-220" dirty="0" err="1">
                <a:solidFill>
                  <a:schemeClr val="accent6"/>
                </a:solidFill>
              </a:rPr>
              <a:t>implemernted</a:t>
            </a:r>
            <a:endParaRPr lang="en-US" sz="2000" kern="0" spc="-220" dirty="0">
              <a:solidFill>
                <a:schemeClr val="accent6"/>
              </a:solidFill>
            </a:endParaRP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42585010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379038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7FEE698-3D7B-F6C1-0F11-4ECC3AE41F8E}"/>
              </a:ext>
            </a:extLst>
          </p:cNvPr>
          <p:cNvSpPr txBox="1">
            <a:spLocks/>
          </p:cNvSpPr>
          <p:nvPr/>
        </p:nvSpPr>
        <p:spPr>
          <a:xfrm>
            <a:off x="275300" y="1371600"/>
            <a:ext cx="8624937" cy="38779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not-so-common Serialization Applications– </a:t>
            </a:r>
          </a:p>
          <a:p>
            <a:pPr marL="12700" marR="5080"/>
            <a:endParaRPr lang="en-US" sz="2400" kern="0" spc="-220" dirty="0">
              <a:solidFill>
                <a:schemeClr val="accent6"/>
              </a:solidFill>
            </a:endParaRPr>
          </a:p>
          <a:p>
            <a:pPr marL="12700" marR="5080"/>
            <a:r>
              <a:rPr lang="en-US" sz="2000" kern="0" spc="-220" dirty="0">
                <a:solidFill>
                  <a:schemeClr val="accent6"/>
                </a:solidFill>
              </a:rPr>
              <a:t>Cloning(/Prototype Pattern) – </a:t>
            </a:r>
          </a:p>
          <a:p>
            <a:pPr marL="12700" marR="5080"/>
            <a:r>
              <a:rPr lang="en-US" sz="2000" kern="0" spc="-220" dirty="0">
                <a:solidFill>
                  <a:schemeClr val="accent6"/>
                </a:solidFill>
                <a:hlinkClick r:id="rId7"/>
              </a:rPr>
              <a:t>https://stackoverflow.com/questions/129389/how-do-you-do-a-deep-copy-of-an-object-in-net</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Comparing Deeply Nested Objects Values</a:t>
            </a:r>
          </a:p>
          <a:p>
            <a:pPr marL="12700" marR="5080"/>
            <a:r>
              <a:rPr lang="en-US" sz="2400" kern="0" spc="-220" dirty="0">
                <a:solidFill>
                  <a:schemeClr val="accent6"/>
                </a:solidFill>
              </a:rPr>
              <a:t>   </a:t>
            </a:r>
            <a:r>
              <a:rPr lang="en-US" sz="2000" kern="0" spc="-220" dirty="0">
                <a:solidFill>
                  <a:schemeClr val="accent6"/>
                </a:solidFill>
              </a:rPr>
              <a:t>This is only for detecting if there is some difference and not for finding the actual property values which have the difference. For that, use the Visitor Pattern instead. </a:t>
            </a:r>
          </a:p>
          <a:p>
            <a:pPr marL="12700" marR="5080"/>
            <a:r>
              <a:rPr lang="en-US" sz="2000" kern="0" spc="-220" dirty="0">
                <a:solidFill>
                  <a:schemeClr val="accent6"/>
                </a:solidFill>
              </a:rPr>
              <a:t>  By the way, Hashing also can be used to compare 2 objects to detect they are exactly similar or not but probably will have to build a custom hash to compare deeply nested objects.</a:t>
            </a:r>
          </a:p>
        </p:txBody>
      </p:sp>
    </p:spTree>
    <p:extLst>
      <p:ext uri="{BB962C8B-B14F-4D97-AF65-F5344CB8AC3E}">
        <p14:creationId xmlns:p14="http://schemas.microsoft.com/office/powerpoint/2010/main" val="38421064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7530372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0C3A1F-D7CC-F55E-462A-E53542084EEE}"/>
              </a:ext>
            </a:extLst>
          </p:cNvPr>
          <p:cNvSpPr txBox="1">
            <a:spLocks/>
          </p:cNvSpPr>
          <p:nvPr/>
        </p:nvSpPr>
        <p:spPr>
          <a:xfrm>
            <a:off x="275300" y="11430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220" dirty="0">
                <a:solidFill>
                  <a:schemeClr val="accent6"/>
                </a:solidFill>
              </a:rPr>
              <a:t>A marker interface is an empty interface with no methods within it.</a:t>
            </a:r>
          </a:p>
          <a:p>
            <a:pPr marL="12700" marR="5080"/>
            <a:r>
              <a:rPr lang="en-US" sz="2200" kern="0" spc="-220" dirty="0">
                <a:solidFill>
                  <a:schemeClr val="accent6"/>
                </a:solidFill>
              </a:rPr>
              <a:t>Example – </a:t>
            </a:r>
          </a:p>
          <a:p>
            <a:pPr marL="12700" marR="5080"/>
            <a:r>
              <a:rPr lang="en-US" sz="2200" kern="0" spc="-220" dirty="0">
                <a:solidFill>
                  <a:schemeClr val="accent6"/>
                </a:solidFill>
              </a:rPr>
              <a:t>public interface </a:t>
            </a:r>
            <a:r>
              <a:rPr lang="en-US" sz="2200" kern="0" spc="-220" dirty="0" err="1">
                <a:solidFill>
                  <a:schemeClr val="accent6"/>
                </a:solidFill>
              </a:rPr>
              <a:t>IMarker</a:t>
            </a:r>
            <a:r>
              <a:rPr lang="en-US" sz="2200" kern="0" spc="-220" dirty="0">
                <a:solidFill>
                  <a:schemeClr val="accent6"/>
                </a:solidFill>
              </a:rPr>
              <a:t>{}</a:t>
            </a:r>
          </a:p>
          <a:p>
            <a:pPr marL="12700" marR="5080"/>
            <a:r>
              <a:rPr lang="en-US" sz="2200" kern="0" spc="-220" dirty="0">
                <a:solidFill>
                  <a:schemeClr val="accent6"/>
                </a:solidFill>
              </a:rPr>
              <a:t>public class Marker : </a:t>
            </a:r>
            <a:r>
              <a:rPr lang="en-US" sz="2200" kern="0" spc="-220" dirty="0" err="1">
                <a:solidFill>
                  <a:schemeClr val="accent6"/>
                </a:solidFill>
              </a:rPr>
              <a:t>IMarker</a:t>
            </a:r>
            <a:r>
              <a:rPr lang="en-US" sz="2200" kern="0" spc="-220" dirty="0">
                <a:solidFill>
                  <a:schemeClr val="accent6"/>
                </a:solidFill>
              </a:rPr>
              <a:t>{//Do Something}</a:t>
            </a:r>
          </a:p>
          <a:p>
            <a:pPr marL="12700" marR="5080"/>
            <a:endParaRPr lang="en-US" sz="2200" kern="0" spc="-220" dirty="0">
              <a:solidFill>
                <a:schemeClr val="accent6"/>
              </a:solidFill>
            </a:endParaRPr>
          </a:p>
          <a:p>
            <a:pPr marL="12700" marR="5080"/>
            <a:r>
              <a:rPr lang="en-US" sz="2200" kern="0" spc="-220" dirty="0">
                <a:solidFill>
                  <a:schemeClr val="accent6"/>
                </a:solidFill>
              </a:rPr>
              <a:t>But what’s the use of such an interface?</a:t>
            </a:r>
          </a:p>
          <a:p>
            <a:pPr marL="12700" marR="5080"/>
            <a:r>
              <a:rPr lang="en-US" sz="2200" kern="0" spc="-220" dirty="0">
                <a:solidFill>
                  <a:schemeClr val="accent6"/>
                </a:solidFill>
              </a:rPr>
              <a:t>Assign some Metadata tag to the class</a:t>
            </a:r>
          </a:p>
          <a:p>
            <a:pPr marL="12700" marR="5080"/>
            <a:r>
              <a:rPr lang="en-US" sz="2200" kern="0" spc="-220" dirty="0">
                <a:solidFill>
                  <a:schemeClr val="accent6"/>
                </a:solidFill>
              </a:rPr>
              <a:t>You can use this to put a type constraint.</a:t>
            </a:r>
          </a:p>
          <a:p>
            <a:pPr marL="12700" marR="5080"/>
            <a:r>
              <a:rPr lang="en-US" sz="2200" kern="0" spc="-220" dirty="0">
                <a:solidFill>
                  <a:schemeClr val="accent6"/>
                </a:solidFill>
              </a:rPr>
              <a:t>Mainly used for DTOs &amp; sometimes used in classes having methods.</a:t>
            </a:r>
          </a:p>
          <a:p>
            <a:pPr marL="12700" marR="5080"/>
            <a:endParaRPr lang="en-US" sz="2200" kern="0" spc="-220" dirty="0">
              <a:solidFill>
                <a:schemeClr val="accent6"/>
              </a:solidFill>
            </a:endParaRPr>
          </a:p>
          <a:p>
            <a:pPr marL="12700" marR="5080"/>
            <a:r>
              <a:rPr lang="en-US" sz="2200" kern="0" spc="-220" dirty="0">
                <a:solidFill>
                  <a:schemeClr val="accent6"/>
                </a:solidFill>
              </a:rPr>
              <a:t>Examples –</a:t>
            </a:r>
          </a:p>
          <a:p>
            <a:pPr marL="12700" marR="5080"/>
            <a:r>
              <a:rPr lang="en-US" sz="2200" kern="0" spc="-220" dirty="0" err="1">
                <a:solidFill>
                  <a:schemeClr val="accent6"/>
                </a:solidFill>
              </a:rPr>
              <a:t>IList</a:t>
            </a:r>
            <a:r>
              <a:rPr lang="en-US" sz="2200" kern="0" spc="-220" dirty="0">
                <a:solidFill>
                  <a:schemeClr val="accent6"/>
                </a:solidFill>
              </a:rPr>
              <a:t>&lt;</a:t>
            </a:r>
            <a:r>
              <a:rPr lang="en-US" sz="2200" kern="0" spc="-220" dirty="0" err="1">
                <a:solidFill>
                  <a:schemeClr val="accent6"/>
                </a:solidFill>
              </a:rPr>
              <a:t>IMarker</a:t>
            </a:r>
            <a:r>
              <a:rPr lang="en-US" sz="2200" kern="0" spc="-220" dirty="0">
                <a:solidFill>
                  <a:schemeClr val="accent6"/>
                </a:solidFill>
              </a:rPr>
              <a:t>&gt; </a:t>
            </a:r>
            <a:r>
              <a:rPr lang="en-US" sz="2200" kern="0" spc="-220" dirty="0" err="1">
                <a:solidFill>
                  <a:schemeClr val="accent6"/>
                </a:solidFill>
              </a:rPr>
              <a:t>markersList</a:t>
            </a:r>
            <a:r>
              <a:rPr lang="en-US" sz="2200" kern="0" spc="-220" dirty="0">
                <a:solidFill>
                  <a:schemeClr val="accent6"/>
                </a:solidFill>
              </a:rPr>
              <a:t> = new List&lt;</a:t>
            </a:r>
            <a:r>
              <a:rPr lang="en-US" sz="2200" kern="0" spc="-220" dirty="0" err="1">
                <a:solidFill>
                  <a:schemeClr val="accent6"/>
                </a:solidFill>
              </a:rPr>
              <a:t>IMarker</a:t>
            </a:r>
            <a:r>
              <a:rPr lang="en-US" sz="2200" kern="0" spc="-220" dirty="0">
                <a:solidFill>
                  <a:schemeClr val="accent6"/>
                </a:solidFill>
              </a:rPr>
              <a:t>&gt;();</a:t>
            </a:r>
          </a:p>
          <a:p>
            <a:pPr marL="12700" marR="5080"/>
            <a:r>
              <a:rPr lang="en-US" sz="2200" kern="0" spc="-220" dirty="0">
                <a:solidFill>
                  <a:schemeClr val="accent6"/>
                </a:solidFill>
              </a:rPr>
              <a:t>Previous Project(s) Example(s) Discussion</a:t>
            </a:r>
          </a:p>
        </p:txBody>
      </p:sp>
    </p:spTree>
    <p:extLst>
      <p:ext uri="{BB962C8B-B14F-4D97-AF65-F5344CB8AC3E}">
        <p14:creationId xmlns:p14="http://schemas.microsoft.com/office/powerpoint/2010/main" val="1637109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0260659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342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IA a = new A();</a:t>
            </a:r>
          </a:p>
          <a:p>
            <a:pPr marL="12700" marR="5080"/>
            <a:r>
              <a:rPr lang="en-US" sz="2400" kern="0" spc="-220" dirty="0">
                <a:solidFill>
                  <a:schemeClr val="accent6"/>
                </a:solidFill>
              </a:rPr>
              <a:t> a.DoSomething1().</a:t>
            </a:r>
          </a:p>
          <a:p>
            <a:pPr marL="12700" marR="5080"/>
            <a:r>
              <a:rPr lang="en-US" sz="2400" kern="0" spc="-220" dirty="0">
                <a:solidFill>
                  <a:schemeClr val="accent6"/>
                </a:solidFill>
              </a:rPr>
              <a:t>     DoSomething2();</a:t>
            </a:r>
          </a:p>
          <a:p>
            <a:pPr marL="12700" marR="5080"/>
            <a:r>
              <a:rPr lang="en-US" sz="2400" kern="0" spc="-220" dirty="0">
                <a:solidFill>
                  <a:schemeClr val="accent6"/>
                </a:solidFill>
              </a:rPr>
              <a:t>      </a:t>
            </a:r>
          </a:p>
        </p:txBody>
      </p:sp>
      <p:sp>
        <p:nvSpPr>
          <p:cNvPr id="7" name="object 2">
            <a:extLst>
              <a:ext uri="{FF2B5EF4-FFF2-40B4-BE49-F238E27FC236}">
                <a16:creationId xmlns:a16="http://schemas.microsoft.com/office/drawing/2014/main" id="{61BAC9DB-EBEE-58C0-17C3-AECEF5DDAF27}"/>
              </a:ext>
            </a:extLst>
          </p:cNvPr>
          <p:cNvSpPr txBox="1">
            <a:spLocks/>
          </p:cNvSpPr>
          <p:nvPr/>
        </p:nvSpPr>
        <p:spPr>
          <a:xfrm>
            <a:off x="152400" y="30184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Can be implemented using – </a:t>
            </a:r>
          </a:p>
          <a:p>
            <a:pPr marL="12700" marR="5080"/>
            <a:r>
              <a:rPr lang="en-US" sz="2400" kern="0" spc="-220" dirty="0">
                <a:solidFill>
                  <a:schemeClr val="accent6"/>
                </a:solidFill>
              </a:rPr>
              <a:t>   Classes</a:t>
            </a:r>
          </a:p>
          <a:p>
            <a:pPr marL="12700" marR="5080"/>
            <a:r>
              <a:rPr lang="en-US" sz="2400" kern="0" spc="-220" dirty="0">
                <a:solidFill>
                  <a:schemeClr val="accent6"/>
                </a:solidFill>
              </a:rPr>
              <a:t>   Interfaces</a:t>
            </a:r>
          </a:p>
          <a:p>
            <a:pPr marL="12700" marR="5080"/>
            <a:r>
              <a:rPr lang="en-US" sz="2400" kern="0" spc="-220" dirty="0">
                <a:solidFill>
                  <a:schemeClr val="accent6"/>
                </a:solidFill>
              </a:rPr>
              <a:t>   Extension Methods</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000"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Tree>
    <p:extLst>
      <p:ext uri="{BB962C8B-B14F-4D97-AF65-F5344CB8AC3E}">
        <p14:creationId xmlns:p14="http://schemas.microsoft.com/office/powerpoint/2010/main" val="15289375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p>
          <a:p>
            <a:pPr marL="12700" marR="5080"/>
            <a:r>
              <a:rPr lang="en-US" sz="2400" kern="0" spc="-220" dirty="0">
                <a:solidFill>
                  <a:schemeClr val="accent6"/>
                </a:solidFill>
              </a:rPr>
              <a:t> public class FluentAPI1{</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FluentAPI2(); // other class instance</a:t>
            </a:r>
          </a:p>
          <a:p>
            <a:pPr marL="12700" marR="5080"/>
            <a:r>
              <a:rPr lang="en-US" sz="2400" kern="0" spc="-220" dirty="0">
                <a:solidFill>
                  <a:schemeClr val="accent6"/>
                </a:solidFill>
              </a:rPr>
              <a:t>     } </a:t>
            </a:r>
          </a:p>
          <a:p>
            <a:pPr marL="12700" marR="5080"/>
            <a:endParaRPr lang="en-US" sz="2400" kern="0" spc="-220" dirty="0">
              <a:solidFill>
                <a:schemeClr val="accent6"/>
              </a:solidFill>
            </a:endParaRP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6173939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r>
              <a:rPr lang="en-US" sz="2400" kern="0" spc="-220" dirty="0" err="1">
                <a:solidFill>
                  <a:schemeClr val="accent6"/>
                </a:solidFill>
              </a:rPr>
              <a:t>contd</a:t>
            </a:r>
            <a:r>
              <a:rPr lang="en-US" sz="2400" kern="0" spc="-220" dirty="0">
                <a:solidFill>
                  <a:schemeClr val="accent6"/>
                </a:solidFill>
              </a:rPr>
              <a:t>…</a:t>
            </a:r>
          </a:p>
          <a:p>
            <a:pPr marL="12700" marR="5080"/>
            <a:r>
              <a:rPr lang="en-US" sz="2400" kern="0" spc="-220" dirty="0">
                <a:solidFill>
                  <a:schemeClr val="accent6"/>
                </a:solidFill>
              </a:rPr>
              <a:t> public class FluentAPI2{</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19365376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1322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 </a:t>
            </a:r>
          </a:p>
          <a:p>
            <a:pPr marL="12700" marR="5080"/>
            <a:r>
              <a:rPr lang="en-US" sz="2400" kern="0" spc="-220" dirty="0">
                <a:solidFill>
                  <a:schemeClr val="accent6"/>
                </a:solidFill>
              </a:rPr>
              <a:t>public interface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a:t>
            </a:r>
          </a:p>
          <a:p>
            <a:pPr marL="12700" marR="5080"/>
            <a:r>
              <a:rPr lang="en-US" sz="2400" kern="0" spc="-220" dirty="0">
                <a:solidFill>
                  <a:schemeClr val="accent6"/>
                </a:solidFill>
              </a:rPr>
              <a:t>public class FluentAPI1: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 return this;</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FluentAPI2(); // other class instance } }</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7996861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a:t>
            </a:r>
            <a:r>
              <a:rPr lang="en-US" sz="2400" kern="0" spc="-220" dirty="0" err="1">
                <a:solidFill>
                  <a:schemeClr val="accent6"/>
                </a:solidFill>
              </a:rPr>
              <a:t>contd</a:t>
            </a:r>
            <a:r>
              <a:rPr lang="en-US" sz="2400" kern="0" spc="-220" dirty="0">
                <a:solidFill>
                  <a:schemeClr val="accent6"/>
                </a:solidFill>
              </a:rPr>
              <a:t>… </a:t>
            </a:r>
          </a:p>
          <a:p>
            <a:pPr marL="12700" marR="5080"/>
            <a:r>
              <a:rPr lang="en-US" sz="2400" kern="0" spc="-220" dirty="0">
                <a:solidFill>
                  <a:schemeClr val="accent6"/>
                </a:solidFill>
              </a:rPr>
              <a:t>public class FluentAPI2: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r>
              <a:rPr lang="en-US" sz="2400" kern="0" spc="-220" dirty="0">
                <a:solidFill>
                  <a:schemeClr val="accent6"/>
                </a:solidFill>
              </a:rPr>
              <a:t>      </a:t>
            </a:r>
          </a:p>
        </p:txBody>
      </p:sp>
    </p:spTree>
    <p:extLst>
      <p:ext uri="{BB962C8B-B14F-4D97-AF65-F5344CB8AC3E}">
        <p14:creationId xmlns:p14="http://schemas.microsoft.com/office/powerpoint/2010/main" val="42925560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2954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Extension Method Implementation – </a:t>
            </a:r>
          </a:p>
          <a:p>
            <a:pPr marL="12700" marR="5080"/>
            <a:r>
              <a:rPr lang="en-US" sz="2000" kern="0" spc="-220" dirty="0">
                <a:solidFill>
                  <a:schemeClr val="accent6"/>
                </a:solidFill>
                <a:hlinkClick r:id="rId7"/>
              </a:rPr>
              <a:t>https://killalldefects.com/2020/01/18/using-extension-methods-in-c-to-build-fluent-code/</a:t>
            </a:r>
            <a:r>
              <a:rPr lang="en-US" sz="2000" kern="0" spc="-220" dirty="0">
                <a:solidFill>
                  <a:schemeClr val="accent6"/>
                </a:solidFill>
              </a:rPr>
              <a:t> </a:t>
            </a:r>
          </a:p>
        </p:txBody>
      </p:sp>
      <p:sp>
        <p:nvSpPr>
          <p:cNvPr id="7" name="object 2">
            <a:extLst>
              <a:ext uri="{FF2B5EF4-FFF2-40B4-BE49-F238E27FC236}">
                <a16:creationId xmlns:a16="http://schemas.microsoft.com/office/drawing/2014/main" id="{EA780E19-0896-A247-0FF9-B147BA599F78}"/>
              </a:ext>
            </a:extLst>
          </p:cNvPr>
          <p:cNvSpPr txBox="1">
            <a:spLocks/>
          </p:cNvSpPr>
          <p:nvPr/>
        </p:nvSpPr>
        <p:spPr>
          <a:xfrm>
            <a:off x="304800" y="2438400"/>
            <a:ext cx="8624937" cy="32624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real world example built using Fluent API –</a:t>
            </a:r>
          </a:p>
          <a:p>
            <a:pPr marL="12700" marR="5080"/>
            <a:r>
              <a:rPr lang="en-US" sz="2000" kern="0" spc="-220" dirty="0">
                <a:solidFill>
                  <a:schemeClr val="accent6"/>
                </a:solidFill>
              </a:rPr>
              <a:t>   </a:t>
            </a:r>
            <a:r>
              <a:rPr lang="en-US" sz="2000" kern="0" spc="-220" dirty="0">
                <a:solidFill>
                  <a:schemeClr val="accent6"/>
                </a:solidFill>
                <a:hlinkClick r:id="rId8"/>
              </a:rPr>
              <a:t>https://github.com/sandipray63in/DDD-Based-Enterprise-Application-Framework/tree/master/FluentRepository</a:t>
            </a:r>
            <a:r>
              <a:rPr lang="en-US" sz="2400" kern="0" spc="-220" dirty="0">
                <a:solidFill>
                  <a:schemeClr val="accent6"/>
                </a:solidFill>
              </a:rPr>
              <a:t>  </a:t>
            </a:r>
          </a:p>
          <a:p>
            <a:pPr marL="12700" marR="5080"/>
            <a:r>
              <a:rPr lang="en-US" sz="2400" kern="0" spc="-220" dirty="0">
                <a:solidFill>
                  <a:schemeClr val="accent6"/>
                </a:solidFill>
              </a:rPr>
              <a:t>Corresponding Unit Tests for Fluent </a:t>
            </a:r>
            <a:r>
              <a:rPr lang="en-US" sz="2400" kern="0" spc="-220" dirty="0" err="1">
                <a:solidFill>
                  <a:schemeClr val="accent6"/>
                </a:solidFill>
              </a:rPr>
              <a:t>Repositoy</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https://github.com/sandipray63in/DDD-Based-Enterprise-Application-Framework/tree/master/Testing.FluentRepository</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err="1">
                <a:solidFill>
                  <a:schemeClr val="accent6"/>
                </a:solidFill>
              </a:rPr>
              <a:t>FluentValidations</a:t>
            </a:r>
            <a:r>
              <a:rPr lang="en-US" sz="2000" kern="0" spc="-220" dirty="0">
                <a:solidFill>
                  <a:schemeClr val="accent6"/>
                </a:solidFill>
              </a:rPr>
              <a:t>(</a:t>
            </a:r>
            <a:r>
              <a:rPr lang="en-US" sz="2000" kern="0" spc="-220" dirty="0">
                <a:solidFill>
                  <a:schemeClr val="accent6"/>
                </a:solidFill>
                <a:hlinkClick r:id="rId10"/>
              </a:rPr>
              <a:t>https://docs.fluentvalidation.net/en/latest/</a:t>
            </a:r>
            <a:r>
              <a:rPr lang="en-US" sz="2000" kern="0" spc="-220" dirty="0">
                <a:solidFill>
                  <a:schemeClr val="accent6"/>
                </a:solidFill>
              </a:rPr>
              <a:t> ) is another library built using Fluent API concepts mainly for validations. Its something similar to </a:t>
            </a:r>
            <a:r>
              <a:rPr lang="en-US" sz="2000" kern="0" spc="-220" dirty="0" err="1">
                <a:solidFill>
                  <a:schemeClr val="accent6"/>
                </a:solidFill>
              </a:rPr>
              <a:t>Persistance</a:t>
            </a:r>
            <a:r>
              <a:rPr lang="en-US" sz="2000" kern="0" spc="-220" dirty="0">
                <a:solidFill>
                  <a:schemeClr val="accent6"/>
                </a:solidFill>
              </a:rPr>
              <a:t> Ignorance since it provides Validation Ignorance w.r.t domain objects.</a:t>
            </a:r>
          </a:p>
        </p:txBody>
      </p:sp>
    </p:spTree>
    <p:extLst>
      <p:ext uri="{BB962C8B-B14F-4D97-AF65-F5344CB8AC3E}">
        <p14:creationId xmlns:p14="http://schemas.microsoft.com/office/powerpoint/2010/main" val="24891816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4383480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 </a:t>
            </a:r>
            <a:r>
              <a:rPr lang="en-US" sz="2000" kern="0" spc="-220" dirty="0" err="1">
                <a:solidFill>
                  <a:schemeClr val="accent6"/>
                </a:solidFill>
              </a:rPr>
              <a:t>mixin</a:t>
            </a:r>
            <a:r>
              <a:rPr lang="en-US" sz="2000" kern="0" spc="-220" dirty="0">
                <a:solidFill>
                  <a:schemeClr val="accent6"/>
                </a:solidFill>
              </a:rPr>
              <a:t> is a class that adds functionality to other classes but which cannot itself be instantiated.</a:t>
            </a:r>
          </a:p>
          <a:p>
            <a:pPr algn="l"/>
            <a:endParaRPr lang="en-US" sz="2000" kern="0" spc="-220" dirty="0">
              <a:solidFill>
                <a:schemeClr val="accent6"/>
              </a:solidFill>
            </a:endParaRPr>
          </a:p>
          <a:p>
            <a:pPr algn="l"/>
            <a:r>
              <a:rPr lang="en-US" sz="2000" kern="0" spc="-220" dirty="0" err="1">
                <a:solidFill>
                  <a:schemeClr val="accent6"/>
                </a:solidFill>
              </a:rPr>
              <a:t>Mixins</a:t>
            </a:r>
            <a:r>
              <a:rPr lang="en-US" sz="2000" kern="0" spc="-220" dirty="0">
                <a:solidFill>
                  <a:schemeClr val="accent6"/>
                </a:solidFill>
              </a:rPr>
              <a:t> are useful in object-oriented languages that only support single inheritance as a sort of 'halfway house' between single and multiple inheritance.</a:t>
            </a:r>
          </a:p>
          <a:p>
            <a:pPr algn="l"/>
            <a:endParaRPr lang="en-US" sz="2000" kern="0" spc="-220" dirty="0">
              <a:solidFill>
                <a:schemeClr val="accent6"/>
              </a:solidFill>
            </a:endParaRPr>
          </a:p>
          <a:p>
            <a:pPr marL="12700" marR="5080"/>
            <a:r>
              <a:rPr lang="en-US" sz="2000" kern="0" spc="-220" dirty="0">
                <a:solidFill>
                  <a:schemeClr val="accent6"/>
                </a:solidFill>
              </a:rPr>
              <a:t>Implemented using a combination of (multiple) interfaces and extension methods(for some of the interfaces, which provides the </a:t>
            </a:r>
            <a:r>
              <a:rPr lang="en-US" sz="2000" kern="0" spc="-220" dirty="0" err="1">
                <a:solidFill>
                  <a:schemeClr val="accent6"/>
                </a:solidFill>
              </a:rPr>
              <a:t>mixin's</a:t>
            </a:r>
            <a:r>
              <a:rPr lang="en-US" sz="2000" kern="0" spc="-220" dirty="0">
                <a:solidFill>
                  <a:schemeClr val="accent6"/>
                </a:solidFill>
              </a:rPr>
              <a:t> actual methods, which can be applied to any object that implements the associated interface). </a:t>
            </a:r>
            <a:r>
              <a:rPr lang="en-US" sz="2000" kern="0" spc="-220" dirty="0" err="1">
                <a:solidFill>
                  <a:schemeClr val="accent6"/>
                </a:solidFill>
              </a:rPr>
              <a:t>Infact</a:t>
            </a:r>
            <a:r>
              <a:rPr lang="en-US" sz="2000" kern="0" spc="-220" dirty="0">
                <a:solidFill>
                  <a:schemeClr val="accent6"/>
                </a:solidFill>
              </a:rPr>
              <a:t> extension methods can be applied to any kind of Abstraction in .NET.</a:t>
            </a:r>
          </a:p>
          <a:p>
            <a:pPr marL="12700" marR="5080"/>
            <a:endParaRPr lang="en-US" sz="2000" kern="0" spc="-220" dirty="0">
              <a:solidFill>
                <a:schemeClr val="accent6"/>
              </a:solidFill>
            </a:endParaRPr>
          </a:p>
          <a:p>
            <a:pPr marL="12700" marR="5080"/>
            <a:r>
              <a:rPr lang="en-US" sz="2000" kern="0" spc="-220" dirty="0">
                <a:solidFill>
                  <a:schemeClr val="accent6"/>
                </a:solidFill>
              </a:rPr>
              <a:t>Example –</a:t>
            </a:r>
          </a:p>
          <a:p>
            <a:pPr marL="12700" marR="5080"/>
            <a:r>
              <a:rPr lang="en-US" sz="2000" kern="0" spc="-220" dirty="0">
                <a:solidFill>
                  <a:schemeClr val="accent6"/>
                </a:solidFill>
              </a:rPr>
              <a:t> </a:t>
            </a:r>
            <a:r>
              <a:rPr lang="en-US" sz="2000" kern="0" spc="-220" dirty="0">
                <a:solidFill>
                  <a:schemeClr val="accent6"/>
                </a:solidFill>
                <a:hlinkClick r:id="rId7"/>
              </a:rPr>
              <a:t>https://www.c-sharpcorner.com/UploadFile/b942f9/how-to-create-mixin-using-C-Sharp-4-0/</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989139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Implementing </a:t>
            </a:r>
            <a:r>
              <a:rPr lang="en-US" sz="2400" kern="0" spc="-220" dirty="0" err="1">
                <a:solidFill>
                  <a:schemeClr val="accent6"/>
                </a:solidFill>
              </a:rPr>
              <a:t>Mixin</a:t>
            </a:r>
            <a:r>
              <a:rPr lang="en-US" sz="2400" kern="0" spc="-220" dirty="0">
                <a:solidFill>
                  <a:schemeClr val="accent6"/>
                </a:solidFill>
              </a:rPr>
              <a:t> in &gt; C# 8 –</a:t>
            </a:r>
          </a:p>
          <a:p>
            <a:pPr algn="l"/>
            <a:endParaRPr lang="en-US" sz="2400" kern="0" spc="-220" dirty="0">
              <a:solidFill>
                <a:schemeClr val="accent6"/>
              </a:solidFill>
            </a:endParaRPr>
          </a:p>
          <a:p>
            <a:pPr algn="l"/>
            <a:r>
              <a:rPr lang="en-US" sz="2400" kern="0" spc="-220" dirty="0">
                <a:solidFill>
                  <a:schemeClr val="accent6"/>
                </a:solidFill>
              </a:rPr>
              <a:t>Default Implementation of Interfaces in &gt; C# 8 – </a:t>
            </a:r>
          </a:p>
          <a:p>
            <a:pPr algn="l"/>
            <a:r>
              <a:rPr lang="en-US" sz="2400" kern="0" spc="-220" dirty="0">
                <a:solidFill>
                  <a:schemeClr val="accent6"/>
                </a:solidFill>
              </a:rPr>
              <a:t>public interface </a:t>
            </a:r>
            <a:r>
              <a:rPr lang="en-US" sz="2400" kern="0" spc="-220" dirty="0" err="1">
                <a:solidFill>
                  <a:schemeClr val="accent6"/>
                </a:solidFill>
              </a:rPr>
              <a:t>ILogger</a:t>
            </a:r>
            <a:r>
              <a:rPr lang="en-US" sz="2400" kern="0" spc="-220" dirty="0">
                <a:solidFill>
                  <a:schemeClr val="accent6"/>
                </a:solidFill>
              </a:rPr>
              <a:t>{</a:t>
            </a:r>
          </a:p>
          <a:p>
            <a:pPr algn="l"/>
            <a:r>
              <a:rPr lang="en-US" sz="2400" kern="0" spc="-220" dirty="0">
                <a:solidFill>
                  <a:schemeClr val="accent6"/>
                </a:solidFill>
              </a:rPr>
              <a:t>  void Log(</a:t>
            </a:r>
            <a:r>
              <a:rPr lang="en-US" sz="2400" kern="0" spc="-220" dirty="0" err="1">
                <a:solidFill>
                  <a:schemeClr val="accent6"/>
                </a:solidFill>
              </a:rPr>
              <a:t>LogLevel</a:t>
            </a:r>
            <a:r>
              <a:rPr lang="en-US" sz="2400" kern="0" spc="-220" dirty="0">
                <a:solidFill>
                  <a:schemeClr val="accent6"/>
                </a:solidFill>
              </a:rPr>
              <a:t> </a:t>
            </a:r>
            <a:r>
              <a:rPr lang="en-US" sz="2400" kern="0" spc="-220" dirty="0" err="1">
                <a:solidFill>
                  <a:schemeClr val="accent6"/>
                </a:solidFill>
              </a:rPr>
              <a:t>logLevel</a:t>
            </a:r>
            <a:r>
              <a:rPr lang="en-US" sz="2400" kern="0" spc="-220" dirty="0">
                <a:solidFill>
                  <a:schemeClr val="accent6"/>
                </a:solidFill>
              </a:rPr>
              <a:t>, string message);</a:t>
            </a:r>
          </a:p>
          <a:p>
            <a:pPr algn="l"/>
            <a:r>
              <a:rPr lang="en-US" sz="2400" kern="0" spc="-220" dirty="0">
                <a:solidFill>
                  <a:schemeClr val="accent6"/>
                </a:solidFill>
              </a:rPr>
              <a:t>  void Log(Exception ex) =&gt; Log(</a:t>
            </a:r>
            <a:r>
              <a:rPr lang="en-US" sz="2400" kern="0" spc="-220" dirty="0" err="1">
                <a:solidFill>
                  <a:schemeClr val="accent6"/>
                </a:solidFill>
              </a:rPr>
              <a:t>LogLevel.Error</a:t>
            </a:r>
            <a:r>
              <a:rPr lang="en-US" sz="2400" kern="0" spc="-220" dirty="0">
                <a:solidFill>
                  <a:schemeClr val="accent6"/>
                </a:solidFill>
              </a:rPr>
              <a:t>, </a:t>
            </a:r>
            <a:r>
              <a:rPr lang="en-US" sz="2400" kern="0" spc="-220" dirty="0" err="1">
                <a:solidFill>
                  <a:schemeClr val="accent6"/>
                </a:solidFill>
              </a:rPr>
              <a:t>ex.ToString</a:t>
            </a:r>
            <a:r>
              <a:rPr lang="en-US" sz="2400" kern="0" spc="-220" dirty="0">
                <a:solidFill>
                  <a:schemeClr val="accent6"/>
                </a:solidFill>
              </a:rPr>
              <a:t>();</a:t>
            </a:r>
          </a:p>
          <a:p>
            <a:pPr algn="l"/>
            <a:r>
              <a:rPr lang="en-US" sz="2400" kern="0" spc="-220" dirty="0">
                <a:solidFill>
                  <a:schemeClr val="accent6"/>
                </a:solidFill>
              </a:rPr>
              <a:t>}</a:t>
            </a:r>
          </a:p>
          <a:p>
            <a:pPr algn="l"/>
            <a:endParaRPr lang="en-US" sz="2400" kern="0" spc="-220" dirty="0">
              <a:solidFill>
                <a:schemeClr val="accent6"/>
              </a:solidFill>
            </a:endParaRPr>
          </a:p>
          <a:p>
            <a:pPr algn="l"/>
            <a:r>
              <a:rPr lang="en-US" sz="2400" kern="0" spc="-220" dirty="0" err="1">
                <a:solidFill>
                  <a:schemeClr val="accent6"/>
                </a:solidFill>
              </a:rPr>
              <a:t>Mixin</a:t>
            </a:r>
            <a:r>
              <a:rPr lang="en-US" sz="2400" kern="0" spc="-220" dirty="0">
                <a:solidFill>
                  <a:schemeClr val="accent6"/>
                </a:solidFill>
              </a:rPr>
              <a:t> Implementation Example Using Default Interfaces Implementations– </a:t>
            </a:r>
          </a:p>
          <a:p>
            <a:pPr algn="l"/>
            <a:r>
              <a:rPr lang="en-US" sz="2000" kern="0" spc="-220" dirty="0">
                <a:solidFill>
                  <a:schemeClr val="accent6"/>
                </a:solidFill>
                <a:hlinkClick r:id="rId7"/>
              </a:rPr>
              <a:t>https://learn.microsoft.com/en-us/dotnet/csharp/advanced-topics/interface-implementation/mixins-with-default-interface-methods</a:t>
            </a:r>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116006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3819661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6CE3D12F-4303-DF2D-71BF-376A6E940E24}"/>
              </a:ext>
            </a:extLst>
          </p:cNvPr>
          <p:cNvSpPr txBox="1">
            <a:spLocks/>
          </p:cNvSpPr>
          <p:nvPr/>
        </p:nvSpPr>
        <p:spPr>
          <a:xfrm>
            <a:off x="362309" y="206311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An Example(with explanation) - </a:t>
            </a:r>
          </a:p>
          <a:p>
            <a:pPr algn="l"/>
            <a:r>
              <a:rPr lang="en-US" sz="2000" kern="0" spc="-220" dirty="0">
                <a:solidFill>
                  <a:schemeClr val="accent6"/>
                </a:solidFill>
              </a:rPr>
              <a:t> </a:t>
            </a:r>
            <a:r>
              <a:rPr lang="en-US" sz="2000" kern="0" spc="-220" dirty="0">
                <a:solidFill>
                  <a:schemeClr val="accent6"/>
                </a:solidFill>
                <a:hlinkClick r:id="rId7"/>
              </a:rPr>
              <a:t>https://gist.github.com/sandipray63in/0ef6a1faa6614da41ef1d242f40cd0c9</a:t>
            </a:r>
            <a:r>
              <a:rPr lang="en-US" sz="2000" kern="0" spc="-220" dirty="0">
                <a:solidFill>
                  <a:schemeClr val="accent6"/>
                </a:solidFill>
              </a:rPr>
              <a:t> </a:t>
            </a:r>
            <a:endParaRPr lang="en-US" sz="2400" kern="0" spc="-220" dirty="0">
              <a:solidFill>
                <a:schemeClr val="accent6"/>
              </a:solidFill>
            </a:endParaRPr>
          </a:p>
        </p:txBody>
      </p:sp>
    </p:spTree>
    <p:extLst>
      <p:ext uri="{BB962C8B-B14F-4D97-AF65-F5344CB8AC3E}">
        <p14:creationId xmlns:p14="http://schemas.microsoft.com/office/powerpoint/2010/main" val="2066475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798790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1F11BB9C-6EE4-6DDB-28EC-064678CAD174}"/>
              </a:ext>
            </a:extLst>
          </p:cNvPr>
          <p:cNvSpPr txBox="1">
            <a:spLocks/>
          </p:cNvSpPr>
          <p:nvPr/>
        </p:nvSpPr>
        <p:spPr>
          <a:xfrm>
            <a:off x="366663" y="2286000"/>
            <a:ext cx="8624937" cy="5847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Leaks in Managed Code- </a:t>
            </a:r>
          </a:p>
          <a:p>
            <a:pPr algn="l"/>
            <a:r>
              <a:rPr lang="en-US" sz="1800" kern="0" spc="-220" dirty="0">
                <a:solidFill>
                  <a:schemeClr val="accent6"/>
                </a:solidFill>
              </a:rPr>
              <a:t> </a:t>
            </a:r>
            <a:r>
              <a:rPr lang="en-US" sz="1800" kern="0" spc="-220" dirty="0">
                <a:solidFill>
                  <a:schemeClr val="accent6"/>
                </a:solidFill>
                <a:hlinkClick r:id="rId7"/>
              </a:rPr>
              <a:t>https://michaelscodingspot.com/find-fix-and-avoid-memory-leaks-in-c-net-8-best-practices/</a:t>
            </a:r>
            <a:r>
              <a:rPr lang="en-US" sz="1800" kern="0" spc="-220" dirty="0">
                <a:solidFill>
                  <a:schemeClr val="accent6"/>
                </a:solidFill>
              </a:rPr>
              <a:t> </a:t>
            </a:r>
          </a:p>
        </p:txBody>
      </p:sp>
      <p:sp>
        <p:nvSpPr>
          <p:cNvPr id="7" name="object 2">
            <a:extLst>
              <a:ext uri="{FF2B5EF4-FFF2-40B4-BE49-F238E27FC236}">
                <a16:creationId xmlns:a16="http://schemas.microsoft.com/office/drawing/2014/main" id="{EDB9EC19-A739-C7A0-7856-526DFFCF08DA}"/>
              </a:ext>
            </a:extLst>
          </p:cNvPr>
          <p:cNvSpPr txBox="1">
            <a:spLocks/>
          </p:cNvSpPr>
          <p:nvPr/>
        </p:nvSpPr>
        <p:spPr>
          <a:xfrm>
            <a:off x="366663" y="1143000"/>
            <a:ext cx="8624937" cy="8617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An </a:t>
            </a:r>
            <a:r>
              <a:rPr lang="en-US" sz="2000" kern="0" spc="-220" dirty="0" err="1">
                <a:solidFill>
                  <a:schemeClr val="accent6"/>
                </a:solidFill>
              </a:rPr>
              <a:t>IDisposable</a:t>
            </a:r>
            <a:r>
              <a:rPr lang="en-US" sz="2000" kern="0" spc="-220" dirty="0">
                <a:solidFill>
                  <a:schemeClr val="accent6"/>
                </a:solidFill>
              </a:rPr>
              <a:t> Example - </a:t>
            </a:r>
          </a:p>
          <a:p>
            <a:pPr algn="l"/>
            <a:r>
              <a:rPr lang="en-US" sz="1800" kern="0" spc="-220" dirty="0">
                <a:solidFill>
                  <a:schemeClr val="accent6"/>
                </a:solidFill>
              </a:rPr>
              <a:t> </a:t>
            </a:r>
            <a:r>
              <a:rPr lang="en-US" sz="1800" kern="0" spc="-220" dirty="0">
                <a:solidFill>
                  <a:schemeClr val="accent6"/>
                </a:solidFill>
                <a:hlinkClick r:id="rId8"/>
              </a:rPr>
              <a:t>https://github.com/sandipray63in/DDD-Based-Enterprise-Application-Framework/blob/master/Infrastructure/DisposableClass.cs</a:t>
            </a:r>
            <a:r>
              <a:rPr lang="en-US" sz="1800" kern="0" spc="-220" dirty="0">
                <a:solidFill>
                  <a:schemeClr val="accent6"/>
                </a:solidFill>
              </a:rPr>
              <a:t> </a:t>
            </a:r>
          </a:p>
        </p:txBody>
      </p:sp>
      <p:sp>
        <p:nvSpPr>
          <p:cNvPr id="12" name="object 2">
            <a:extLst>
              <a:ext uri="{FF2B5EF4-FFF2-40B4-BE49-F238E27FC236}">
                <a16:creationId xmlns:a16="http://schemas.microsoft.com/office/drawing/2014/main" id="{3AA135EF-016D-3E70-F3A1-38532AC98941}"/>
              </a:ext>
            </a:extLst>
          </p:cNvPr>
          <p:cNvSpPr txBox="1">
            <a:spLocks/>
          </p:cNvSpPr>
          <p:nvPr/>
        </p:nvSpPr>
        <p:spPr>
          <a:xfrm>
            <a:off x="366663" y="3276600"/>
            <a:ext cx="8624937" cy="113877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Weak References-</a:t>
            </a:r>
          </a:p>
          <a:p>
            <a:pPr algn="l"/>
            <a:r>
              <a:rPr lang="en-US" sz="1800" kern="0" spc="-220" dirty="0">
                <a:solidFill>
                  <a:schemeClr val="accent6"/>
                </a:solidFill>
                <a:hlinkClick r:id="rId9"/>
              </a:rPr>
              <a:t>https://www.codeproject.com/Articles/664282/Understanding-weak-references-in-NET</a:t>
            </a:r>
            <a:r>
              <a:rPr lang="en-US" sz="1800" kern="0" spc="-220" dirty="0">
                <a:solidFill>
                  <a:schemeClr val="accent6"/>
                </a:solidFill>
              </a:rPr>
              <a:t> </a:t>
            </a:r>
          </a:p>
          <a:p>
            <a:pPr algn="l"/>
            <a:r>
              <a:rPr lang="en-US" sz="1800" kern="0" spc="-220" dirty="0">
                <a:solidFill>
                  <a:schemeClr val="accent6"/>
                </a:solidFill>
                <a:hlinkClick r:id="rId10"/>
              </a:rPr>
              <a:t>https://stackoverflow.com/questions/18465630/understanding-conditionalweaktable </a:t>
            </a:r>
            <a:r>
              <a:rPr lang="en-US" sz="1800" kern="0" spc="-220" dirty="0">
                <a:solidFill>
                  <a:schemeClr val="accent6"/>
                </a:solidFill>
                <a:hlinkClick r:id="rId11"/>
              </a:rPr>
              <a:t>https://paulstovell.com/weakevents/</a:t>
            </a:r>
            <a:r>
              <a:rPr lang="en-US" sz="1800" kern="0" spc="-220" dirty="0">
                <a:solidFill>
                  <a:schemeClr val="accent6"/>
                </a:solidFill>
              </a:rPr>
              <a:t> </a:t>
            </a:r>
          </a:p>
        </p:txBody>
      </p:sp>
      <p:sp>
        <p:nvSpPr>
          <p:cNvPr id="11" name="object 2">
            <a:extLst>
              <a:ext uri="{FF2B5EF4-FFF2-40B4-BE49-F238E27FC236}">
                <a16:creationId xmlns:a16="http://schemas.microsoft.com/office/drawing/2014/main" id="{52E72D8C-9C5D-644B-D4EE-0FC27B7CB1AE}"/>
              </a:ext>
            </a:extLst>
          </p:cNvPr>
          <p:cNvSpPr txBox="1">
            <a:spLocks/>
          </p:cNvSpPr>
          <p:nvPr/>
        </p:nvSpPr>
        <p:spPr>
          <a:xfrm>
            <a:off x="304800" y="480482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Cache (An alternative to “</a:t>
            </a:r>
            <a:r>
              <a:rPr lang="en-US" sz="2000" kern="0" spc="-220" dirty="0" err="1">
                <a:solidFill>
                  <a:schemeClr val="accent6"/>
                </a:solidFill>
              </a:rPr>
              <a:t>ConditionalWeakTable</a:t>
            </a:r>
            <a:r>
              <a:rPr lang="en-US" sz="2000" kern="0" spc="-220" dirty="0">
                <a:solidFill>
                  <a:schemeClr val="accent6"/>
                </a:solidFill>
              </a:rPr>
              <a:t> based cache”) - </a:t>
            </a:r>
          </a:p>
          <a:p>
            <a:pPr algn="l"/>
            <a:r>
              <a:rPr lang="en-US" sz="2000" kern="0" spc="-220" dirty="0">
                <a:solidFill>
                  <a:schemeClr val="accent6"/>
                </a:solidFill>
                <a:hlinkClick r:id="rId12"/>
              </a:rPr>
              <a:t>https://medium.com/@josiahmahachi/in-memory-caching-in-net-6aa5d827b341</a:t>
            </a:r>
            <a:r>
              <a:rPr lang="en-US" sz="2000" kern="0" spc="-220" dirty="0">
                <a:solidFill>
                  <a:schemeClr val="accent6"/>
                </a:solidFill>
              </a:rPr>
              <a:t> </a:t>
            </a:r>
          </a:p>
        </p:txBody>
      </p:sp>
    </p:spTree>
    <p:extLst>
      <p:ext uri="{BB962C8B-B14F-4D97-AF65-F5344CB8AC3E}">
        <p14:creationId xmlns:p14="http://schemas.microsoft.com/office/powerpoint/2010/main" val="6720506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6744406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3" name="object 2">
            <a:extLst>
              <a:ext uri="{FF2B5EF4-FFF2-40B4-BE49-F238E27FC236}">
                <a16:creationId xmlns:a16="http://schemas.microsoft.com/office/drawing/2014/main" id="{DEF4C827-E4CF-13CE-65C2-EBADA4CE54A8}"/>
              </a:ext>
            </a:extLst>
          </p:cNvPr>
          <p:cNvSpPr txBox="1">
            <a:spLocks/>
          </p:cNvSpPr>
          <p:nvPr/>
        </p:nvSpPr>
        <p:spPr>
          <a:xfrm>
            <a:off x="381000" y="11430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Resurrection- </a:t>
            </a:r>
          </a:p>
          <a:p>
            <a:pPr algn="l"/>
            <a:r>
              <a:rPr lang="en-US" sz="2000" kern="0" spc="-220" dirty="0">
                <a:solidFill>
                  <a:schemeClr val="accent6"/>
                </a:solidFill>
                <a:hlinkClick r:id="rId7"/>
              </a:rPr>
              <a:t>https://stackoverflow.com/questions/3680281/usages-of-object-resurrection</a:t>
            </a:r>
            <a:r>
              <a:rPr lang="en-US" sz="2000" kern="0" spc="-220" dirty="0">
                <a:solidFill>
                  <a:schemeClr val="accent6"/>
                </a:solidFill>
              </a:rPr>
              <a:t> </a:t>
            </a:r>
          </a:p>
        </p:txBody>
      </p:sp>
      <p:sp>
        <p:nvSpPr>
          <p:cNvPr id="9" name="object 2">
            <a:extLst>
              <a:ext uri="{FF2B5EF4-FFF2-40B4-BE49-F238E27FC236}">
                <a16:creationId xmlns:a16="http://schemas.microsoft.com/office/drawing/2014/main" id="{67F8F881-03B6-FFBC-96F7-1C2CE1B8388A}"/>
              </a:ext>
            </a:extLst>
          </p:cNvPr>
          <p:cNvSpPr txBox="1">
            <a:spLocks/>
          </p:cNvSpPr>
          <p:nvPr/>
        </p:nvSpPr>
        <p:spPr>
          <a:xfrm>
            <a:off x="381000" y="36486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Mark &amp; Sweep Algorithm- </a:t>
            </a:r>
          </a:p>
          <a:p>
            <a:pPr algn="l"/>
            <a:r>
              <a:rPr lang="en-US" sz="2000" kern="0" spc="-220" dirty="0">
                <a:solidFill>
                  <a:schemeClr val="accent6"/>
                </a:solidFill>
                <a:hlinkClick r:id="rId8"/>
              </a:rPr>
              <a:t>https://www.linkedin.com/pulse/mark-sweep-garbage-collection-algorithm-arpit-bhayani</a:t>
            </a:r>
            <a:r>
              <a:rPr lang="en-US" sz="2000" kern="0" spc="-220" dirty="0">
                <a:solidFill>
                  <a:schemeClr val="accent6"/>
                </a:solidFill>
              </a:rPr>
              <a:t> </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95E67E79-7FBE-A536-99F9-EDC692BA4E3A}"/>
              </a:ext>
            </a:extLst>
          </p:cNvPr>
          <p:cNvSpPr txBox="1">
            <a:spLocks/>
          </p:cNvSpPr>
          <p:nvPr/>
        </p:nvSpPr>
        <p:spPr>
          <a:xfrm>
            <a:off x="381000" y="20574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 Garbage Collection &amp; Generations- </a:t>
            </a:r>
          </a:p>
          <a:p>
            <a:pPr algn="l"/>
            <a:r>
              <a:rPr lang="en-US" sz="2000" kern="0" spc="-220" dirty="0">
                <a:solidFill>
                  <a:schemeClr val="accent6"/>
                </a:solidFill>
                <a:hlinkClick r:id="rId9"/>
              </a:rPr>
              <a:t>https://stackify.com/c-garbage-collection/</a:t>
            </a:r>
            <a:r>
              <a:rPr lang="en-US" sz="2000" kern="0" spc="-220" dirty="0">
                <a:solidFill>
                  <a:schemeClr val="accent6"/>
                </a:solidFill>
              </a:rPr>
              <a:t> </a:t>
            </a:r>
          </a:p>
          <a:p>
            <a:pPr algn="l"/>
            <a:r>
              <a:rPr lang="en-US" sz="2000" kern="0" spc="-220" dirty="0">
                <a:solidFill>
                  <a:schemeClr val="accent6"/>
                </a:solidFill>
                <a:hlinkClick r:id="rId10"/>
              </a:rPr>
              <a:t>https://stackoverflow.com/questions/2257563/what-are-the-generations-in-garbage-collection</a:t>
            </a:r>
            <a:r>
              <a:rPr lang="en-US" sz="2000" kern="0" spc="-220" dirty="0">
                <a:solidFill>
                  <a:schemeClr val="accent6"/>
                </a:solidFill>
              </a:rPr>
              <a:t> </a:t>
            </a:r>
          </a:p>
        </p:txBody>
      </p:sp>
    </p:spTree>
    <p:extLst>
      <p:ext uri="{BB962C8B-B14F-4D97-AF65-F5344CB8AC3E}">
        <p14:creationId xmlns:p14="http://schemas.microsoft.com/office/powerpoint/2010/main" val="33136919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7966907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90452FAD-838C-AC06-3DC3-AD613A015954}"/>
              </a:ext>
            </a:extLst>
          </p:cNvPr>
          <p:cNvSpPr txBox="1">
            <a:spLocks/>
          </p:cNvSpPr>
          <p:nvPr/>
        </p:nvSpPr>
        <p:spPr>
          <a:xfrm>
            <a:off x="275300" y="2493764"/>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IEnumerable</a:t>
            </a:r>
            <a:r>
              <a:rPr lang="en-US" sz="2000" kern="0" spc="-220" dirty="0">
                <a:solidFill>
                  <a:schemeClr val="accent6"/>
                </a:solidFill>
              </a:rPr>
              <a:t> Usage- </a:t>
            </a:r>
          </a:p>
          <a:p>
            <a:pPr marL="457200" indent="-457200" algn="l">
              <a:buAutoNum type="arabicParenR"/>
            </a:pPr>
            <a:r>
              <a:rPr lang="en-US" sz="2000" kern="0" spc="-220" dirty="0">
                <a:solidFill>
                  <a:schemeClr val="accent6"/>
                </a:solidFill>
              </a:rPr>
              <a:t>If you want to use foreach construct over any collection then that collection should implement </a:t>
            </a:r>
            <a:r>
              <a:rPr lang="en-US" sz="2000" kern="0" spc="-220" dirty="0" err="1">
                <a:solidFill>
                  <a:schemeClr val="accent6"/>
                </a:solidFill>
              </a:rPr>
              <a:t>IEnumerable</a:t>
            </a:r>
            <a:endParaRPr lang="en-US" sz="2000" kern="0" spc="-220" dirty="0">
              <a:solidFill>
                <a:schemeClr val="accent6"/>
              </a:solidFill>
            </a:endParaRPr>
          </a:p>
          <a:p>
            <a:pPr marL="457200" indent="-457200" algn="l">
              <a:buAutoNum type="arabicParenR"/>
            </a:pPr>
            <a:r>
              <a:rPr lang="en-US" sz="2000" kern="0" spc="-220" dirty="0">
                <a:solidFill>
                  <a:schemeClr val="accent6"/>
                </a:solidFill>
              </a:rPr>
              <a:t>And </a:t>
            </a:r>
            <a:r>
              <a:rPr lang="en-US" sz="2000" kern="0" spc="-220" dirty="0" err="1">
                <a:solidFill>
                  <a:schemeClr val="accent6"/>
                </a:solidFill>
              </a:rPr>
              <a:t>ofcourse</a:t>
            </a:r>
            <a:r>
              <a:rPr lang="en-US" sz="2000" kern="0" spc="-220" dirty="0">
                <a:solidFill>
                  <a:schemeClr val="accent6"/>
                </a:solidFill>
              </a:rPr>
              <a:t> can be used for any </a:t>
            </a:r>
            <a:r>
              <a:rPr lang="en-US" sz="2000" kern="0" spc="-220" dirty="0" err="1">
                <a:solidFill>
                  <a:schemeClr val="accent6"/>
                </a:solidFill>
              </a:rPr>
              <a:t>Linq</a:t>
            </a:r>
            <a:r>
              <a:rPr lang="en-US" sz="2000" kern="0" spc="-220" dirty="0">
                <a:solidFill>
                  <a:schemeClr val="accent6"/>
                </a:solidFill>
              </a:rPr>
              <a:t> to In-Memory Objects viz. </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Objects</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XML</a:t>
            </a:r>
          </a:p>
          <a:p>
            <a:pPr algn="l"/>
            <a:r>
              <a:rPr lang="en-US" sz="2000" kern="0" spc="-220" dirty="0">
                <a:solidFill>
                  <a:schemeClr val="accent6"/>
                </a:solidFill>
              </a:rPr>
              <a:t>         Probably </a:t>
            </a:r>
            <a:r>
              <a:rPr lang="en-US" sz="2000" kern="0" spc="-220" dirty="0" err="1">
                <a:solidFill>
                  <a:schemeClr val="accent6"/>
                </a:solidFill>
              </a:rPr>
              <a:t>Linq</a:t>
            </a:r>
            <a:r>
              <a:rPr lang="en-US" sz="2000" kern="0" spc="-220" dirty="0">
                <a:solidFill>
                  <a:schemeClr val="accent6"/>
                </a:solidFill>
              </a:rPr>
              <a:t> to Json as well</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50232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a:t>
            </a:r>
          </a:p>
          <a:p>
            <a:pPr algn="l"/>
            <a:r>
              <a:rPr lang="en-US" sz="2000" kern="0" spc="-220" dirty="0">
                <a:solidFill>
                  <a:schemeClr val="accent6"/>
                </a:solidFill>
              </a:rPr>
              <a:t>Can </a:t>
            </a:r>
            <a:r>
              <a:rPr lang="en-US" sz="2000" kern="0" spc="-220" dirty="0" err="1">
                <a:solidFill>
                  <a:schemeClr val="accent6"/>
                </a:solidFill>
              </a:rPr>
              <a:t>IQueryable</a:t>
            </a:r>
            <a:r>
              <a:rPr lang="en-US" sz="2000" kern="0" spc="-220" dirty="0">
                <a:solidFill>
                  <a:schemeClr val="accent6"/>
                </a:solidFill>
              </a:rPr>
              <a:t> be used </a:t>
            </a:r>
            <a:r>
              <a:rPr lang="en-US" sz="2000" kern="0" spc="-220" dirty="0">
                <a:solidFill>
                  <a:schemeClr val="tx2">
                    <a:lumMod val="60000"/>
                    <a:lumOff val="40000"/>
                  </a:schemeClr>
                </a:solidFill>
              </a:rPr>
              <a:t>only</a:t>
            </a:r>
            <a:r>
              <a:rPr lang="en-US" sz="2000" kern="0" spc="-220" dirty="0">
                <a:solidFill>
                  <a:schemeClr val="accent6"/>
                </a:solidFill>
              </a:rPr>
              <a:t> to interact with DBs(maybe using EF)?</a:t>
            </a:r>
            <a:endParaRPr lang="en-US" sz="2400" kern="0" spc="-220" dirty="0">
              <a:solidFill>
                <a:schemeClr val="accent6"/>
              </a:solidFill>
            </a:endParaRPr>
          </a:p>
        </p:txBody>
      </p:sp>
      <p:sp>
        <p:nvSpPr>
          <p:cNvPr id="7" name="object 2">
            <a:extLst>
              <a:ext uri="{FF2B5EF4-FFF2-40B4-BE49-F238E27FC236}">
                <a16:creationId xmlns:a16="http://schemas.microsoft.com/office/drawing/2014/main" id="{3AED2CEC-D4E4-13C6-13E0-B2818C02CCEF}"/>
              </a:ext>
            </a:extLst>
          </p:cNvPr>
          <p:cNvSpPr txBox="1">
            <a:spLocks/>
          </p:cNvSpPr>
          <p:nvPr/>
        </p:nvSpPr>
        <p:spPr>
          <a:xfrm>
            <a:off x="304800" y="1371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Fluent Syntax vs Query Syntax -  </a:t>
            </a:r>
          </a:p>
          <a:p>
            <a:pPr algn="l"/>
            <a:r>
              <a:rPr lang="en-US" sz="2000" kern="0" spc="-220" dirty="0">
                <a:solidFill>
                  <a:schemeClr val="accent6"/>
                </a:solidFill>
              </a:rPr>
              <a:t>Fluent Syntax – More Readable but a bit less performant</a:t>
            </a:r>
          </a:p>
          <a:p>
            <a:pPr algn="l"/>
            <a:r>
              <a:rPr lang="en-US" sz="2000" kern="0" spc="-220" dirty="0">
                <a:solidFill>
                  <a:schemeClr val="accent6"/>
                </a:solidFill>
              </a:rPr>
              <a:t>Query Syntax – Less Readable but a bit more performant</a:t>
            </a:r>
          </a:p>
        </p:txBody>
      </p:sp>
    </p:spTree>
    <p:extLst>
      <p:ext uri="{BB962C8B-B14F-4D97-AF65-F5344CB8AC3E}">
        <p14:creationId xmlns:p14="http://schemas.microsoft.com/office/powerpoint/2010/main" val="23988095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2438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  </a:t>
            </a:r>
          </a:p>
          <a:p>
            <a:pPr algn="l"/>
            <a:r>
              <a:rPr lang="en-US" sz="2000" kern="0" spc="-220" dirty="0">
                <a:solidFill>
                  <a:schemeClr val="accent6"/>
                </a:solidFill>
              </a:rPr>
              <a:t>Actually </a:t>
            </a:r>
            <a:r>
              <a:rPr lang="en-US" sz="2000" kern="0" spc="-220" dirty="0" err="1">
                <a:solidFill>
                  <a:schemeClr val="accent6"/>
                </a:solidFill>
              </a:rPr>
              <a:t>IQueryable</a:t>
            </a:r>
            <a:r>
              <a:rPr lang="en-US" sz="2000" kern="0" spc="-220" dirty="0">
                <a:solidFill>
                  <a:schemeClr val="accent6"/>
                </a:solidFill>
              </a:rPr>
              <a:t> can be used to interact with any external source(DBs, APIs, MQ </a:t>
            </a:r>
            <a:r>
              <a:rPr lang="en-US" sz="2000" kern="0" spc="-220" dirty="0" err="1">
                <a:solidFill>
                  <a:schemeClr val="accent6"/>
                </a:solidFill>
              </a:rPr>
              <a:t>etc</a:t>
            </a:r>
            <a:r>
              <a:rPr lang="en-US" sz="2000" kern="0" spc="-220" dirty="0">
                <a:solidFill>
                  <a:schemeClr val="accent6"/>
                </a:solidFill>
              </a:rPr>
              <a:t>)</a:t>
            </a:r>
          </a:p>
          <a:p>
            <a:pPr algn="l"/>
            <a:r>
              <a:rPr lang="en-US" sz="2000" kern="0" spc="-220" dirty="0">
                <a:solidFill>
                  <a:schemeClr val="accent6"/>
                </a:solidFill>
              </a:rPr>
              <a:t>Example of </a:t>
            </a:r>
            <a:r>
              <a:rPr lang="en-US" sz="2000" kern="0" spc="-220" dirty="0" err="1">
                <a:solidFill>
                  <a:schemeClr val="accent6"/>
                </a:solidFill>
              </a:rPr>
              <a:t>IQueryable</a:t>
            </a:r>
            <a:r>
              <a:rPr lang="en-US" sz="2000" kern="0" spc="-220" dirty="0">
                <a:solidFill>
                  <a:schemeClr val="accent6"/>
                </a:solidFill>
              </a:rPr>
              <a:t> Usage other than DBs – </a:t>
            </a:r>
          </a:p>
          <a:p>
            <a:pPr algn="l"/>
            <a:r>
              <a:rPr lang="en-US" sz="2000" kern="0" spc="-220" dirty="0">
                <a:solidFill>
                  <a:schemeClr val="accent6"/>
                </a:solidFill>
                <a:hlinkClick r:id="rId7"/>
              </a:rPr>
              <a:t>https://weblogs.asp.net/mehfuzh/creating-linqtotwitter-library-using-linqextender</a:t>
            </a:r>
            <a:r>
              <a:rPr lang="en-US" sz="2000" kern="0" spc="-220" dirty="0">
                <a:solidFill>
                  <a:schemeClr val="accent6"/>
                </a:solidFill>
              </a:rPr>
              <a:t> </a:t>
            </a:r>
          </a:p>
        </p:txBody>
      </p:sp>
    </p:spTree>
    <p:extLst>
      <p:ext uri="{BB962C8B-B14F-4D97-AF65-F5344CB8AC3E}">
        <p14:creationId xmlns:p14="http://schemas.microsoft.com/office/powerpoint/2010/main" val="9244064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1026" name="Picture 2" descr="No alternative text description for this image">
            <a:extLst>
              <a:ext uri="{FF2B5EF4-FFF2-40B4-BE49-F238E27FC236}">
                <a16:creationId xmlns:a16="http://schemas.microsoft.com/office/drawing/2014/main" id="{0E5B245B-DF72-B6BB-7DFC-0D74EF67A3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143000"/>
            <a:ext cx="9067800" cy="406193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4DC6B3B2-1782-7B7D-6526-9478B8893CD0}"/>
              </a:ext>
            </a:extLst>
          </p:cNvPr>
          <p:cNvSpPr txBox="1">
            <a:spLocks/>
          </p:cNvSpPr>
          <p:nvPr/>
        </p:nvSpPr>
        <p:spPr>
          <a:xfrm>
            <a:off x="228600" y="5204936"/>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400" kern="0" spc="-220" dirty="0">
                <a:solidFill>
                  <a:schemeClr val="accent6"/>
                </a:solidFill>
                <a:hlinkClick r:id="rId8"/>
              </a:rPr>
              <a:t>https://lukewickstead.wordpress.com/2014/02/07/processes-threads-appdomains-object-contexts</a:t>
            </a:r>
            <a:endParaRPr lang="en-US" sz="1600" kern="0" spc="-220" dirty="0">
              <a:solidFill>
                <a:schemeClr val="accent6"/>
              </a:solidFill>
            </a:endParaRPr>
          </a:p>
        </p:txBody>
      </p:sp>
    </p:spTree>
    <p:extLst>
      <p:ext uri="{BB962C8B-B14F-4D97-AF65-F5344CB8AC3E}">
        <p14:creationId xmlns:p14="http://schemas.microsoft.com/office/powerpoint/2010/main" val="31346238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86750694"/>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graphicFrame>
        <p:nvGraphicFramePr>
          <p:cNvPr id="15" name="Table 14">
            <a:extLst>
              <a:ext uri="{FF2B5EF4-FFF2-40B4-BE49-F238E27FC236}">
                <a16:creationId xmlns:a16="http://schemas.microsoft.com/office/drawing/2014/main" id="{48478E13-B33F-B596-C414-350401705CFE}"/>
              </a:ext>
            </a:extLst>
          </p:cNvPr>
          <p:cNvGraphicFramePr>
            <a:graphicFrameLocks noGrp="1"/>
          </p:cNvGraphicFramePr>
          <p:nvPr>
            <p:extLst>
              <p:ext uri="{D42A27DB-BD31-4B8C-83A1-F6EECF244321}">
                <p14:modId xmlns:p14="http://schemas.microsoft.com/office/powerpoint/2010/main" val="2457000032"/>
              </p:ext>
            </p:extLst>
          </p:nvPr>
        </p:nvGraphicFramePr>
        <p:xfrm>
          <a:off x="76200" y="1066800"/>
          <a:ext cx="8991600" cy="4953000"/>
        </p:xfrm>
        <a:graphic>
          <a:graphicData uri="http://schemas.openxmlformats.org/drawingml/2006/table">
            <a:tbl>
              <a:tblPr firstRow="1" bandRow="1">
                <a:tableStyleId>{5C22544A-7EE6-4342-B048-85BDC9FD1C3A}</a:tableStyleId>
              </a:tblPr>
              <a:tblGrid>
                <a:gridCol w="1355106">
                  <a:extLst>
                    <a:ext uri="{9D8B030D-6E8A-4147-A177-3AD203B41FA5}">
                      <a16:colId xmlns:a16="http://schemas.microsoft.com/office/drawing/2014/main" val="1786937020"/>
                    </a:ext>
                  </a:extLst>
                </a:gridCol>
                <a:gridCol w="3216894">
                  <a:extLst>
                    <a:ext uri="{9D8B030D-6E8A-4147-A177-3AD203B41FA5}">
                      <a16:colId xmlns:a16="http://schemas.microsoft.com/office/drawing/2014/main" val="1108411683"/>
                    </a:ext>
                  </a:extLst>
                </a:gridCol>
                <a:gridCol w="4419600">
                  <a:extLst>
                    <a:ext uri="{9D8B030D-6E8A-4147-A177-3AD203B41FA5}">
                      <a16:colId xmlns:a16="http://schemas.microsoft.com/office/drawing/2014/main" val="3284897530"/>
                    </a:ext>
                  </a:extLst>
                </a:gridCol>
              </a:tblGrid>
              <a:tr h="389216">
                <a:tc>
                  <a:txBody>
                    <a:bodyPr/>
                    <a:lstStyle/>
                    <a:p>
                      <a:endParaRPr lang="en-IN"/>
                    </a:p>
                  </a:txBody>
                  <a:tcPr/>
                </a:tc>
                <a:tc>
                  <a:txBody>
                    <a:bodyPr/>
                    <a:lstStyle/>
                    <a:p>
                      <a:r>
                        <a:rPr lang="en-US" sz="1600" dirty="0"/>
                        <a:t>When to Use</a:t>
                      </a:r>
                      <a:endParaRPr lang="en-IN" sz="1600" dirty="0"/>
                    </a:p>
                  </a:txBody>
                  <a:tcPr/>
                </a:tc>
                <a:tc>
                  <a:txBody>
                    <a:bodyPr/>
                    <a:lstStyle/>
                    <a:p>
                      <a:r>
                        <a:rPr lang="en-US" sz="1600" dirty="0"/>
                        <a:t>Comment(s)/Example(s)</a:t>
                      </a:r>
                      <a:endParaRPr lang="en-IN" sz="1600" dirty="0"/>
                    </a:p>
                  </a:txBody>
                  <a:tcPr/>
                </a:tc>
                <a:extLst>
                  <a:ext uri="{0D108BD9-81ED-4DB2-BD59-A6C34878D82A}">
                    <a16:rowId xmlns:a16="http://schemas.microsoft.com/office/drawing/2014/main" val="2947363692"/>
                  </a:ext>
                </a:extLst>
              </a:tr>
              <a:tr h="1556862">
                <a:tc>
                  <a:txBody>
                    <a:bodyPr/>
                    <a:lstStyle/>
                    <a:p>
                      <a:r>
                        <a:rPr lang="en-US" sz="1600" dirty="0"/>
                        <a:t>Thread</a:t>
                      </a:r>
                      <a:endParaRPr lang="en-IN" sz="1600" dirty="0"/>
                    </a:p>
                  </a:txBody>
                  <a:tcPr/>
                </a:tc>
                <a:tc>
                  <a:txBody>
                    <a:bodyPr/>
                    <a:lstStyle/>
                    <a:p>
                      <a:r>
                        <a:rPr lang="en-US" sz="1600" dirty="0"/>
                        <a:t>When you need to control at the minutest level how these are managed(created, started, resumed, stopped etc.)</a:t>
                      </a:r>
                      <a:endParaRPr lang="en-IN" sz="1600" dirty="0"/>
                    </a:p>
                  </a:txBody>
                  <a:tcPr/>
                </a:tc>
                <a:tc>
                  <a:txBody>
                    <a:bodyPr/>
                    <a:lstStyle/>
                    <a:p>
                      <a:r>
                        <a:rPr lang="en-IN" sz="1600" dirty="0">
                          <a:hlinkClick r:id="rId7"/>
                        </a:rPr>
                        <a:t>https://dotnettutorials.net/lesson/how-to-pass-data-to-the-thread-function-in-a-type-safe-manner/</a:t>
                      </a:r>
                      <a:endParaRPr lang="en-IN" sz="1600" dirty="0"/>
                    </a:p>
                    <a:p>
                      <a:r>
                        <a:rPr lang="en-IN" sz="1600" dirty="0">
                          <a:hlinkClick r:id="rId8"/>
                        </a:rPr>
                        <a:t>https://dotnettutorials.net/lesson/how-to-retrieve-data-from-a-thread-function/</a:t>
                      </a:r>
                      <a:r>
                        <a:rPr lang="en-IN" sz="1600" dirty="0"/>
                        <a:t>  </a:t>
                      </a:r>
                    </a:p>
                  </a:txBody>
                  <a:tcPr/>
                </a:tc>
                <a:extLst>
                  <a:ext uri="{0D108BD9-81ED-4DB2-BD59-A6C34878D82A}">
                    <a16:rowId xmlns:a16="http://schemas.microsoft.com/office/drawing/2014/main" val="1358888461"/>
                  </a:ext>
                </a:extLst>
              </a:tr>
              <a:tr h="1169825">
                <a:tc>
                  <a:txBody>
                    <a:bodyPr/>
                    <a:lstStyle/>
                    <a:p>
                      <a:r>
                        <a:rPr lang="en-US" dirty="0" err="1"/>
                        <a:t>ThreadPool</a:t>
                      </a:r>
                      <a:endParaRPr lang="en-IN" dirty="0"/>
                    </a:p>
                  </a:txBody>
                  <a:tcPr/>
                </a:tc>
                <a:tc>
                  <a:txBody>
                    <a:bodyPr/>
                    <a:lstStyle/>
                    <a:p>
                      <a:r>
                        <a:rPr lang="en-US" sz="1600" b="0" i="0" dirty="0">
                          <a:solidFill>
                            <a:schemeClr val="dk1"/>
                          </a:solidFill>
                          <a:effectLst/>
                          <a:latin typeface="+mn-lt"/>
                          <a:ea typeface="+mn-ea"/>
                          <a:cs typeface="+mn-cs"/>
                        </a:rPr>
                        <a:t>Primarily used to reuse  application threads and provide management of the worker threads. </a:t>
                      </a:r>
                      <a:endParaRPr lang="en-IN" sz="1600" dirty="0"/>
                    </a:p>
                  </a:txBody>
                  <a:tcPr/>
                </a:tc>
                <a:tc>
                  <a:txBody>
                    <a:bodyPr/>
                    <a:lstStyle/>
                    <a:p>
                      <a:r>
                        <a:rPr lang="en-IN" sz="1600" dirty="0">
                          <a:hlinkClick r:id="rId9"/>
                        </a:rPr>
                        <a:t>https://learn.microsoft.com/en-us/windows/win32/procthread/thread-pools</a:t>
                      </a:r>
                      <a:r>
                        <a:rPr lang="en-IN" sz="1600" dirty="0"/>
                        <a:t> </a:t>
                      </a:r>
                    </a:p>
                    <a:p>
                      <a:r>
                        <a:rPr lang="en-IN" sz="1600" dirty="0"/>
                        <a:t>(check how data can be passed to [&amp; back from] </a:t>
                      </a:r>
                      <a:r>
                        <a:rPr lang="en-IN" sz="1600" dirty="0" err="1"/>
                        <a:t>ThreadPool</a:t>
                      </a:r>
                      <a:r>
                        <a:rPr lang="en-IN" sz="1600" dirty="0"/>
                        <a:t>)</a:t>
                      </a:r>
                    </a:p>
                  </a:txBody>
                  <a:tcPr/>
                </a:tc>
                <a:extLst>
                  <a:ext uri="{0D108BD9-81ED-4DB2-BD59-A6C34878D82A}">
                    <a16:rowId xmlns:a16="http://schemas.microsoft.com/office/drawing/2014/main" val="34980675"/>
                  </a:ext>
                </a:extLst>
              </a:tr>
              <a:tr h="1837097">
                <a:tc>
                  <a:txBody>
                    <a:bodyPr/>
                    <a:lstStyle/>
                    <a:p>
                      <a:r>
                        <a:rPr lang="en-US" dirty="0"/>
                        <a:t>Task</a:t>
                      </a:r>
                      <a:endParaRPr lang="en-IN" dirty="0"/>
                    </a:p>
                  </a:txBody>
                  <a:tcPr/>
                </a:tc>
                <a:tc>
                  <a:txBody>
                    <a:bodyPr/>
                    <a:lstStyle/>
                    <a:p>
                      <a:r>
                        <a:rPr lang="en-US" sz="1600" dirty="0"/>
                        <a:t>Internally a Thread only but managed via the </a:t>
                      </a:r>
                      <a:r>
                        <a:rPr lang="en-US" sz="1600" dirty="0" err="1"/>
                        <a:t>ThreadPool</a:t>
                      </a:r>
                      <a:r>
                        <a:rPr lang="en-US" sz="1600" dirty="0"/>
                        <a:t>.</a:t>
                      </a:r>
                    </a:p>
                    <a:p>
                      <a:endParaRPr lang="en-IN" sz="1600" dirty="0"/>
                    </a:p>
                  </a:txBody>
                  <a:tcPr/>
                </a:tc>
                <a:tc>
                  <a:txBody>
                    <a:bodyPr/>
                    <a:lstStyle/>
                    <a:p>
                      <a:r>
                        <a:rPr lang="en-IN" sz="1600" dirty="0">
                          <a:hlinkClick r:id="rId10"/>
                        </a:rPr>
                        <a:t>https://stackoverflow.com/questions/4130194/what-is-the-difference-between-task-and-thread</a:t>
                      </a:r>
                      <a:r>
                        <a:rPr lang="en-IN" sz="1600" dirty="0"/>
                        <a:t> </a:t>
                      </a:r>
                    </a:p>
                    <a:p>
                      <a:r>
                        <a:rPr lang="en-IN" sz="1600" dirty="0">
                          <a:hlinkClick r:id="rId11"/>
                        </a:rPr>
                        <a:t>https://learn.microsoft.com/en-us/dotnet/api/system.threading.tasks.task?view=net-8.0</a:t>
                      </a:r>
                      <a:r>
                        <a:rPr lang="en-IN" sz="1600" dirty="0"/>
                        <a:t> </a:t>
                      </a:r>
                    </a:p>
                    <a:p>
                      <a:pPr marL="0" marR="0" lvl="0" indent="0" defTabSz="914400" eaLnBrk="1" fontAlgn="auto" latinLnBrk="0" hangingPunct="1">
                        <a:lnSpc>
                          <a:spcPct val="100000"/>
                        </a:lnSpc>
                        <a:spcBef>
                          <a:spcPts val="0"/>
                        </a:spcBef>
                        <a:spcAft>
                          <a:spcPts val="0"/>
                        </a:spcAft>
                        <a:buClrTx/>
                        <a:buSzTx/>
                        <a:buFontTx/>
                        <a:buNone/>
                        <a:tabLst/>
                        <a:defRPr/>
                      </a:pPr>
                      <a:r>
                        <a:rPr lang="en-IN" sz="1600" dirty="0"/>
                        <a:t>(check how data can be passed to [&amp; back from] Task)</a:t>
                      </a:r>
                    </a:p>
                  </a:txBody>
                  <a:tcPr/>
                </a:tc>
                <a:extLst>
                  <a:ext uri="{0D108BD9-81ED-4DB2-BD59-A6C34878D82A}">
                    <a16:rowId xmlns:a16="http://schemas.microsoft.com/office/drawing/2014/main" val="3670476645"/>
                  </a:ext>
                </a:extLst>
              </a:tr>
            </a:tbl>
          </a:graphicData>
        </a:graphic>
      </p:graphicFrame>
    </p:spTree>
    <p:extLst>
      <p:ext uri="{BB962C8B-B14F-4D97-AF65-F5344CB8AC3E}">
        <p14:creationId xmlns:p14="http://schemas.microsoft.com/office/powerpoint/2010/main" val="33007021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2995782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409105"/>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Main Reason(s)/Advantages for </a:t>
            </a:r>
            <a:r>
              <a:rPr lang="en-US" sz="2000" kern="0" spc="-220" dirty="0" err="1">
                <a:solidFill>
                  <a:schemeClr val="accent2"/>
                </a:solidFill>
              </a:rPr>
              <a:t>MultiThreading</a:t>
            </a:r>
            <a:r>
              <a:rPr lang="en-US" sz="2000" kern="0" spc="-220" dirty="0">
                <a:solidFill>
                  <a:schemeClr val="accent2"/>
                </a:solidFill>
              </a:rPr>
              <a:t> – </a:t>
            </a:r>
          </a:p>
          <a:p>
            <a:pPr algn="l"/>
            <a:r>
              <a:rPr lang="en-US" sz="2000" kern="0" spc="-220" dirty="0">
                <a:solidFill>
                  <a:schemeClr val="accent6"/>
                </a:solidFill>
              </a:rPr>
              <a:t> 1) Scalability using </a:t>
            </a:r>
            <a:r>
              <a:rPr lang="en-US" sz="2000" kern="0" spc="-220" dirty="0">
                <a:solidFill>
                  <a:schemeClr val="tx2">
                    <a:lumMod val="60000"/>
                    <a:lumOff val="40000"/>
                  </a:schemeClr>
                </a:solidFill>
              </a:rPr>
              <a:t>Worker Threads</a:t>
            </a:r>
            <a:r>
              <a:rPr lang="en-US" sz="2000" kern="0" spc="-220" dirty="0">
                <a:solidFill>
                  <a:schemeClr val="accent6"/>
                </a:solidFill>
              </a:rPr>
              <a:t>. Also, each thread can perform different/similar operation if needed. </a:t>
            </a:r>
          </a:p>
          <a:p>
            <a:pPr algn="l"/>
            <a:r>
              <a:rPr lang="en-US" sz="2000" kern="0" spc="-220" dirty="0">
                <a:solidFill>
                  <a:schemeClr val="accent6"/>
                </a:solidFill>
              </a:rPr>
              <a:t>       Applications built using Thread Scalability – </a:t>
            </a:r>
          </a:p>
          <a:p>
            <a:r>
              <a:rPr lang="en-US" sz="2000" kern="0" spc="-220" dirty="0">
                <a:solidFill>
                  <a:schemeClr val="accent6"/>
                </a:solidFill>
              </a:rPr>
              <a:t>       a) Building High Performant Schedulers</a:t>
            </a:r>
          </a:p>
          <a:p>
            <a:r>
              <a:rPr lang="en-US" sz="2000" kern="0" spc="-220" dirty="0">
                <a:solidFill>
                  <a:schemeClr val="accent6"/>
                </a:solidFill>
              </a:rPr>
              <a:t>       b) Building High Performant servers in Client-Server model. Ultimately,</a:t>
            </a:r>
          </a:p>
          <a:p>
            <a:r>
              <a:rPr lang="en-US" sz="2000" kern="0" spc="-220" dirty="0">
                <a:solidFill>
                  <a:schemeClr val="accent6"/>
                </a:solidFill>
              </a:rPr>
              <a:t>            servers are continuously running schedulers listening for some network </a:t>
            </a:r>
          </a:p>
          <a:p>
            <a:r>
              <a:rPr lang="en-US" sz="2000" kern="0" spc="-220" dirty="0">
                <a:solidFill>
                  <a:schemeClr val="accent6"/>
                </a:solidFill>
              </a:rPr>
              <a:t>            protocol(s) based requests.</a:t>
            </a:r>
          </a:p>
          <a:p>
            <a:pPr algn="l"/>
            <a:r>
              <a:rPr lang="en-US" sz="2000" kern="0" spc="-220" dirty="0">
                <a:solidFill>
                  <a:schemeClr val="accent6"/>
                </a:solidFill>
              </a:rPr>
              <a:t> 2) UI(/Client) Responsiveness(using </a:t>
            </a:r>
            <a:r>
              <a:rPr lang="en-US" sz="2000" kern="0" spc="-220" dirty="0">
                <a:solidFill>
                  <a:schemeClr val="tx2">
                    <a:lumMod val="60000"/>
                    <a:lumOff val="40000"/>
                  </a:schemeClr>
                </a:solidFill>
              </a:rPr>
              <a:t>async Threads</a:t>
            </a:r>
            <a:r>
              <a:rPr lang="en-US" sz="2000" kern="0" spc="-220" dirty="0">
                <a:solidFill>
                  <a:schemeClr val="accent6"/>
                </a:solidFill>
              </a:rPr>
              <a:t>)</a:t>
            </a:r>
          </a:p>
          <a:p>
            <a:pPr algn="l"/>
            <a:r>
              <a:rPr lang="en-US" sz="2000" kern="0" spc="-220" dirty="0">
                <a:solidFill>
                  <a:schemeClr val="accent6"/>
                </a:solidFill>
              </a:rPr>
              <a:t> 3) Resource Sharing  - but this can create problems also as depicted below</a:t>
            </a:r>
          </a:p>
          <a:p>
            <a:pPr algn="l"/>
            <a:endParaRPr lang="en-US" sz="2000" kern="0" spc="-220" dirty="0">
              <a:solidFill>
                <a:schemeClr val="accent6"/>
              </a:solidFill>
            </a:endParaRPr>
          </a:p>
          <a:p>
            <a:pPr algn="l"/>
            <a:r>
              <a:rPr lang="en-US" sz="2000" kern="0" spc="-220" dirty="0">
                <a:solidFill>
                  <a:schemeClr val="accent6"/>
                </a:solidFill>
              </a:rPr>
              <a:t> </a:t>
            </a:r>
            <a:r>
              <a:rPr lang="en-US" sz="2000" kern="0" spc="-220" dirty="0">
                <a:solidFill>
                  <a:schemeClr val="accent2"/>
                </a:solidFill>
              </a:rPr>
              <a:t>Shared Resource Concurrent Access Issues – </a:t>
            </a:r>
          </a:p>
          <a:p>
            <a:pPr algn="l"/>
            <a:r>
              <a:rPr lang="en-US" sz="2000" kern="0" spc="-220" dirty="0">
                <a:solidFill>
                  <a:schemeClr val="accent2"/>
                </a:solidFill>
              </a:rPr>
              <a:t>  </a:t>
            </a:r>
            <a:r>
              <a:rPr lang="en-US" sz="2000" kern="0" spc="-220" dirty="0">
                <a:solidFill>
                  <a:schemeClr val="accent6"/>
                </a:solidFill>
              </a:rPr>
              <a:t>Unpredictable Values </a:t>
            </a:r>
          </a:p>
          <a:p>
            <a:pPr algn="l"/>
            <a:r>
              <a:rPr lang="en-US" sz="2000" kern="0" spc="-220" dirty="0">
                <a:solidFill>
                  <a:schemeClr val="accent2"/>
                </a:solidFill>
              </a:rPr>
              <a:t>  </a:t>
            </a:r>
            <a:r>
              <a:rPr lang="en-US" sz="2000" kern="0" spc="-220" dirty="0">
                <a:solidFill>
                  <a:schemeClr val="accent6"/>
                </a:solidFill>
              </a:rPr>
              <a:t>Race Condition</a:t>
            </a:r>
          </a:p>
          <a:p>
            <a:pPr algn="l"/>
            <a:r>
              <a:rPr lang="en-US" sz="2000" kern="0" spc="-220" dirty="0">
                <a:solidFill>
                  <a:schemeClr val="accent6"/>
                </a:solidFill>
              </a:rPr>
              <a:t>  Dead Lock</a:t>
            </a:r>
          </a:p>
        </p:txBody>
      </p:sp>
    </p:spTree>
    <p:extLst>
      <p:ext uri="{BB962C8B-B14F-4D97-AF65-F5344CB8AC3E}">
        <p14:creationId xmlns:p14="http://schemas.microsoft.com/office/powerpoint/2010/main" val="34620955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359817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066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Race Condition – </a:t>
            </a:r>
          </a:p>
          <a:p>
            <a:pPr algn="l"/>
            <a:r>
              <a:rPr lang="en-US" sz="2000" kern="0" spc="-220" dirty="0">
                <a:solidFill>
                  <a:schemeClr val="accent6"/>
                </a:solidFill>
              </a:rPr>
              <a:t>A race condition happens when two or more threads want to update shared data at the same time</a:t>
            </a:r>
            <a:r>
              <a:rPr lang="en-US" sz="1200" b="0" i="0" dirty="0">
                <a:solidFill>
                  <a:srgbClr val="000000"/>
                </a:solidFill>
                <a:effectLst/>
                <a:latin typeface="arial" panose="020B0604020202020204" pitchFamily="34" charset="0"/>
              </a:rPr>
              <a:t>. </a:t>
            </a:r>
          </a:p>
          <a:p>
            <a:pPr algn="l"/>
            <a:r>
              <a:rPr lang="en-US" sz="2000" dirty="0">
                <a:solidFill>
                  <a:schemeClr val="dk1"/>
                </a:solidFill>
                <a:latin typeface="+mn-lt"/>
                <a:ea typeface="+mn-ea"/>
                <a:cs typeface="+mn-cs"/>
                <a:hlinkClick r:id="rId7"/>
              </a:rPr>
              <a:t>https://www.wallarm.com/what/what-is-a-race-condition</a:t>
            </a:r>
            <a:endParaRPr lang="en-US" dirty="0">
              <a:solidFill>
                <a:schemeClr val="dk1"/>
              </a:solidFill>
              <a:latin typeface="+mn-lt"/>
              <a:ea typeface="+mn-ea"/>
              <a:cs typeface="+mn-cs"/>
            </a:endParaRPr>
          </a:p>
          <a:p>
            <a:pPr algn="l"/>
            <a:r>
              <a:rPr lang="en-US" sz="2000" kern="0" spc="-220" dirty="0">
                <a:solidFill>
                  <a:schemeClr val="accent2"/>
                </a:solidFill>
              </a:rPr>
              <a:t>Dead Lock - </a:t>
            </a:r>
          </a:p>
        </p:txBody>
      </p:sp>
      <p:sp>
        <p:nvSpPr>
          <p:cNvPr id="8" name="AutoShape 4" descr="Deadlock Interview Questions and Answers in C#">
            <a:extLst>
              <a:ext uri="{FF2B5EF4-FFF2-40B4-BE49-F238E27FC236}">
                <a16:creationId xmlns:a16="http://schemas.microsoft.com/office/drawing/2014/main" id="{AD348A42-3BB4-8BBA-07FE-6A92F9AC0B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6" name="Picture 15">
            <a:extLst>
              <a:ext uri="{FF2B5EF4-FFF2-40B4-BE49-F238E27FC236}">
                <a16:creationId xmlns:a16="http://schemas.microsoft.com/office/drawing/2014/main" id="{7977DE98-1D5F-1973-77A0-A9E6866A3916}"/>
              </a:ext>
            </a:extLst>
          </p:cNvPr>
          <p:cNvPicPr>
            <a:picLocks noChangeAspect="1"/>
          </p:cNvPicPr>
          <p:nvPr/>
        </p:nvPicPr>
        <p:blipFill>
          <a:blip r:embed="rId8"/>
          <a:stretch>
            <a:fillRect/>
          </a:stretch>
        </p:blipFill>
        <p:spPr>
          <a:xfrm>
            <a:off x="1295400" y="2819400"/>
            <a:ext cx="5639090" cy="2336920"/>
          </a:xfrm>
          <a:prstGeom prst="rect">
            <a:avLst/>
          </a:prstGeom>
        </p:spPr>
      </p:pic>
    </p:spTree>
    <p:extLst>
      <p:ext uri="{BB962C8B-B14F-4D97-AF65-F5344CB8AC3E}">
        <p14:creationId xmlns:p14="http://schemas.microsoft.com/office/powerpoint/2010/main" val="20746157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59115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Necessary Conditions for Dead Lock – </a:t>
            </a:r>
          </a:p>
          <a:p>
            <a:pPr algn="just" fontAlgn="base">
              <a:buFont typeface="+mj-lt"/>
              <a:buAutoNum type="arabicPeriod"/>
            </a:pPr>
            <a:r>
              <a:rPr lang="en-US" sz="2000" kern="0" spc="-220" dirty="0">
                <a:solidFill>
                  <a:schemeClr val="accent2"/>
                </a:solidFill>
              </a:rPr>
              <a:t>Mutual Exclusion: </a:t>
            </a:r>
            <a:r>
              <a:rPr lang="en-US" sz="2000" kern="0" spc="-220" dirty="0">
                <a:solidFill>
                  <a:schemeClr val="accent6"/>
                </a:solidFill>
              </a:rPr>
              <a:t>Resources involved must be </a:t>
            </a:r>
            <a:r>
              <a:rPr lang="en-US" sz="2000" kern="0" spc="-220" dirty="0" err="1">
                <a:solidFill>
                  <a:schemeClr val="accent6"/>
                </a:solidFill>
              </a:rPr>
              <a:t>unshareable</a:t>
            </a:r>
            <a:r>
              <a:rPr lang="en-US" sz="2000" kern="0" spc="-220" dirty="0">
                <a:solidFill>
                  <a:schemeClr val="accent6"/>
                </a:solidFill>
              </a:rPr>
              <a:t> between multiple threads.</a:t>
            </a:r>
          </a:p>
          <a:p>
            <a:pPr algn="just" fontAlgn="base">
              <a:buFont typeface="+mj-lt"/>
              <a:buAutoNum type="arabicPeriod"/>
            </a:pPr>
            <a:r>
              <a:rPr lang="en-US" sz="2000" kern="0" spc="-220" dirty="0">
                <a:solidFill>
                  <a:schemeClr val="accent2"/>
                </a:solidFill>
              </a:rPr>
              <a:t>Hold and Wait:</a:t>
            </a:r>
            <a:r>
              <a:rPr lang="en-US" sz="2000" kern="0" spc="-220" dirty="0">
                <a:solidFill>
                  <a:schemeClr val="accent6"/>
                </a:solidFill>
              </a:rPr>
              <a:t> Threads hold the resources they have allocated and wait for the resources they want.</a:t>
            </a:r>
          </a:p>
          <a:p>
            <a:pPr algn="just" fontAlgn="base">
              <a:buFont typeface="+mj-lt"/>
              <a:buAutoNum type="arabicPeriod"/>
            </a:pPr>
            <a:r>
              <a:rPr lang="en-US" sz="2000" kern="0" spc="-220" dirty="0">
                <a:solidFill>
                  <a:schemeClr val="accent2"/>
                </a:solidFill>
              </a:rPr>
              <a:t>No pre-emption: </a:t>
            </a:r>
            <a:r>
              <a:rPr lang="en-US" sz="2000" kern="0" spc="-220" dirty="0">
                <a:solidFill>
                  <a:schemeClr val="accent6"/>
                </a:solidFill>
              </a:rPr>
              <a:t>If the thread locks the resource, other threads cannot take the resource until the thread releases it.</a:t>
            </a:r>
          </a:p>
          <a:p>
            <a:pPr algn="just" fontAlgn="base">
              <a:buFont typeface="+mj-lt"/>
              <a:buAutoNum type="arabicPeriod"/>
            </a:pPr>
            <a:r>
              <a:rPr lang="en-US" sz="2000" kern="0" spc="-220" dirty="0">
                <a:solidFill>
                  <a:schemeClr val="accent2"/>
                </a:solidFill>
              </a:rPr>
              <a:t>Circular Wait:</a:t>
            </a:r>
            <a:r>
              <a:rPr lang="en-US" sz="2000" kern="0" spc="-220" dirty="0">
                <a:solidFill>
                  <a:schemeClr val="accent6"/>
                </a:solidFill>
              </a:rPr>
              <a:t> A circular chain must exist in which each thread waits for other threads to release resources.</a:t>
            </a:r>
          </a:p>
          <a:p>
            <a:pPr algn="just" fontAlgn="base"/>
            <a:endParaRPr lang="en-US" sz="2000" kern="0" spc="-220" dirty="0">
              <a:solidFill>
                <a:schemeClr val="accent6"/>
              </a:solidFill>
            </a:endParaRPr>
          </a:p>
          <a:p>
            <a:pPr algn="l"/>
            <a:r>
              <a:rPr lang="en-US" sz="2000" kern="0" spc="-220" dirty="0">
                <a:solidFill>
                  <a:schemeClr val="accent2"/>
                </a:solidFill>
              </a:rPr>
              <a:t>Solving Shared Resource Concurrent Access Issues –</a:t>
            </a:r>
          </a:p>
          <a:p>
            <a:pPr algn="l"/>
            <a:r>
              <a:rPr lang="en-US" sz="2000" kern="0" spc="-220" dirty="0">
                <a:solidFill>
                  <a:schemeClr val="accent6"/>
                </a:solidFill>
              </a:rPr>
              <a:t>Using some critical section(some form of lock) wherein only some limited number of Thread(s)[typically 1] can enter at a time(&amp;  others will be queued up until their time comes to enter the critical section) &amp; thus shared resource can’t be accessed concurrently by multiple threads at the same time &amp; thus the issue gets resolved. This is a form of </a:t>
            </a:r>
            <a:r>
              <a:rPr lang="en-US" sz="2000" kern="0" spc="-220" dirty="0">
                <a:solidFill>
                  <a:schemeClr val="tx2">
                    <a:lumMod val="60000"/>
                    <a:lumOff val="40000"/>
                  </a:schemeClr>
                </a:solidFill>
              </a:rPr>
              <a:t>Synchronization</a:t>
            </a:r>
            <a:r>
              <a:rPr lang="en-US" sz="2000" kern="0" spc="-220" dirty="0">
                <a:solidFill>
                  <a:schemeClr val="accent6"/>
                </a:solidFill>
              </a:rPr>
              <a:t>.</a:t>
            </a:r>
          </a:p>
          <a:p>
            <a:pPr algn="just" fontAlgn="base"/>
            <a:endParaRPr lang="en-US" sz="2000" kern="0" spc="-220" dirty="0">
              <a:solidFill>
                <a:schemeClr val="accent6"/>
              </a:solidFill>
            </a:endParaRPr>
          </a:p>
        </p:txBody>
      </p:sp>
    </p:spTree>
    <p:extLst>
      <p:ext uri="{BB962C8B-B14F-4D97-AF65-F5344CB8AC3E}">
        <p14:creationId xmlns:p14="http://schemas.microsoft.com/office/powerpoint/2010/main" val="15294000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99723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600" kern="0" spc="-220" dirty="0">
                <a:solidFill>
                  <a:schemeClr val="accent6"/>
                </a:solidFill>
              </a:rPr>
              <a:t>Synchronization is particularly important when threads access the same data. Its basically coordinating the actions of threads for a predictable outcome.</a:t>
            </a:r>
          </a:p>
          <a:p>
            <a:pPr algn="just" fontAlgn="base"/>
            <a:endParaRPr lang="en-US" sz="2000" kern="0" spc="-220" dirty="0">
              <a:solidFill>
                <a:schemeClr val="accent6"/>
              </a:solidFill>
            </a:endParaRPr>
          </a:p>
          <a:p>
            <a:pPr algn="just" fontAlgn="base"/>
            <a:r>
              <a:rPr lang="en-US" sz="2000" kern="0" spc="-220" dirty="0">
                <a:solidFill>
                  <a:schemeClr val="accent2"/>
                </a:solidFill>
              </a:rPr>
              <a:t>Basic Blocking Methods - </a:t>
            </a:r>
            <a:r>
              <a:rPr lang="en-US" sz="2000" kern="0" spc="-220" dirty="0">
                <a:solidFill>
                  <a:schemeClr val="accent6"/>
                </a:solidFill>
              </a:rPr>
              <a:t>  </a:t>
            </a:r>
          </a:p>
          <a:p>
            <a:pPr algn="just" fontAlgn="base"/>
            <a:r>
              <a:rPr lang="en-US" sz="1600" kern="0" spc="-220" dirty="0">
                <a:solidFill>
                  <a:schemeClr val="accent6"/>
                </a:solidFill>
              </a:rPr>
              <a:t>Sleep, Join, </a:t>
            </a:r>
            <a:r>
              <a:rPr lang="en-US" sz="1600" kern="0" spc="-220" dirty="0" err="1">
                <a:solidFill>
                  <a:schemeClr val="accent6"/>
                </a:solidFill>
              </a:rPr>
              <a:t>Task.Wait</a:t>
            </a:r>
            <a:r>
              <a:rPr lang="en-US" sz="1600" kern="0" spc="-220" dirty="0">
                <a:solidFill>
                  <a:schemeClr val="accent6"/>
                </a:solidFill>
              </a:rPr>
              <a:t> </a:t>
            </a:r>
            <a:r>
              <a:rPr lang="en-US" sz="1600" kern="0" spc="-220" dirty="0" err="1">
                <a:solidFill>
                  <a:schemeClr val="accent6"/>
                </a:solidFill>
              </a:rPr>
              <a:t>etc</a:t>
            </a:r>
            <a:r>
              <a:rPr lang="en-US" sz="1600" kern="0" spc="-220" dirty="0">
                <a:solidFill>
                  <a:schemeClr val="accent6"/>
                </a:solidFill>
              </a:rPr>
              <a:t> are simple blocking methods that wait for other thread(s) to finish or for a period of time to elapse.</a:t>
            </a:r>
          </a:p>
          <a:p>
            <a:pPr algn="just" fontAlgn="base"/>
            <a:endParaRPr lang="en-US" sz="2000" kern="0" spc="-220" dirty="0">
              <a:solidFill>
                <a:schemeClr val="accent6"/>
              </a:solidFill>
            </a:endParaRPr>
          </a:p>
          <a:p>
            <a:pPr algn="just" fontAlgn="base"/>
            <a:r>
              <a:rPr lang="en-US" sz="2000" kern="0" spc="-220" dirty="0">
                <a:solidFill>
                  <a:schemeClr val="accent2"/>
                </a:solidFill>
              </a:rPr>
              <a:t>Locking constructs –</a:t>
            </a:r>
          </a:p>
        </p:txBody>
      </p:sp>
      <p:pic>
        <p:nvPicPr>
          <p:cNvPr id="13" name="Picture 12">
            <a:extLst>
              <a:ext uri="{FF2B5EF4-FFF2-40B4-BE49-F238E27FC236}">
                <a16:creationId xmlns:a16="http://schemas.microsoft.com/office/drawing/2014/main" id="{57150A56-2003-C781-D8A0-CA7999CF3683}"/>
              </a:ext>
            </a:extLst>
          </p:cNvPr>
          <p:cNvPicPr>
            <a:picLocks noChangeAspect="1"/>
          </p:cNvPicPr>
          <p:nvPr/>
        </p:nvPicPr>
        <p:blipFill>
          <a:blip r:embed="rId7"/>
          <a:stretch>
            <a:fillRect/>
          </a:stretch>
        </p:blipFill>
        <p:spPr>
          <a:xfrm>
            <a:off x="228600" y="3581400"/>
            <a:ext cx="7639443" cy="2400423"/>
          </a:xfrm>
          <a:prstGeom prst="rect">
            <a:avLst/>
          </a:prstGeom>
        </p:spPr>
      </p:pic>
    </p:spTree>
    <p:extLst>
      <p:ext uri="{BB962C8B-B14F-4D97-AF65-F5344CB8AC3E}">
        <p14:creationId xmlns:p14="http://schemas.microsoft.com/office/powerpoint/2010/main" val="104694420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026" name="Picture 2" descr="Diiference between Semaphores adn Mutex">
            <a:extLst>
              <a:ext uri="{FF2B5EF4-FFF2-40B4-BE49-F238E27FC236}">
                <a16:creationId xmlns:a16="http://schemas.microsoft.com/office/drawing/2014/main" id="{6034C7FB-1E8A-7A02-9307-62F8954A458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447799"/>
            <a:ext cx="8716300" cy="358140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6683EECA-7C25-5D30-2656-2B764560C76D}"/>
              </a:ext>
            </a:extLst>
          </p:cNvPr>
          <p:cNvSpPr txBox="1">
            <a:spLocks/>
          </p:cNvSpPr>
          <p:nvPr/>
        </p:nvSpPr>
        <p:spPr>
          <a:xfrm>
            <a:off x="152400" y="5067181"/>
            <a:ext cx="8839200"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A Cross-Process (Named) Mutex Example(e.g. 2 apps trying to access the same file) –</a:t>
            </a:r>
          </a:p>
          <a:p>
            <a:pPr algn="just" fontAlgn="base"/>
            <a:r>
              <a:rPr lang="en-US" sz="1600" kern="0" spc="-220" dirty="0">
                <a:solidFill>
                  <a:schemeClr val="accent6"/>
                </a:solidFill>
                <a:hlinkClick r:id="rId8"/>
              </a:rPr>
              <a:t>https://www.derpturkey.com/c-cross-process-synchronization/</a:t>
            </a:r>
            <a:endParaRPr lang="en-US" sz="1600" kern="0" spc="-220" dirty="0">
              <a:solidFill>
                <a:schemeClr val="accent6"/>
              </a:solidFill>
            </a:endParaRPr>
          </a:p>
          <a:p>
            <a:pPr algn="just" fontAlgn="base"/>
            <a:r>
              <a:rPr lang="en-US" sz="1600" kern="0" spc="-220" dirty="0">
                <a:solidFill>
                  <a:schemeClr val="accent6"/>
                </a:solidFill>
                <a:hlinkClick r:id="rId9"/>
              </a:rPr>
              <a:t>https://iq.direct/blog/54-using-c-mutexes-for-inter-interprocess-synchronization.html</a:t>
            </a:r>
            <a:r>
              <a:rPr lang="en-US" sz="1600" kern="0" spc="-220" dirty="0">
                <a:solidFill>
                  <a:schemeClr val="accent6"/>
                </a:solidFill>
              </a:rPr>
              <a:t>  </a:t>
            </a:r>
            <a:endParaRPr lang="en-US" sz="2000" kern="0" spc="-220" dirty="0">
              <a:solidFill>
                <a:schemeClr val="accent6"/>
              </a:solidFill>
            </a:endParaRPr>
          </a:p>
        </p:txBody>
      </p:sp>
    </p:spTree>
    <p:extLst>
      <p:ext uri="{BB962C8B-B14F-4D97-AF65-F5344CB8AC3E}">
        <p14:creationId xmlns:p14="http://schemas.microsoft.com/office/powerpoint/2010/main" val="279716006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0100054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l"/>
            <a:r>
              <a:rPr lang="en-IN" sz="2000" kern="0" spc="-220" dirty="0">
                <a:solidFill>
                  <a:schemeClr val="accent2"/>
                </a:solidFill>
              </a:rPr>
              <a:t>Choosing the Synchronization Object to Lock on – </a:t>
            </a:r>
          </a:p>
          <a:p>
            <a:pPr algn="l"/>
            <a:r>
              <a:rPr lang="en-IN" sz="1600" kern="0" spc="-220" dirty="0">
                <a:solidFill>
                  <a:schemeClr val="accent6"/>
                </a:solidFill>
              </a:rPr>
              <a:t>lock(</a:t>
            </a:r>
            <a:r>
              <a:rPr lang="en-IN" sz="1600" kern="0" spc="-220" dirty="0" err="1">
                <a:solidFill>
                  <a:schemeClr val="accent6"/>
                </a:solidFill>
              </a:rPr>
              <a:t>someNonStaticObject</a:t>
            </a:r>
            <a:r>
              <a:rPr lang="en-IN" sz="1600" kern="0" spc="-220" dirty="0">
                <a:solidFill>
                  <a:schemeClr val="accent6"/>
                </a:solidFill>
              </a:rPr>
              <a:t>)</a:t>
            </a:r>
          </a:p>
          <a:p>
            <a:pPr algn="just" fontAlgn="base"/>
            <a:r>
              <a:rPr lang="en-IN" sz="1600" kern="0" spc="-220" dirty="0">
                <a:solidFill>
                  <a:schemeClr val="accent6"/>
                </a:solidFill>
              </a:rPr>
              <a:t>lock(</a:t>
            </a:r>
            <a:r>
              <a:rPr lang="en-IN" sz="1600" kern="0" spc="-220" dirty="0" err="1">
                <a:solidFill>
                  <a:schemeClr val="accent6"/>
                </a:solidFill>
              </a:rPr>
              <a:t>someStaticObject</a:t>
            </a:r>
            <a:r>
              <a:rPr lang="en-IN" sz="1600" kern="0" spc="-220" dirty="0">
                <a:solidFill>
                  <a:schemeClr val="accent6"/>
                </a:solidFill>
              </a:rPr>
              <a:t>)</a:t>
            </a:r>
          </a:p>
          <a:p>
            <a:pPr algn="just" fontAlgn="base"/>
            <a:r>
              <a:rPr lang="en-IN" sz="1600" kern="0" spc="-220" dirty="0">
                <a:solidFill>
                  <a:schemeClr val="accent6"/>
                </a:solidFill>
              </a:rPr>
              <a:t>lock(this) </a:t>
            </a:r>
          </a:p>
          <a:p>
            <a:pPr algn="just" fontAlgn="base"/>
            <a:r>
              <a:rPr lang="en-IN" sz="1600" kern="0" spc="-220" dirty="0">
                <a:solidFill>
                  <a:schemeClr val="accent6"/>
                </a:solidFill>
              </a:rPr>
              <a:t>lock(</a:t>
            </a:r>
            <a:r>
              <a:rPr lang="en-IN" sz="1600" kern="0" spc="-220" dirty="0" err="1">
                <a:solidFill>
                  <a:schemeClr val="accent6"/>
                </a:solidFill>
              </a:rPr>
              <a:t>SomeType</a:t>
            </a:r>
            <a:r>
              <a:rPr lang="en-IN" sz="1600" kern="0" spc="-220" dirty="0">
                <a:solidFill>
                  <a:schemeClr val="accent6"/>
                </a:solidFill>
              </a:rPr>
              <a:t>) – maybe using </a:t>
            </a:r>
            <a:r>
              <a:rPr lang="en-IN" sz="1600" kern="0" spc="-220" dirty="0" err="1">
                <a:solidFill>
                  <a:schemeClr val="accent6"/>
                </a:solidFill>
              </a:rPr>
              <a:t>typeOf</a:t>
            </a:r>
            <a:r>
              <a:rPr lang="en-IN" sz="1600" kern="0" spc="-220" dirty="0">
                <a:solidFill>
                  <a:schemeClr val="accent6"/>
                </a:solidFill>
              </a:rPr>
              <a:t> operator get </a:t>
            </a:r>
            <a:r>
              <a:rPr lang="en-IN" sz="1600" kern="0" spc="-220" dirty="0" err="1">
                <a:solidFill>
                  <a:schemeClr val="accent6"/>
                </a:solidFill>
              </a:rPr>
              <a:t>SomeType</a:t>
            </a:r>
            <a:endParaRPr lang="en-IN" sz="1600" kern="0" spc="-220" dirty="0">
              <a:solidFill>
                <a:schemeClr val="accent6"/>
              </a:solidFill>
            </a:endParaRPr>
          </a:p>
          <a:p>
            <a:pPr algn="just" fontAlgn="base"/>
            <a:endParaRPr lang="en-IN" sz="1600" kern="0" spc="-220" dirty="0">
              <a:solidFill>
                <a:schemeClr val="accent6"/>
              </a:solidFill>
            </a:endParaRPr>
          </a:p>
          <a:p>
            <a:pPr algn="just" fontAlgn="base"/>
            <a:r>
              <a:rPr lang="en-US" sz="2000" kern="0" spc="-220" dirty="0">
                <a:solidFill>
                  <a:schemeClr val="accent2"/>
                </a:solidFill>
              </a:rPr>
              <a:t>Lock vs Monitor – </a:t>
            </a:r>
            <a:r>
              <a:rPr lang="en-US" sz="2000" kern="0" spc="-220" dirty="0">
                <a:solidFill>
                  <a:schemeClr val="accent2"/>
                </a:solidFill>
                <a:hlinkClick r:id="rId7"/>
              </a:rPr>
              <a:t>https://medium.com/@kamaleshs48/lock-vs-monitor-in-c-a16560c49a23</a:t>
            </a:r>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Busy Waiting(/Spinning) – </a:t>
            </a:r>
          </a:p>
          <a:p>
            <a:pPr algn="l" rtl="0"/>
            <a:r>
              <a:rPr lang="en-US" sz="1600" kern="0" spc="-220" dirty="0">
                <a:solidFill>
                  <a:schemeClr val="accent6"/>
                </a:solidFill>
              </a:rPr>
              <a:t>When a thread blocks or unblocks, the operating system performs a context switch. This can be avoided using </a:t>
            </a:r>
            <a:r>
              <a:rPr lang="en-US" sz="1600" kern="0" spc="-220" dirty="0" err="1">
                <a:solidFill>
                  <a:schemeClr val="accent6"/>
                </a:solidFill>
              </a:rPr>
              <a:t>BusyWaiting</a:t>
            </a:r>
            <a:r>
              <a:rPr lang="en-US" sz="1600" kern="0" spc="-220" dirty="0">
                <a:solidFill>
                  <a:schemeClr val="accent6"/>
                </a:solidFill>
              </a:rPr>
              <a:t>. When a thread is in critical section, other threads simply spins(just loops) and keeps checking the break condition(via some flag) to enter in its critical section. This is called BUSY WAITING. Busy waiting wastes CPU cycles that some other process might have used for execution or for doing any productive work. Mainly used for short span locks.</a:t>
            </a:r>
            <a:endParaRPr lang="en-US" sz="1600" kern="0" spc="-220" dirty="0">
              <a:solidFill>
                <a:schemeClr val="accent2"/>
              </a:solidFill>
            </a:endParaRPr>
          </a:p>
        </p:txBody>
      </p:sp>
    </p:spTree>
    <p:extLst>
      <p:ext uri="{BB962C8B-B14F-4D97-AF65-F5344CB8AC3E}">
        <p14:creationId xmlns:p14="http://schemas.microsoft.com/office/powerpoint/2010/main" val="6599975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822978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3807"/>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900" kern="0" spc="-220" dirty="0" err="1">
                <a:solidFill>
                  <a:schemeClr val="accent2"/>
                </a:solidFill>
              </a:rPr>
              <a:t>XSlim</a:t>
            </a:r>
            <a:r>
              <a:rPr lang="en-US" sz="1900" kern="0" spc="-220" dirty="0">
                <a:solidFill>
                  <a:schemeClr val="accent2"/>
                </a:solidFill>
              </a:rPr>
              <a:t> Locks where X can be Semaphore, </a:t>
            </a:r>
            <a:r>
              <a:rPr lang="en-US" sz="1900" kern="0" spc="-220" dirty="0" err="1">
                <a:solidFill>
                  <a:schemeClr val="accent2"/>
                </a:solidFill>
              </a:rPr>
              <a:t>ReaderWriterLock</a:t>
            </a:r>
            <a:r>
              <a:rPr lang="en-US" sz="1900" kern="0" spc="-220" dirty="0">
                <a:solidFill>
                  <a:schemeClr val="accent2"/>
                </a:solidFill>
              </a:rPr>
              <a:t> – </a:t>
            </a:r>
          </a:p>
          <a:p>
            <a:pPr algn="just" fontAlgn="base"/>
            <a:r>
              <a:rPr lang="en-US" sz="1900" kern="0" spc="-220" dirty="0" err="1">
                <a:solidFill>
                  <a:schemeClr val="accent6"/>
                </a:solidFill>
              </a:rPr>
              <a:t>X</a:t>
            </a:r>
            <a:r>
              <a:rPr lang="en-US" sz="1900" kern="0" spc="-220" dirty="0" err="1">
                <a:solidFill>
                  <a:schemeClr val="accent6"/>
                </a:solidFill>
                <a:hlinkClick r:id="rId7">
                  <a:extLst>
                    <a:ext uri="{A12FA001-AC4F-418D-AE19-62706E023703}">
                      <ahyp:hlinkClr xmlns:ahyp="http://schemas.microsoft.com/office/drawing/2018/hyperlinkcolor" val="tx"/>
                    </a:ext>
                  </a:extLst>
                </a:hlinkClick>
              </a:rPr>
              <a:t>Slim</a:t>
            </a:r>
            <a:r>
              <a:rPr lang="en-US" sz="1900" b="0" i="0" dirty="0">
                <a:solidFill>
                  <a:srgbClr val="161616"/>
                </a:solidFill>
                <a:effectLst/>
                <a:latin typeface="Segoe UI" panose="020B0502040204020203" pitchFamily="34" charset="0"/>
              </a:rPr>
              <a:t> </a:t>
            </a:r>
            <a:r>
              <a:rPr lang="en-US" sz="1900" kern="0" spc="-220" dirty="0">
                <a:solidFill>
                  <a:schemeClr val="accent6"/>
                </a:solidFill>
              </a:rPr>
              <a:t>represents a lightweight, fast construct that can be used for waiting when wait times are expected to be very short.</a:t>
            </a:r>
          </a:p>
          <a:p>
            <a:pPr algn="just" fontAlgn="base"/>
            <a:endParaRPr lang="en-US" sz="1900" kern="0" spc="-220" dirty="0">
              <a:solidFill>
                <a:schemeClr val="accent6"/>
              </a:solidFill>
            </a:endParaRPr>
          </a:p>
          <a:p>
            <a:pPr algn="just" fontAlgn="base"/>
            <a:r>
              <a:rPr lang="en-US" sz="1900" kern="0" spc="-220" dirty="0">
                <a:solidFill>
                  <a:schemeClr val="accent2"/>
                </a:solidFill>
              </a:rPr>
              <a:t>Async Awaiting inside C# Locks – </a:t>
            </a:r>
          </a:p>
          <a:p>
            <a:pPr algn="just" fontAlgn="base"/>
            <a:r>
              <a:rPr lang="en-US" sz="1900" kern="0" spc="-220" dirty="0">
                <a:solidFill>
                  <a:schemeClr val="accent2"/>
                </a:solidFill>
                <a:hlinkClick r:id="rId8"/>
              </a:rPr>
              <a:t>https://blog.cdemi.io/async-waiting-inside-c-sharp-locks/</a:t>
            </a:r>
            <a:r>
              <a:rPr lang="en-US" sz="1900" kern="0" spc="-220" dirty="0">
                <a:solidFill>
                  <a:schemeClr val="accent2"/>
                </a:solidFill>
              </a:rPr>
              <a:t>. </a:t>
            </a:r>
            <a:r>
              <a:rPr lang="en-US" sz="1900" kern="0" spc="-220" dirty="0" err="1">
                <a:solidFill>
                  <a:schemeClr val="accent6"/>
                </a:solidFill>
              </a:rPr>
              <a:t>Infact</a:t>
            </a:r>
            <a:r>
              <a:rPr lang="en-US" sz="1900" kern="0" spc="-220" dirty="0">
                <a:solidFill>
                  <a:schemeClr val="accent6"/>
                </a:solidFill>
              </a:rPr>
              <a:t>, this technique is possible with most of the constructs deriving from </a:t>
            </a:r>
            <a:r>
              <a:rPr lang="en-US" sz="1900" kern="0" spc="-220" dirty="0" err="1">
                <a:solidFill>
                  <a:schemeClr val="accent6"/>
                </a:solidFill>
              </a:rPr>
              <a:t>System.Threading.WaitHandle</a:t>
            </a:r>
            <a:r>
              <a:rPr lang="en-US" sz="1900" kern="0" spc="-220" dirty="0">
                <a:solidFill>
                  <a:schemeClr val="accent6"/>
                </a:solidFill>
              </a:rPr>
              <a:t>.</a:t>
            </a:r>
          </a:p>
          <a:p>
            <a:pPr algn="just" fontAlgn="base"/>
            <a:endParaRPr lang="en-US" sz="1900" kern="0" spc="-220" dirty="0">
              <a:solidFill>
                <a:schemeClr val="accent6"/>
              </a:solidFill>
            </a:endParaRPr>
          </a:p>
          <a:p>
            <a:pPr algn="just" fontAlgn="base"/>
            <a:r>
              <a:rPr lang="en-US" sz="1900" kern="0" spc="-220" dirty="0">
                <a:solidFill>
                  <a:schemeClr val="accent2"/>
                </a:solidFill>
              </a:rPr>
              <a:t>Cancellation,  Lazy Initialization &amp;Thread Local Storage – </a:t>
            </a:r>
          </a:p>
          <a:p>
            <a:pPr algn="just" fontAlgn="base"/>
            <a:r>
              <a:rPr lang="en-US" sz="1900" kern="0" spc="-220" dirty="0">
                <a:solidFill>
                  <a:schemeClr val="accent2"/>
                </a:solidFill>
                <a:hlinkClick r:id="rId9"/>
              </a:rPr>
              <a:t>https://www.albahari.com/threading/part3.aspx#_Safe_Cancellation</a:t>
            </a:r>
            <a:r>
              <a:rPr lang="en-US" sz="1900" kern="0" spc="-220" dirty="0">
                <a:solidFill>
                  <a:schemeClr val="accent2"/>
                </a:solidFill>
              </a:rPr>
              <a:t>  </a:t>
            </a:r>
          </a:p>
          <a:p>
            <a:pPr algn="just" fontAlgn="base"/>
            <a:r>
              <a:rPr lang="en-US" sz="1900" kern="0" spc="-220" dirty="0">
                <a:solidFill>
                  <a:schemeClr val="accent2"/>
                </a:solidFill>
                <a:hlinkClick r:id="rId10"/>
              </a:rPr>
              <a:t>https://www.infoworld.com/article/3674845/how-to-use-cancellation-tokens-in-aspnet-core-7.html</a:t>
            </a:r>
            <a:r>
              <a:rPr lang="en-US" sz="1900" kern="0" spc="-220" dirty="0">
                <a:solidFill>
                  <a:schemeClr val="accent2"/>
                </a:solidFill>
              </a:rPr>
              <a:t> </a:t>
            </a:r>
          </a:p>
          <a:p>
            <a:pPr algn="just" fontAlgn="base"/>
            <a:r>
              <a:rPr lang="en-US" sz="1900" kern="0" spc="-220" dirty="0">
                <a:solidFill>
                  <a:schemeClr val="accent2"/>
                </a:solidFill>
              </a:rPr>
              <a:t>For Web API, if the client is some Web UI or Non .NET 3</a:t>
            </a:r>
            <a:r>
              <a:rPr lang="en-US" sz="1900" kern="0" spc="-220" baseline="30000" dirty="0">
                <a:solidFill>
                  <a:schemeClr val="accent2"/>
                </a:solidFill>
              </a:rPr>
              <a:t>rd</a:t>
            </a:r>
            <a:r>
              <a:rPr lang="en-US" sz="1900" kern="0" spc="-220" dirty="0">
                <a:solidFill>
                  <a:schemeClr val="accent2"/>
                </a:solidFill>
              </a:rPr>
              <a:t> party API, use a custom Middleware[or Filter] based on command(‘cancel’) pattern </a:t>
            </a:r>
            <a:r>
              <a:rPr lang="en-US" sz="1900" kern="0" spc="-220" dirty="0" err="1">
                <a:solidFill>
                  <a:schemeClr val="accent2"/>
                </a:solidFill>
              </a:rPr>
              <a:t>alongwith</a:t>
            </a:r>
            <a:r>
              <a:rPr lang="en-US" sz="1900" kern="0" spc="-220" dirty="0">
                <a:solidFill>
                  <a:schemeClr val="accent2"/>
                </a:solidFill>
              </a:rPr>
              <a:t> keeping track of the cancellation token per request(identifier passed by client) using some [distributed] cache.</a:t>
            </a:r>
          </a:p>
        </p:txBody>
      </p:sp>
    </p:spTree>
    <p:extLst>
      <p:ext uri="{BB962C8B-B14F-4D97-AF65-F5344CB8AC3E}">
        <p14:creationId xmlns:p14="http://schemas.microsoft.com/office/powerpoint/2010/main" val="3874284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333529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 - </a:t>
            </a:r>
            <a:r>
              <a:rPr lang="en-US" sz="2000" kern="0" spc="-220" dirty="0">
                <a:solidFill>
                  <a:schemeClr val="accent6"/>
                </a:solidFill>
              </a:rPr>
              <a:t>Signaling is when one thread waits until it receives notification from another. Event wait handles are the simplest of the signaling constructs and they are unrelated to C# events.</a:t>
            </a:r>
          </a:p>
          <a:p>
            <a:pPr algn="just" fontAlgn="base"/>
            <a:endParaRPr lang="en-US" sz="2000" kern="0" spc="-220" dirty="0">
              <a:solidFill>
                <a:schemeClr val="accent6"/>
              </a:solidFill>
            </a:endParaRPr>
          </a:p>
        </p:txBody>
      </p:sp>
      <p:pic>
        <p:nvPicPr>
          <p:cNvPr id="9" name="Picture 8">
            <a:extLst>
              <a:ext uri="{FF2B5EF4-FFF2-40B4-BE49-F238E27FC236}">
                <a16:creationId xmlns:a16="http://schemas.microsoft.com/office/drawing/2014/main" id="{D2482DED-F22E-DF1B-6B3F-A7E23DC8055D}"/>
              </a:ext>
            </a:extLst>
          </p:cNvPr>
          <p:cNvPicPr>
            <a:picLocks noChangeAspect="1"/>
          </p:cNvPicPr>
          <p:nvPr/>
        </p:nvPicPr>
        <p:blipFill>
          <a:blip r:embed="rId7"/>
          <a:stretch>
            <a:fillRect/>
          </a:stretch>
        </p:blipFill>
        <p:spPr>
          <a:xfrm>
            <a:off x="228600" y="2590671"/>
            <a:ext cx="8624937" cy="2971929"/>
          </a:xfrm>
          <a:prstGeom prst="rect">
            <a:avLst/>
          </a:prstGeom>
        </p:spPr>
      </p:pic>
    </p:spTree>
    <p:extLst>
      <p:ext uri="{BB962C8B-B14F-4D97-AF65-F5344CB8AC3E}">
        <p14:creationId xmlns:p14="http://schemas.microsoft.com/office/powerpoint/2010/main" val="33985356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4552"/>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2" name="Picture 11" descr="A diagram of a software application&#10;&#10;Description automatically generated">
            <a:extLst>
              <a:ext uri="{FF2B5EF4-FFF2-40B4-BE49-F238E27FC236}">
                <a16:creationId xmlns:a16="http://schemas.microsoft.com/office/drawing/2014/main" id="{E60EA910-6AAA-6E68-AC81-65C90C64964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1543885"/>
            <a:ext cx="8624937" cy="3672719"/>
          </a:xfrm>
          <a:prstGeom prst="rect">
            <a:avLst/>
          </a:prstGeom>
        </p:spPr>
      </p:pic>
      <p:sp>
        <p:nvSpPr>
          <p:cNvPr id="8" name="object 2">
            <a:extLst>
              <a:ext uri="{FF2B5EF4-FFF2-40B4-BE49-F238E27FC236}">
                <a16:creationId xmlns:a16="http://schemas.microsoft.com/office/drawing/2014/main" id="{B07BA6D6-093B-1C8D-545B-D6DDB4BC2070}"/>
              </a:ext>
            </a:extLst>
          </p:cNvPr>
          <p:cNvSpPr txBox="1">
            <a:spLocks/>
          </p:cNvSpPr>
          <p:nvPr/>
        </p:nvSpPr>
        <p:spPr>
          <a:xfrm>
            <a:off x="362309" y="52166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Although </a:t>
            </a:r>
            <a:r>
              <a:rPr lang="en-US" sz="1600" kern="0" spc="-220" dirty="0" err="1">
                <a:solidFill>
                  <a:schemeClr val="accent6"/>
                </a:solidFill>
              </a:rPr>
              <a:t>ManualResetEvent</a:t>
            </a:r>
            <a:r>
              <a:rPr lang="en-US" sz="1600" kern="0" spc="-220" dirty="0">
                <a:solidFill>
                  <a:schemeClr val="accent6"/>
                </a:solidFill>
              </a:rPr>
              <a:t> can handle multiple threads but </a:t>
            </a:r>
            <a:r>
              <a:rPr lang="en-US" sz="1600" kern="0" spc="-220" dirty="0" err="1">
                <a:solidFill>
                  <a:schemeClr val="accent6"/>
                </a:solidFill>
              </a:rPr>
              <a:t>AutoResetEvent</a:t>
            </a:r>
            <a:r>
              <a:rPr lang="en-US" sz="1600" kern="0" spc="-220" dirty="0">
                <a:solidFill>
                  <a:schemeClr val="accent6"/>
                </a:solidFill>
              </a:rPr>
              <a:t> can handle only 1 thread at a time &amp; so in the above case we would need 2 </a:t>
            </a:r>
            <a:r>
              <a:rPr lang="en-US" sz="1600" kern="0" spc="-220" dirty="0" err="1">
                <a:solidFill>
                  <a:schemeClr val="accent6"/>
                </a:solidFill>
              </a:rPr>
              <a:t>AutoResetEvents</a:t>
            </a:r>
            <a:r>
              <a:rPr lang="en-US" sz="1600" kern="0" spc="-220" dirty="0">
                <a:solidFill>
                  <a:schemeClr val="accent6"/>
                </a:solidFill>
              </a:rPr>
              <a:t>(1 for signaling between main &amp; download thread while the other for signaling between main and installation thread)</a:t>
            </a:r>
          </a:p>
        </p:txBody>
      </p:sp>
    </p:spTree>
    <p:extLst>
      <p:ext uri="{BB962C8B-B14F-4D97-AF65-F5344CB8AC3E}">
        <p14:creationId xmlns:p14="http://schemas.microsoft.com/office/powerpoint/2010/main" val="25377922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2620676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Advanced </a:t>
            </a:r>
            <a:r>
              <a:rPr lang="en-US" sz="2000" kern="0" spc="-220" dirty="0" err="1">
                <a:solidFill>
                  <a:schemeClr val="accent2"/>
                </a:solidFill>
              </a:rPr>
              <a:t>NonBlocking</a:t>
            </a:r>
            <a:r>
              <a:rPr lang="en-US" sz="2000" kern="0" spc="-220" dirty="0">
                <a:solidFill>
                  <a:schemeClr val="accent2"/>
                </a:solidFill>
              </a:rPr>
              <a:t> Constructs – </a:t>
            </a:r>
          </a:p>
          <a:p>
            <a:pPr algn="just" fontAlgn="base"/>
            <a:r>
              <a:rPr lang="en-US" sz="2000" kern="0" spc="-220" dirty="0">
                <a:solidFill>
                  <a:schemeClr val="accent2"/>
                </a:solidFill>
              </a:rPr>
              <a:t>   Atomic Operations – </a:t>
            </a:r>
            <a:r>
              <a:rPr lang="en-US" sz="2000" kern="0" spc="-220" dirty="0">
                <a:solidFill>
                  <a:schemeClr val="accent6"/>
                </a:solidFill>
              </a:rPr>
              <a:t>operations that cannot occur concurrently &amp; should always occur in a sequence only(</a:t>
            </a:r>
            <a:r>
              <a:rPr lang="en-US" sz="1800" kern="0" spc="-220" dirty="0">
                <a:solidFill>
                  <a:schemeClr val="accent6"/>
                </a:solidFill>
                <a:hlinkClick r:id="rId7"/>
              </a:rPr>
              <a:t>https://stackoverflow.com/questions/52196678/what-are-atomic-operations-for-newbies</a:t>
            </a:r>
            <a:r>
              <a:rPr lang="en-US" sz="1800" kern="0" spc="-220" dirty="0">
                <a:solidFill>
                  <a:schemeClr val="accent6"/>
                </a:solidFill>
              </a:rPr>
              <a:t> </a:t>
            </a:r>
            <a:r>
              <a:rPr lang="en-US" sz="2000" kern="0" spc="-220" dirty="0">
                <a:solidFill>
                  <a:schemeClr val="accent6"/>
                </a:solidFill>
              </a:rPr>
              <a:t>)</a:t>
            </a:r>
          </a:p>
          <a:p>
            <a:pPr algn="just" fontAlgn="base"/>
            <a:r>
              <a:rPr lang="en-US" sz="2000" kern="0" spc="-220" dirty="0">
                <a:solidFill>
                  <a:schemeClr val="accent2"/>
                </a:solidFill>
              </a:rPr>
              <a:t>    Compare And Swap - </a:t>
            </a:r>
            <a:r>
              <a:rPr lang="en-US" sz="1800" kern="0" spc="-220" dirty="0">
                <a:solidFill>
                  <a:schemeClr val="accent2"/>
                </a:solidFill>
                <a:hlinkClick r:id="rId8"/>
              </a:rPr>
              <a:t>https://jenkov.com/tutorials/java-concurrency/compare-and-swap.html</a:t>
            </a:r>
            <a:r>
              <a:rPr lang="en-US" sz="1800" kern="0" spc="-220" dirty="0">
                <a:solidFill>
                  <a:schemeClr val="accent2"/>
                </a:solidFill>
              </a:rPr>
              <a:t> </a:t>
            </a:r>
          </a:p>
          <a:p>
            <a:pPr algn="just" fontAlgn="base"/>
            <a:r>
              <a:rPr lang="en-US" sz="1800" kern="0" spc="-220" dirty="0">
                <a:solidFill>
                  <a:schemeClr val="accent6"/>
                </a:solidFill>
                <a:hlinkClick r:id="rId9"/>
              </a:rPr>
              <a:t>https://www.albahari.com/threading/part4.aspx</a:t>
            </a:r>
            <a:r>
              <a:rPr lang="en-US" sz="18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Lock Splitting vs Lock Stripping – </a:t>
            </a:r>
          </a:p>
          <a:p>
            <a:pPr algn="just" fontAlgn="base"/>
            <a:r>
              <a:rPr lang="en-US" sz="2000" kern="0" spc="-220" dirty="0">
                <a:solidFill>
                  <a:schemeClr val="accent6"/>
                </a:solidFill>
                <a:hlinkClick r:id="rId10"/>
              </a:rPr>
              <a:t>https://stackoverflow.com/questions/44123180/lock-splitting-vs-lock-striping</a:t>
            </a:r>
            <a:r>
              <a:rPr lang="en-US" sz="20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 – </a:t>
            </a:r>
          </a:p>
          <a:p>
            <a:pPr algn="just" fontAlgn="base"/>
            <a:r>
              <a:rPr lang="en-US" sz="1600" kern="0" spc="-220" dirty="0">
                <a:solidFill>
                  <a:schemeClr val="accent6"/>
                </a:solidFill>
                <a:hlinkClick r:id="rId11"/>
              </a:rPr>
              <a:t>https://github.com/MikeMKH/concurrency-in-csharp-cookbook</a:t>
            </a:r>
            <a:r>
              <a:rPr lang="en-US" sz="1600" kern="0" spc="-220" dirty="0">
                <a:solidFill>
                  <a:schemeClr val="accent6"/>
                </a:solidFill>
              </a:rPr>
              <a:t> </a:t>
            </a:r>
          </a:p>
          <a:p>
            <a:pPr algn="just" fontAlgn="base"/>
            <a:r>
              <a:rPr lang="en-US" sz="1600" kern="0" spc="-220" dirty="0">
                <a:solidFill>
                  <a:schemeClr val="accent6"/>
                </a:solidFill>
                <a:hlinkClick r:id="rId12"/>
              </a:rPr>
              <a:t>https://github.com/Wintellect/PowerThreading</a:t>
            </a:r>
            <a:r>
              <a:rPr lang="en-US" sz="1600" kern="0" spc="-220" dirty="0">
                <a:solidFill>
                  <a:schemeClr val="accent6"/>
                </a:solidFill>
              </a:rPr>
              <a:t> </a:t>
            </a:r>
          </a:p>
          <a:p>
            <a:pPr algn="just" fontAlgn="base"/>
            <a:r>
              <a:rPr lang="en-US" sz="1600" kern="0" spc="-220" dirty="0">
                <a:solidFill>
                  <a:schemeClr val="accent6"/>
                </a:solidFill>
                <a:hlinkClick r:id="rId13"/>
              </a:rPr>
              <a:t>https://www.syncfusion.com/succinctly-free-ebooks/webservers</a:t>
            </a:r>
            <a:r>
              <a:rPr lang="en-US" sz="1600" kern="0" spc="-220" dirty="0">
                <a:solidFill>
                  <a:schemeClr val="accent6"/>
                </a:solidFill>
              </a:rPr>
              <a:t> </a:t>
            </a:r>
          </a:p>
        </p:txBody>
      </p:sp>
    </p:spTree>
    <p:extLst>
      <p:ext uri="{BB962C8B-B14F-4D97-AF65-F5344CB8AC3E}">
        <p14:creationId xmlns:p14="http://schemas.microsoft.com/office/powerpoint/2010/main" val="139939077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066800"/>
            <a:ext cx="873161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1700" kern="0" spc="-220" dirty="0">
                <a:solidFill>
                  <a:schemeClr val="accent2"/>
                </a:solidFill>
              </a:rPr>
              <a:t>Assigning a Thread to a specific core – </a:t>
            </a:r>
          </a:p>
          <a:p>
            <a:pPr algn="just" fontAlgn="base"/>
            <a:r>
              <a:rPr lang="en-US" sz="1700" kern="0" spc="-220" dirty="0">
                <a:solidFill>
                  <a:schemeClr val="accent2"/>
                </a:solidFill>
                <a:hlinkClick r:id="rId7"/>
              </a:rPr>
              <a:t>https://stackoverflow.com/questions/2510593/how-can-i-set-processor-affinity-to-a-thread-or-a-task-in-net</a:t>
            </a:r>
            <a:r>
              <a:rPr lang="en-US" sz="1700" kern="0" spc="-220" dirty="0">
                <a:solidFill>
                  <a:schemeClr val="accent2"/>
                </a:solidFill>
              </a:rPr>
              <a:t> </a:t>
            </a:r>
          </a:p>
          <a:p>
            <a:pPr algn="just" fontAlgn="base"/>
            <a:r>
              <a:rPr lang="en-US" sz="1700" kern="0" spc="-220" dirty="0" err="1">
                <a:solidFill>
                  <a:schemeClr val="accent2"/>
                </a:solidFill>
              </a:rPr>
              <a:t>MultiCore_Locking_constructs</a:t>
            </a:r>
            <a:r>
              <a:rPr lang="en-US" sz="1700" kern="0" spc="-220" dirty="0">
                <a:solidFill>
                  <a:schemeClr val="accent2"/>
                </a:solidFill>
              </a:rPr>
              <a:t>– </a:t>
            </a:r>
            <a:r>
              <a:rPr lang="en-US" sz="1700" kern="0" spc="-220" dirty="0">
                <a:solidFill>
                  <a:schemeClr val="accent2"/>
                </a:solidFill>
                <a:hlinkClick r:id="rId8"/>
              </a:rPr>
              <a:t>https://www.albahari.com/threading/part5.aspx#_SpinLock_and_SpinWait</a:t>
            </a:r>
            <a:endParaRPr lang="en-US" sz="1700" kern="0" spc="-220" dirty="0">
              <a:solidFill>
                <a:schemeClr val="accent2"/>
              </a:solidFill>
            </a:endParaRPr>
          </a:p>
          <a:p>
            <a:pPr algn="just" fontAlgn="base"/>
            <a:endParaRPr lang="en-US" sz="1700" kern="0" spc="-220" dirty="0">
              <a:solidFill>
                <a:schemeClr val="accent2"/>
              </a:solidFill>
            </a:endParaRPr>
          </a:p>
          <a:p>
            <a:pPr algn="just" fontAlgn="base"/>
            <a:r>
              <a:rPr lang="en-US" sz="1700" kern="0" spc="-220" dirty="0">
                <a:solidFill>
                  <a:schemeClr val="accent2"/>
                </a:solidFill>
              </a:rPr>
              <a:t>Some usual Parallel constructs – </a:t>
            </a:r>
          </a:p>
          <a:p>
            <a:pPr algn="just" fontAlgn="base"/>
            <a:r>
              <a:rPr lang="en-US" sz="1700" kern="0" spc="-220" dirty="0" err="1">
                <a:solidFill>
                  <a:schemeClr val="accent6"/>
                </a:solidFill>
              </a:rPr>
              <a:t>Parallel.Invoke</a:t>
            </a:r>
            <a:r>
              <a:rPr lang="en-US" sz="1700" kern="0" spc="-220" dirty="0">
                <a:solidFill>
                  <a:schemeClr val="accent6"/>
                </a:solidFill>
              </a:rPr>
              <a:t> –  </a:t>
            </a:r>
            <a:r>
              <a:rPr lang="en-US" sz="1700" kern="0" spc="-220" dirty="0">
                <a:solidFill>
                  <a:schemeClr val="tx2">
                    <a:lumMod val="60000"/>
                    <a:lumOff val="40000"/>
                  </a:schemeClr>
                </a:solidFill>
              </a:rPr>
              <a:t>equivalent to </a:t>
            </a:r>
            <a:r>
              <a:rPr lang="en-US" sz="1700" kern="0" spc="-220" dirty="0" err="1">
                <a:solidFill>
                  <a:schemeClr val="tx2">
                    <a:lumMod val="60000"/>
                    <a:lumOff val="40000"/>
                  </a:schemeClr>
                </a:solidFill>
              </a:rPr>
              <a:t>Task.WhenAll</a:t>
            </a:r>
            <a:r>
              <a:rPr lang="en-US" sz="1700" kern="0" spc="-220" dirty="0">
                <a:solidFill>
                  <a:schemeClr val="tx2">
                    <a:lumMod val="60000"/>
                    <a:lumOff val="40000"/>
                  </a:schemeClr>
                </a:solidFill>
              </a:rPr>
              <a:t> but in this case threads are optimally distributed across multiple cores.. For Speculative Execution,  there is no Parallel equivalent but you need to use  </a:t>
            </a:r>
            <a:r>
              <a:rPr lang="en-US" sz="1700" kern="0" spc="-220" dirty="0" err="1">
                <a:solidFill>
                  <a:schemeClr val="tx2">
                    <a:lumMod val="60000"/>
                    <a:lumOff val="40000"/>
                  </a:schemeClr>
                </a:solidFill>
              </a:rPr>
              <a:t>Task.WhenAny</a:t>
            </a:r>
            <a:r>
              <a:rPr lang="en-US" sz="1700" kern="0" spc="-220" dirty="0">
                <a:solidFill>
                  <a:schemeClr val="tx2">
                    <a:lumMod val="60000"/>
                    <a:lumOff val="40000"/>
                  </a:schemeClr>
                </a:solidFill>
              </a:rPr>
              <a:t> but for this if you want to use multiple cores optimally, you will have to build some wrapper over </a:t>
            </a:r>
            <a:r>
              <a:rPr lang="en-US" sz="1700" kern="0" spc="-220" dirty="0" err="1">
                <a:solidFill>
                  <a:schemeClr val="tx2">
                    <a:lumMod val="60000"/>
                    <a:lumOff val="40000"/>
                  </a:schemeClr>
                </a:solidFill>
              </a:rPr>
              <a:t>Task.WhenAny</a:t>
            </a:r>
            <a:r>
              <a:rPr lang="en-US" sz="1700" kern="0" spc="-220" dirty="0">
                <a:solidFill>
                  <a:schemeClr val="tx2">
                    <a:lumMod val="60000"/>
                    <a:lumOff val="40000"/>
                  </a:schemeClr>
                </a:solidFill>
              </a:rPr>
              <a:t> using the above 2 links/resources(Processor Affinity based Thread [&amp;  </a:t>
            </a:r>
            <a:r>
              <a:rPr lang="en-US" sz="1700" kern="0" spc="-220" dirty="0" err="1">
                <a:solidFill>
                  <a:schemeClr val="tx2">
                    <a:lumMod val="60000"/>
                    <a:lumOff val="40000"/>
                  </a:schemeClr>
                </a:solidFill>
              </a:rPr>
              <a:t>SpinWait</a:t>
            </a:r>
            <a:r>
              <a:rPr lang="en-US" sz="1700" kern="0" spc="-220" dirty="0">
                <a:solidFill>
                  <a:schemeClr val="tx2">
                    <a:lumMod val="60000"/>
                    <a:lumOff val="40000"/>
                  </a:schemeClr>
                </a:solidFill>
              </a:rPr>
              <a:t>]). For Sequential API calls better to use </a:t>
            </a:r>
            <a:r>
              <a:rPr lang="en-US" sz="1700" kern="0" spc="-220" dirty="0" err="1">
                <a:solidFill>
                  <a:schemeClr val="tx2">
                    <a:lumMod val="60000"/>
                    <a:lumOff val="40000"/>
                  </a:schemeClr>
                </a:solidFill>
              </a:rPr>
              <a:t>Task.ContinueWith</a:t>
            </a:r>
            <a:r>
              <a:rPr lang="en-US" sz="1700" kern="0" spc="-220" dirty="0">
                <a:solidFill>
                  <a:schemeClr val="tx2">
                    <a:lumMod val="60000"/>
                    <a:lumOff val="40000"/>
                  </a:schemeClr>
                </a:solidFill>
              </a:rPr>
              <a:t> for better readability.</a:t>
            </a:r>
          </a:p>
          <a:p>
            <a:pPr algn="just" fontAlgn="base"/>
            <a:r>
              <a:rPr lang="en-US" sz="1700" kern="0" spc="-220" dirty="0" err="1">
                <a:solidFill>
                  <a:schemeClr val="accent6"/>
                </a:solidFill>
              </a:rPr>
              <a:t>Parallel.For</a:t>
            </a:r>
            <a:endParaRPr lang="en-US" sz="1700" kern="0" spc="-220" dirty="0">
              <a:solidFill>
                <a:schemeClr val="accent6"/>
              </a:solidFill>
            </a:endParaRPr>
          </a:p>
          <a:p>
            <a:pPr algn="just" fontAlgn="base"/>
            <a:r>
              <a:rPr lang="en-US" sz="1700" kern="0" spc="-220" dirty="0" err="1">
                <a:solidFill>
                  <a:schemeClr val="accent6"/>
                </a:solidFill>
              </a:rPr>
              <a:t>Parallel.ForEach</a:t>
            </a:r>
            <a:endParaRPr lang="en-US" sz="1700" kern="0" spc="-220" dirty="0">
              <a:solidFill>
                <a:schemeClr val="accent6"/>
              </a:solidFill>
            </a:endParaRPr>
          </a:p>
          <a:p>
            <a:pPr algn="just" fontAlgn="base"/>
            <a:r>
              <a:rPr lang="en-US" sz="1700" kern="0" spc="-220" dirty="0">
                <a:solidFill>
                  <a:schemeClr val="accent6"/>
                </a:solidFill>
                <a:hlinkClick r:id="rId9"/>
              </a:rPr>
              <a:t>https://www.albahari.com/threading/part5.aspx#_The_Parallel_Class</a:t>
            </a:r>
            <a:endParaRPr lang="en-US" sz="1700" kern="0" spc="-220" dirty="0">
              <a:solidFill>
                <a:schemeClr val="accent6"/>
              </a:solidFill>
            </a:endParaRPr>
          </a:p>
          <a:p>
            <a:pPr algn="just" fontAlgn="base"/>
            <a:endParaRPr lang="en-US" sz="1700" kern="0" spc="-220" dirty="0">
              <a:solidFill>
                <a:schemeClr val="accent6"/>
              </a:solidFill>
            </a:endParaRPr>
          </a:p>
          <a:p>
            <a:pPr algn="just" fontAlgn="base"/>
            <a:r>
              <a:rPr lang="en-US" sz="1700" kern="0" spc="-220" dirty="0" err="1">
                <a:solidFill>
                  <a:schemeClr val="accent2"/>
                </a:solidFill>
              </a:rPr>
              <a:t>Plinq</a:t>
            </a:r>
            <a:r>
              <a:rPr lang="en-US" sz="1700" kern="0" spc="-220" dirty="0">
                <a:solidFill>
                  <a:schemeClr val="accent2"/>
                </a:solidFill>
              </a:rPr>
              <a:t> – </a:t>
            </a:r>
          </a:p>
          <a:p>
            <a:pPr algn="just" fontAlgn="base"/>
            <a:r>
              <a:rPr lang="en-US" sz="1700" kern="0" spc="-220" dirty="0" err="1">
                <a:solidFill>
                  <a:schemeClr val="accent6"/>
                </a:solidFill>
              </a:rPr>
              <a:t>AsParallel</a:t>
            </a:r>
            <a:r>
              <a:rPr lang="en-US" sz="1700" kern="0" spc="-220" dirty="0">
                <a:solidFill>
                  <a:schemeClr val="accent6"/>
                </a:solidFill>
              </a:rPr>
              <a:t> is applicable only on </a:t>
            </a:r>
            <a:r>
              <a:rPr lang="en-US" sz="1700" kern="0" spc="-220" dirty="0" err="1">
                <a:solidFill>
                  <a:schemeClr val="accent6"/>
                </a:solidFill>
              </a:rPr>
              <a:t>IEnumerable</a:t>
            </a:r>
            <a:r>
              <a:rPr lang="en-US" sz="1700" kern="0" spc="-220" dirty="0">
                <a:solidFill>
                  <a:schemeClr val="accent6"/>
                </a:solidFill>
              </a:rPr>
              <a:t> and not </a:t>
            </a:r>
            <a:r>
              <a:rPr lang="en-US" sz="1700" kern="0" spc="-220" dirty="0" err="1">
                <a:solidFill>
                  <a:schemeClr val="accent6"/>
                </a:solidFill>
              </a:rPr>
              <a:t>IQueryable</a:t>
            </a:r>
            <a:r>
              <a:rPr lang="en-US" sz="1700" kern="0" spc="-220" dirty="0">
                <a:solidFill>
                  <a:schemeClr val="accent6"/>
                </a:solidFill>
              </a:rPr>
              <a:t>.</a:t>
            </a:r>
          </a:p>
          <a:p>
            <a:pPr algn="just" fontAlgn="base"/>
            <a:r>
              <a:rPr lang="en-US" sz="1700" kern="0" spc="-220" dirty="0">
                <a:solidFill>
                  <a:schemeClr val="accent6"/>
                </a:solidFill>
                <a:hlinkClick r:id="rId10"/>
              </a:rPr>
              <a:t>https://www.albahari.com/threading/part5.aspx#_PLINQ</a:t>
            </a:r>
            <a:r>
              <a:rPr lang="en-US" sz="1700" kern="0" spc="-220" dirty="0">
                <a:solidFill>
                  <a:schemeClr val="accent6"/>
                </a:solidFill>
              </a:rPr>
              <a:t> </a:t>
            </a:r>
          </a:p>
        </p:txBody>
      </p:sp>
    </p:spTree>
    <p:extLst>
      <p:ext uri="{BB962C8B-B14F-4D97-AF65-F5344CB8AC3E}">
        <p14:creationId xmlns:p14="http://schemas.microsoft.com/office/powerpoint/2010/main" val="424196146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584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143000"/>
            <a:ext cx="873161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endParaRPr lang="en-US" sz="2000" kern="0" spc="-220" dirty="0">
              <a:solidFill>
                <a:schemeClr val="accent6"/>
              </a:solidFill>
            </a:endParaRPr>
          </a:p>
          <a:p>
            <a:pPr algn="just" fontAlgn="base"/>
            <a:r>
              <a:rPr lang="en-US" sz="2000" kern="0" spc="-220" dirty="0" err="1">
                <a:solidFill>
                  <a:schemeClr val="accent2"/>
                </a:solidFill>
              </a:rPr>
              <a:t>ConcurrentCollections</a:t>
            </a:r>
            <a:r>
              <a:rPr lang="en-US" sz="2000" kern="0" spc="-220" dirty="0">
                <a:solidFill>
                  <a:schemeClr val="accent2"/>
                </a:solidFill>
              </a:rPr>
              <a:t> – </a:t>
            </a:r>
          </a:p>
          <a:p>
            <a:pPr algn="just" fontAlgn="base"/>
            <a:r>
              <a:rPr lang="en-US" sz="2000" kern="0" spc="-220" dirty="0">
                <a:solidFill>
                  <a:schemeClr val="accent6"/>
                </a:solidFill>
                <a:hlinkClick r:id="rId7"/>
              </a:rPr>
              <a:t>https://www.albahari.com/threading/part5.aspx#_Concurrent_Collections</a:t>
            </a:r>
            <a:r>
              <a:rPr lang="en-US" sz="1200" kern="0" spc="-220" dirty="0">
                <a:solidFill>
                  <a:schemeClr val="accent6"/>
                </a:solidFill>
              </a:rPr>
              <a:t> </a:t>
            </a:r>
            <a:endParaRPr lang="en-US" sz="2000" kern="0" spc="-220" dirty="0">
              <a:solidFill>
                <a:schemeClr val="accent6"/>
              </a:solidFill>
            </a:endParaRPr>
          </a:p>
          <a:p>
            <a:pPr algn="just" fontAlgn="base"/>
            <a:endParaRPr lang="en-US" sz="2000" kern="0" spc="-220" dirty="0">
              <a:solidFill>
                <a:schemeClr val="accent6"/>
              </a:solidFill>
            </a:endParaRPr>
          </a:p>
          <a:p>
            <a:pPr algn="just" fontAlgn="base"/>
            <a:r>
              <a:rPr lang="en-US" sz="2000" kern="0" spc="-220" dirty="0">
                <a:solidFill>
                  <a:schemeClr val="accent2"/>
                </a:solidFill>
              </a:rPr>
              <a:t>Immutable Collections vs Concurrent Collections – </a:t>
            </a:r>
          </a:p>
          <a:p>
            <a:pPr algn="just" fontAlgn="base"/>
            <a:r>
              <a:rPr lang="en-US" sz="2000" kern="0" spc="-220" dirty="0">
                <a:solidFill>
                  <a:schemeClr val="accent2"/>
                </a:solidFill>
                <a:hlinkClick r:id="rId8"/>
              </a:rPr>
              <a:t>https://stackoverflow.com/questions/52581135/when-immutable-collections-are-preferable-than-concurrent</a:t>
            </a:r>
            <a:r>
              <a:rPr lang="en-US" sz="2000" kern="0" spc="-220" dirty="0">
                <a:solidFill>
                  <a:schemeClr val="accent2"/>
                </a:solidFill>
              </a:rPr>
              <a:t> </a:t>
            </a:r>
          </a:p>
          <a:p>
            <a:pPr algn="just" fontAlgn="base"/>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Exploration(a bit advanced)– </a:t>
            </a:r>
          </a:p>
          <a:p>
            <a:pPr algn="just" fontAlgn="base"/>
            <a:r>
              <a:rPr lang="en-US" sz="2000" kern="0" spc="-220" dirty="0">
                <a:solidFill>
                  <a:schemeClr val="accent2"/>
                </a:solidFill>
                <a:hlinkClick r:id="rId9"/>
              </a:rPr>
              <a:t>https://github.com/ChadBurggraf/parallel-extensions-extras</a:t>
            </a:r>
            <a:r>
              <a:rPr lang="en-US" sz="2000" kern="0" spc="-220" dirty="0">
                <a:solidFill>
                  <a:schemeClr val="accent2"/>
                </a:solidFill>
              </a:rPr>
              <a:t> </a:t>
            </a:r>
          </a:p>
          <a:p>
            <a:pPr algn="just" fontAlgn="base"/>
            <a:r>
              <a:rPr lang="en-US" sz="2000" kern="0" spc="-220" dirty="0">
                <a:solidFill>
                  <a:schemeClr val="accent2"/>
                </a:solidFill>
                <a:hlinkClick r:id="rId10"/>
              </a:rPr>
              <a:t>https://learn.microsoft.com/en-us/dotnet/standard/parallel-programming/for-further-reading-parallel-programming</a:t>
            </a:r>
            <a:r>
              <a:rPr lang="en-US" sz="2000" kern="0" spc="-220" dirty="0">
                <a:solidFill>
                  <a:schemeClr val="accent2"/>
                </a:solidFill>
              </a:rPr>
              <a:t>  </a:t>
            </a:r>
            <a:r>
              <a:rPr lang="en-IN" sz="2000" kern="0" spc="-220" dirty="0">
                <a:solidFill>
                  <a:schemeClr val="accent2"/>
                </a:solidFill>
              </a:rPr>
              <a:t> </a:t>
            </a:r>
            <a:endParaRPr lang="en-US" sz="2000" kern="0" spc="-220" dirty="0">
              <a:solidFill>
                <a:schemeClr val="accent2"/>
              </a:solidFill>
            </a:endParaRPr>
          </a:p>
          <a:p>
            <a:pPr algn="just" fontAlgn="base"/>
            <a:endParaRPr lang="en-US" sz="2000" kern="0" spc="-220" dirty="0">
              <a:solidFill>
                <a:schemeClr val="accent2"/>
              </a:solidFill>
            </a:endParaRPr>
          </a:p>
          <a:p>
            <a:pPr algn="just" fontAlgn="base"/>
            <a:endParaRPr lang="en-US" sz="2000" kern="0" spc="-220" dirty="0">
              <a:solidFill>
                <a:schemeClr val="accent2"/>
              </a:solidFill>
            </a:endParaRPr>
          </a:p>
        </p:txBody>
      </p:sp>
    </p:spTree>
    <p:extLst>
      <p:ext uri="{BB962C8B-B14F-4D97-AF65-F5344CB8AC3E}">
        <p14:creationId xmlns:p14="http://schemas.microsoft.com/office/powerpoint/2010/main" val="169660368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4129210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2583B7E8-B2A1-385A-0C6E-98AC8942FC44}"/>
              </a:ext>
            </a:extLst>
          </p:cNvPr>
          <p:cNvSpPr txBox="1">
            <a:spLocks/>
          </p:cNvSpPr>
          <p:nvPr/>
        </p:nvSpPr>
        <p:spPr>
          <a:xfrm>
            <a:off x="259531" y="2196405"/>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Async Programming Best Practices -  </a:t>
            </a:r>
          </a:p>
          <a:p>
            <a:pPr algn="l"/>
            <a:r>
              <a:rPr lang="en-US" sz="1800" kern="0" spc="-220" dirty="0">
                <a:solidFill>
                  <a:schemeClr val="accent6"/>
                </a:solidFill>
                <a:hlinkClick r:id="rId7"/>
              </a:rPr>
              <a:t>https://learn.microsoft.com/en-us/archive/msdn-magazine/2013/march/async-await-best-practices-in-asynchronous-programming</a:t>
            </a:r>
            <a:r>
              <a:rPr lang="en-US" sz="1800" kern="0" spc="-220" dirty="0">
                <a:solidFill>
                  <a:schemeClr val="accent6"/>
                </a:solidFill>
              </a:rPr>
              <a:t> </a:t>
            </a:r>
          </a:p>
          <a:p>
            <a:pPr algn="l"/>
            <a:r>
              <a:rPr lang="en-US" sz="1800" kern="0" spc="-220" dirty="0">
                <a:solidFill>
                  <a:schemeClr val="accent6"/>
                </a:solidFill>
                <a:hlinkClick r:id="rId8"/>
              </a:rPr>
              <a:t>https://neuecc.medium.com/patterns-practices-for-efficiently-handling-c-async-await-cancel-processing-and-timeouts-b419ce5f69a4</a:t>
            </a:r>
            <a:r>
              <a:rPr lang="en-US" sz="1800" kern="0" spc="-220" dirty="0">
                <a:solidFill>
                  <a:schemeClr val="accent6"/>
                </a:solidFill>
              </a:rPr>
              <a:t> </a:t>
            </a:r>
          </a:p>
        </p:txBody>
      </p:sp>
      <p:sp>
        <p:nvSpPr>
          <p:cNvPr id="8" name="object 2">
            <a:extLst>
              <a:ext uri="{FF2B5EF4-FFF2-40B4-BE49-F238E27FC236}">
                <a16:creationId xmlns:a16="http://schemas.microsoft.com/office/drawing/2014/main" id="{8D57E537-0381-9E17-AB20-4D20DD28F284}"/>
              </a:ext>
            </a:extLst>
          </p:cNvPr>
          <p:cNvSpPr txBox="1">
            <a:spLocks/>
          </p:cNvSpPr>
          <p:nvPr/>
        </p:nvSpPr>
        <p:spPr>
          <a:xfrm>
            <a:off x="226874" y="9906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Advantages -  </a:t>
            </a:r>
          </a:p>
          <a:p>
            <a:pPr algn="l"/>
            <a:r>
              <a:rPr lang="en-US" sz="1800" kern="0" spc="-220" dirty="0">
                <a:solidFill>
                  <a:schemeClr val="accent6"/>
                </a:solidFill>
              </a:rPr>
              <a:t>1)  Better IO Performance</a:t>
            </a:r>
          </a:p>
          <a:p>
            <a:pPr algn="l"/>
            <a:r>
              <a:rPr lang="en-US" sz="1800" kern="0" spc="-220" dirty="0">
                <a:solidFill>
                  <a:schemeClr val="accent6"/>
                </a:solidFill>
              </a:rPr>
              <a:t>2)  Thread Reusability</a:t>
            </a:r>
          </a:p>
          <a:p>
            <a:pPr algn="l"/>
            <a:r>
              <a:rPr lang="en-US" sz="1800" kern="0" spc="-220" dirty="0">
                <a:solidFill>
                  <a:schemeClr val="accent6"/>
                </a:solidFill>
              </a:rPr>
              <a:t>3)  Thread Scalability</a:t>
            </a:r>
          </a:p>
        </p:txBody>
      </p:sp>
      <p:sp>
        <p:nvSpPr>
          <p:cNvPr id="9" name="object 2">
            <a:extLst>
              <a:ext uri="{FF2B5EF4-FFF2-40B4-BE49-F238E27FC236}">
                <a16:creationId xmlns:a16="http://schemas.microsoft.com/office/drawing/2014/main" id="{DA343E32-0DE9-77F3-9AD2-CC4322D03E56}"/>
              </a:ext>
            </a:extLst>
          </p:cNvPr>
          <p:cNvSpPr txBox="1">
            <a:spLocks/>
          </p:cNvSpPr>
          <p:nvPr/>
        </p:nvSpPr>
        <p:spPr>
          <a:xfrm>
            <a:off x="290463" y="42672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Custom </a:t>
            </a:r>
            <a:r>
              <a:rPr lang="en-US" sz="1800" kern="0" spc="-220" dirty="0" err="1">
                <a:solidFill>
                  <a:schemeClr val="accent6"/>
                </a:solidFill>
              </a:rPr>
              <a:t>Awaitables</a:t>
            </a:r>
            <a:r>
              <a:rPr lang="en-US" sz="1800" kern="0" spc="-220" dirty="0">
                <a:solidFill>
                  <a:schemeClr val="accent6"/>
                </a:solidFill>
              </a:rPr>
              <a:t> -  </a:t>
            </a:r>
          </a:p>
          <a:p>
            <a:pPr algn="l"/>
            <a:r>
              <a:rPr lang="en-US" sz="1800" kern="0" spc="-220" dirty="0">
                <a:solidFill>
                  <a:schemeClr val="accent6"/>
                </a:solidFill>
                <a:hlinkClick r:id="rId9"/>
              </a:rPr>
              <a:t>https://devblogs.microsoft.com/pfxteam/await-anything/</a:t>
            </a:r>
            <a:r>
              <a:rPr lang="en-US" sz="1800" kern="0" spc="-220" dirty="0">
                <a:solidFill>
                  <a:schemeClr val="accent6"/>
                </a:solidFill>
              </a:rPr>
              <a:t>  </a:t>
            </a:r>
          </a:p>
        </p:txBody>
      </p:sp>
      <p:sp>
        <p:nvSpPr>
          <p:cNvPr id="12" name="object 2">
            <a:extLst>
              <a:ext uri="{FF2B5EF4-FFF2-40B4-BE49-F238E27FC236}">
                <a16:creationId xmlns:a16="http://schemas.microsoft.com/office/drawing/2014/main" id="{6DB86942-0786-2575-7DF4-8EFE4A8A804A}"/>
              </a:ext>
            </a:extLst>
          </p:cNvPr>
          <p:cNvSpPr txBox="1">
            <a:spLocks/>
          </p:cNvSpPr>
          <p:nvPr/>
        </p:nvSpPr>
        <p:spPr>
          <a:xfrm>
            <a:off x="290463" y="36370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Asynchronous Patterns -  </a:t>
            </a:r>
          </a:p>
          <a:p>
            <a:pPr algn="l"/>
            <a:r>
              <a:rPr lang="en-US" sz="1800" kern="0" spc="-220" dirty="0">
                <a:solidFill>
                  <a:schemeClr val="accent6"/>
                </a:solidFill>
                <a:hlinkClick r:id="rId10"/>
              </a:rPr>
              <a:t>https://learn.microsoft.com/en-us/dotnet/standard/asynchronous-programming-patterns/</a:t>
            </a:r>
            <a:r>
              <a:rPr lang="en-US" sz="2000" kern="0" spc="-220" dirty="0">
                <a:solidFill>
                  <a:schemeClr val="accent6"/>
                </a:solidFill>
              </a:rPr>
              <a:t>  </a:t>
            </a:r>
          </a:p>
        </p:txBody>
      </p:sp>
      <p:sp>
        <p:nvSpPr>
          <p:cNvPr id="11" name="object 2">
            <a:extLst>
              <a:ext uri="{FF2B5EF4-FFF2-40B4-BE49-F238E27FC236}">
                <a16:creationId xmlns:a16="http://schemas.microsoft.com/office/drawing/2014/main" id="{09443E79-8745-01C9-24E2-1A32BBDACE59}"/>
              </a:ext>
            </a:extLst>
          </p:cNvPr>
          <p:cNvSpPr txBox="1">
            <a:spLocks/>
          </p:cNvSpPr>
          <p:nvPr/>
        </p:nvSpPr>
        <p:spPr>
          <a:xfrm>
            <a:off x="290463" y="50086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For Further Exploration -  </a:t>
            </a:r>
          </a:p>
          <a:p>
            <a:pPr algn="l"/>
            <a:r>
              <a:rPr lang="en-US" sz="1800" kern="0" spc="-220" dirty="0">
                <a:solidFill>
                  <a:schemeClr val="accent6"/>
                </a:solidFill>
                <a:hlinkClick r:id="rId11"/>
              </a:rPr>
              <a:t>https://www.oreilly.com/library/view/async-in-c/9781449337155/</a:t>
            </a:r>
            <a:r>
              <a:rPr lang="en-US" sz="1800" kern="0" spc="-220" dirty="0">
                <a:solidFill>
                  <a:schemeClr val="accent6"/>
                </a:solidFill>
              </a:rPr>
              <a:t> </a:t>
            </a:r>
          </a:p>
        </p:txBody>
      </p:sp>
    </p:spTree>
    <p:extLst>
      <p:ext uri="{BB962C8B-B14F-4D97-AF65-F5344CB8AC3E}">
        <p14:creationId xmlns:p14="http://schemas.microsoft.com/office/powerpoint/2010/main" val="24887862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886198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295400"/>
            <a:ext cx="8624937" cy="40010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 Why/When do you need Stream(s) </a:t>
            </a:r>
            <a:r>
              <a:rPr lang="en-US" sz="2000" kern="0" spc="-220" dirty="0">
                <a:solidFill>
                  <a:schemeClr val="accent6"/>
                </a:solidFill>
              </a:rPr>
              <a:t>–</a:t>
            </a:r>
          </a:p>
          <a:p>
            <a:pPr algn="l"/>
            <a:r>
              <a:rPr lang="en-US" sz="2000" kern="0" spc="-220" dirty="0">
                <a:solidFill>
                  <a:schemeClr val="accent6"/>
                </a:solidFill>
              </a:rPr>
              <a:t> You have some large array/list/file/object not fitting in your RAM due to various reasons(e.g. maybe you already have some large static objects which are always needed to support various apps) &amp; the large array/list/file/object needs to be processed &amp; so only option seems to then divide the large array/list/file/object into chunks &amp; then it can be a stream of chunks which is in general is easier to be processed. </a:t>
            </a:r>
            <a:r>
              <a:rPr lang="en-US" sz="2000" kern="0" spc="-220" dirty="0">
                <a:solidFill>
                  <a:schemeClr val="accent1"/>
                </a:solidFill>
              </a:rPr>
              <a:t>The chunk in general is in the form of byte(s) &amp; can be a single byte or a block of byte(s)(although chunks can be some text[character or string], XML, JSON </a:t>
            </a:r>
            <a:r>
              <a:rPr lang="en-US" sz="2000" kern="0" spc="-220" dirty="0" err="1">
                <a:solidFill>
                  <a:schemeClr val="accent1"/>
                </a:solidFill>
              </a:rPr>
              <a:t>etc</a:t>
            </a:r>
            <a:r>
              <a:rPr lang="en-US" sz="2000" kern="0" spc="-220" dirty="0">
                <a:solidFill>
                  <a:schemeClr val="accent1"/>
                </a:solidFill>
              </a:rPr>
              <a:t> as well).</a:t>
            </a:r>
          </a:p>
          <a:p>
            <a:pPr algn="l"/>
            <a:r>
              <a:rPr lang="en-US" sz="2000" kern="0" spc="-220" dirty="0">
                <a:solidFill>
                  <a:schemeClr val="accent6"/>
                </a:solidFill>
              </a:rPr>
              <a:t>Or maybe you want to transfer a large file from one server to another but your source server has memory limitations &amp; so can’t transfer the whole object in one shot.</a:t>
            </a:r>
          </a:p>
          <a:p>
            <a:pPr algn="l"/>
            <a:r>
              <a:rPr lang="en-US" sz="2000" kern="0" spc="-220" dirty="0">
                <a:solidFill>
                  <a:schemeClr val="accent6"/>
                </a:solidFill>
              </a:rPr>
              <a:t>Also, sometimes Streaming improves the overall performance of a system.</a:t>
            </a:r>
          </a:p>
        </p:txBody>
      </p:sp>
    </p:spTree>
    <p:extLst>
      <p:ext uri="{BB962C8B-B14F-4D97-AF65-F5344CB8AC3E}">
        <p14:creationId xmlns:p14="http://schemas.microsoft.com/office/powerpoint/2010/main" val="1039872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a:t>
            </a:r>
            <a:endParaRPr lang="en-US" sz="2000" kern="0" spc="-220" dirty="0">
              <a:solidFill>
                <a:schemeClr val="accent6"/>
              </a:solidFill>
            </a:endParaRPr>
          </a:p>
        </p:txBody>
      </p:sp>
      <p:pic>
        <p:nvPicPr>
          <p:cNvPr id="1026" name="Picture 2" descr="c# - stream adapters in Stream Architecture - Stack Overflow">
            <a:extLst>
              <a:ext uri="{FF2B5EF4-FFF2-40B4-BE49-F238E27FC236}">
                <a16:creationId xmlns:a16="http://schemas.microsoft.com/office/drawing/2014/main" id="{288617A7-6009-9A28-1149-9C8B078B803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3764" y="1371600"/>
            <a:ext cx="8443036" cy="3395193"/>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5785E4A8-C9FB-F1B2-4F4D-1D7ECD559F1D}"/>
              </a:ext>
            </a:extLst>
          </p:cNvPr>
          <p:cNvSpPr txBox="1">
            <a:spLocks/>
          </p:cNvSpPr>
          <p:nvPr/>
        </p:nvSpPr>
        <p:spPr>
          <a:xfrm>
            <a:off x="61863" y="4611469"/>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Although the arrows (direction) above might give the impression that the data is always moving from Stream Adapters to Decorator Streams to Backing Stores but that’s in the case of writing data from RAM (using some class inheriting from </a:t>
            </a:r>
            <a:r>
              <a:rPr lang="en-US" sz="1600" kern="0" spc="-220" dirty="0" err="1">
                <a:solidFill>
                  <a:schemeClr val="accent6"/>
                </a:solidFill>
              </a:rPr>
              <a:t>StreamWriter</a:t>
            </a:r>
            <a:r>
              <a:rPr lang="en-US" sz="1600" kern="0" spc="-220" dirty="0">
                <a:solidFill>
                  <a:schemeClr val="accent6"/>
                </a:solidFill>
              </a:rPr>
              <a:t> class or the </a:t>
            </a:r>
            <a:r>
              <a:rPr lang="en-US" sz="1600" kern="0" spc="-220" dirty="0" err="1">
                <a:solidFill>
                  <a:schemeClr val="accent6"/>
                </a:solidFill>
              </a:rPr>
              <a:t>StreamWriter</a:t>
            </a:r>
            <a:r>
              <a:rPr lang="en-US" sz="1600" kern="0" spc="-220" dirty="0">
                <a:solidFill>
                  <a:schemeClr val="accent6"/>
                </a:solidFill>
              </a:rPr>
              <a:t> class itself which again inherits from Stream class). For reading data into the RAM, it’s the other way around.(using some class inheriting from </a:t>
            </a:r>
            <a:r>
              <a:rPr lang="en-US" sz="1600" kern="0" spc="-220" dirty="0" err="1">
                <a:solidFill>
                  <a:schemeClr val="accent6"/>
                </a:solidFill>
              </a:rPr>
              <a:t>StreamReader</a:t>
            </a:r>
            <a:r>
              <a:rPr lang="en-US" sz="1600" kern="0" spc="-220" dirty="0">
                <a:solidFill>
                  <a:schemeClr val="accent6"/>
                </a:solidFill>
              </a:rPr>
              <a:t> class or the </a:t>
            </a:r>
            <a:r>
              <a:rPr lang="en-US" sz="1600" kern="0" spc="-220" dirty="0" err="1">
                <a:solidFill>
                  <a:schemeClr val="accent6"/>
                </a:solidFill>
              </a:rPr>
              <a:t>SreamReader</a:t>
            </a:r>
            <a:r>
              <a:rPr lang="en-US" sz="1600" kern="0" spc="-220" dirty="0">
                <a:solidFill>
                  <a:schemeClr val="accent6"/>
                </a:solidFill>
              </a:rPr>
              <a:t> class itself which again inherits from Stream class).</a:t>
            </a:r>
          </a:p>
        </p:txBody>
      </p:sp>
    </p:spTree>
    <p:extLst>
      <p:ext uri="{BB962C8B-B14F-4D97-AF65-F5344CB8AC3E}">
        <p14:creationId xmlns:p14="http://schemas.microsoft.com/office/powerpoint/2010/main" val="209883498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 </a:t>
            </a:r>
            <a:r>
              <a:rPr lang="en-US" sz="2000" kern="0" spc="-220" dirty="0" err="1">
                <a:solidFill>
                  <a:schemeClr val="accent2"/>
                </a:solidFill>
              </a:rPr>
              <a:t>contd</a:t>
            </a:r>
            <a:r>
              <a:rPr lang="en-US" sz="2000" kern="0" spc="-220" dirty="0">
                <a:solidFill>
                  <a:schemeClr val="accent2"/>
                </a:solidFill>
              </a:rPr>
              <a:t>…</a:t>
            </a:r>
          </a:p>
          <a:p>
            <a:pPr algn="l"/>
            <a:endParaRPr lang="en-US" sz="2000" kern="0" spc="-220" dirty="0">
              <a:solidFill>
                <a:schemeClr val="accent6"/>
              </a:solidFill>
            </a:endParaRPr>
          </a:p>
        </p:txBody>
      </p:sp>
      <p:graphicFrame>
        <p:nvGraphicFramePr>
          <p:cNvPr id="7" name="Table 6">
            <a:extLst>
              <a:ext uri="{FF2B5EF4-FFF2-40B4-BE49-F238E27FC236}">
                <a16:creationId xmlns:a16="http://schemas.microsoft.com/office/drawing/2014/main" id="{6D035F2E-B4C7-0815-0ACD-816FE846A6AC}"/>
              </a:ext>
            </a:extLst>
          </p:cNvPr>
          <p:cNvGraphicFramePr>
            <a:graphicFrameLocks noGrp="1"/>
          </p:cNvGraphicFramePr>
          <p:nvPr>
            <p:extLst>
              <p:ext uri="{D42A27DB-BD31-4B8C-83A1-F6EECF244321}">
                <p14:modId xmlns:p14="http://schemas.microsoft.com/office/powerpoint/2010/main" val="1901645523"/>
              </p:ext>
            </p:extLst>
          </p:nvPr>
        </p:nvGraphicFramePr>
        <p:xfrm>
          <a:off x="609600" y="1438108"/>
          <a:ext cx="8290637" cy="3907316"/>
        </p:xfrm>
        <a:graphic>
          <a:graphicData uri="http://schemas.openxmlformats.org/drawingml/2006/table">
            <a:tbl>
              <a:tblPr>
                <a:tableStyleId>{5C22544A-7EE6-4342-B048-85BDC9FD1C3A}</a:tableStyleId>
              </a:tblPr>
              <a:tblGrid>
                <a:gridCol w="3362963">
                  <a:extLst>
                    <a:ext uri="{9D8B030D-6E8A-4147-A177-3AD203B41FA5}">
                      <a16:colId xmlns:a16="http://schemas.microsoft.com/office/drawing/2014/main" val="4163440946"/>
                    </a:ext>
                  </a:extLst>
                </a:gridCol>
                <a:gridCol w="4927674">
                  <a:extLst>
                    <a:ext uri="{9D8B030D-6E8A-4147-A177-3AD203B41FA5}">
                      <a16:colId xmlns:a16="http://schemas.microsoft.com/office/drawing/2014/main" val="3313066096"/>
                    </a:ext>
                  </a:extLst>
                </a:gridCol>
              </a:tblGrid>
              <a:tr h="446266">
                <a:tc>
                  <a:txBody>
                    <a:bodyPr/>
                    <a:lstStyle/>
                    <a:p>
                      <a:pPr algn="l" fontAlgn="b"/>
                      <a:r>
                        <a:rPr lang="en-US" sz="1800" u="none" strike="noStrike" dirty="0">
                          <a:solidFill>
                            <a:schemeClr val="accent2"/>
                          </a:solidFill>
                          <a:effectLst/>
                        </a:rPr>
                        <a:t>High Level Stream(s) Type/Group</a:t>
                      </a:r>
                      <a:endParaRPr lang="en-US" sz="1800" b="1" i="0" u="none" strike="noStrike" dirty="0">
                        <a:solidFill>
                          <a:schemeClr val="accent2"/>
                        </a:solidFill>
                        <a:effectLst/>
                        <a:latin typeface="Aptos Narrow" panose="020B0004020202020204" pitchFamily="34" charset="0"/>
                      </a:endParaRPr>
                    </a:p>
                  </a:txBody>
                  <a:tcPr marL="3439" marR="3439" marT="3439" marB="0" anchor="b"/>
                </a:tc>
                <a:tc>
                  <a:txBody>
                    <a:bodyPr/>
                    <a:lstStyle/>
                    <a:p>
                      <a:pPr algn="l" fontAlgn="b"/>
                      <a:r>
                        <a:rPr lang="en-IN" sz="1800" u="none" strike="noStrike" dirty="0">
                          <a:solidFill>
                            <a:schemeClr val="accent2"/>
                          </a:solidFill>
                          <a:effectLst/>
                        </a:rPr>
                        <a:t>Description</a:t>
                      </a:r>
                      <a:endParaRPr lang="en-IN" sz="1800" b="1" i="0" u="none" strike="noStrike" dirty="0">
                        <a:solidFill>
                          <a:schemeClr val="accent2"/>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939733930"/>
                  </a:ext>
                </a:extLst>
              </a:tr>
              <a:tr h="574416">
                <a:tc>
                  <a:txBody>
                    <a:bodyPr/>
                    <a:lstStyle/>
                    <a:p>
                      <a:pPr algn="l" fontAlgn="b"/>
                      <a:r>
                        <a:rPr lang="en-IN" sz="1600" u="none" strike="noStrike" dirty="0">
                          <a:effectLst/>
                        </a:rPr>
                        <a:t>Backing Store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Hardwired to a particular type of Backing Store. Provides raw data. </a:t>
                      </a:r>
                      <a:r>
                        <a:rPr lang="en-US" sz="1600" u="none" strike="noStrike" dirty="0">
                          <a:solidFill>
                            <a:schemeClr val="accent1"/>
                          </a:solidFill>
                          <a:effectLst/>
                        </a:rPr>
                        <a:t>Itself a Stream</a:t>
                      </a:r>
                      <a:r>
                        <a:rPr lang="en-US" sz="600" u="none" strike="noStrike" dirty="0">
                          <a:solidFill>
                            <a:schemeClr val="accent1"/>
                          </a:solidFill>
                          <a:effectLst/>
                        </a:rPr>
                        <a:t>.</a:t>
                      </a:r>
                      <a:endParaRPr lang="en-US" sz="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847015799"/>
                  </a:ext>
                </a:extLst>
              </a:tr>
              <a:tr h="962211">
                <a:tc>
                  <a:txBody>
                    <a:bodyPr/>
                    <a:lstStyle/>
                    <a:p>
                      <a:pPr algn="l" fontAlgn="b"/>
                      <a:r>
                        <a:rPr lang="en-IN" sz="1600" u="none" strike="noStrike" dirty="0">
                          <a:effectLst/>
                        </a:rPr>
                        <a:t>Decorator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Feed off another stream &amp; transform the data </a:t>
                      </a:r>
                      <a:br>
                        <a:rPr lang="en-US" sz="1600" u="none" strike="noStrike" dirty="0">
                          <a:effectLst/>
                        </a:rPr>
                      </a:br>
                      <a:r>
                        <a:rPr lang="en-US" sz="1600" u="none" strike="noStrike" dirty="0">
                          <a:effectLst/>
                        </a:rPr>
                        <a:t>in some way (compression or encryption or Buffering). Chain of decorators also possible. </a:t>
                      </a:r>
                      <a:r>
                        <a:rPr lang="en-US" sz="1600" u="none" strike="noStrike" dirty="0">
                          <a:solidFill>
                            <a:schemeClr val="accent1"/>
                          </a:solidFill>
                          <a:effectLst/>
                        </a:rPr>
                        <a:t>Itself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586858950"/>
                  </a:ext>
                </a:extLst>
              </a:tr>
              <a:tr h="1924423">
                <a:tc>
                  <a:txBody>
                    <a:bodyPr/>
                    <a:lstStyle/>
                    <a:p>
                      <a:pPr algn="l" fontAlgn="b"/>
                      <a:r>
                        <a:rPr lang="en-IN" sz="1600" u="none" strike="noStrike" dirty="0">
                          <a:effectLst/>
                        </a:rPr>
                        <a:t>Adapter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Both Backing store &amp; Decorator stream deal </a:t>
                      </a:r>
                      <a:br>
                        <a:rPr lang="en-US" sz="1600" u="none" strike="noStrike" dirty="0">
                          <a:effectLst/>
                        </a:rPr>
                      </a:br>
                      <a:r>
                        <a:rPr lang="en-US" sz="1600" u="none" strike="noStrike" dirty="0">
                          <a:effectLst/>
                        </a:rPr>
                        <a:t>exclusively in bytes. Although that's flexible &amp; efficient but an app often works at higher levels like formatted bytes or text(character or string) or XML or JSON etc. Adapters bridge this gap by wrapping a stream in a class with specialized methods types to a particular format. </a:t>
                      </a:r>
                      <a:r>
                        <a:rPr lang="en-US" sz="1600" u="none" strike="noStrike" dirty="0">
                          <a:solidFill>
                            <a:schemeClr val="accent1"/>
                          </a:solidFill>
                          <a:effectLst/>
                        </a:rPr>
                        <a:t>Itself is not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141561000"/>
                  </a:ext>
                </a:extLst>
              </a:tr>
            </a:tbl>
          </a:graphicData>
        </a:graphic>
      </p:graphicFrame>
      <p:sp>
        <p:nvSpPr>
          <p:cNvPr id="8" name="object 2">
            <a:extLst>
              <a:ext uri="{FF2B5EF4-FFF2-40B4-BE49-F238E27FC236}">
                <a16:creationId xmlns:a16="http://schemas.microsoft.com/office/drawing/2014/main" id="{7BA15FE9-F5C0-0AEC-044F-81F574BFC720}"/>
              </a:ext>
            </a:extLst>
          </p:cNvPr>
          <p:cNvSpPr txBox="1">
            <a:spLocks/>
          </p:cNvSpPr>
          <p:nvPr/>
        </p:nvSpPr>
        <p:spPr>
          <a:xfrm>
            <a:off x="228600" y="5562600"/>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To compose a chain, you simply pass  one object into another’s constructor.</a:t>
            </a:r>
          </a:p>
        </p:txBody>
      </p:sp>
    </p:spTree>
    <p:extLst>
      <p:ext uri="{BB962C8B-B14F-4D97-AF65-F5344CB8AC3E}">
        <p14:creationId xmlns:p14="http://schemas.microsoft.com/office/powerpoint/2010/main" val="37361880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Backing Store Stream(s) </a:t>
            </a:r>
          </a:p>
        </p:txBody>
      </p:sp>
      <p:pic>
        <p:nvPicPr>
          <p:cNvPr id="9" name="Picture 8" descr="A diagram of a system&#10;&#10;Description automatically generated">
            <a:extLst>
              <a:ext uri="{FF2B5EF4-FFF2-40B4-BE49-F238E27FC236}">
                <a16:creationId xmlns:a16="http://schemas.microsoft.com/office/drawing/2014/main" id="{AACD817C-1789-8840-7FE0-C34584538C1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36132"/>
            <a:ext cx="9144000" cy="4050268"/>
          </a:xfrm>
          <a:prstGeom prst="rect">
            <a:avLst/>
          </a:prstGeom>
        </p:spPr>
      </p:pic>
      <p:sp>
        <p:nvSpPr>
          <p:cNvPr id="11" name="object 2">
            <a:extLst>
              <a:ext uri="{FF2B5EF4-FFF2-40B4-BE49-F238E27FC236}">
                <a16:creationId xmlns:a16="http://schemas.microsoft.com/office/drawing/2014/main" id="{5C3C1071-9AD4-4F8A-6B2E-9D6F98777F10}"/>
              </a:ext>
            </a:extLst>
          </p:cNvPr>
          <p:cNvSpPr txBox="1">
            <a:spLocks/>
          </p:cNvSpPr>
          <p:nvPr/>
        </p:nvSpPr>
        <p:spPr>
          <a:xfrm>
            <a:off x="214263" y="50292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Exploration(Seek &amp; Peek) - </a:t>
            </a:r>
          </a:p>
          <a:p>
            <a:pPr algn="l"/>
            <a:r>
              <a:rPr lang="en-US" sz="1800" kern="0" spc="-220" dirty="0">
                <a:solidFill>
                  <a:schemeClr val="accent2"/>
                </a:solidFill>
                <a:hlinkClick r:id="rId8"/>
              </a:rPr>
              <a:t>https://stackoverflow.com/questions/7238929/stream-seek0-seekorigin-begin-or-position-0</a:t>
            </a:r>
            <a:r>
              <a:rPr lang="en-US" sz="1800" kern="0" spc="-220" dirty="0">
                <a:solidFill>
                  <a:schemeClr val="accent2"/>
                </a:solidFill>
              </a:rPr>
              <a:t> </a:t>
            </a:r>
          </a:p>
          <a:p>
            <a:pPr algn="l"/>
            <a:r>
              <a:rPr lang="en-US" sz="1800" kern="0" spc="-220" dirty="0">
                <a:solidFill>
                  <a:schemeClr val="accent2"/>
                </a:solidFill>
              </a:rPr>
              <a:t> </a:t>
            </a:r>
            <a:r>
              <a:rPr lang="en-US" sz="1800" kern="0" spc="-220" dirty="0">
                <a:solidFill>
                  <a:schemeClr val="accent2"/>
                </a:solidFill>
                <a:hlinkClick r:id="rId9"/>
              </a:rPr>
              <a:t>https://learn.microsoft.com/en-us/dotnet/api/system.io.streamreader.peek?view=net-8.0</a:t>
            </a:r>
            <a:r>
              <a:rPr lang="en-US" sz="1800" kern="0" spc="-220" dirty="0">
                <a:solidFill>
                  <a:schemeClr val="accent2"/>
                </a:solidFill>
              </a:rPr>
              <a:t> </a:t>
            </a:r>
          </a:p>
        </p:txBody>
      </p:sp>
    </p:spTree>
    <p:extLst>
      <p:ext uri="{BB962C8B-B14F-4D97-AF65-F5344CB8AC3E}">
        <p14:creationId xmlns:p14="http://schemas.microsoft.com/office/powerpoint/2010/main" val="44548390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Decorator Stream(s) </a:t>
            </a:r>
          </a:p>
        </p:txBody>
      </p:sp>
      <p:pic>
        <p:nvPicPr>
          <p:cNvPr id="7" name="Picture 6" descr="A diagram of a system&#10;&#10;Description automatically generated">
            <a:extLst>
              <a:ext uri="{FF2B5EF4-FFF2-40B4-BE49-F238E27FC236}">
                <a16:creationId xmlns:a16="http://schemas.microsoft.com/office/drawing/2014/main" id="{C05EBD42-AF9D-94EA-3745-73793E7C315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523999"/>
            <a:ext cx="9144000" cy="3697069"/>
          </a:xfrm>
          <a:prstGeom prst="rect">
            <a:avLst/>
          </a:prstGeom>
        </p:spPr>
      </p:pic>
      <p:sp>
        <p:nvSpPr>
          <p:cNvPr id="12" name="object 2">
            <a:extLst>
              <a:ext uri="{FF2B5EF4-FFF2-40B4-BE49-F238E27FC236}">
                <a16:creationId xmlns:a16="http://schemas.microsoft.com/office/drawing/2014/main" id="{7AE4F70E-AB8C-DBD0-B9C3-C9699DBDE079}"/>
              </a:ext>
            </a:extLst>
          </p:cNvPr>
          <p:cNvSpPr txBox="1">
            <a:spLocks/>
          </p:cNvSpPr>
          <p:nvPr/>
        </p:nvSpPr>
        <p:spPr>
          <a:xfrm>
            <a:off x="152400" y="5221069"/>
            <a:ext cx="8624937" cy="6463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https://www.codeproject.com/Articles/1087779/Anonymous-Pipes-Made-Easy</a:t>
            </a:r>
            <a:r>
              <a:rPr lang="en-US" sz="1800" kern="0" spc="-220" dirty="0">
                <a:solidFill>
                  <a:schemeClr val="accent2"/>
                </a:solidFill>
              </a:rPr>
              <a:t> </a:t>
            </a:r>
          </a:p>
        </p:txBody>
      </p:sp>
    </p:spTree>
    <p:extLst>
      <p:ext uri="{BB962C8B-B14F-4D97-AF65-F5344CB8AC3E}">
        <p14:creationId xmlns:p14="http://schemas.microsoft.com/office/powerpoint/2010/main" val="37731346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Stream Adapter(s)</a:t>
            </a:r>
          </a:p>
        </p:txBody>
      </p:sp>
      <p:pic>
        <p:nvPicPr>
          <p:cNvPr id="8" name="Picture 7" descr="A diagram of a stream&#10;&#10;Description automatically generated">
            <a:extLst>
              <a:ext uri="{FF2B5EF4-FFF2-40B4-BE49-F238E27FC236}">
                <a16:creationId xmlns:a16="http://schemas.microsoft.com/office/drawing/2014/main" id="{CA8D8DFF-BEFE-E2DE-0AF8-E8B646BF422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94782"/>
            <a:ext cx="9144000" cy="4225018"/>
          </a:xfrm>
          <a:prstGeom prst="rect">
            <a:avLst/>
          </a:prstGeom>
        </p:spPr>
      </p:pic>
    </p:spTree>
    <p:extLst>
      <p:ext uri="{BB962C8B-B14F-4D97-AF65-F5344CB8AC3E}">
        <p14:creationId xmlns:p14="http://schemas.microsoft.com/office/powerpoint/2010/main" val="132643783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File(/Directory) Operations</a:t>
            </a:r>
          </a:p>
        </p:txBody>
      </p:sp>
      <p:pic>
        <p:nvPicPr>
          <p:cNvPr id="7" name="Picture 6" descr="A diagram of a diagram&#10;&#10;Description automatically generated">
            <a:extLst>
              <a:ext uri="{FF2B5EF4-FFF2-40B4-BE49-F238E27FC236}">
                <a16:creationId xmlns:a16="http://schemas.microsoft.com/office/drawing/2014/main" id="{F581F766-03DB-9DCB-E898-F63A3DF81AE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47800"/>
            <a:ext cx="9144000" cy="3399956"/>
          </a:xfrm>
          <a:prstGeom prst="rect">
            <a:avLst/>
          </a:prstGeom>
        </p:spPr>
      </p:pic>
      <p:sp>
        <p:nvSpPr>
          <p:cNvPr id="9" name="object 2">
            <a:extLst>
              <a:ext uri="{FF2B5EF4-FFF2-40B4-BE49-F238E27FC236}">
                <a16:creationId xmlns:a16="http://schemas.microsoft.com/office/drawing/2014/main" id="{A3132881-0F63-1C96-4794-C9126A0486C3}"/>
              </a:ext>
            </a:extLst>
          </p:cNvPr>
          <p:cNvSpPr txBox="1">
            <a:spLocks/>
          </p:cNvSpPr>
          <p:nvPr/>
        </p:nvSpPr>
        <p:spPr>
          <a:xfrm>
            <a:off x="214263" y="48006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https://learn.microsoft.com/en-us/dotnet/api/system.io?view=net-8.0</a:t>
            </a:r>
            <a:r>
              <a:rPr lang="en-US" sz="1800" kern="0" spc="-220" dirty="0">
                <a:solidFill>
                  <a:schemeClr val="accent2"/>
                </a:solidFill>
              </a:rPr>
              <a:t>  </a:t>
            </a:r>
          </a:p>
          <a:p>
            <a:pPr algn="l"/>
            <a:r>
              <a:rPr lang="en-US" sz="1800" kern="0" spc="-220" dirty="0">
                <a:solidFill>
                  <a:schemeClr val="accent2"/>
                </a:solidFill>
                <a:hlinkClick r:id="rId9"/>
              </a:rPr>
              <a:t>https://learn.microsoft.com/en-us/dotnet/api/system.environment.specialfolder?view=net-8.0</a:t>
            </a:r>
            <a:r>
              <a:rPr lang="en-US" sz="1800" kern="0" spc="-220" dirty="0">
                <a:solidFill>
                  <a:schemeClr val="accent2"/>
                </a:solidFill>
              </a:rPr>
              <a:t> </a:t>
            </a:r>
          </a:p>
          <a:p>
            <a:pPr algn="l"/>
            <a:r>
              <a:rPr lang="en-US" sz="1800" kern="0" spc="-220" dirty="0">
                <a:solidFill>
                  <a:schemeClr val="accent2"/>
                </a:solidFill>
                <a:hlinkClick r:id="rId10"/>
              </a:rPr>
              <a:t>https://learn.microsoft.com/en-us/dotnet/standard/io/memory-mapped-files</a:t>
            </a:r>
            <a:r>
              <a:rPr lang="en-US" sz="1800" kern="0" spc="-220" dirty="0">
                <a:solidFill>
                  <a:schemeClr val="accent2"/>
                </a:solidFill>
              </a:rPr>
              <a:t> </a:t>
            </a:r>
          </a:p>
        </p:txBody>
      </p:sp>
    </p:spTree>
    <p:extLst>
      <p:ext uri="{BB962C8B-B14F-4D97-AF65-F5344CB8AC3E}">
        <p14:creationId xmlns:p14="http://schemas.microsoft.com/office/powerpoint/2010/main" val="23876729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728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The OSI model">
            <a:extLst>
              <a:ext uri="{FF2B5EF4-FFF2-40B4-BE49-F238E27FC236}">
                <a16:creationId xmlns:a16="http://schemas.microsoft.com/office/drawing/2014/main" id="{AB99D286-C4EA-C983-1981-2E275519F60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600200"/>
            <a:ext cx="8792500" cy="35052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OSI Model</a:t>
            </a:r>
          </a:p>
        </p:txBody>
      </p:sp>
      <p:sp>
        <p:nvSpPr>
          <p:cNvPr id="8" name="object 2">
            <a:extLst>
              <a:ext uri="{FF2B5EF4-FFF2-40B4-BE49-F238E27FC236}">
                <a16:creationId xmlns:a16="http://schemas.microsoft.com/office/drawing/2014/main" id="{9A2D15C7-C2BF-F2BC-7818-EB9F56BE3BEB}"/>
              </a:ext>
            </a:extLst>
          </p:cNvPr>
          <p:cNvSpPr txBox="1">
            <a:spLocks/>
          </p:cNvSpPr>
          <p:nvPr/>
        </p:nvSpPr>
        <p:spPr>
          <a:xfrm>
            <a:off x="152400" y="5040868"/>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https://www.quora.com/In-the-OSI-layers-in-what-format-would-the-data-or-message-be-in-each-layer</a:t>
            </a:r>
            <a:r>
              <a:rPr lang="en-US" sz="1800" kern="0" spc="-220" dirty="0">
                <a:solidFill>
                  <a:schemeClr val="accent2"/>
                </a:solidFill>
              </a:rPr>
              <a:t> </a:t>
            </a:r>
          </a:p>
        </p:txBody>
      </p:sp>
    </p:spTree>
    <p:extLst>
      <p:ext uri="{BB962C8B-B14F-4D97-AF65-F5344CB8AC3E}">
        <p14:creationId xmlns:p14="http://schemas.microsoft.com/office/powerpoint/2010/main" val="405373423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.NET Network Architecture</a:t>
            </a:r>
          </a:p>
        </p:txBody>
      </p:sp>
      <p:pic>
        <p:nvPicPr>
          <p:cNvPr id="2050" name="Picture 2" descr="16. Networking - C# 10 in a Nutshell [Book]">
            <a:extLst>
              <a:ext uri="{FF2B5EF4-FFF2-40B4-BE49-F238E27FC236}">
                <a16:creationId xmlns:a16="http://schemas.microsoft.com/office/drawing/2014/main" id="{92CBE633-2FAC-02EF-F826-D3D264A9D4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70420"/>
            <a:ext cx="9144000" cy="3088938"/>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9E09F96-7F09-1020-42E2-28E2EE5127C9}"/>
              </a:ext>
            </a:extLst>
          </p:cNvPr>
          <p:cNvSpPr txBox="1">
            <a:spLocks/>
          </p:cNvSpPr>
          <p:nvPr/>
        </p:nvSpPr>
        <p:spPr>
          <a:xfrm>
            <a:off x="76200" y="44662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https://www.packtpub.com/product/hands-on-network-programming-with-c-and-net-core/9781789340761</a:t>
            </a:r>
            <a:r>
              <a:rPr lang="en-US" sz="1800" kern="0" spc="-220" dirty="0">
                <a:solidFill>
                  <a:schemeClr val="accent2"/>
                </a:solidFill>
              </a:rPr>
              <a:t> </a:t>
            </a:r>
          </a:p>
          <a:p>
            <a:pPr algn="l"/>
            <a:r>
              <a:rPr lang="en-US" sz="1800" kern="0" spc="-220" dirty="0">
                <a:solidFill>
                  <a:schemeClr val="accent2"/>
                </a:solidFill>
                <a:hlinkClick r:id="rId9"/>
              </a:rPr>
              <a:t>https://learn.microsoft.com/en-us/dotnet/fundamentals/networking/overview</a:t>
            </a:r>
            <a:endParaRPr lang="en-US" sz="1800" kern="0" spc="-220" dirty="0">
              <a:solidFill>
                <a:schemeClr val="accent2"/>
              </a:solidFill>
            </a:endParaRPr>
          </a:p>
          <a:p>
            <a:pPr algn="l"/>
            <a:r>
              <a:rPr lang="en-US" sz="1800" kern="0" spc="-220" dirty="0">
                <a:solidFill>
                  <a:schemeClr val="accent2"/>
                </a:solidFill>
                <a:hlinkClick r:id="rId10"/>
              </a:rPr>
              <a:t>https://hpbn.co/</a:t>
            </a:r>
            <a:r>
              <a:rPr lang="en-US" sz="1800" kern="0" spc="-220" dirty="0">
                <a:solidFill>
                  <a:schemeClr val="accent2"/>
                </a:solidFill>
              </a:rPr>
              <a:t> </a:t>
            </a:r>
          </a:p>
        </p:txBody>
      </p:sp>
    </p:spTree>
    <p:extLst>
      <p:ext uri="{BB962C8B-B14F-4D97-AF65-F5344CB8AC3E}">
        <p14:creationId xmlns:p14="http://schemas.microsoft.com/office/powerpoint/2010/main" val="175852512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31429072"/>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828BD314-E83B-C54B-CC9C-7215903F8FA2}"/>
              </a:ext>
            </a:extLst>
          </p:cNvPr>
          <p:cNvSpPr txBox="1">
            <a:spLocks/>
          </p:cNvSpPr>
          <p:nvPr/>
        </p:nvSpPr>
        <p:spPr>
          <a:xfrm>
            <a:off x="228600" y="14478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Ways to access Type Object in .NET - </a:t>
            </a:r>
          </a:p>
          <a:p>
            <a:pPr algn="l"/>
            <a:r>
              <a:rPr lang="en-US" sz="1600" kern="0" spc="-220" dirty="0" err="1">
                <a:solidFill>
                  <a:schemeClr val="accent6"/>
                </a:solidFill>
              </a:rPr>
              <a:t>SomeClassInstance.GetType</a:t>
            </a:r>
            <a:r>
              <a:rPr lang="en-US" sz="1600" kern="0" spc="-220" dirty="0">
                <a:solidFill>
                  <a:schemeClr val="accent6"/>
                </a:solidFill>
              </a:rPr>
              <a:t>()</a:t>
            </a:r>
          </a:p>
          <a:p>
            <a:pPr algn="l"/>
            <a:r>
              <a:rPr lang="en-US" sz="1600" kern="0" spc="-220" dirty="0" err="1">
                <a:solidFill>
                  <a:schemeClr val="accent6"/>
                </a:solidFill>
              </a:rPr>
              <a:t>typeof</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Assembly.GetType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Type.GetType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p:txBody>
      </p:sp>
      <p:sp>
        <p:nvSpPr>
          <p:cNvPr id="15" name="object 2">
            <a:extLst>
              <a:ext uri="{FF2B5EF4-FFF2-40B4-BE49-F238E27FC236}">
                <a16:creationId xmlns:a16="http://schemas.microsoft.com/office/drawing/2014/main" id="{1AFB8A0D-5143-550A-113A-7CA51F9DAE29}"/>
              </a:ext>
            </a:extLst>
          </p:cNvPr>
          <p:cNvSpPr txBox="1">
            <a:spLocks/>
          </p:cNvSpPr>
          <p:nvPr/>
        </p:nvSpPr>
        <p:spPr>
          <a:xfrm>
            <a:off x="427700" y="12510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6" name="object 2">
            <a:extLst>
              <a:ext uri="{FF2B5EF4-FFF2-40B4-BE49-F238E27FC236}">
                <a16:creationId xmlns:a16="http://schemas.microsoft.com/office/drawing/2014/main" id="{35559102-A832-4CCB-0B4E-874C1D7C477D}"/>
              </a:ext>
            </a:extLst>
          </p:cNvPr>
          <p:cNvSpPr txBox="1">
            <a:spLocks/>
          </p:cNvSpPr>
          <p:nvPr/>
        </p:nvSpPr>
        <p:spPr>
          <a:xfrm>
            <a:off x="228600" y="1066800"/>
            <a:ext cx="8624937" cy="307777"/>
          </a:xfrm>
          <a:prstGeom prst="rect">
            <a:avLst/>
          </a:prstGeom>
        </p:spPr>
        <p:txBody>
          <a:bodyPr vert="horz" wrap="square" lIns="0" tIns="0" rIns="0" bIns="0" rtlCol="0">
            <a:spAutoFit/>
          </a:bodyPr>
          <a:lstStyle>
            <a:defPPr>
              <a:defRPr lang="en-US"/>
            </a:defPPr>
            <a:lvl1pPr>
              <a:defRPr sz="2000" b="1" i="0" kern="0" spc="-220">
                <a:solidFill>
                  <a:schemeClr val="accent6"/>
                </a:solidFill>
                <a:latin typeface="Lucida Sans"/>
                <a:ea typeface="+mj-ea"/>
                <a:cs typeface="Lucida Sans"/>
              </a:defRPr>
            </a:lvl1pPr>
          </a:lstStyle>
          <a:p>
            <a:r>
              <a:rPr lang="en-US" dirty="0"/>
              <a:t>Reflection is just a way of investigating(/invoking) objects during run-time</a:t>
            </a:r>
          </a:p>
        </p:txBody>
      </p:sp>
      <p:sp>
        <p:nvSpPr>
          <p:cNvPr id="17" name="object 2">
            <a:extLst>
              <a:ext uri="{FF2B5EF4-FFF2-40B4-BE49-F238E27FC236}">
                <a16:creationId xmlns:a16="http://schemas.microsoft.com/office/drawing/2014/main" id="{645C2705-F430-35BF-4F68-45D98844968C}"/>
              </a:ext>
            </a:extLst>
          </p:cNvPr>
          <p:cNvSpPr txBox="1">
            <a:spLocks/>
          </p:cNvSpPr>
          <p:nvPr/>
        </p:nvSpPr>
        <p:spPr>
          <a:xfrm>
            <a:off x="259531" y="4170164"/>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Some Reflection Use Cases – </a:t>
            </a:r>
          </a:p>
          <a:p>
            <a:pPr marL="457200" indent="-457200" algn="l">
              <a:buAutoNum type="arabicParenR"/>
            </a:pPr>
            <a:r>
              <a:rPr lang="en-US" sz="1600" kern="0" spc="-220" dirty="0">
                <a:solidFill>
                  <a:schemeClr val="accent6"/>
                </a:solidFill>
              </a:rPr>
              <a:t>To execute a private member(/get/set) of the class</a:t>
            </a:r>
          </a:p>
          <a:p>
            <a:pPr marL="457200" indent="-457200" algn="l">
              <a:buAutoNum type="arabicParenR"/>
            </a:pPr>
            <a:r>
              <a:rPr lang="en-US" sz="1600" kern="0" spc="-220" dirty="0">
                <a:solidFill>
                  <a:schemeClr val="accent6"/>
                </a:solidFill>
              </a:rPr>
              <a:t>Determining dependencies of an assembly </a:t>
            </a:r>
          </a:p>
          <a:p>
            <a:pPr marL="457200" indent="-457200" algn="l">
              <a:buAutoNum type="arabicParenR"/>
            </a:pPr>
            <a:r>
              <a:rPr lang="en-US" sz="1600" kern="0" spc="-220" dirty="0">
                <a:solidFill>
                  <a:schemeClr val="accent6"/>
                </a:solidFill>
              </a:rPr>
              <a:t>Location types which conform to an interface, derive from a base / abstract class, and searching for members by attributes</a:t>
            </a:r>
          </a:p>
          <a:p>
            <a:pPr marL="457200" indent="-457200" algn="l">
              <a:buAutoNum type="arabicParenR"/>
            </a:pPr>
            <a:r>
              <a:rPr lang="en-US" sz="1600" kern="0" spc="-220" dirty="0">
                <a:solidFill>
                  <a:schemeClr val="accent6"/>
                </a:solidFill>
              </a:rPr>
              <a:t>Previous Project(s) Example(s) Discussion</a:t>
            </a:r>
          </a:p>
          <a:p>
            <a:pPr algn="l"/>
            <a:r>
              <a:rPr lang="en-US" sz="2000" kern="0" spc="-220" dirty="0">
                <a:solidFill>
                  <a:schemeClr val="accent6"/>
                </a:solidFill>
              </a:rPr>
              <a:t> </a:t>
            </a:r>
          </a:p>
        </p:txBody>
      </p:sp>
      <p:sp>
        <p:nvSpPr>
          <p:cNvPr id="18" name="object 2">
            <a:extLst>
              <a:ext uri="{FF2B5EF4-FFF2-40B4-BE49-F238E27FC236}">
                <a16:creationId xmlns:a16="http://schemas.microsoft.com/office/drawing/2014/main" id="{574A55A2-46BC-9297-CF78-70418BC72285}"/>
              </a:ext>
            </a:extLst>
          </p:cNvPr>
          <p:cNvSpPr txBox="1">
            <a:spLocks/>
          </p:cNvSpPr>
          <p:nvPr/>
        </p:nvSpPr>
        <p:spPr>
          <a:xfrm>
            <a:off x="228600" y="29628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Reflection Overview –</a:t>
            </a:r>
          </a:p>
          <a:p>
            <a:pPr algn="l"/>
            <a:r>
              <a:rPr lang="en-US" sz="2000" kern="0" spc="-220" dirty="0">
                <a:solidFill>
                  <a:schemeClr val="accent6"/>
                </a:solidFill>
                <a:hlinkClick r:id="rId7"/>
              </a:rPr>
              <a:t>https://learn.microsoft.com/en-us/previous-versions/dotnet/netframework-1.1/f7ykdhsy(v=vs.71)?redirectedfrom=MSDN</a:t>
            </a:r>
            <a:r>
              <a:rPr lang="en-US" sz="2000" kern="0" spc="-220" dirty="0">
                <a:solidFill>
                  <a:schemeClr val="accent6"/>
                </a:solidFill>
              </a:rPr>
              <a:t> </a:t>
            </a:r>
          </a:p>
        </p:txBody>
      </p:sp>
    </p:spTree>
    <p:extLst>
      <p:ext uri="{BB962C8B-B14F-4D97-AF65-F5344CB8AC3E}">
        <p14:creationId xmlns:p14="http://schemas.microsoft.com/office/powerpoint/2010/main" val="31128724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114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Usage –</a:t>
            </a:r>
          </a:p>
          <a:p>
            <a:pPr algn="l"/>
            <a:r>
              <a:rPr lang="en-US" sz="2000" kern="0" spc="-220" dirty="0">
                <a:solidFill>
                  <a:schemeClr val="accent6"/>
                </a:solidFill>
              </a:rPr>
              <a:t>Create a class from scratch at runtime</a:t>
            </a:r>
          </a:p>
          <a:p>
            <a:pPr algn="l"/>
            <a:r>
              <a:rPr lang="en-US" sz="2000" kern="0" spc="-220" dirty="0">
                <a:solidFill>
                  <a:schemeClr val="accent6"/>
                </a:solidFill>
              </a:rPr>
              <a:t>IL Rewriting(e.g. add[/modify] a member  to[/of]  class) </a:t>
            </a:r>
          </a:p>
        </p:txBody>
      </p:sp>
      <p:sp>
        <p:nvSpPr>
          <p:cNvPr id="12" name="object 2">
            <a:extLst>
              <a:ext uri="{FF2B5EF4-FFF2-40B4-BE49-F238E27FC236}">
                <a16:creationId xmlns:a16="http://schemas.microsoft.com/office/drawing/2014/main" id="{D56D2923-4278-64B6-69DA-C95EA477AB81}"/>
              </a:ext>
            </a:extLst>
          </p:cNvPr>
          <p:cNvSpPr txBox="1">
            <a:spLocks/>
          </p:cNvSpPr>
          <p:nvPr/>
        </p:nvSpPr>
        <p:spPr>
          <a:xfrm>
            <a:off x="290463" y="25146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in C# –</a:t>
            </a:r>
          </a:p>
          <a:p>
            <a:pPr algn="l"/>
            <a:r>
              <a:rPr lang="en-US" sz="2000" kern="0" spc="-220" dirty="0">
                <a:solidFill>
                  <a:schemeClr val="accent6"/>
                </a:solidFill>
              </a:rPr>
              <a:t>T4 Template </a:t>
            </a:r>
          </a:p>
          <a:p>
            <a:pPr algn="l"/>
            <a:r>
              <a:rPr lang="en-US" sz="2000" kern="0" spc="-220" dirty="0" err="1">
                <a:solidFill>
                  <a:schemeClr val="accent6"/>
                </a:solidFill>
              </a:rPr>
              <a:t>CodeDom</a:t>
            </a:r>
            <a:endParaRPr lang="en-US" sz="2000" kern="0" spc="-220" dirty="0">
              <a:solidFill>
                <a:schemeClr val="accent6"/>
              </a:solidFill>
            </a:endParaRPr>
          </a:p>
          <a:p>
            <a:pPr algn="l"/>
            <a:r>
              <a:rPr lang="en-US" sz="2000" kern="0" spc="-220" dirty="0" err="1">
                <a:solidFill>
                  <a:schemeClr val="accent6"/>
                </a:solidFill>
              </a:rPr>
              <a:t>Reflection.Emit</a:t>
            </a:r>
            <a:endParaRPr lang="en-US" sz="2000" kern="0" spc="-220" dirty="0">
              <a:solidFill>
                <a:schemeClr val="accent6"/>
              </a:solidFill>
            </a:endParaRPr>
          </a:p>
          <a:p>
            <a:pPr algn="l"/>
            <a:r>
              <a:rPr lang="en-US" sz="2000" kern="0" spc="-220" dirty="0" err="1">
                <a:solidFill>
                  <a:schemeClr val="accent6"/>
                </a:solidFill>
              </a:rPr>
              <a:t>ExpressionTree</a:t>
            </a:r>
            <a:endParaRPr lang="en-US" sz="2000" kern="0" spc="-220" dirty="0">
              <a:solidFill>
                <a:schemeClr val="accent6"/>
              </a:solidFill>
            </a:endParaRPr>
          </a:p>
          <a:p>
            <a:pPr algn="l"/>
            <a:r>
              <a:rPr lang="en-US" sz="2000" kern="0" spc="-220" dirty="0">
                <a:solidFill>
                  <a:schemeClr val="accent6"/>
                </a:solidFill>
              </a:rPr>
              <a:t>Roslyn API/Source Generators</a:t>
            </a:r>
          </a:p>
          <a:p>
            <a:r>
              <a:rPr lang="en-US" sz="2000" kern="0" spc="-220" dirty="0">
                <a:solidFill>
                  <a:schemeClr val="accent6"/>
                </a:solidFill>
              </a:rPr>
              <a:t>Code Snippets</a:t>
            </a:r>
          </a:p>
        </p:txBody>
      </p:sp>
    </p:spTree>
    <p:extLst>
      <p:ext uri="{BB962C8B-B14F-4D97-AF65-F5344CB8AC3E}">
        <p14:creationId xmlns:p14="http://schemas.microsoft.com/office/powerpoint/2010/main" val="2409338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25146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T4 Template – </a:t>
            </a:r>
          </a:p>
          <a:p>
            <a:pPr algn="l"/>
            <a:r>
              <a:rPr lang="en-US" sz="1600" kern="0" spc="-220" dirty="0">
                <a:solidFill>
                  <a:schemeClr val="accent6"/>
                </a:solidFill>
                <a:hlinkClick r:id="rId7"/>
              </a:rPr>
              <a:t>https://www.hanselman.com/blog/t4-text-template-transformation-toolkit-code-generation-best-kept-visual-studio-secret</a:t>
            </a:r>
            <a:endParaRPr lang="en-US" sz="1600" kern="0" spc="-220" dirty="0">
              <a:solidFill>
                <a:schemeClr val="accent6"/>
              </a:solidFill>
            </a:endParaRPr>
          </a:p>
          <a:p>
            <a:pPr algn="l"/>
            <a:r>
              <a:rPr lang="en-US" sz="1600" kern="0" spc="-220" dirty="0">
                <a:solidFill>
                  <a:schemeClr val="accent6"/>
                </a:solidFill>
                <a:hlinkClick r:id="rId8"/>
              </a:rPr>
              <a:t>https://www.syncfusion.com/succinctly-free-ebooks/t4succinctly</a:t>
            </a:r>
            <a:r>
              <a:rPr lang="en-US" sz="1600" kern="0" spc="-220" dirty="0">
                <a:solidFill>
                  <a:schemeClr val="accent6"/>
                </a:solidFill>
              </a:rPr>
              <a:t> </a:t>
            </a:r>
          </a:p>
        </p:txBody>
      </p:sp>
      <p:sp>
        <p:nvSpPr>
          <p:cNvPr id="8" name="object 2">
            <a:extLst>
              <a:ext uri="{FF2B5EF4-FFF2-40B4-BE49-F238E27FC236}">
                <a16:creationId xmlns:a16="http://schemas.microsoft.com/office/drawing/2014/main" id="{7E984E95-18AC-C9AF-E30F-600A73733F04}"/>
              </a:ext>
            </a:extLst>
          </p:cNvPr>
          <p:cNvSpPr txBox="1">
            <a:spLocks/>
          </p:cNvSpPr>
          <p:nvPr/>
        </p:nvSpPr>
        <p:spPr>
          <a:xfrm>
            <a:off x="290463" y="37894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CodeDom</a:t>
            </a:r>
            <a:r>
              <a:rPr lang="en-US" sz="2000" kern="0" spc="-220" dirty="0">
                <a:solidFill>
                  <a:schemeClr val="accent6"/>
                </a:solidFill>
              </a:rPr>
              <a:t> – </a:t>
            </a:r>
          </a:p>
          <a:p>
            <a:pPr algn="l"/>
            <a:r>
              <a:rPr lang="en-US" sz="1600" kern="0" spc="-220" dirty="0">
                <a:solidFill>
                  <a:schemeClr val="accent6"/>
                </a:solidFill>
                <a:hlinkClick r:id="rId9"/>
              </a:rPr>
              <a:t>https://www.codeproject.com/Articles/5253617/CodeDOM-Go-Kit-The-CodeDOM-is-Dead-Long-Live-the-C</a:t>
            </a:r>
            <a:r>
              <a:rPr lang="en-US" sz="1600" kern="0" spc="-220" dirty="0">
                <a:solidFill>
                  <a:schemeClr val="accent6"/>
                </a:solidFill>
              </a:rPr>
              <a:t> </a:t>
            </a:r>
          </a:p>
        </p:txBody>
      </p:sp>
      <p:sp>
        <p:nvSpPr>
          <p:cNvPr id="12" name="object 2">
            <a:extLst>
              <a:ext uri="{FF2B5EF4-FFF2-40B4-BE49-F238E27FC236}">
                <a16:creationId xmlns:a16="http://schemas.microsoft.com/office/drawing/2014/main" id="{AF293615-44B2-8CC7-CD28-80D1D4699DCC}"/>
              </a:ext>
            </a:extLst>
          </p:cNvPr>
          <p:cNvSpPr txBox="1">
            <a:spLocks/>
          </p:cNvSpPr>
          <p:nvPr/>
        </p:nvSpPr>
        <p:spPr>
          <a:xfrm>
            <a:off x="301426" y="1125141"/>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Comparison –</a:t>
            </a:r>
          </a:p>
          <a:p>
            <a:pPr algn="l"/>
            <a:r>
              <a:rPr lang="en-US" sz="1600" kern="0" spc="-220" dirty="0">
                <a:solidFill>
                  <a:schemeClr val="accent6"/>
                </a:solidFill>
                <a:hlinkClick r:id="rId10"/>
              </a:rPr>
              <a:t>https://topic.alibabacloud.com/a/code-generation-technology-codedom-vs-t4_8_8_32071393.html</a:t>
            </a:r>
            <a:r>
              <a:rPr lang="en-US" sz="1600" kern="0" spc="-220" dirty="0">
                <a:solidFill>
                  <a:schemeClr val="accent6"/>
                </a:solidFill>
              </a:rPr>
              <a:t> </a:t>
            </a:r>
          </a:p>
          <a:p>
            <a:pPr algn="l"/>
            <a:r>
              <a:rPr lang="en-US" sz="1600" kern="0" spc="-220" dirty="0">
                <a:solidFill>
                  <a:schemeClr val="accent6"/>
                </a:solidFill>
                <a:hlinkClick r:id="rId11"/>
              </a:rPr>
              <a:t>https://stackoverflow.com/questions/2366921/reflection-emit-vs-codedom</a:t>
            </a:r>
            <a:r>
              <a:rPr lang="en-US" sz="1600" kern="0" spc="-220" dirty="0">
                <a:solidFill>
                  <a:schemeClr val="accent6"/>
                </a:solidFill>
              </a:rPr>
              <a:t> </a:t>
            </a:r>
          </a:p>
          <a:p>
            <a:pPr algn="l"/>
            <a:r>
              <a:rPr lang="en-US" sz="1600" kern="0" spc="-220" dirty="0">
                <a:solidFill>
                  <a:schemeClr val="accent6"/>
                </a:solidFill>
                <a:hlinkClick r:id="rId12"/>
              </a:rPr>
              <a:t>https://jeremydmiller.com/2015/11/11/using-roslyn-for-runtime-code-generation-in-marten/</a:t>
            </a:r>
            <a:r>
              <a:rPr lang="en-US" sz="2000" kern="0" spc="-220" dirty="0">
                <a:solidFill>
                  <a:schemeClr val="accent6"/>
                </a:solidFill>
              </a:rPr>
              <a:t> </a:t>
            </a:r>
          </a:p>
        </p:txBody>
      </p:sp>
      <p:sp>
        <p:nvSpPr>
          <p:cNvPr id="13" name="object 2">
            <a:extLst>
              <a:ext uri="{FF2B5EF4-FFF2-40B4-BE49-F238E27FC236}">
                <a16:creationId xmlns:a16="http://schemas.microsoft.com/office/drawing/2014/main" id="{481142E4-56BF-76C7-5A3D-8F588109C44A}"/>
              </a:ext>
            </a:extLst>
          </p:cNvPr>
          <p:cNvSpPr txBox="1">
            <a:spLocks/>
          </p:cNvSpPr>
          <p:nvPr/>
        </p:nvSpPr>
        <p:spPr>
          <a:xfrm>
            <a:off x="290463" y="4572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Reflection.Emit</a:t>
            </a:r>
            <a:r>
              <a:rPr lang="en-US" sz="2000" kern="0" spc="-220" dirty="0">
                <a:solidFill>
                  <a:schemeClr val="accent6"/>
                </a:solidFill>
              </a:rPr>
              <a:t> – </a:t>
            </a:r>
          </a:p>
          <a:p>
            <a:pPr algn="l"/>
            <a:r>
              <a:rPr lang="en-US" sz="1600" kern="0" spc="-220" dirty="0">
                <a:solidFill>
                  <a:schemeClr val="accent6"/>
                </a:solidFill>
                <a:hlinkClick r:id="rId13"/>
              </a:rPr>
              <a:t>https://www.abhisheksur.com/2010/10/dlr-using-reflectionemit-in-depth-part_24.html#more</a:t>
            </a:r>
            <a:r>
              <a:rPr lang="en-US" sz="1600" kern="0" spc="-220" dirty="0">
                <a:solidFill>
                  <a:schemeClr val="accent6"/>
                </a:solidFill>
              </a:rPr>
              <a:t>  </a:t>
            </a:r>
          </a:p>
        </p:txBody>
      </p:sp>
    </p:spTree>
    <p:extLst>
      <p:ext uri="{BB962C8B-B14F-4D97-AF65-F5344CB8AC3E}">
        <p14:creationId xmlns:p14="http://schemas.microsoft.com/office/powerpoint/2010/main" val="52060940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90463" y="17526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Roslyn API/ Source Generators– </a:t>
            </a:r>
          </a:p>
          <a:p>
            <a:pPr algn="l"/>
            <a:r>
              <a:rPr lang="en-US" sz="1400" kern="0" spc="-220" dirty="0">
                <a:solidFill>
                  <a:schemeClr val="accent6"/>
                </a:solidFill>
              </a:rPr>
              <a:t> </a:t>
            </a:r>
            <a:r>
              <a:rPr lang="en-US" sz="1400" kern="0" spc="-220" dirty="0">
                <a:solidFill>
                  <a:schemeClr val="accent6"/>
                </a:solidFill>
                <a:hlinkClick r:id="rId7"/>
              </a:rPr>
              <a:t>https://www.thinktecture.com/en/net/roslyn-source-generators-introduction/</a:t>
            </a:r>
            <a:endParaRPr lang="en-US" sz="1400" kern="0" spc="-220" dirty="0">
              <a:solidFill>
                <a:schemeClr val="accent6"/>
              </a:solidFill>
            </a:endParaRPr>
          </a:p>
          <a:p>
            <a:pPr algn="l"/>
            <a:r>
              <a:rPr lang="en-US" sz="1400" kern="0" spc="-220" dirty="0">
                <a:solidFill>
                  <a:schemeClr val="accent6"/>
                </a:solidFill>
              </a:rPr>
              <a:t> </a:t>
            </a:r>
            <a:r>
              <a:rPr lang="en-US" sz="1400" kern="0" spc="-220" dirty="0">
                <a:solidFill>
                  <a:schemeClr val="accent6"/>
                </a:solidFill>
                <a:hlinkClick r:id="rId8"/>
              </a:rPr>
              <a:t>https://code-maze.com/csharp-source-generators/</a:t>
            </a:r>
            <a:r>
              <a:rPr lang="en-US" sz="1400" kern="0" spc="-220" dirty="0">
                <a:solidFill>
                  <a:schemeClr val="accent6"/>
                </a:solidFill>
              </a:rPr>
              <a:t> </a:t>
            </a:r>
          </a:p>
          <a:p>
            <a:pPr algn="l"/>
            <a:r>
              <a:rPr lang="en-US" sz="1400" kern="0" spc="-220" dirty="0">
                <a:solidFill>
                  <a:schemeClr val="accent6"/>
                </a:solidFill>
                <a:hlinkClick r:id="rId9"/>
              </a:rPr>
              <a:t> https://learn.microsoft.com/en-us/dotnet/csharp/roslyn-sdk/source-generators-</a:t>
            </a:r>
          </a:p>
          <a:p>
            <a:pPr algn="l"/>
            <a:r>
              <a:rPr lang="en-US" sz="1400" kern="0" spc="-220" dirty="0">
                <a:solidFill>
                  <a:schemeClr val="accent6"/>
                </a:solidFill>
                <a:hlinkClick r:id="rId9"/>
              </a:rPr>
              <a:t> overview</a:t>
            </a:r>
            <a:r>
              <a:rPr lang="en-US" sz="1400" kern="0" spc="-220" dirty="0">
                <a:solidFill>
                  <a:schemeClr val="accent6"/>
                </a:solidFill>
              </a:rPr>
              <a:t> </a:t>
            </a:r>
          </a:p>
          <a:p>
            <a:r>
              <a:rPr lang="en-US" sz="1400" kern="0" spc="-220" dirty="0">
                <a:solidFill>
                  <a:schemeClr val="accent6"/>
                </a:solidFill>
              </a:rPr>
              <a:t> </a:t>
            </a:r>
            <a:r>
              <a:rPr lang="en-US" sz="1400" kern="0" spc="-220" dirty="0">
                <a:solidFill>
                  <a:schemeClr val="accent6"/>
                </a:solidFill>
                <a:hlinkClick r:id="rId10"/>
              </a:rPr>
              <a:t>https://www.syncfusion.com/succinctly-free-ebooks/roslyn</a:t>
            </a:r>
            <a:r>
              <a:rPr lang="en-US" sz="1400" kern="0" spc="-220" dirty="0">
                <a:solidFill>
                  <a:schemeClr val="accent6"/>
                </a:solidFill>
              </a:rPr>
              <a:t> </a:t>
            </a:r>
          </a:p>
        </p:txBody>
      </p:sp>
      <p:sp>
        <p:nvSpPr>
          <p:cNvPr id="11" name="object 2">
            <a:extLst>
              <a:ext uri="{FF2B5EF4-FFF2-40B4-BE49-F238E27FC236}">
                <a16:creationId xmlns:a16="http://schemas.microsoft.com/office/drawing/2014/main" id="{5B06F669-CA9A-0BBB-2B92-60735117D319}"/>
              </a:ext>
            </a:extLst>
          </p:cNvPr>
          <p:cNvSpPr txBox="1">
            <a:spLocks/>
          </p:cNvSpPr>
          <p:nvPr/>
        </p:nvSpPr>
        <p:spPr>
          <a:xfrm>
            <a:off x="290463" y="3200400"/>
            <a:ext cx="8624937" cy="52322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Code Snippets(more used as VS Plugin rather than for Application) –</a:t>
            </a:r>
          </a:p>
          <a:p>
            <a:pPr algn="l"/>
            <a:r>
              <a:rPr lang="en-US" sz="1600" kern="0" spc="-220" dirty="0">
                <a:solidFill>
                  <a:schemeClr val="accent6"/>
                </a:solidFill>
              </a:rPr>
              <a:t> </a:t>
            </a:r>
            <a:r>
              <a:rPr lang="en-US" sz="1600" kern="0" spc="-220" dirty="0">
                <a:solidFill>
                  <a:schemeClr val="accent6"/>
                </a:solidFill>
                <a:hlinkClick r:id="rId11"/>
              </a:rPr>
              <a:t>https://www.freecodecamp.org/news/how-to-automatically-generate-code-snippets-visual-studio/</a:t>
            </a:r>
            <a:r>
              <a:rPr lang="en-US" sz="1600" kern="0" spc="-220" dirty="0">
                <a:solidFill>
                  <a:schemeClr val="accent6"/>
                </a:solidFill>
              </a:rPr>
              <a:t> </a:t>
            </a:r>
          </a:p>
        </p:txBody>
      </p:sp>
      <p:sp>
        <p:nvSpPr>
          <p:cNvPr id="14" name="object 2">
            <a:extLst>
              <a:ext uri="{FF2B5EF4-FFF2-40B4-BE49-F238E27FC236}">
                <a16:creationId xmlns:a16="http://schemas.microsoft.com/office/drawing/2014/main" id="{BB9C7D18-45ED-6D93-9F02-3D4ED2F0904F}"/>
              </a:ext>
            </a:extLst>
          </p:cNvPr>
          <p:cNvSpPr txBox="1">
            <a:spLocks/>
          </p:cNvSpPr>
          <p:nvPr/>
        </p:nvSpPr>
        <p:spPr>
          <a:xfrm>
            <a:off x="304800" y="1066800"/>
            <a:ext cx="8624937" cy="52322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err="1">
                <a:solidFill>
                  <a:schemeClr val="accent6"/>
                </a:solidFill>
              </a:rPr>
              <a:t>ExpressionTree</a:t>
            </a:r>
            <a:r>
              <a:rPr lang="en-US" sz="1800" kern="0" spc="-220" dirty="0">
                <a:solidFill>
                  <a:schemeClr val="accent6"/>
                </a:solidFill>
              </a:rPr>
              <a:t>–</a:t>
            </a:r>
            <a:r>
              <a:rPr lang="en-US" sz="2000" kern="0" spc="-220" dirty="0">
                <a:solidFill>
                  <a:schemeClr val="accent6"/>
                </a:solidFill>
              </a:rPr>
              <a:t> </a:t>
            </a:r>
          </a:p>
          <a:p>
            <a:pPr algn="l"/>
            <a:r>
              <a:rPr lang="en-US" sz="1400" kern="0" spc="-220" dirty="0">
                <a:solidFill>
                  <a:schemeClr val="accent6"/>
                </a:solidFill>
                <a:hlinkClick r:id="rId12"/>
              </a:rPr>
              <a:t>https://bagoum.medium.com/dynamic-code-generation-in-c-with-expression-trees-2ec4eebcb8ec</a:t>
            </a:r>
            <a:endParaRPr lang="en-US" sz="1400" kern="0" spc="-220" dirty="0">
              <a:solidFill>
                <a:schemeClr val="accent6"/>
              </a:solidFill>
            </a:endParaRPr>
          </a:p>
        </p:txBody>
      </p:sp>
      <p:sp>
        <p:nvSpPr>
          <p:cNvPr id="15" name="object 2">
            <a:extLst>
              <a:ext uri="{FF2B5EF4-FFF2-40B4-BE49-F238E27FC236}">
                <a16:creationId xmlns:a16="http://schemas.microsoft.com/office/drawing/2014/main" id="{A3F442AC-6FAB-06B1-D8F6-CE548BCA42CE}"/>
              </a:ext>
            </a:extLst>
          </p:cNvPr>
          <p:cNvSpPr txBox="1">
            <a:spLocks/>
          </p:cNvSpPr>
          <p:nvPr/>
        </p:nvSpPr>
        <p:spPr>
          <a:xfrm>
            <a:off x="304800" y="3762851"/>
            <a:ext cx="8624937" cy="22775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Code Generation Performance Improvement –</a:t>
            </a:r>
          </a:p>
          <a:p>
            <a:pPr algn="l"/>
            <a:r>
              <a:rPr lang="en-US" sz="1800" kern="0" spc="-220" dirty="0">
                <a:solidFill>
                  <a:schemeClr val="accent6"/>
                </a:solidFill>
              </a:rPr>
              <a:t>Mainly done via some In-Memory Caching </a:t>
            </a:r>
          </a:p>
          <a:p>
            <a:pPr algn="l"/>
            <a:endParaRPr lang="en-US" sz="1800" kern="0" spc="-220" dirty="0">
              <a:solidFill>
                <a:schemeClr val="accent6"/>
              </a:solidFill>
            </a:endParaRPr>
          </a:p>
          <a:p>
            <a:pPr algn="l"/>
            <a:r>
              <a:rPr lang="en-US" sz="1800" kern="0" spc="-220" dirty="0">
                <a:solidFill>
                  <a:schemeClr val="accent6"/>
                </a:solidFill>
              </a:rPr>
              <a:t>By the way, </a:t>
            </a:r>
            <a:r>
              <a:rPr lang="en-US" sz="1800" kern="0" spc="-220" dirty="0" err="1">
                <a:solidFill>
                  <a:schemeClr val="accent6"/>
                </a:solidFill>
              </a:rPr>
              <a:t>Automapper</a:t>
            </a:r>
            <a:r>
              <a:rPr lang="en-US" sz="1800" kern="0" spc="-220" dirty="0">
                <a:solidFill>
                  <a:schemeClr val="accent6"/>
                </a:solidFill>
              </a:rPr>
              <a:t>(</a:t>
            </a:r>
            <a:r>
              <a:rPr lang="en-US" sz="1800" kern="0" spc="-220" dirty="0">
                <a:solidFill>
                  <a:schemeClr val="accent6"/>
                </a:solidFill>
                <a:hlinkClick r:id="rId13"/>
              </a:rPr>
              <a:t>https://www.bytehide.com/blog/automapper-csharp</a:t>
            </a:r>
            <a:r>
              <a:rPr lang="en-US" sz="1800" kern="0" spc="-220" dirty="0">
                <a:solidFill>
                  <a:schemeClr val="accent6"/>
                </a:solidFill>
              </a:rPr>
              <a:t>) which is a  pretty cool library w.r.t object mapping, is build using mainly Reflection.</a:t>
            </a:r>
          </a:p>
          <a:p>
            <a:pPr algn="l"/>
            <a:endParaRPr lang="en-US" sz="1800" kern="0" spc="-220" dirty="0">
              <a:solidFill>
                <a:schemeClr val="accent6"/>
              </a:solidFill>
            </a:endParaRPr>
          </a:p>
          <a:p>
            <a:pPr algn="l"/>
            <a:r>
              <a:rPr lang="en-US" sz="1800" kern="0" spc="-220" dirty="0">
                <a:solidFill>
                  <a:schemeClr val="accent6"/>
                </a:solidFill>
              </a:rPr>
              <a:t>For Further Exploration –</a:t>
            </a:r>
            <a:r>
              <a:rPr lang="en-US" sz="2000" kern="0" spc="-220" dirty="0">
                <a:solidFill>
                  <a:schemeClr val="accent6"/>
                </a:solidFill>
              </a:rPr>
              <a:t> </a:t>
            </a:r>
          </a:p>
          <a:p>
            <a:pPr algn="l"/>
            <a:r>
              <a:rPr lang="en-US" sz="1800" kern="0" spc="-220" dirty="0">
                <a:solidFill>
                  <a:schemeClr val="accent6"/>
                </a:solidFill>
                <a:hlinkClick r:id="rId14"/>
              </a:rPr>
              <a:t>http://www.voelter.de/data/pub/ProgramGeneration.pdf</a:t>
            </a:r>
            <a:r>
              <a:rPr lang="en-US" sz="1800" kern="0" spc="-220" dirty="0">
                <a:solidFill>
                  <a:schemeClr val="accent6"/>
                </a:solidFill>
              </a:rPr>
              <a:t> </a:t>
            </a:r>
          </a:p>
        </p:txBody>
      </p:sp>
    </p:spTree>
    <p:extLst>
      <p:ext uri="{BB962C8B-B14F-4D97-AF65-F5344CB8AC3E}">
        <p14:creationId xmlns:p14="http://schemas.microsoft.com/office/powerpoint/2010/main" val="286352337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8" name="object 2">
            <a:extLst>
              <a:ext uri="{FF2B5EF4-FFF2-40B4-BE49-F238E27FC236}">
                <a16:creationId xmlns:a16="http://schemas.microsoft.com/office/drawing/2014/main" id="{F0A24AD0-E59E-3A69-EC4F-789AD2730494}"/>
              </a:ext>
            </a:extLst>
          </p:cNvPr>
          <p:cNvSpPr txBox="1">
            <a:spLocks/>
          </p:cNvSpPr>
          <p:nvPr/>
        </p:nvSpPr>
        <p:spPr>
          <a:xfrm>
            <a:off x="304800" y="1098685"/>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var vs dynamic – </a:t>
            </a:r>
          </a:p>
          <a:p>
            <a:pPr algn="l"/>
            <a:r>
              <a:rPr lang="en-US" sz="2000" kern="0" spc="-220" dirty="0">
                <a:solidFill>
                  <a:schemeClr val="accent6"/>
                </a:solidFill>
              </a:rPr>
              <a:t> var says “Let the compiler figure out the type”</a:t>
            </a:r>
          </a:p>
          <a:p>
            <a:pPr algn="l"/>
            <a:r>
              <a:rPr lang="en-US" sz="2000" kern="0" spc="-220" dirty="0">
                <a:solidFill>
                  <a:schemeClr val="accent6"/>
                </a:solidFill>
              </a:rPr>
              <a:t> dynamic says “Let the runtime figure out the type”</a:t>
            </a:r>
          </a:p>
        </p:txBody>
      </p:sp>
      <p:sp>
        <p:nvSpPr>
          <p:cNvPr id="9" name="object 2">
            <a:extLst>
              <a:ext uri="{FF2B5EF4-FFF2-40B4-BE49-F238E27FC236}">
                <a16:creationId xmlns:a16="http://schemas.microsoft.com/office/drawing/2014/main" id="{9BAF1FAB-90BB-96B8-7015-92F10F030674}"/>
              </a:ext>
            </a:extLst>
          </p:cNvPr>
          <p:cNvSpPr txBox="1">
            <a:spLocks/>
          </p:cNvSpPr>
          <p:nvPr/>
        </p:nvSpPr>
        <p:spPr>
          <a:xfrm>
            <a:off x="304800" y="2514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Late Binding And Doing That using Reflection – </a:t>
            </a:r>
          </a:p>
          <a:p>
            <a:pPr algn="l"/>
            <a:r>
              <a:rPr lang="en-US" sz="2000" kern="0" spc="-220" dirty="0">
                <a:solidFill>
                  <a:schemeClr val="accent6"/>
                </a:solidFill>
                <a:hlinkClick r:id="rId7"/>
              </a:rPr>
              <a:t>https://www.blackwasp.co.uk/ReflectionLateBinding.aspx</a:t>
            </a:r>
            <a:r>
              <a:rPr lang="en-US" sz="2000" kern="0" spc="-220" dirty="0">
                <a:solidFill>
                  <a:schemeClr val="accent6"/>
                </a:solidFill>
              </a:rPr>
              <a:t> </a:t>
            </a:r>
          </a:p>
          <a:p>
            <a:pPr algn="l"/>
            <a:r>
              <a:rPr lang="en-US" sz="2000" kern="0" spc="-220" dirty="0">
                <a:solidFill>
                  <a:schemeClr val="accent6"/>
                </a:solidFill>
              </a:rPr>
              <a:t> </a:t>
            </a:r>
          </a:p>
        </p:txBody>
      </p:sp>
      <p:sp>
        <p:nvSpPr>
          <p:cNvPr id="10" name="object 2">
            <a:extLst>
              <a:ext uri="{FF2B5EF4-FFF2-40B4-BE49-F238E27FC236}">
                <a16:creationId xmlns:a16="http://schemas.microsoft.com/office/drawing/2014/main" id="{512BAB8A-291E-8D90-B177-448B1578FEB0}"/>
              </a:ext>
            </a:extLst>
          </p:cNvPr>
          <p:cNvSpPr txBox="1">
            <a:spLocks/>
          </p:cNvSpPr>
          <p:nvPr/>
        </p:nvSpPr>
        <p:spPr>
          <a:xfrm>
            <a:off x="304800" y="38772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Simplifying Late Binding Using dynamic – </a:t>
            </a:r>
          </a:p>
          <a:p>
            <a:pPr algn="l"/>
            <a:r>
              <a:rPr lang="en-US" sz="2000" kern="0" spc="-220" dirty="0">
                <a:solidFill>
                  <a:schemeClr val="accent6"/>
                </a:solidFill>
                <a:hlinkClick r:id="rId8"/>
              </a:rPr>
              <a:t>https://www.linkedin.com/pulse/understanding-late-binding-dynamic-objects-reflection-amr-saafan</a:t>
            </a:r>
            <a:endParaRPr lang="en-US" sz="2000" kern="0" spc="-220" dirty="0">
              <a:solidFill>
                <a:schemeClr val="accent6"/>
              </a:solidFill>
            </a:endParaRPr>
          </a:p>
        </p:txBody>
      </p:sp>
    </p:spTree>
    <p:extLst>
      <p:ext uri="{BB962C8B-B14F-4D97-AF65-F5344CB8AC3E}">
        <p14:creationId xmlns:p14="http://schemas.microsoft.com/office/powerpoint/2010/main" val="2073185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27084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Simplifying Visitor Pattern Using dynamic – </a:t>
            </a:r>
          </a:p>
          <a:p>
            <a:pPr algn="l"/>
            <a:r>
              <a:rPr lang="en-US" sz="1600" kern="0" spc="-220" dirty="0">
                <a:solidFill>
                  <a:schemeClr val="accent6"/>
                </a:solidFill>
              </a:rPr>
              <a:t>In essence, the Visitor pattern allows you to “add” a method to a class hierarchy/graph without altering existing classes. But it also requires that visited classes be made visitor-friendly by exposing an Accept method, which can be impossible if the classes are not under your control. With dynamic pattern you can achieve the same goal &amp; without needing to modify existing classes.</a:t>
            </a:r>
          </a:p>
          <a:p>
            <a:pPr algn="l"/>
            <a:endParaRPr lang="en-US" sz="1600" kern="0" spc="-220" dirty="0">
              <a:solidFill>
                <a:schemeClr val="accent6"/>
              </a:solidFill>
            </a:endParaRPr>
          </a:p>
          <a:p>
            <a:pPr algn="l"/>
            <a:r>
              <a:rPr lang="en-US" sz="2000" kern="0" spc="-220" dirty="0">
                <a:solidFill>
                  <a:schemeClr val="accent6"/>
                </a:solidFill>
                <a:hlinkClick r:id="rId7"/>
              </a:rPr>
              <a:t>https://faithlife.codes/blog/2010/03/the_visitor_pattern_and_dynamic_in_c_4/</a:t>
            </a:r>
            <a:r>
              <a:rPr lang="en-US" sz="1600" kern="0" spc="-220" dirty="0">
                <a:solidFill>
                  <a:schemeClr val="accent6"/>
                </a:solidFill>
              </a:rPr>
              <a:t> </a:t>
            </a:r>
          </a:p>
          <a:p>
            <a:pPr algn="l"/>
            <a:endParaRPr lang="en-US" sz="1600" kern="0" spc="-220" dirty="0">
              <a:solidFill>
                <a:schemeClr val="accent6"/>
              </a:solidFill>
            </a:endParaRPr>
          </a:p>
          <a:p>
            <a:pPr algn="l"/>
            <a:r>
              <a:rPr lang="en-US" sz="2000" kern="0" spc="-220" dirty="0">
                <a:solidFill>
                  <a:schemeClr val="accent1"/>
                </a:solidFill>
              </a:rPr>
              <a:t>N.B. – From performance perspective, </a:t>
            </a:r>
            <a:r>
              <a:rPr lang="en-US" sz="2000" kern="0" spc="-220" dirty="0" err="1">
                <a:solidFill>
                  <a:schemeClr val="accent1"/>
                </a:solidFill>
              </a:rPr>
              <a:t>Mixins</a:t>
            </a:r>
            <a:r>
              <a:rPr lang="en-US" sz="2000" kern="0" spc="-220" dirty="0">
                <a:solidFill>
                  <a:schemeClr val="accent1"/>
                </a:solidFill>
              </a:rPr>
              <a:t> are better way to implement visitor pattern than using the dynamic pattern.</a:t>
            </a:r>
          </a:p>
        </p:txBody>
      </p:sp>
      <p:sp>
        <p:nvSpPr>
          <p:cNvPr id="11" name="object 2">
            <a:extLst>
              <a:ext uri="{FF2B5EF4-FFF2-40B4-BE49-F238E27FC236}">
                <a16:creationId xmlns:a16="http://schemas.microsoft.com/office/drawing/2014/main" id="{3827316A-5B78-572B-A209-196639A986AA}"/>
              </a:ext>
            </a:extLst>
          </p:cNvPr>
          <p:cNvSpPr txBox="1">
            <a:spLocks/>
          </p:cNvSpPr>
          <p:nvPr/>
        </p:nvSpPr>
        <p:spPr>
          <a:xfrm>
            <a:off x="304800" y="4483894"/>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ExpandoObject</a:t>
            </a:r>
            <a:r>
              <a:rPr lang="en-US" sz="2000" kern="0" spc="-220" dirty="0">
                <a:solidFill>
                  <a:schemeClr val="accent6"/>
                </a:solidFill>
              </a:rPr>
              <a:t> vs </a:t>
            </a:r>
            <a:r>
              <a:rPr lang="en-US" sz="2000" kern="0" spc="-220" dirty="0" err="1">
                <a:solidFill>
                  <a:schemeClr val="accent6"/>
                </a:solidFill>
              </a:rPr>
              <a:t>DynamicObject</a:t>
            </a:r>
            <a:r>
              <a:rPr lang="en-US" sz="2000" kern="0" spc="-220" dirty="0">
                <a:solidFill>
                  <a:schemeClr val="accent6"/>
                </a:solidFill>
              </a:rPr>
              <a:t>– </a:t>
            </a:r>
          </a:p>
          <a:p>
            <a:pPr algn="l"/>
            <a:r>
              <a:rPr lang="en-US" sz="2000" kern="0" spc="-220" dirty="0">
                <a:solidFill>
                  <a:schemeClr val="accent6"/>
                </a:solidFill>
                <a:hlinkClick r:id="rId8"/>
              </a:rPr>
              <a:t>https://stackoverflow.com/questions/3565481/differences-between-expandoobject-dynamicobject-and-dynamic</a:t>
            </a:r>
            <a:r>
              <a:rPr lang="en-US" sz="2000" kern="0" spc="-220" dirty="0">
                <a:solidFill>
                  <a:schemeClr val="accent6"/>
                </a:solidFill>
              </a:rPr>
              <a:t> </a:t>
            </a:r>
          </a:p>
          <a:p>
            <a:pPr algn="l"/>
            <a:endParaRPr lang="en-US" sz="2000" kern="0" spc="-220" dirty="0">
              <a:solidFill>
                <a:schemeClr val="accent6"/>
              </a:solidFill>
            </a:endParaRPr>
          </a:p>
        </p:txBody>
      </p:sp>
    </p:spTree>
    <p:extLst>
      <p:ext uri="{BB962C8B-B14F-4D97-AF65-F5344CB8AC3E}">
        <p14:creationId xmlns:p14="http://schemas.microsoft.com/office/powerpoint/2010/main" val="29910089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3971558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GAC &amp; Strong Naming – </a:t>
            </a:r>
          </a:p>
          <a:p>
            <a:pPr algn="l"/>
            <a:r>
              <a:rPr lang="en-US" sz="2000" kern="0" spc="-220" dirty="0">
                <a:solidFill>
                  <a:schemeClr val="accent6"/>
                </a:solidFill>
                <a:hlinkClick r:id="rId7"/>
              </a:rPr>
              <a:t>https://stackoverflow.com/questions/2354129/why-use-strong-named-assemblies</a:t>
            </a:r>
            <a:r>
              <a:rPr lang="en-US" sz="2000" kern="0" spc="-220" dirty="0">
                <a:solidFill>
                  <a:schemeClr val="accent6"/>
                </a:solidFill>
              </a:rPr>
              <a:t> </a:t>
            </a:r>
          </a:p>
          <a:p>
            <a:pPr algn="l"/>
            <a:endParaRPr lang="en-US" sz="2000" kern="0" spc="-220" dirty="0">
              <a:solidFill>
                <a:schemeClr val="accent6"/>
              </a:solidFill>
            </a:endParaRPr>
          </a:p>
        </p:txBody>
      </p:sp>
      <p:sp>
        <p:nvSpPr>
          <p:cNvPr id="8" name="object 2">
            <a:extLst>
              <a:ext uri="{FF2B5EF4-FFF2-40B4-BE49-F238E27FC236}">
                <a16:creationId xmlns:a16="http://schemas.microsoft.com/office/drawing/2014/main" id="{609FFD4A-64BB-AF36-49B5-431AC79CC47A}"/>
              </a:ext>
            </a:extLst>
          </p:cNvPr>
          <p:cNvSpPr txBox="1">
            <a:spLocks/>
          </p:cNvSpPr>
          <p:nvPr/>
        </p:nvSpPr>
        <p:spPr>
          <a:xfrm>
            <a:off x="304800" y="2350294"/>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Assembly Loading Order– </a:t>
            </a:r>
          </a:p>
          <a:p>
            <a:pPr algn="l"/>
            <a:r>
              <a:rPr lang="en-US" sz="2000" kern="0" spc="-220" dirty="0">
                <a:solidFill>
                  <a:schemeClr val="accent6"/>
                </a:solidFill>
                <a:hlinkClick r:id="rId8"/>
              </a:rPr>
              <a:t>https://stackoverflow.com/questions/49972/in-what-order-are-locations-searched-to-load-referenced-dlls</a:t>
            </a:r>
            <a:r>
              <a:rPr lang="en-US" sz="2000" kern="0" spc="-220" dirty="0">
                <a:solidFill>
                  <a:schemeClr val="accent6"/>
                </a:solidFill>
              </a:rPr>
              <a:t> </a:t>
            </a:r>
          </a:p>
          <a:p>
            <a:pPr algn="l"/>
            <a:r>
              <a:rPr lang="en-US" sz="2000" kern="0" spc="-220" dirty="0">
                <a:solidFill>
                  <a:schemeClr val="accent6"/>
                </a:solidFill>
                <a:hlinkClick r:id="rId9"/>
              </a:rPr>
              <a:t>https://stackoverflow.com/questions/49288920/net-use-application-config-file-to-load-an-assembly-that-is-referenced-by-anoth</a:t>
            </a:r>
            <a:r>
              <a:rPr lang="en-US" sz="2000" kern="0" spc="-220" dirty="0">
                <a:solidFill>
                  <a:schemeClr val="accent6"/>
                </a:solidFill>
              </a:rPr>
              <a:t> </a:t>
            </a:r>
          </a:p>
        </p:txBody>
      </p:sp>
      <p:sp>
        <p:nvSpPr>
          <p:cNvPr id="9" name="object 2">
            <a:extLst>
              <a:ext uri="{FF2B5EF4-FFF2-40B4-BE49-F238E27FC236}">
                <a16:creationId xmlns:a16="http://schemas.microsoft.com/office/drawing/2014/main" id="{1A1B851A-6179-74D8-5DE0-B7813F4CE789}"/>
              </a:ext>
            </a:extLst>
          </p:cNvPr>
          <p:cNvSpPr txBox="1">
            <a:spLocks/>
          </p:cNvSpPr>
          <p:nvPr/>
        </p:nvSpPr>
        <p:spPr>
          <a:xfrm>
            <a:off x="304800" y="425231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Satellite Assembly– </a:t>
            </a:r>
          </a:p>
          <a:p>
            <a:pPr algn="l"/>
            <a:r>
              <a:rPr lang="en-US" sz="2000" kern="0" spc="-220" dirty="0">
                <a:solidFill>
                  <a:schemeClr val="accent6"/>
                </a:solidFill>
                <a:hlinkClick r:id="rId10"/>
              </a:rPr>
              <a:t>https://stackoverflow.com/questions/365569/what-is-a-satellite-assembly</a:t>
            </a:r>
            <a:r>
              <a:rPr lang="en-US" sz="2000" kern="0" spc="-220" dirty="0">
                <a:solidFill>
                  <a:schemeClr val="accent6"/>
                </a:solidFill>
              </a:rPr>
              <a:t> </a:t>
            </a:r>
          </a:p>
        </p:txBody>
      </p:sp>
    </p:spTree>
    <p:extLst>
      <p:ext uri="{BB962C8B-B14F-4D97-AF65-F5344CB8AC3E}">
        <p14:creationId xmlns:p14="http://schemas.microsoft.com/office/powerpoint/2010/main" val="395388193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172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668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Doing </a:t>
            </a:r>
            <a:r>
              <a:rPr lang="en-US" sz="1800" kern="0" spc="-220" dirty="0" err="1">
                <a:solidFill>
                  <a:schemeClr val="accent6"/>
                </a:solidFill>
              </a:rPr>
              <a:t>AoP</a:t>
            </a:r>
            <a:r>
              <a:rPr lang="en-US" sz="1800" kern="0" spc="-220" dirty="0">
                <a:solidFill>
                  <a:schemeClr val="accent6"/>
                </a:solidFill>
              </a:rPr>
              <a:t> using Attributes in .NET – </a:t>
            </a:r>
          </a:p>
          <a:p>
            <a:pPr marL="12700" marR="5080"/>
            <a:r>
              <a:rPr lang="en-US" sz="1800" kern="0" spc="-220" dirty="0">
                <a:solidFill>
                  <a:schemeClr val="accent6"/>
                </a:solidFill>
                <a:hlinkClick r:id="rId7"/>
              </a:rPr>
              <a:t> https://www.jot.fm/issues/issue_2007_03/article1/</a:t>
            </a:r>
            <a:r>
              <a:rPr lang="en-US" sz="1800" kern="0" spc="-220" dirty="0">
                <a:solidFill>
                  <a:schemeClr val="accent6"/>
                </a:solidFill>
              </a:rPr>
              <a:t> </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8D26FDED-3B27-6999-1AEE-F53E28AC0F7E}"/>
              </a:ext>
            </a:extLst>
          </p:cNvPr>
          <p:cNvSpPr txBox="1">
            <a:spLocks/>
          </p:cNvSpPr>
          <p:nvPr/>
        </p:nvSpPr>
        <p:spPr>
          <a:xfrm>
            <a:off x="304800" y="1828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Compile -Time Weaving Techniques in .NET – </a:t>
            </a:r>
          </a:p>
          <a:p>
            <a:pPr marL="12700" marR="5080"/>
            <a:r>
              <a:rPr lang="en-US" sz="1800" kern="0" spc="-220" dirty="0">
                <a:solidFill>
                  <a:schemeClr val="accent6"/>
                </a:solidFill>
              </a:rPr>
              <a:t>  </a:t>
            </a:r>
            <a:r>
              <a:rPr lang="en-US" sz="1800" kern="0" spc="-220" dirty="0">
                <a:solidFill>
                  <a:schemeClr val="accent6"/>
                </a:solidFill>
                <a:hlinkClick r:id="rId8"/>
              </a:rPr>
              <a:t>https://www.postsharp.net/aop.net/compiletime-weaving</a:t>
            </a:r>
            <a:endParaRPr lang="en-US" sz="1800" kern="0" spc="-220" dirty="0">
              <a:solidFill>
                <a:schemeClr val="accent6"/>
              </a:solidFill>
            </a:endParaRPr>
          </a:p>
        </p:txBody>
      </p:sp>
      <p:sp>
        <p:nvSpPr>
          <p:cNvPr id="11" name="object 2">
            <a:extLst>
              <a:ext uri="{FF2B5EF4-FFF2-40B4-BE49-F238E27FC236}">
                <a16:creationId xmlns:a16="http://schemas.microsoft.com/office/drawing/2014/main" id="{8806AC4F-92D5-720F-36AC-FCE07E99240C}"/>
              </a:ext>
            </a:extLst>
          </p:cNvPr>
          <p:cNvSpPr txBox="1">
            <a:spLocks/>
          </p:cNvSpPr>
          <p:nvPr/>
        </p:nvSpPr>
        <p:spPr>
          <a:xfrm>
            <a:off x="304800" y="28956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Run -Time Weaving Techniques in .NET – </a:t>
            </a:r>
          </a:p>
          <a:p>
            <a:pPr marL="12700" marR="5080"/>
            <a:r>
              <a:rPr lang="en-US" sz="2000" kern="0" spc="-220" dirty="0">
                <a:solidFill>
                  <a:schemeClr val="accent6"/>
                </a:solidFill>
                <a:hlinkClick r:id="rId9"/>
              </a:rPr>
              <a:t> https://www.postsharp.net/aop.net/runtime-weaving</a:t>
            </a:r>
            <a:r>
              <a:rPr lang="en-US" sz="2000" kern="0" spc="-220" dirty="0">
                <a:solidFill>
                  <a:schemeClr val="accent6"/>
                </a:solidFill>
              </a:rPr>
              <a:t> </a:t>
            </a:r>
          </a:p>
        </p:txBody>
      </p:sp>
      <p:sp>
        <p:nvSpPr>
          <p:cNvPr id="12" name="object 2">
            <a:extLst>
              <a:ext uri="{FF2B5EF4-FFF2-40B4-BE49-F238E27FC236}">
                <a16:creationId xmlns:a16="http://schemas.microsoft.com/office/drawing/2014/main" id="{25750A05-C21A-31F8-FB8A-733B8316BFAF}"/>
              </a:ext>
            </a:extLst>
          </p:cNvPr>
          <p:cNvSpPr txBox="1">
            <a:spLocks/>
          </p:cNvSpPr>
          <p:nvPr/>
        </p:nvSpPr>
        <p:spPr>
          <a:xfrm>
            <a:off x="304800" y="38100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A Generic Example Using MS Unity – </a:t>
            </a:r>
          </a:p>
          <a:p>
            <a:pPr marL="12700" marR="5080"/>
            <a:r>
              <a:rPr lang="en-US" sz="1800" kern="0" spc="-220" dirty="0">
                <a:solidFill>
                  <a:schemeClr val="accent6"/>
                </a:solidFill>
              </a:rPr>
              <a:t>  </a:t>
            </a:r>
            <a:r>
              <a:rPr lang="en-US" sz="1800" kern="0" spc="-220" dirty="0">
                <a:solidFill>
                  <a:schemeClr val="accent6"/>
                </a:solidFill>
                <a:hlinkClick r:id="rId10"/>
              </a:rPr>
              <a:t>https://github.com/sandipray63in/DDD-Based-Enterprise-Application-Framework/tree/master/Infrastructure/AoP</a:t>
            </a:r>
            <a:r>
              <a:rPr lang="en-US" sz="1800" kern="0" spc="-220" dirty="0">
                <a:solidFill>
                  <a:schemeClr val="accent6"/>
                </a:solidFill>
              </a:rPr>
              <a:t> </a:t>
            </a:r>
          </a:p>
        </p:txBody>
      </p:sp>
      <p:sp>
        <p:nvSpPr>
          <p:cNvPr id="7" name="object 2">
            <a:extLst>
              <a:ext uri="{FF2B5EF4-FFF2-40B4-BE49-F238E27FC236}">
                <a16:creationId xmlns:a16="http://schemas.microsoft.com/office/drawing/2014/main" id="{9DAAA168-98FF-D4A2-3959-C3BC72CA9277}"/>
              </a:ext>
            </a:extLst>
          </p:cNvPr>
          <p:cNvSpPr txBox="1">
            <a:spLocks/>
          </p:cNvSpPr>
          <p:nvPr/>
        </p:nvSpPr>
        <p:spPr>
          <a:xfrm>
            <a:off x="366663" y="495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2000" kern="0" spc="-220" dirty="0">
                <a:solidFill>
                  <a:schemeClr val="accent6"/>
                </a:solidFill>
                <a:hlinkClick r:id="rId11"/>
              </a:rPr>
              <a:t>https://www.syncfusion.com/succinctly-free-ebooks/microsoftunity/aspect-oriented-programming-aop</a:t>
            </a:r>
            <a:r>
              <a:rPr lang="en-US" sz="2000" kern="0" spc="-220" dirty="0">
                <a:solidFill>
                  <a:schemeClr val="accent6"/>
                </a:solidFill>
              </a:rPr>
              <a:t> </a:t>
            </a:r>
          </a:p>
        </p:txBody>
      </p:sp>
    </p:spTree>
    <p:extLst>
      <p:ext uri="{BB962C8B-B14F-4D97-AF65-F5344CB8AC3E}">
        <p14:creationId xmlns:p14="http://schemas.microsoft.com/office/powerpoint/2010/main" val="50717508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672919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1026" name="Picture 2" descr="Chapter 1. Reactive programming - Rx.NET in Action">
            <a:extLst>
              <a:ext uri="{FF2B5EF4-FFF2-40B4-BE49-F238E27FC236}">
                <a16:creationId xmlns:a16="http://schemas.microsoft.com/office/drawing/2014/main" id="{084AF6D8-3129-024B-0356-5ACBEA53533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066800"/>
            <a:ext cx="8411500" cy="355758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A078CD7-FD93-2A1B-C7D1-C592A55E9569}"/>
              </a:ext>
            </a:extLst>
          </p:cNvPr>
          <p:cNvSpPr txBox="1">
            <a:spLocks/>
          </p:cNvSpPr>
          <p:nvPr/>
        </p:nvSpPr>
        <p:spPr>
          <a:xfrm>
            <a:off x="284009" y="53896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1600" kern="0" spc="-220" dirty="0">
                <a:solidFill>
                  <a:schemeClr val="accent6"/>
                </a:solidFill>
                <a:hlinkClick r:id="rId8"/>
              </a:rPr>
              <a:t>https://www.codeproject.com/Articles/851437/SignalR-plus-RX-Streaming-Data-Demo-App-of</a:t>
            </a:r>
            <a:r>
              <a:rPr lang="en-US" sz="1600" kern="0" spc="-220" dirty="0">
                <a:solidFill>
                  <a:schemeClr val="accent6"/>
                </a:solidFill>
              </a:rPr>
              <a:t> </a:t>
            </a:r>
          </a:p>
        </p:txBody>
      </p:sp>
      <p:sp>
        <p:nvSpPr>
          <p:cNvPr id="7" name="object 2">
            <a:extLst>
              <a:ext uri="{FF2B5EF4-FFF2-40B4-BE49-F238E27FC236}">
                <a16:creationId xmlns:a16="http://schemas.microsoft.com/office/drawing/2014/main" id="{C6F01799-2F56-1FAC-FE49-54492F39A969}"/>
              </a:ext>
            </a:extLst>
          </p:cNvPr>
          <p:cNvSpPr txBox="1">
            <a:spLocks/>
          </p:cNvSpPr>
          <p:nvPr/>
        </p:nvSpPr>
        <p:spPr>
          <a:xfrm>
            <a:off x="290463" y="4572000"/>
            <a:ext cx="8624937"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Some High Level Examples – </a:t>
            </a:r>
          </a:p>
          <a:p>
            <a:pPr marL="12700" marR="5080"/>
            <a:r>
              <a:rPr lang="en-US" sz="1600" kern="0" spc="-220" dirty="0">
                <a:solidFill>
                  <a:schemeClr val="accent6"/>
                </a:solidFill>
                <a:hlinkClick r:id="rId9"/>
              </a:rPr>
              <a:t>https://medium.com/@heytherewill/rx-net-in-the-real-world-be61e0287a93</a:t>
            </a:r>
            <a:r>
              <a:rPr lang="en-US" sz="1600" kern="0" spc="-220" dirty="0">
                <a:solidFill>
                  <a:schemeClr val="accent6"/>
                </a:solidFill>
              </a:rPr>
              <a:t> (supports collections as well as hierarchies)</a:t>
            </a:r>
          </a:p>
        </p:txBody>
      </p:sp>
    </p:spTree>
    <p:extLst>
      <p:ext uri="{BB962C8B-B14F-4D97-AF65-F5344CB8AC3E}">
        <p14:creationId xmlns:p14="http://schemas.microsoft.com/office/powerpoint/2010/main" val="250804556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3470431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27892"/>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Intro to SOLID Principles – </a:t>
            </a:r>
          </a:p>
          <a:p>
            <a:pPr marL="12700" marR="5080"/>
            <a:r>
              <a:rPr lang="en-US" sz="2000" kern="0" spc="-220" dirty="0">
                <a:solidFill>
                  <a:schemeClr val="accent6"/>
                </a:solidFill>
              </a:rPr>
              <a:t>     </a:t>
            </a:r>
            <a:r>
              <a:rPr lang="en-US" sz="2000" kern="0" spc="-220" dirty="0">
                <a:solidFill>
                  <a:schemeClr val="accent6"/>
                </a:solidFill>
                <a:hlinkClick r:id="rId7"/>
              </a:rPr>
              <a:t>https://www.baeldung.com/solid-principles</a:t>
            </a:r>
            <a:r>
              <a:rPr lang="en-US" sz="20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2666762"/>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 Some concepts related to SOLID– </a:t>
            </a:r>
          </a:p>
          <a:p>
            <a:pPr marL="12700" marR="5080"/>
            <a:r>
              <a:rPr lang="en-US" sz="2000" kern="0" spc="-220" dirty="0">
                <a:solidFill>
                  <a:schemeClr val="accent6"/>
                </a:solidFill>
              </a:rPr>
              <a:t>   </a:t>
            </a:r>
            <a:r>
              <a:rPr lang="en-US" sz="2000" kern="0" spc="-220" dirty="0">
                <a:solidFill>
                  <a:schemeClr val="tx2">
                    <a:lumMod val="60000"/>
                    <a:lumOff val="40000"/>
                  </a:schemeClr>
                </a:solidFill>
              </a:rPr>
              <a:t>D of SOLID is Dependency Inversion &amp; Not Dependency Injection</a:t>
            </a:r>
          </a:p>
          <a:p>
            <a:pPr marL="12700" marR="5080"/>
            <a:r>
              <a:rPr lang="en-US" sz="2000" kern="0" spc="-220" dirty="0">
                <a:solidFill>
                  <a:schemeClr val="accent6"/>
                </a:solidFill>
              </a:rPr>
              <a:t>   OCP &amp;  Extension Methods</a:t>
            </a:r>
          </a:p>
          <a:p>
            <a:pPr marL="12700" marR="5080"/>
            <a:r>
              <a:rPr lang="en-US" sz="2000" kern="0" spc="-220" dirty="0">
                <a:solidFill>
                  <a:schemeClr val="accent6"/>
                </a:solidFill>
              </a:rPr>
              <a:t>   </a:t>
            </a:r>
            <a:r>
              <a:rPr lang="en-US" sz="2000" kern="0" spc="-220" dirty="0" err="1">
                <a:solidFill>
                  <a:schemeClr val="accent6"/>
                </a:solidFill>
              </a:rPr>
              <a:t>Liskuv</a:t>
            </a:r>
            <a:r>
              <a:rPr lang="en-US" sz="2000" kern="0" spc="-220" dirty="0">
                <a:solidFill>
                  <a:schemeClr val="accent6"/>
                </a:solidFill>
              </a:rPr>
              <a:t> Substitution and various types of Abstractions in .NET(</a:t>
            </a:r>
            <a:r>
              <a:rPr lang="en-US" sz="2000" kern="0" spc="-220" dirty="0">
                <a:solidFill>
                  <a:schemeClr val="tx2">
                    <a:lumMod val="60000"/>
                    <a:lumOff val="40000"/>
                  </a:schemeClr>
                </a:solidFill>
              </a:rPr>
              <a:t>next slide</a:t>
            </a:r>
            <a:r>
              <a:rPr lang="en-US" sz="2000" kern="0" spc="-220" dirty="0">
                <a:solidFill>
                  <a:schemeClr val="accent6"/>
                </a:solidFill>
              </a:rPr>
              <a:t>)</a:t>
            </a:r>
          </a:p>
          <a:p>
            <a:pPr marL="12700" marR="5080"/>
            <a:r>
              <a:rPr lang="en-US" sz="2000" kern="0" spc="-220" dirty="0">
                <a:solidFill>
                  <a:schemeClr val="accent6"/>
                </a:solidFill>
              </a:rPr>
              <a:t>   Interface </a:t>
            </a:r>
            <a:r>
              <a:rPr lang="en-US" sz="2000" kern="0" spc="-220" dirty="0" err="1">
                <a:solidFill>
                  <a:schemeClr val="accent6"/>
                </a:solidFill>
              </a:rPr>
              <a:t>Seggregation</a:t>
            </a:r>
            <a:r>
              <a:rPr lang="en-US" sz="2000" kern="0" spc="-220" dirty="0">
                <a:solidFill>
                  <a:schemeClr val="accent6"/>
                </a:solidFill>
              </a:rPr>
              <a:t> Principle &amp; Microservices</a:t>
            </a:r>
          </a:p>
        </p:txBody>
      </p:sp>
    </p:spTree>
    <p:extLst>
      <p:ext uri="{BB962C8B-B14F-4D97-AF65-F5344CB8AC3E}">
        <p14:creationId xmlns:p14="http://schemas.microsoft.com/office/powerpoint/2010/main" val="106935625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66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1800" kern="0" spc="-220" dirty="0">
                <a:solidFill>
                  <a:schemeClr val="accent2"/>
                </a:solidFill>
              </a:rPr>
              <a:t>Abstractions in .NET &amp; </a:t>
            </a:r>
            <a:r>
              <a:rPr lang="en-US" sz="1800" kern="0" spc="-220" dirty="0" err="1">
                <a:solidFill>
                  <a:schemeClr val="accent2"/>
                </a:solidFill>
              </a:rPr>
              <a:t>Liskuv</a:t>
            </a:r>
            <a:r>
              <a:rPr lang="en-US" sz="1800" kern="0" spc="-220" dirty="0">
                <a:solidFill>
                  <a:schemeClr val="accent2"/>
                </a:solidFill>
              </a:rPr>
              <a:t> Substitution Principle– </a:t>
            </a:r>
          </a:p>
          <a:p>
            <a:pPr marL="12700" marR="5080"/>
            <a:r>
              <a:rPr lang="en-US" sz="1800" kern="0" spc="-220" dirty="0">
                <a:solidFill>
                  <a:schemeClr val="accent6"/>
                </a:solidFill>
              </a:rPr>
              <a:t>  </a:t>
            </a:r>
            <a:r>
              <a:rPr lang="en-US" sz="1800" kern="0" spc="-220" dirty="0">
                <a:solidFill>
                  <a:schemeClr val="accent2"/>
                </a:solidFill>
              </a:rPr>
              <a:t>Abstractions in .NET  - </a:t>
            </a:r>
          </a:p>
          <a:p>
            <a:pPr marL="12700" marR="5080"/>
            <a:r>
              <a:rPr lang="en-US" sz="1800" kern="0" spc="-220" dirty="0">
                <a:solidFill>
                  <a:schemeClr val="accent6"/>
                </a:solidFill>
              </a:rPr>
              <a:t>   Abstract (Parent) Class</a:t>
            </a:r>
          </a:p>
          <a:p>
            <a:pPr marL="12700" marR="5080"/>
            <a:r>
              <a:rPr lang="en-US" sz="1800" kern="0" spc="-220" dirty="0">
                <a:solidFill>
                  <a:schemeClr val="accent6"/>
                </a:solidFill>
              </a:rPr>
              <a:t>   Interface</a:t>
            </a:r>
          </a:p>
          <a:p>
            <a:pPr marL="12700" marR="5080"/>
            <a:r>
              <a:rPr lang="en-US" sz="1800" kern="0" spc="-220" dirty="0">
                <a:solidFill>
                  <a:schemeClr val="accent6"/>
                </a:solidFill>
              </a:rPr>
              <a:t>   Generics – </a:t>
            </a:r>
          </a:p>
          <a:p>
            <a:pPr marL="12700" marR="5080"/>
            <a:r>
              <a:rPr lang="en-US" sz="1800" kern="0" spc="-220" dirty="0">
                <a:solidFill>
                  <a:schemeClr val="accent6"/>
                </a:solidFill>
              </a:rPr>
              <a:t>      Abstract Generic (Parent) Class</a:t>
            </a:r>
          </a:p>
          <a:p>
            <a:pPr marL="12700" marR="5080"/>
            <a:r>
              <a:rPr lang="en-US" sz="1800" kern="0" spc="-220" dirty="0">
                <a:solidFill>
                  <a:schemeClr val="accent6"/>
                </a:solidFill>
              </a:rPr>
              <a:t>  Generic Interface</a:t>
            </a:r>
          </a:p>
          <a:p>
            <a:pPr marL="12700" marR="5080"/>
            <a:r>
              <a:rPr lang="en-US" sz="1800" kern="0" spc="-220" dirty="0">
                <a:solidFill>
                  <a:schemeClr val="accent6"/>
                </a:solidFill>
              </a:rPr>
              <a:t>  Delegates – </a:t>
            </a:r>
          </a:p>
          <a:p>
            <a:pPr marL="12700" marR="5080"/>
            <a:r>
              <a:rPr lang="en-US" sz="1800" kern="0" spc="-220" dirty="0">
                <a:solidFill>
                  <a:schemeClr val="accent6"/>
                </a:solidFill>
              </a:rPr>
              <a:t>       (Generic) Action</a:t>
            </a:r>
          </a:p>
          <a:p>
            <a:pPr marL="12700" marR="5080"/>
            <a:r>
              <a:rPr lang="en-US" sz="1800" kern="0" spc="-220" dirty="0">
                <a:solidFill>
                  <a:schemeClr val="accent6"/>
                </a:solidFill>
              </a:rPr>
              <a:t>       (Generic) </a:t>
            </a:r>
            <a:r>
              <a:rPr lang="en-US" sz="1800" kern="0" spc="-220" dirty="0" err="1">
                <a:solidFill>
                  <a:schemeClr val="accent6"/>
                </a:solidFill>
              </a:rPr>
              <a:t>Func</a:t>
            </a:r>
            <a:endParaRPr lang="en-US" sz="1800" kern="0" spc="-220" dirty="0">
              <a:solidFill>
                <a:schemeClr val="accent6"/>
              </a:solidFill>
            </a:endParaRPr>
          </a:p>
          <a:p>
            <a:pPr marL="12700" marR="5080"/>
            <a:r>
              <a:rPr lang="en-US" sz="1800" kern="0" spc="-220" dirty="0">
                <a:solidFill>
                  <a:schemeClr val="accent6"/>
                </a:solidFill>
              </a:rPr>
              <a:t> Although Non-Abstract (Generic) Parent Class is not an abstraction in the true sense but can be used as polymorphic constructs of </a:t>
            </a:r>
            <a:r>
              <a:rPr lang="en-US" sz="1800" kern="0" spc="-220" dirty="0" err="1">
                <a:solidFill>
                  <a:schemeClr val="accent6"/>
                </a:solidFill>
              </a:rPr>
              <a:t>Liskuv</a:t>
            </a:r>
            <a:r>
              <a:rPr lang="en-US" sz="1800" kern="0" spc="-220" dirty="0">
                <a:solidFill>
                  <a:schemeClr val="accent6"/>
                </a:solidFill>
              </a:rPr>
              <a:t> Substitution principle</a:t>
            </a:r>
          </a:p>
          <a:p>
            <a:pPr marL="12700" marR="5080"/>
            <a:r>
              <a:rPr lang="en-US" sz="2000" kern="0" spc="-220" dirty="0">
                <a:solidFill>
                  <a:schemeClr val="accent6"/>
                </a:solidFill>
              </a:rPr>
              <a:t>  </a:t>
            </a:r>
            <a:r>
              <a:rPr lang="en-US" sz="2000" kern="0" spc="-220" dirty="0">
                <a:solidFill>
                  <a:schemeClr val="accent2"/>
                </a:solidFill>
              </a:rPr>
              <a:t>For Further Exploration – </a:t>
            </a:r>
          </a:p>
          <a:p>
            <a:pPr marL="12700" marR="5080"/>
            <a:r>
              <a:rPr lang="en-US" sz="1600" kern="0" spc="-220" dirty="0">
                <a:solidFill>
                  <a:schemeClr val="accent6"/>
                </a:solidFill>
              </a:rPr>
              <a:t>   </a:t>
            </a:r>
            <a:r>
              <a:rPr lang="en-US" sz="1600" kern="0" spc="-220" dirty="0">
                <a:solidFill>
                  <a:schemeClr val="accent6"/>
                </a:solidFill>
                <a:hlinkClick r:id="rId7"/>
              </a:rPr>
              <a:t>https://www.linkedin.com/posts/davidcallan_softwareengineering-softwaredevelopment-devlife-activity-7120800278076891139-4cr8</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8"/>
              </a:rPr>
              <a:t>https://www.syncfusion.com/succinctly-free-ebooks/solidprinciplessuccinctly</a:t>
            </a:r>
            <a:r>
              <a:rPr lang="en-US" sz="2000" kern="0" spc="-220" dirty="0">
                <a:solidFill>
                  <a:schemeClr val="accent6"/>
                </a:solidFill>
              </a:rPr>
              <a:t> </a:t>
            </a:r>
          </a:p>
        </p:txBody>
      </p:sp>
    </p:spTree>
    <p:extLst>
      <p:ext uri="{BB962C8B-B14F-4D97-AF65-F5344CB8AC3E}">
        <p14:creationId xmlns:p14="http://schemas.microsoft.com/office/powerpoint/2010/main" val="20690181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4096080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90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Techniques</a:t>
            </a:r>
          </a:p>
          <a:p>
            <a:pPr marL="12700" marR="5080"/>
            <a:r>
              <a:rPr lang="en-US" sz="2400" kern="0" spc="-220" dirty="0">
                <a:solidFill>
                  <a:schemeClr val="accent6"/>
                </a:solidFill>
              </a:rPr>
              <a:t>     why do we have setter &amp; function based DI?</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EF6E591-49D4-3BBF-7590-DE5B70D93558}"/>
              </a:ext>
            </a:extLst>
          </p:cNvPr>
          <p:cNvSpPr txBox="1">
            <a:spLocks/>
          </p:cNvSpPr>
          <p:nvPr/>
        </p:nvSpPr>
        <p:spPr>
          <a:xfrm>
            <a:off x="152400" y="19516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Lifecycle Management</a:t>
            </a:r>
          </a:p>
          <a:p>
            <a:pPr marL="12700" marR="5080"/>
            <a:r>
              <a:rPr lang="en-US" sz="2400" kern="0" spc="-220" dirty="0">
                <a:solidFill>
                  <a:schemeClr val="accent6"/>
                </a:solidFill>
              </a:rPr>
              <a:t>     Scoped – Per Scope(scope for example can be http request).</a:t>
            </a:r>
          </a:p>
          <a:p>
            <a:pPr marL="12700" marR="5080"/>
            <a:r>
              <a:rPr lang="en-US" sz="2400" kern="0" spc="-220" dirty="0">
                <a:solidFill>
                  <a:schemeClr val="accent6"/>
                </a:solidFill>
              </a:rPr>
              <a:t>     Transient - New instance created each time it’s requested.</a:t>
            </a:r>
          </a:p>
          <a:p>
            <a:pPr marL="12700" marR="5080"/>
            <a:r>
              <a:rPr lang="en-US" sz="2400" kern="0" spc="-220" dirty="0">
                <a:solidFill>
                  <a:schemeClr val="accent6"/>
                </a:solidFill>
              </a:rPr>
              <a:t>     Singleton – Single Instance Per App(Domain)</a:t>
            </a:r>
          </a:p>
        </p:txBody>
      </p:sp>
      <p:sp>
        <p:nvSpPr>
          <p:cNvPr id="7" name="object 2">
            <a:extLst>
              <a:ext uri="{FF2B5EF4-FFF2-40B4-BE49-F238E27FC236}">
                <a16:creationId xmlns:a16="http://schemas.microsoft.com/office/drawing/2014/main" id="{276BC389-E1A7-23A0-BBAD-B689F54A05E5}"/>
              </a:ext>
            </a:extLst>
          </p:cNvPr>
          <p:cNvSpPr txBox="1">
            <a:spLocks/>
          </p:cNvSpPr>
          <p:nvPr/>
        </p:nvSpPr>
        <p:spPr>
          <a:xfrm>
            <a:off x="214263" y="35052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Is DI the same as IoC?</a:t>
            </a:r>
          </a:p>
          <a:p>
            <a:pPr marL="12700" marR="5080"/>
            <a:r>
              <a:rPr lang="en-US" sz="2000" kern="0" spc="-220" dirty="0">
                <a:solidFill>
                  <a:schemeClr val="accent6"/>
                </a:solidFill>
                <a:hlinkClick r:id="rId7"/>
              </a:rPr>
              <a:t>https://stackoverflow.com/questions/6550700/inversion-of-control-vs-dependency-injection</a:t>
            </a:r>
            <a:r>
              <a:rPr lang="en-US" sz="2000" kern="0" spc="-220" dirty="0">
                <a:solidFill>
                  <a:schemeClr val="accent6"/>
                </a:solidFill>
              </a:rPr>
              <a:t> </a:t>
            </a:r>
            <a:r>
              <a:rPr lang="en-US" sz="2400" kern="0" spc="-220" dirty="0">
                <a:solidFill>
                  <a:schemeClr val="accent6"/>
                </a:solidFill>
              </a:rPr>
              <a:t>  </a:t>
            </a:r>
            <a:endParaRPr lang="en-US" sz="2000" kern="0" spc="-220" dirty="0">
              <a:solidFill>
                <a:schemeClr val="accent6"/>
              </a:solidFill>
            </a:endParaRPr>
          </a:p>
        </p:txBody>
      </p:sp>
      <p:sp>
        <p:nvSpPr>
          <p:cNvPr id="8" name="object 2">
            <a:extLst>
              <a:ext uri="{FF2B5EF4-FFF2-40B4-BE49-F238E27FC236}">
                <a16:creationId xmlns:a16="http://schemas.microsoft.com/office/drawing/2014/main" id="{3399C083-C904-FE91-6421-1E15E9004F09}"/>
              </a:ext>
            </a:extLst>
          </p:cNvPr>
          <p:cNvSpPr txBox="1">
            <a:spLocks/>
          </p:cNvSpPr>
          <p:nvPr/>
        </p:nvSpPr>
        <p:spPr>
          <a:xfrm>
            <a:off x="214263" y="47244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To or Not to DI?</a:t>
            </a:r>
          </a:p>
          <a:p>
            <a:pPr marL="12700" marR="5080"/>
            <a:r>
              <a:rPr lang="en-US" sz="1800" kern="0" spc="-220" dirty="0">
                <a:solidFill>
                  <a:schemeClr val="accent6"/>
                </a:solidFill>
              </a:rPr>
              <a:t> </a:t>
            </a:r>
            <a:r>
              <a:rPr lang="en-US" sz="1800" kern="0" spc="-220" dirty="0">
                <a:solidFill>
                  <a:schemeClr val="accent6"/>
                </a:solidFill>
                <a:hlinkClick r:id="rId8"/>
              </a:rPr>
              <a:t>https://www.linkedin.com/posts/raul-junco_i-couldnt-understand-%3F%3F%3F%3F%3F%3F%3F%3F%3F%3F-activity-7121094128729223168--aiC/?trk=public_profile_like_view</a:t>
            </a:r>
            <a:r>
              <a:rPr lang="en-US" sz="1800" kern="0" spc="-220" dirty="0">
                <a:solidFill>
                  <a:schemeClr val="accent6"/>
                </a:solidFill>
              </a:rPr>
              <a:t> </a:t>
            </a:r>
          </a:p>
        </p:txBody>
      </p:sp>
    </p:spTree>
    <p:extLst>
      <p:ext uri="{BB962C8B-B14F-4D97-AF65-F5344CB8AC3E}">
        <p14:creationId xmlns:p14="http://schemas.microsoft.com/office/powerpoint/2010/main" val="135599886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6435325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0C237B29-E6B4-099A-9C02-64A289E48605}"/>
              </a:ext>
            </a:extLst>
          </p:cNvPr>
          <p:cNvGraphicFramePr>
            <a:graphicFrameLocks noGrp="1"/>
          </p:cNvGraphicFramePr>
          <p:nvPr>
            <p:extLst>
              <p:ext uri="{D42A27DB-BD31-4B8C-83A1-F6EECF244321}">
                <p14:modId xmlns:p14="http://schemas.microsoft.com/office/powerpoint/2010/main" val="3933969107"/>
              </p:ext>
            </p:extLst>
          </p:nvPr>
        </p:nvGraphicFramePr>
        <p:xfrm>
          <a:off x="381000" y="1143000"/>
          <a:ext cx="8487699" cy="4675324"/>
        </p:xfrm>
        <a:graphic>
          <a:graphicData uri="http://schemas.openxmlformats.org/drawingml/2006/table">
            <a:tbl>
              <a:tblPr firstRow="1" bandRow="1">
                <a:tableStyleId>{5C22544A-7EE6-4342-B048-85BDC9FD1C3A}</a:tableStyleId>
              </a:tblPr>
              <a:tblGrid>
                <a:gridCol w="2829233">
                  <a:extLst>
                    <a:ext uri="{9D8B030D-6E8A-4147-A177-3AD203B41FA5}">
                      <a16:colId xmlns:a16="http://schemas.microsoft.com/office/drawing/2014/main" val="60149152"/>
                    </a:ext>
                  </a:extLst>
                </a:gridCol>
                <a:gridCol w="2829233">
                  <a:extLst>
                    <a:ext uri="{9D8B030D-6E8A-4147-A177-3AD203B41FA5}">
                      <a16:colId xmlns:a16="http://schemas.microsoft.com/office/drawing/2014/main" val="306739251"/>
                    </a:ext>
                  </a:extLst>
                </a:gridCol>
                <a:gridCol w="2829233">
                  <a:extLst>
                    <a:ext uri="{9D8B030D-6E8A-4147-A177-3AD203B41FA5}">
                      <a16:colId xmlns:a16="http://schemas.microsoft.com/office/drawing/2014/main" val="3439482047"/>
                    </a:ext>
                  </a:extLst>
                </a:gridCol>
              </a:tblGrid>
              <a:tr h="364218">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427472320"/>
                  </a:ext>
                </a:extLst>
              </a:tr>
              <a:tr h="364218">
                <a:tc>
                  <a:txBody>
                    <a:bodyPr/>
                    <a:lstStyle/>
                    <a:p>
                      <a:pPr algn="l" fontAlgn="b"/>
                      <a:r>
                        <a:rPr lang="en-IN" sz="1100" b="0" i="0" u="none" strike="noStrike" dirty="0">
                          <a:solidFill>
                            <a:srgbClr val="000000"/>
                          </a:solidFill>
                          <a:effectLst/>
                          <a:latin typeface="Calibri" panose="020F0502020204030204" pitchFamily="34" charset="0"/>
                        </a:rPr>
                        <a:t>Factory </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Based on some key you need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create an object which can implement some Abstraction. Generally other Patterns like Strategy, State, Template Method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uses this pattern.</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https://github.com/sandipray63in/WeatherForecastAzureFunctionAndAngularSample/tree/master/WeatherForecastAPI/DomainServices</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23662425"/>
                  </a:ext>
                </a:extLst>
              </a:tr>
              <a:tr h="364218">
                <a:tc>
                  <a:txBody>
                    <a:bodyPr/>
                    <a:lstStyle/>
                    <a:p>
                      <a:pPr algn="l" fontAlgn="b"/>
                      <a:r>
                        <a:rPr lang="en-IN" sz="1100" b="0" i="0" u="none" strike="noStrike" dirty="0">
                          <a:solidFill>
                            <a:srgbClr val="000000"/>
                          </a:solidFill>
                          <a:effectLst/>
                          <a:latin typeface="Calibri" panose="020F0502020204030204" pitchFamily="34" charset="0"/>
                        </a:rPr>
                        <a:t>Builder</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a complex object needs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be build in steps.</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8"/>
                        </a:rPr>
                        <a:t>https://refactoring.guru/design-patterns/builder</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381717269"/>
                  </a:ext>
                </a:extLst>
              </a:tr>
              <a:tr h="364218">
                <a:tc>
                  <a:txBody>
                    <a:bodyPr/>
                    <a:lstStyle/>
                    <a:p>
                      <a:pPr algn="l" fontAlgn="b"/>
                      <a:r>
                        <a:rPr lang="en-IN" sz="1100" b="0" i="0" u="none" strike="noStrike" dirty="0">
                          <a:solidFill>
                            <a:srgbClr val="000000"/>
                          </a:solidFill>
                          <a:effectLst/>
                          <a:latin typeface="Calibri" panose="020F0502020204030204" pitchFamily="34" charset="0"/>
                        </a:rPr>
                        <a:t>Singleton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just need one &amp;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only one instance.</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9"/>
                        </a:rPr>
                        <a:t>https://github.com/sandipray63in/DDD-Based-Enterprise-Application-Framework/blob/master/Infrastructure/DI/Container.cs </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956006576"/>
                  </a:ext>
                </a:extLst>
              </a:tr>
              <a:tr h="364218">
                <a:tc>
                  <a:txBody>
                    <a:bodyPr/>
                    <a:lstStyle/>
                    <a:p>
                      <a:pPr algn="l" fontAlgn="b"/>
                      <a:r>
                        <a:rPr lang="en-IN" sz="1100" b="0" i="0" u="none" strike="noStrike" dirty="0" err="1">
                          <a:solidFill>
                            <a:srgbClr val="000000"/>
                          </a:solidFill>
                          <a:effectLst/>
                          <a:latin typeface="Calibri" panose="020F0502020204030204" pitchFamily="34" charset="0"/>
                        </a:rPr>
                        <a:t>Multiton</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some fixed number of limited instances only[but each created only once]</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https://en.wikipedia.org/wiki/Multiton_pattern  </a:t>
                      </a:r>
                    </a:p>
                  </a:txBody>
                  <a:tcPr marL="6350" marR="6350" marT="6350" marB="0" anchor="b"/>
                </a:tc>
                <a:extLst>
                  <a:ext uri="{0D108BD9-81ED-4DB2-BD59-A6C34878D82A}">
                    <a16:rowId xmlns:a16="http://schemas.microsoft.com/office/drawing/2014/main" val="1480007248"/>
                  </a:ext>
                </a:extLst>
              </a:tr>
              <a:tr h="364218">
                <a:tc>
                  <a:txBody>
                    <a:bodyPr/>
                    <a:lstStyle/>
                    <a:p>
                      <a:pPr algn="l" fontAlgn="b"/>
                      <a:r>
                        <a:rPr lang="en-IN" sz="1100" b="0" i="0" u="none" strike="noStrike" dirty="0">
                          <a:solidFill>
                            <a:srgbClr val="000000"/>
                          </a:solidFill>
                          <a:effectLst/>
                          <a:latin typeface="Calibri" panose="020F0502020204030204" pitchFamily="34" charset="0"/>
                        </a:rPr>
                        <a:t>Prototype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don’t want to touch an existing instance but you need a replica to perform some operations. Basically, its Cloning.</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0"/>
                        </a:rPr>
                        <a:t>https://en.wikipedia.org/wiki/Prototype_pattern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670570930"/>
                  </a:ext>
                </a:extLst>
              </a:tr>
              <a:tr h="364218">
                <a:tc>
                  <a:txBody>
                    <a:bodyPr/>
                    <a:lstStyle/>
                    <a:p>
                      <a:pPr algn="l" fontAlgn="b"/>
                      <a:r>
                        <a:rPr lang="en-IN" sz="1100" b="0" i="0" u="none" strike="noStrike" dirty="0">
                          <a:solidFill>
                            <a:srgbClr val="000000"/>
                          </a:solidFill>
                          <a:effectLst/>
                          <a:latin typeface="Calibri" panose="020F0502020204030204" pitchFamily="34" charset="0"/>
                        </a:rPr>
                        <a:t>Abstract Factory</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a factory of factories,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use this pattern(maybe using some</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composite key)</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1"/>
                        </a:rPr>
                        <a:t>https://en.wikipedia.org/wiki/Abstract_factory_pattern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92205829"/>
                  </a:ext>
                </a:extLst>
              </a:tr>
              <a:tr h="364218">
                <a:tc>
                  <a:txBody>
                    <a:bodyPr/>
                    <a:lstStyle/>
                    <a:p>
                      <a:pPr algn="l" fontAlgn="b"/>
                      <a:r>
                        <a:rPr lang="en-IN" sz="1100" b="0" i="0" u="none" strike="noStrike" dirty="0">
                          <a:solidFill>
                            <a:srgbClr val="000000"/>
                          </a:solidFill>
                          <a:effectLst/>
                          <a:latin typeface="Calibri" panose="020F0502020204030204" pitchFamily="34" charset="0"/>
                        </a:rPr>
                        <a:t>Lazy Initialization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Initialize an instance only when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required</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2"/>
                        </a:rPr>
                        <a:t>https://en.wikipedia.org/wiki/Lazy_initialization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49696447"/>
                  </a:ext>
                </a:extLst>
              </a:tr>
              <a:tr h="364218">
                <a:tc>
                  <a:txBody>
                    <a:bodyPr/>
                    <a:lstStyle/>
                    <a:p>
                      <a:pPr algn="l" fontAlgn="b"/>
                      <a:r>
                        <a:rPr lang="en-IN" sz="1100" b="0" i="0" u="none" strike="noStrike" dirty="0">
                          <a:solidFill>
                            <a:srgbClr val="000000"/>
                          </a:solidFill>
                          <a:effectLst/>
                          <a:latin typeface="Calibri" panose="020F0502020204030204" pitchFamily="34" charset="0"/>
                        </a:rPr>
                        <a:t>Object Pool</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CPU/IO intensive resources(e.g. threads, connection objects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build a pool of such objects &amp; (re)use them as &amp; when required based on demand</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13"/>
                        </a:rPr>
                        <a:t>https://en.wikipedia.org/wiki/Object_pool_pattern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57839610"/>
                  </a:ext>
                </a:extLst>
              </a:tr>
            </a:tbl>
          </a:graphicData>
        </a:graphic>
      </p:graphicFrame>
    </p:spTree>
    <p:extLst>
      <p:ext uri="{BB962C8B-B14F-4D97-AF65-F5344CB8AC3E}">
        <p14:creationId xmlns:p14="http://schemas.microsoft.com/office/powerpoint/2010/main" val="210438831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1318828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7" name="Table 6">
            <a:extLst>
              <a:ext uri="{FF2B5EF4-FFF2-40B4-BE49-F238E27FC236}">
                <a16:creationId xmlns:a16="http://schemas.microsoft.com/office/drawing/2014/main" id="{0580844D-F28C-6EFD-F7C5-6E0BD1B89B03}"/>
              </a:ext>
            </a:extLst>
          </p:cNvPr>
          <p:cNvGraphicFramePr>
            <a:graphicFrameLocks noGrp="1"/>
          </p:cNvGraphicFramePr>
          <p:nvPr>
            <p:extLst>
              <p:ext uri="{D42A27DB-BD31-4B8C-83A1-F6EECF244321}">
                <p14:modId xmlns:p14="http://schemas.microsoft.com/office/powerpoint/2010/main" val="1115531070"/>
              </p:ext>
            </p:extLst>
          </p:nvPr>
        </p:nvGraphicFramePr>
        <p:xfrm>
          <a:off x="304800" y="1066800"/>
          <a:ext cx="8610600" cy="4875851"/>
        </p:xfrm>
        <a:graphic>
          <a:graphicData uri="http://schemas.openxmlformats.org/drawingml/2006/table">
            <a:tbl>
              <a:tblPr firstRow="1" bandRow="1">
                <a:tableStyleId>{5C22544A-7EE6-4342-B048-85BDC9FD1C3A}</a:tableStyleId>
              </a:tblPr>
              <a:tblGrid>
                <a:gridCol w="1824608">
                  <a:extLst>
                    <a:ext uri="{9D8B030D-6E8A-4147-A177-3AD203B41FA5}">
                      <a16:colId xmlns:a16="http://schemas.microsoft.com/office/drawing/2014/main" val="56062115"/>
                    </a:ext>
                  </a:extLst>
                </a:gridCol>
                <a:gridCol w="3392996">
                  <a:extLst>
                    <a:ext uri="{9D8B030D-6E8A-4147-A177-3AD203B41FA5}">
                      <a16:colId xmlns:a16="http://schemas.microsoft.com/office/drawing/2014/main" val="2609032759"/>
                    </a:ext>
                  </a:extLst>
                </a:gridCol>
                <a:gridCol w="3392996">
                  <a:extLst>
                    <a:ext uri="{9D8B030D-6E8A-4147-A177-3AD203B41FA5}">
                      <a16:colId xmlns:a16="http://schemas.microsoft.com/office/drawing/2014/main" val="2011943707"/>
                    </a:ext>
                  </a:extLst>
                </a:gridCol>
              </a:tblGrid>
              <a:tr h="47711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138273162"/>
                  </a:ext>
                </a:extLst>
              </a:tr>
              <a:tr h="477117">
                <a:tc>
                  <a:txBody>
                    <a:bodyPr/>
                    <a:lstStyle/>
                    <a:p>
                      <a:pPr algn="l" fontAlgn="b"/>
                      <a:r>
                        <a:rPr lang="en-US" sz="1100" b="0" i="0" u="none" strike="noStrike" dirty="0">
                          <a:solidFill>
                            <a:srgbClr val="000000"/>
                          </a:solidFill>
                          <a:effectLst/>
                          <a:latin typeface="Calibri" panose="020F0502020204030204" pitchFamily="34" charset="0"/>
                        </a:rPr>
                        <a:t>A</a:t>
                      </a:r>
                      <a:r>
                        <a:rPr lang="en-IN" sz="1100" b="0" i="0" u="none" strike="noStrike" dirty="0" err="1">
                          <a:solidFill>
                            <a:srgbClr val="000000"/>
                          </a:solidFill>
                          <a:effectLst/>
                          <a:latin typeface="Calibri" panose="020F0502020204030204" pitchFamily="34" charset="0"/>
                        </a:rPr>
                        <a:t>dapter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want to adapt your functionality to some external functionality</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https://en.wikipedia.org/wiki/Adapter_pattern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5110035"/>
                  </a:ext>
                </a:extLst>
              </a:tr>
              <a:tr h="870901">
                <a:tc>
                  <a:txBody>
                    <a:bodyPr/>
                    <a:lstStyle/>
                    <a:p>
                      <a:pPr algn="l" fontAlgn="b"/>
                      <a:r>
                        <a:rPr lang="en-IN" sz="1100" b="0" i="0" u="none" strike="noStrike" dirty="0">
                          <a:solidFill>
                            <a:srgbClr val="000000"/>
                          </a:solidFill>
                          <a:effectLst/>
                          <a:latin typeface="Calibri" panose="020F0502020204030204" pitchFamily="34" charset="0"/>
                        </a:rPr>
                        <a:t>Bridge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varying abstractions as well as varying implementations.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https://refactoring.guru/design-patterns/bridge</a:t>
                      </a:r>
                    </a:p>
                    <a:p>
                      <a:pPr algn="l" fontAlgn="b"/>
                      <a:r>
                        <a:rPr lang="en-IN" sz="1100" b="0" i="0" u="sng" strike="noStrike" dirty="0">
                          <a:solidFill>
                            <a:srgbClr val="0563C1"/>
                          </a:solidFill>
                          <a:effectLst/>
                          <a:latin typeface="Calibri" panose="020F0502020204030204" pitchFamily="34" charset="0"/>
                          <a:hlinkClick r:id="rId8"/>
                        </a:rPr>
                        <a:t>https://github.com/sandipray63in/DDD-Based-Enterprise-Application-Framework/blob/master/Repository/Base/IQueryableRepository.cs</a:t>
                      </a:r>
                      <a:endParaRPr lang="en-IN" sz="1100" b="0" i="0" u="sng" strike="noStrike" dirty="0">
                        <a:solidFill>
                          <a:srgbClr val="0563C1"/>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ea typeface="+mn-ea"/>
                          <a:cs typeface="+mn-cs"/>
                        </a:rPr>
                        <a:t>Varying abstractions can be there using generic abstractions</a:t>
                      </a:r>
                    </a:p>
                  </a:txBody>
                  <a:tcPr marL="6350" marR="6350" marT="6350" marB="0" anchor="b"/>
                </a:tc>
                <a:extLst>
                  <a:ext uri="{0D108BD9-81ED-4DB2-BD59-A6C34878D82A}">
                    <a16:rowId xmlns:a16="http://schemas.microsoft.com/office/drawing/2014/main" val="1405792453"/>
                  </a:ext>
                </a:extLst>
              </a:tr>
              <a:tr h="477117">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omposite</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Compose/build complex trees(/graphs)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https://refactoring.guru/design-patterns/composite</a:t>
                      </a:r>
                    </a:p>
                  </a:txBody>
                  <a:tcPr marL="6350" marR="6350" marT="6350" marB="0" anchor="b"/>
                </a:tc>
                <a:extLst>
                  <a:ext uri="{0D108BD9-81ED-4DB2-BD59-A6C34878D82A}">
                    <a16:rowId xmlns:a16="http://schemas.microsoft.com/office/drawing/2014/main" val="4146221201"/>
                  </a:ext>
                </a:extLst>
              </a:tr>
              <a:tr h="477117">
                <a:tc>
                  <a:txBody>
                    <a:bodyPr/>
                    <a:lstStyle/>
                    <a:p>
                      <a:pPr algn="l" fontAlgn="b"/>
                      <a:r>
                        <a:rPr lang="en-US" sz="1100" b="0" i="0" u="none" strike="noStrike" dirty="0">
                          <a:solidFill>
                            <a:srgbClr val="000000"/>
                          </a:solidFill>
                          <a:effectLst/>
                          <a:latin typeface="Calibri" panose="020F0502020204030204" pitchFamily="34" charset="0"/>
                        </a:rPr>
                        <a:t>D</a:t>
                      </a:r>
                      <a:r>
                        <a:rPr lang="en-IN" sz="1100" b="0" i="0" u="none" strike="noStrike" dirty="0" err="1">
                          <a:solidFill>
                            <a:srgbClr val="000000"/>
                          </a:solidFill>
                          <a:effectLst/>
                          <a:latin typeface="Calibri" panose="020F0502020204030204" pitchFamily="34" charset="0"/>
                        </a:rPr>
                        <a:t>ecorator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To provide pre/post processing  functionalities to the main functionality.</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https://en.wikipedia.org/wiki/Decorator_pattern  </a:t>
                      </a:r>
                    </a:p>
                  </a:txBody>
                  <a:tcPr marL="6350" marR="6350" marT="6350" marB="0" anchor="b"/>
                </a:tc>
                <a:extLst>
                  <a:ext uri="{0D108BD9-81ED-4DB2-BD59-A6C34878D82A}">
                    <a16:rowId xmlns:a16="http://schemas.microsoft.com/office/drawing/2014/main" val="423399190"/>
                  </a:ext>
                </a:extLst>
              </a:tr>
              <a:tr h="655218">
                <a:tc>
                  <a:txBody>
                    <a:bodyPr/>
                    <a:lstStyle/>
                    <a:p>
                      <a:pPr algn="l" fontAlgn="b"/>
                      <a:r>
                        <a:rPr lang="en-US" sz="1100" b="0" i="0" u="none" strike="noStrike" dirty="0">
                          <a:solidFill>
                            <a:srgbClr val="000000"/>
                          </a:solidFill>
                          <a:effectLst/>
                          <a:latin typeface="Calibri" panose="020F0502020204030204" pitchFamily="34" charset="0"/>
                        </a:rPr>
                        <a:t>Flyweight</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Use sharing to support large numbers of similar objects efficiently. Basically, it’s Caching.</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sng" strike="noStrike" dirty="0">
                          <a:solidFill>
                            <a:srgbClr val="0563C1"/>
                          </a:solidFill>
                          <a:effectLst/>
                          <a:latin typeface="Calibri" panose="020F0502020204030204" pitchFamily="34" charset="0"/>
                        </a:rPr>
                        <a:t> </a:t>
                      </a:r>
                      <a:r>
                        <a:rPr lang="en-US" sz="1100" b="0" i="0" u="sng" strike="noStrike" dirty="0">
                          <a:solidFill>
                            <a:srgbClr val="0563C1"/>
                          </a:solidFill>
                          <a:effectLst/>
                          <a:latin typeface="Calibri" panose="020F0502020204030204" pitchFamily="34" charset="0"/>
                          <a:hlinkClick r:id="rId9"/>
                        </a:rPr>
                        <a:t>https://en.wikipedia.org/wiki/Flyweight_pattern</a:t>
                      </a:r>
                      <a:r>
                        <a:rPr lang="en-US" sz="1100" b="0" i="0" u="sng" strike="noStrike" dirty="0">
                          <a:solidFill>
                            <a:srgbClr val="0563C1"/>
                          </a:solidFill>
                          <a:effectLst/>
                          <a:latin typeface="Calibri" panose="020F0502020204030204" pitchFamily="34" charset="0"/>
                        </a:rPr>
                        <a:t> </a:t>
                      </a:r>
                    </a:p>
                    <a:p>
                      <a:pPr algn="l" fontAlgn="b"/>
                      <a:r>
                        <a:rPr lang="en-IN" sz="1100" b="0" i="0" u="sng" strike="noStrike" dirty="0">
                          <a:solidFill>
                            <a:srgbClr val="0563C1"/>
                          </a:solidFill>
                          <a:effectLst/>
                          <a:latin typeface="Calibri" panose="020F0502020204030204" pitchFamily="34" charset="0"/>
                        </a:rPr>
                        <a:t>https://stackoverflow.com/questions/4380658</a:t>
                      </a:r>
                      <a:r>
                        <a:rPr lang="en-IN" sz="1100" b="0" i="0" u="sng" strike="noStrike">
                          <a:solidFill>
                            <a:srgbClr val="0563C1"/>
                          </a:solidFill>
                          <a:effectLst/>
                          <a:latin typeface="Calibri" panose="020F0502020204030204" pitchFamily="34" charset="0"/>
                        </a:rPr>
                        <a:t>/what-is-the-reason-for-the-name-of-the-flyweight-design-pattern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5489568"/>
                  </a:ext>
                </a:extLst>
              </a:tr>
              <a:tr h="655218">
                <a:tc>
                  <a:txBody>
                    <a:bodyPr/>
                    <a:lstStyle/>
                    <a:p>
                      <a:pPr marL="0" algn="l" fontAlgn="b"/>
                      <a:r>
                        <a:rPr lang="en-IN" sz="1100" b="0" i="0" u="none" strike="noStrike" dirty="0">
                          <a:solidFill>
                            <a:srgbClr val="000000"/>
                          </a:solidFill>
                          <a:effectLst/>
                          <a:latin typeface="Calibri" panose="020F0502020204030204" pitchFamily="34" charset="0"/>
                          <a:ea typeface="+mn-ea"/>
                          <a:cs typeface="+mn-cs"/>
                        </a:rPr>
                        <a:t>Facade</a:t>
                      </a:r>
                    </a:p>
                  </a:txBody>
                  <a:tcPr marL="6350" marR="6350" marT="6350" marB="0" anchor="b"/>
                </a:tc>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Provide a unified interface to a set of interfaces in a subsystem. Facade defines a higher-level interface that makes the subsystem easier to use.</a:t>
                      </a:r>
                    </a:p>
                  </a:txBody>
                  <a:tcPr marL="6350" marR="6350" marT="6350" marB="0" anchor="b"/>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0">
                            <a:extLst>
                              <a:ext uri="{A12FA001-AC4F-418D-AE19-62706E023703}">
                                <ahyp:hlinkClr xmlns:ahyp="http://schemas.microsoft.com/office/drawing/2018/hyperlinkcolor" val="tx"/>
                              </a:ext>
                            </a:extLst>
                          </a:hlinkClick>
                        </a:rPr>
                        <a:t>https://en.wikipedia.org/wiki/Facade_pattern</a:t>
                      </a:r>
                      <a:endParaRPr lang="en-IN" sz="1100" b="0" i="0" u="none" strike="noStrike" dirty="0">
                        <a:solidFill>
                          <a:srgbClr val="000000"/>
                        </a:solidFill>
                        <a:effectLst/>
                        <a:latin typeface="Calibri" panose="020F0502020204030204" pitchFamily="34" charset="0"/>
                        <a:ea typeface="+mn-ea"/>
                        <a:cs typeface="+mn-cs"/>
                      </a:endParaRPr>
                    </a:p>
                  </a:txBody>
                  <a:tcPr marL="6350" marR="6350" marT="6350" marB="0" anchor="b"/>
                </a:tc>
                <a:extLst>
                  <a:ext uri="{0D108BD9-81ED-4DB2-BD59-A6C34878D82A}">
                    <a16:rowId xmlns:a16="http://schemas.microsoft.com/office/drawing/2014/main" val="1688567630"/>
                  </a:ext>
                </a:extLst>
              </a:tr>
              <a:tr h="477117">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r>
                        <a:rPr lang="en-US" sz="1100" b="0" i="0" dirty="0">
                          <a:solidFill>
                            <a:schemeClr val="dk1"/>
                          </a:solidFill>
                          <a:effectLst/>
                          <a:latin typeface="+mn-lt"/>
                          <a:ea typeface="+mn-ea"/>
                          <a:cs typeface="+mn-cs"/>
                        </a:rPr>
                        <a:t>Provide a surrogate or placeholder for another object to control access to it e.g. SOAP Based Web Services 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1"/>
                        </a:rPr>
                        <a:t>https://en.wikipedia.org/wiki/Proxy_pattern</a:t>
                      </a:r>
                      <a:r>
                        <a:rPr lang="en-IN" sz="1100" b="0" i="0" u="none" strike="noStrike" dirty="0">
                          <a:solidFill>
                            <a:srgbClr val="000000"/>
                          </a:solidFill>
                          <a:effectLst/>
                          <a:latin typeface="Calibri" panose="020F0502020204030204" pitchFamily="34" charset="0"/>
                          <a:ea typeface="+mn-ea"/>
                          <a:cs typeface="+mn-cs"/>
                        </a:rPr>
                        <a:t> </a:t>
                      </a:r>
                    </a:p>
                  </a:txBody>
                  <a:tcPr/>
                </a:tc>
                <a:extLst>
                  <a:ext uri="{0D108BD9-81ED-4DB2-BD59-A6C34878D82A}">
                    <a16:rowId xmlns:a16="http://schemas.microsoft.com/office/drawing/2014/main" val="2448884206"/>
                  </a:ext>
                </a:extLst>
              </a:tr>
            </a:tbl>
          </a:graphicData>
        </a:graphic>
      </p:graphicFrame>
    </p:spTree>
    <p:extLst>
      <p:ext uri="{BB962C8B-B14F-4D97-AF65-F5344CB8AC3E}">
        <p14:creationId xmlns:p14="http://schemas.microsoft.com/office/powerpoint/2010/main" val="239720269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D6DA4487-E842-F894-5B5E-A980A085EB7B}"/>
              </a:ext>
            </a:extLst>
          </p:cNvPr>
          <p:cNvGraphicFramePr>
            <a:graphicFrameLocks noGrp="1"/>
          </p:cNvGraphicFramePr>
          <p:nvPr>
            <p:extLst>
              <p:ext uri="{D42A27DB-BD31-4B8C-83A1-F6EECF244321}">
                <p14:modId xmlns:p14="http://schemas.microsoft.com/office/powerpoint/2010/main" val="69149281"/>
              </p:ext>
            </p:extLst>
          </p:nvPr>
        </p:nvGraphicFramePr>
        <p:xfrm>
          <a:off x="275300" y="939800"/>
          <a:ext cx="8716299" cy="5057140"/>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506105089"/>
                    </a:ext>
                  </a:extLst>
                </a:gridCol>
                <a:gridCol w="2905433">
                  <a:extLst>
                    <a:ext uri="{9D8B030D-6E8A-4147-A177-3AD203B41FA5}">
                      <a16:colId xmlns:a16="http://schemas.microsoft.com/office/drawing/2014/main" val="4097642540"/>
                    </a:ext>
                  </a:extLst>
                </a:gridCol>
                <a:gridCol w="2905433">
                  <a:extLst>
                    <a:ext uri="{9D8B030D-6E8A-4147-A177-3AD203B41FA5}">
                      <a16:colId xmlns:a16="http://schemas.microsoft.com/office/drawing/2014/main" val="1146957966"/>
                    </a:ext>
                  </a:extLst>
                </a:gridCol>
              </a:tblGrid>
              <a:tr h="9550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76638714"/>
                  </a:ext>
                </a:extLst>
              </a:tr>
              <a:tr h="955040">
                <a:tc>
                  <a:txBody>
                    <a:bodyPr/>
                    <a:lstStyle/>
                    <a:p>
                      <a:pPr algn="l" fontAlgn="b"/>
                      <a:r>
                        <a:rPr lang="en-US" sz="1100" b="0" i="0" u="none" strike="noStrike" dirty="0">
                          <a:solidFill>
                            <a:srgbClr val="000000"/>
                          </a:solidFill>
                          <a:effectLst/>
                          <a:latin typeface="Calibri" panose="020F0502020204030204" pitchFamily="34" charset="0"/>
                        </a:rPr>
                        <a:t>Chain of Responsibility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Avoid coupling the sender of a request to its receiver by giving more than one object a chance to handle the request. Chain the receiving objects and pass the request along the chain until an object handles it. </a:t>
                      </a:r>
                      <a:r>
                        <a:rPr lang="en-US" sz="1100" b="0" i="0" u="none" strike="noStrike" dirty="0">
                          <a:solidFill>
                            <a:srgbClr val="000000"/>
                          </a:solidFill>
                          <a:effectLst/>
                          <a:latin typeface="Calibri" panose="020F0502020204030204" pitchFamily="34" charset="0"/>
                        </a:rPr>
                        <a:t>Allow multiple handlers in sequence to handle the responsibilities. Fluent APIs are one way of doing the same.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https://en.wikipedia.org/wiki/Chain-of-responsibility_pattern</a:t>
                      </a:r>
                    </a:p>
                  </a:txBody>
                  <a:tcPr marL="6350" marR="6350" marT="6350" marB="0" anchor="b"/>
                </a:tc>
                <a:extLst>
                  <a:ext uri="{0D108BD9-81ED-4DB2-BD59-A6C34878D82A}">
                    <a16:rowId xmlns:a16="http://schemas.microsoft.com/office/drawing/2014/main" val="493558479"/>
                  </a:ext>
                </a:extLst>
              </a:tr>
              <a:tr h="955040">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ommand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Encapsulate a request as an object, thereby allowing for the parameterization of clients with different requests, and the queuing or logging of requests. It also allows for the support of undoable operations.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https://refactoring.guru/design-patterns/command</a:t>
                      </a:r>
                    </a:p>
                  </a:txBody>
                  <a:tcPr marL="6350" marR="6350" marT="6350" marB="0" anchor="b"/>
                </a:tc>
                <a:extLst>
                  <a:ext uri="{0D108BD9-81ED-4DB2-BD59-A6C34878D82A}">
                    <a16:rowId xmlns:a16="http://schemas.microsoft.com/office/drawing/2014/main" val="2110721775"/>
                  </a:ext>
                </a:extLst>
              </a:tr>
              <a:tr h="955040">
                <a:tc>
                  <a:txBody>
                    <a:bodyPr/>
                    <a:lstStyle/>
                    <a:p>
                      <a:pPr marL="0" algn="l" fontAlgn="b"/>
                      <a:r>
                        <a:rPr lang="en-US" sz="1100" b="0" i="0" dirty="0">
                          <a:solidFill>
                            <a:schemeClr val="dk1"/>
                          </a:solidFill>
                          <a:effectLst/>
                          <a:latin typeface="+mn-lt"/>
                          <a:ea typeface="+mn-ea"/>
                          <a:cs typeface="+mn-cs"/>
                        </a:rPr>
                        <a:t>Interpreter</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Given a language, define a representation for its grammar along with an interpreter that uses the representation to interpret sentences in the language. Helpful in building DSLs(Domain Specific Languages)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https://en.wikipedia.org/wiki/Interpreter_pattern</a:t>
                      </a:r>
                    </a:p>
                  </a:txBody>
                  <a:tcPr marL="6350" marR="6350" marT="6350" marB="0" anchor="b"/>
                </a:tc>
                <a:extLst>
                  <a:ext uri="{0D108BD9-81ED-4DB2-BD59-A6C34878D82A}">
                    <a16:rowId xmlns:a16="http://schemas.microsoft.com/office/drawing/2014/main" val="947668093"/>
                  </a:ext>
                </a:extLst>
              </a:tr>
              <a:tr h="955040">
                <a:tc>
                  <a:txBody>
                    <a:bodyPr/>
                    <a:lstStyle/>
                    <a:p>
                      <a:pPr algn="l" fontAlgn="b"/>
                      <a:r>
                        <a:rPr lang="en-US" sz="1100" b="0" i="0" u="none" strike="noStrike" dirty="0">
                          <a:solidFill>
                            <a:srgbClr val="000000"/>
                          </a:solidFill>
                          <a:effectLst/>
                          <a:latin typeface="Calibri" panose="020F0502020204030204" pitchFamily="34" charset="0"/>
                        </a:rPr>
                        <a:t>Iterator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Provide a way to access the elements of an </a:t>
                      </a:r>
                      <a:r>
                        <a:rPr lang="en-US" sz="1100" b="0" i="0" u="none" strike="noStrike" dirty="0">
                          <a:solidFill>
                            <a:schemeClr val="dk1"/>
                          </a:solidFill>
                          <a:effectLst/>
                          <a:latin typeface="+mn-lt"/>
                          <a:ea typeface="+mn-ea"/>
                          <a:cs typeface="+mn-cs"/>
                          <a:hlinkClick r:id="rId7" tooltip="Aggregate pattern"/>
                        </a:rPr>
                        <a:t>aggregate</a:t>
                      </a:r>
                      <a:r>
                        <a:rPr lang="en-US" sz="1100" b="0" i="0" dirty="0">
                          <a:solidFill>
                            <a:schemeClr val="dk1"/>
                          </a:solidFill>
                          <a:effectLst/>
                          <a:latin typeface="+mn-lt"/>
                          <a:ea typeface="+mn-ea"/>
                          <a:cs typeface="+mn-cs"/>
                        </a:rPr>
                        <a:t> object sequentially without exposing its underlying representation.</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8"/>
                        </a:rPr>
                        <a:t>https://github.com/sandipray63in/DDD-Based-Enterprise-Application-Framework/blob/master/ApplicationAndInfrastructureServices/BatchProcessing/BaseBatchSeedSelector.cs</a:t>
                      </a:r>
                      <a:endParaRPr lang="en-IN" sz="1100" b="0" i="0" u="none" strike="noStrike" dirty="0">
                        <a:solidFill>
                          <a:srgbClr val="000000"/>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rPr>
                        <a:t>Multi-Threading </a:t>
                      </a:r>
                      <a:r>
                        <a:rPr lang="en-IN" sz="1100" b="0" i="0" u="none" strike="noStrike">
                          <a:solidFill>
                            <a:srgbClr val="000000"/>
                          </a:solidFill>
                          <a:effectLst/>
                          <a:latin typeface="Calibri" panose="020F0502020204030204" pitchFamily="34" charset="0"/>
                        </a:rPr>
                        <a:t>based Iterator?</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489086476"/>
                  </a:ext>
                </a:extLst>
              </a:tr>
            </a:tbl>
          </a:graphicData>
        </a:graphic>
      </p:graphicFrame>
    </p:spTree>
    <p:extLst>
      <p:ext uri="{BB962C8B-B14F-4D97-AF65-F5344CB8AC3E}">
        <p14:creationId xmlns:p14="http://schemas.microsoft.com/office/powerpoint/2010/main" val="389350290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442463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5BB0B807-7144-B1EE-B3AD-D70D2F535B90}"/>
              </a:ext>
            </a:extLst>
          </p:cNvPr>
          <p:cNvGraphicFramePr>
            <a:graphicFrameLocks noGrp="1"/>
          </p:cNvGraphicFramePr>
          <p:nvPr>
            <p:extLst>
              <p:ext uri="{D42A27DB-BD31-4B8C-83A1-F6EECF244321}">
                <p14:modId xmlns:p14="http://schemas.microsoft.com/office/powerpoint/2010/main" val="2353398584"/>
              </p:ext>
            </p:extLst>
          </p:nvPr>
        </p:nvGraphicFramePr>
        <p:xfrm>
          <a:off x="275300" y="939800"/>
          <a:ext cx="8716299" cy="4798661"/>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668599874"/>
                    </a:ext>
                  </a:extLst>
                </a:gridCol>
                <a:gridCol w="2905433">
                  <a:extLst>
                    <a:ext uri="{9D8B030D-6E8A-4147-A177-3AD203B41FA5}">
                      <a16:colId xmlns:a16="http://schemas.microsoft.com/office/drawing/2014/main" val="3297999106"/>
                    </a:ext>
                  </a:extLst>
                </a:gridCol>
                <a:gridCol w="2905433">
                  <a:extLst>
                    <a:ext uri="{9D8B030D-6E8A-4147-A177-3AD203B41FA5}">
                      <a16:colId xmlns:a16="http://schemas.microsoft.com/office/drawing/2014/main" val="462222462"/>
                    </a:ext>
                  </a:extLst>
                </a:gridCol>
              </a:tblGrid>
              <a:tr h="40770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1522188451"/>
                  </a:ext>
                </a:extLst>
              </a:tr>
              <a:tr h="1112817">
                <a:tc>
                  <a:txBody>
                    <a:bodyPr/>
                    <a:lstStyle/>
                    <a:p>
                      <a:pPr algn="l" fontAlgn="b"/>
                      <a:r>
                        <a:rPr lang="en-US" sz="1100" b="0" i="0" u="none" strike="noStrike" dirty="0">
                          <a:solidFill>
                            <a:srgbClr val="000000"/>
                          </a:solidFill>
                          <a:effectLst/>
                          <a:latin typeface="Calibri" panose="020F0502020204030204" pitchFamily="34" charset="0"/>
                        </a:rPr>
                        <a:t>Mediator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(In-Memory) Model for route-handling of  multiple requests and responses between producers and consumers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https://refactoring.guru/design-patterns/mediator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https://www.milanjovanovic.tech/blog/cqrs-pattern-with-mediatr</a:t>
                      </a:r>
                    </a:p>
                  </a:txBody>
                  <a:tcPr marL="6350" marR="6350" marT="6350" marB="0" anchor="b"/>
                </a:tc>
                <a:extLst>
                  <a:ext uri="{0D108BD9-81ED-4DB2-BD59-A6C34878D82A}">
                    <a16:rowId xmlns:a16="http://schemas.microsoft.com/office/drawing/2014/main" val="307000393"/>
                  </a:ext>
                </a:extLst>
              </a:tr>
              <a:tr h="744205">
                <a:tc>
                  <a:txBody>
                    <a:bodyPr/>
                    <a:lstStyle/>
                    <a:p>
                      <a:pPr algn="l" fontAlgn="b"/>
                      <a:r>
                        <a:rPr lang="en-US" sz="1100" b="0" i="0" u="none" strike="noStrike" dirty="0">
                          <a:solidFill>
                            <a:srgbClr val="000000"/>
                          </a:solidFill>
                          <a:effectLst/>
                          <a:latin typeface="Calibri" panose="020F0502020204030204" pitchFamily="34" charset="0"/>
                        </a:rPr>
                        <a:t>Memento</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Without violating encapsulation, capture and externalize an object's internal state allowing the object to be restored to this state later. Mainly useful in building Undo/Redo Operations.</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https://refactoring.guru/design-patterns/memento</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092960904"/>
                  </a:ext>
                </a:extLst>
              </a:tr>
              <a:tr h="1112817">
                <a:tc>
                  <a:txBody>
                    <a:bodyPr/>
                    <a:lstStyle/>
                    <a:p>
                      <a:pPr algn="l" fontAlgn="b"/>
                      <a:r>
                        <a:rPr lang="en-US" sz="1100" b="0" i="0" u="none" strike="noStrike" dirty="0">
                          <a:solidFill>
                            <a:srgbClr val="000000"/>
                          </a:solidFill>
                          <a:effectLst/>
                          <a:latin typeface="Calibri" panose="020F0502020204030204" pitchFamily="34" charset="0"/>
                        </a:rPr>
                        <a:t>Observer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Define a one-to-many dependency between objects where a state change in one object results in all its dependents being notified and updated automatically.</a:t>
                      </a:r>
                    </a:p>
                  </a:txBody>
                  <a:tcPr anchor="ctr"/>
                </a:tc>
                <a:tc>
                  <a:txBody>
                    <a:bodyPr/>
                    <a:lstStyle/>
                    <a:p>
                      <a:pPr algn="l" fontAlgn="b"/>
                      <a:r>
                        <a:rPr lang="en-IN" sz="1100" b="0" i="0" u="sng" strike="noStrike" dirty="0">
                          <a:solidFill>
                            <a:srgbClr val="0563C1"/>
                          </a:solidFill>
                          <a:effectLst/>
                          <a:latin typeface="Calibri" panose="020F0502020204030204" pitchFamily="34" charset="0"/>
                          <a:hlinkClick r:id="rId9"/>
                        </a:rPr>
                        <a:t>https://refactoring.guru/design-patterns/observer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hlinkClick r:id="rId10"/>
                        </a:rPr>
                        <a:t>https://github.com/sandipray63in/DDD-Based-Enterprise-Application-Framework/tree/master/Infrastructure/Observers</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https://www.codeproject.com/Articles/851437/SignalR-plus-RX-Streaming-Data-Demo-App-of</a:t>
                      </a:r>
                    </a:p>
                  </a:txBody>
                  <a:tcPr marL="6350" marR="6350" marT="6350" marB="0" anchor="b"/>
                </a:tc>
                <a:extLst>
                  <a:ext uri="{0D108BD9-81ED-4DB2-BD59-A6C34878D82A}">
                    <a16:rowId xmlns:a16="http://schemas.microsoft.com/office/drawing/2014/main" val="1599863227"/>
                  </a:ext>
                </a:extLst>
              </a:tr>
              <a:tr h="653449">
                <a:tc>
                  <a:txBody>
                    <a:bodyPr/>
                    <a:lstStyle/>
                    <a:p>
                      <a:pPr marL="0" algn="l" fontAlgn="b"/>
                      <a:r>
                        <a:rPr lang="en-US" sz="1100" b="0" i="0" dirty="0">
                          <a:solidFill>
                            <a:schemeClr val="dk1"/>
                          </a:solidFill>
                          <a:effectLst/>
                          <a:latin typeface="+mn-lt"/>
                          <a:ea typeface="+mn-ea"/>
                          <a:cs typeface="+mn-cs"/>
                        </a:rPr>
                        <a:t>State</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Allow an object to alter its behavior when its internal state changes. The object will appear to change its class.</a:t>
                      </a:r>
                    </a:p>
                  </a:txBody>
                  <a:tcPr anchor="ctr"/>
                </a:tc>
                <a:tc>
                  <a:txBody>
                    <a:bodyPr/>
                    <a:lstStyle/>
                    <a:p>
                      <a:pPr algn="l" fontAlgn="b"/>
                      <a:r>
                        <a:rPr lang="en-IN" sz="1100" b="0" i="0" u="sng" strike="noStrike" dirty="0">
                          <a:solidFill>
                            <a:srgbClr val="0563C1"/>
                          </a:solidFill>
                          <a:effectLst/>
                          <a:latin typeface="Calibri" panose="020F0502020204030204" pitchFamily="34" charset="0"/>
                          <a:hlinkClick r:id="rId11"/>
                        </a:rPr>
                        <a:t>https://refactoring.guru/design-patterns/state</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hlinkClick r:id="rId12"/>
                        </a:rPr>
                        <a:t>https://blog.ploeh.dk/2015/08/10/type-driven-development/</a:t>
                      </a:r>
                      <a:endParaRPr lang="en-IN" sz="1100" b="0" i="0" u="sng" strike="noStrike" dirty="0">
                        <a:solidFill>
                          <a:srgbClr val="0563C1"/>
                        </a:solidFill>
                        <a:effectLst/>
                        <a:latin typeface="Calibri" panose="020F0502020204030204" pitchFamily="34" charset="0"/>
                      </a:endParaRPr>
                    </a:p>
                    <a:p>
                      <a:pPr algn="l" fontAlgn="b"/>
                      <a:r>
                        <a:rPr lang="en-IN" sz="1100" b="0" i="0" dirty="0">
                          <a:solidFill>
                            <a:schemeClr val="dk1"/>
                          </a:solidFill>
                          <a:effectLst/>
                          <a:latin typeface="+mn-lt"/>
                          <a:ea typeface="+mn-ea"/>
                          <a:cs typeface="+mn-cs"/>
                        </a:rPr>
                        <a:t>Permissible States Rules Engine</a:t>
                      </a:r>
                    </a:p>
                  </a:txBody>
                  <a:tcPr marL="6350" marR="6350" marT="6350" marB="0" anchor="b"/>
                </a:tc>
                <a:extLst>
                  <a:ext uri="{0D108BD9-81ED-4DB2-BD59-A6C34878D82A}">
                    <a16:rowId xmlns:a16="http://schemas.microsoft.com/office/drawing/2014/main" val="566271108"/>
                  </a:ext>
                </a:extLst>
              </a:tr>
              <a:tr h="744205">
                <a:tc>
                  <a:txBody>
                    <a:bodyPr/>
                    <a:lstStyle/>
                    <a:p>
                      <a:pPr algn="l" fontAlgn="b"/>
                      <a:r>
                        <a:rPr lang="en-US" sz="1100" b="0" i="0" u="none" strike="noStrike" dirty="0">
                          <a:solidFill>
                            <a:srgbClr val="000000"/>
                          </a:solidFill>
                          <a:effectLst/>
                          <a:latin typeface="Calibri" panose="020F0502020204030204" pitchFamily="34" charset="0"/>
                        </a:rPr>
                        <a:t>Strategy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Define a family of algorithms, encapsulate each one, and make them interchangeable. Strategy lets the algorithm vary independently from clients that use it.</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13"/>
                        </a:rPr>
                        <a:t>https://en.wikipedia.org/wiki/Strategy_pattern</a:t>
                      </a:r>
                      <a:r>
                        <a:rPr lang="en-IN" sz="1100" b="0" i="0" u="none" strike="noStrike" dirty="0">
                          <a:solidFill>
                            <a:srgbClr val="000000"/>
                          </a:solidFill>
                          <a:effectLst/>
                          <a:latin typeface="Calibri" panose="020F0502020204030204" pitchFamily="34" charset="0"/>
                        </a:rPr>
                        <a:t> </a:t>
                      </a:r>
                    </a:p>
                    <a:p>
                      <a:pPr algn="l" fontAlgn="b"/>
                      <a:r>
                        <a:rPr lang="en-IN" sz="1100" b="0" i="0" u="none" strike="noStrike" dirty="0">
                          <a:solidFill>
                            <a:srgbClr val="000000"/>
                          </a:solidFill>
                          <a:effectLst/>
                          <a:latin typeface="Calibri" panose="020F0502020204030204" pitchFamily="34" charset="0"/>
                          <a:hlinkClick r:id="rId14"/>
                        </a:rPr>
                        <a:t>https://www.linkedin.com/pulse/book-review-software-architecture-juval-lowy-michael-rarela-fiabf</a:t>
                      </a:r>
                      <a:r>
                        <a:rPr lang="en-IN" sz="1100" b="0" i="0" u="none" strike="noStrike" dirty="0">
                          <a:solidFill>
                            <a:srgbClr val="000000"/>
                          </a:solidFill>
                          <a:effectLst/>
                          <a:latin typeface="Calibri" panose="020F0502020204030204" pitchFamily="34" charset="0"/>
                        </a:rPr>
                        <a:t> </a:t>
                      </a:r>
                    </a:p>
                  </a:txBody>
                  <a:tcPr marL="6350" marR="6350" marT="6350" marB="0" anchor="b"/>
                </a:tc>
                <a:extLst>
                  <a:ext uri="{0D108BD9-81ED-4DB2-BD59-A6C34878D82A}">
                    <a16:rowId xmlns:a16="http://schemas.microsoft.com/office/drawing/2014/main" val="2268644980"/>
                  </a:ext>
                </a:extLst>
              </a:tr>
            </a:tbl>
          </a:graphicData>
        </a:graphic>
      </p:graphicFrame>
    </p:spTree>
    <p:extLst>
      <p:ext uri="{BB962C8B-B14F-4D97-AF65-F5344CB8AC3E}">
        <p14:creationId xmlns:p14="http://schemas.microsoft.com/office/powerpoint/2010/main" val="96527258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D652EAF3-6449-8CA6-5A39-FB3F54B8DA10}"/>
              </a:ext>
            </a:extLst>
          </p:cNvPr>
          <p:cNvGraphicFramePr>
            <a:graphicFrameLocks noGrp="1"/>
          </p:cNvGraphicFramePr>
          <p:nvPr>
            <p:extLst>
              <p:ext uri="{D42A27DB-BD31-4B8C-83A1-F6EECF244321}">
                <p14:modId xmlns:p14="http://schemas.microsoft.com/office/powerpoint/2010/main" val="3366926981"/>
              </p:ext>
            </p:extLst>
          </p:nvPr>
        </p:nvGraphicFramePr>
        <p:xfrm>
          <a:off x="381000" y="939800"/>
          <a:ext cx="8610600" cy="2480310"/>
        </p:xfrm>
        <a:graphic>
          <a:graphicData uri="http://schemas.openxmlformats.org/drawingml/2006/table">
            <a:tbl>
              <a:tblPr firstRow="1" bandRow="1">
                <a:tableStyleId>{5C22544A-7EE6-4342-B048-85BDC9FD1C3A}</a:tableStyleId>
              </a:tblPr>
              <a:tblGrid>
                <a:gridCol w="2870200">
                  <a:extLst>
                    <a:ext uri="{9D8B030D-6E8A-4147-A177-3AD203B41FA5}">
                      <a16:colId xmlns:a16="http://schemas.microsoft.com/office/drawing/2014/main" val="3024757257"/>
                    </a:ext>
                  </a:extLst>
                </a:gridCol>
                <a:gridCol w="2870200">
                  <a:extLst>
                    <a:ext uri="{9D8B030D-6E8A-4147-A177-3AD203B41FA5}">
                      <a16:colId xmlns:a16="http://schemas.microsoft.com/office/drawing/2014/main" val="3494592437"/>
                    </a:ext>
                  </a:extLst>
                </a:gridCol>
                <a:gridCol w="2870200">
                  <a:extLst>
                    <a:ext uri="{9D8B030D-6E8A-4147-A177-3AD203B41FA5}">
                      <a16:colId xmlns:a16="http://schemas.microsoft.com/office/drawing/2014/main" val="612562681"/>
                    </a:ext>
                  </a:extLst>
                </a:gridCol>
              </a:tblGrid>
              <a:tr h="3708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926494060"/>
                  </a:ext>
                </a:extLst>
              </a:tr>
              <a:tr h="370840">
                <a:tc>
                  <a:txBody>
                    <a:bodyPr/>
                    <a:lstStyle/>
                    <a:p>
                      <a:pPr algn="l" fontAlgn="b"/>
                      <a:r>
                        <a:rPr lang="en-US" sz="1100" b="0" i="0" u="none" strike="noStrike" dirty="0">
                          <a:solidFill>
                            <a:srgbClr val="000000"/>
                          </a:solidFill>
                          <a:effectLst/>
                          <a:latin typeface="Calibri" panose="020F0502020204030204" pitchFamily="34" charset="0"/>
                        </a:rPr>
                        <a:t>Template Method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Define the skeleton of an algorithm in an operation, deferring some steps to subclasses. Template method lets subclasses redefine certain steps of an algorithm without changing the algorithm's structure.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https://en.wikipedia.org/wiki/Template_method_pattern</a:t>
                      </a:r>
                    </a:p>
                  </a:txBody>
                  <a:tcPr marL="6350" marR="6350" marT="6350" marB="0" anchor="b"/>
                </a:tc>
                <a:extLst>
                  <a:ext uri="{0D108BD9-81ED-4DB2-BD59-A6C34878D82A}">
                    <a16:rowId xmlns:a16="http://schemas.microsoft.com/office/drawing/2014/main" val="2689011908"/>
                  </a:ext>
                </a:extLst>
              </a:tr>
              <a:tr h="370840">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Visitor</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US" sz="1100" b="0" i="0" dirty="0">
                          <a:solidFill>
                            <a:schemeClr val="dk1"/>
                          </a:solidFill>
                          <a:effectLst/>
                          <a:latin typeface="+mn-lt"/>
                          <a:ea typeface="+mn-ea"/>
                          <a:cs typeface="+mn-cs"/>
                        </a:rPr>
                        <a:t>Visitor lets a new operation be defined without changing the classes of the elements on which it operates. Also, can be useful in traversing trees(pre-order, in-order or post-order). </a:t>
                      </a:r>
                    </a:p>
                    <a:p>
                      <a:pPr marL="0" algn="l" fontAlgn="b"/>
                      <a:r>
                        <a:rPr lang="en-US" sz="1100" b="1" i="0" dirty="0">
                          <a:solidFill>
                            <a:schemeClr val="accent1"/>
                          </a:solidFill>
                          <a:effectLst/>
                          <a:latin typeface="+mn-lt"/>
                          <a:ea typeface="+mn-ea"/>
                          <a:cs typeface="+mn-cs"/>
                        </a:rPr>
                        <a:t>N.B. -&gt; From ease </a:t>
                      </a:r>
                      <a:r>
                        <a:rPr lang="en-US" sz="1100" b="1" i="0">
                          <a:solidFill>
                            <a:schemeClr val="accent1"/>
                          </a:solidFill>
                          <a:effectLst/>
                          <a:latin typeface="+mn-lt"/>
                          <a:ea typeface="+mn-ea"/>
                          <a:cs typeface="+mn-cs"/>
                        </a:rPr>
                        <a:t>of Extensibility </a:t>
                      </a:r>
                      <a:r>
                        <a:rPr lang="en-US" sz="1100" b="1" i="0" dirty="0">
                          <a:solidFill>
                            <a:schemeClr val="accent1"/>
                          </a:solidFill>
                          <a:effectLst/>
                          <a:latin typeface="+mn-lt"/>
                          <a:ea typeface="+mn-ea"/>
                          <a:cs typeface="+mn-cs"/>
                        </a:rPr>
                        <a:t>perspective, </a:t>
                      </a:r>
                      <a:r>
                        <a:rPr lang="en-US" sz="1100" b="1" i="0" dirty="0" err="1">
                          <a:solidFill>
                            <a:schemeClr val="accent1"/>
                          </a:solidFill>
                          <a:effectLst/>
                          <a:latin typeface="+mn-lt"/>
                          <a:ea typeface="+mn-ea"/>
                          <a:cs typeface="+mn-cs"/>
                        </a:rPr>
                        <a:t>Mixins</a:t>
                      </a:r>
                      <a:r>
                        <a:rPr lang="en-US" sz="1100" b="1" i="0" dirty="0">
                          <a:solidFill>
                            <a:schemeClr val="accent1"/>
                          </a:solidFill>
                          <a:effectLst/>
                          <a:latin typeface="+mn-lt"/>
                          <a:ea typeface="+mn-ea"/>
                          <a:cs typeface="+mn-cs"/>
                        </a:rPr>
                        <a:t> are a better way to implement visitor pattern</a:t>
                      </a:r>
                    </a:p>
                  </a:txBody>
                  <a:tcPr/>
                </a:tc>
                <a:tc>
                  <a:txBody>
                    <a:bodyPr/>
                    <a:lstStyle/>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r>
                        <a:rPr lang="en-IN" sz="1100" b="0" i="0" u="sng" strike="noStrike" dirty="0">
                          <a:solidFill>
                            <a:srgbClr val="0563C1"/>
                          </a:solidFill>
                          <a:effectLst/>
                          <a:latin typeface="Calibri" panose="020F0502020204030204" pitchFamily="34" charset="0"/>
                          <a:ea typeface="+mn-ea"/>
                          <a:cs typeface="+mn-cs"/>
                        </a:rPr>
                        <a:t>https://refactoring.guru/design-patterns/visitor</a:t>
                      </a:r>
                    </a:p>
                  </a:txBody>
                  <a:tcPr/>
                </a:tc>
                <a:extLst>
                  <a:ext uri="{0D108BD9-81ED-4DB2-BD59-A6C34878D82A}">
                    <a16:rowId xmlns:a16="http://schemas.microsoft.com/office/drawing/2014/main" val="2944674185"/>
                  </a:ext>
                </a:extLst>
              </a:tr>
            </a:tbl>
          </a:graphicData>
        </a:graphic>
      </p:graphicFrame>
      <p:sp>
        <p:nvSpPr>
          <p:cNvPr id="4" name="object 2">
            <a:extLst>
              <a:ext uri="{FF2B5EF4-FFF2-40B4-BE49-F238E27FC236}">
                <a16:creationId xmlns:a16="http://schemas.microsoft.com/office/drawing/2014/main" id="{44D532D9-8540-9AC8-2BBC-ECC070D98D22}"/>
              </a:ext>
            </a:extLst>
          </p:cNvPr>
          <p:cNvSpPr txBox="1">
            <a:spLocks/>
          </p:cNvSpPr>
          <p:nvPr/>
        </p:nvSpPr>
        <p:spPr>
          <a:xfrm>
            <a:off x="381000" y="407360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For Further Exploration – </a:t>
            </a:r>
          </a:p>
          <a:p>
            <a:pPr marL="12700" marR="5080"/>
            <a:r>
              <a:rPr lang="en-US" sz="2400" kern="0" spc="-220" dirty="0">
                <a:solidFill>
                  <a:schemeClr val="accent6"/>
                </a:solidFill>
                <a:hlinkClick r:id="rId8"/>
              </a:rPr>
              <a:t>https://en.wikipedia.org/wiki/Software_design_pattern</a:t>
            </a:r>
            <a:r>
              <a:rPr lang="en-US" sz="2400" kern="0" spc="-220" dirty="0">
                <a:solidFill>
                  <a:schemeClr val="accent6"/>
                </a:solidFill>
              </a:rPr>
              <a:t> </a:t>
            </a:r>
          </a:p>
          <a:p>
            <a:pPr marL="12700" marR="5080"/>
            <a:r>
              <a:rPr lang="en-US" sz="2400" kern="0" spc="-220" dirty="0">
                <a:solidFill>
                  <a:schemeClr val="accent6"/>
                </a:solidFill>
                <a:hlinkClick r:id="rId9"/>
              </a:rPr>
              <a:t>https://refactoring.guru/design-patterns</a:t>
            </a:r>
            <a:r>
              <a:rPr lang="en-US" sz="2400" kern="0" spc="-220" dirty="0">
                <a:solidFill>
                  <a:schemeClr val="accent6"/>
                </a:solidFill>
              </a:rPr>
              <a:t> </a:t>
            </a:r>
          </a:p>
        </p:txBody>
      </p:sp>
    </p:spTree>
    <p:extLst>
      <p:ext uri="{BB962C8B-B14F-4D97-AF65-F5344CB8AC3E}">
        <p14:creationId xmlns:p14="http://schemas.microsoft.com/office/powerpoint/2010/main" val="407075940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3362704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1" name="object 2">
            <a:extLst>
              <a:ext uri="{FF2B5EF4-FFF2-40B4-BE49-F238E27FC236}">
                <a16:creationId xmlns:a16="http://schemas.microsoft.com/office/drawing/2014/main" id="{18D9A345-5496-42B8-14FD-9D4CFFECA1AA}"/>
              </a:ext>
            </a:extLst>
          </p:cNvPr>
          <p:cNvSpPr txBox="1">
            <a:spLocks/>
          </p:cNvSpPr>
          <p:nvPr/>
        </p:nvSpPr>
        <p:spPr>
          <a:xfrm>
            <a:off x="275300" y="2286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Core </a:t>
            </a:r>
            <a:r>
              <a:rPr lang="en-US" sz="2400" kern="0" spc="-220" dirty="0" err="1">
                <a:solidFill>
                  <a:schemeClr val="accent6"/>
                </a:solidFill>
              </a:rPr>
              <a:t>MiddleWares</a:t>
            </a:r>
            <a:endParaRPr lang="en-US" sz="2400" kern="0" spc="-220" dirty="0">
              <a:solidFill>
                <a:schemeClr val="accent6"/>
              </a:solidFill>
            </a:endParaRPr>
          </a:p>
          <a:p>
            <a:pPr marL="12700" marR="5080"/>
            <a:r>
              <a:rPr lang="en-US" sz="2000" kern="0" spc="-220" dirty="0">
                <a:solidFill>
                  <a:schemeClr val="accent6"/>
                </a:solidFill>
              </a:rPr>
              <a:t> </a:t>
            </a:r>
            <a:r>
              <a:rPr lang="en-US" sz="2000" kern="0" spc="-220" dirty="0">
                <a:solidFill>
                  <a:schemeClr val="accent6"/>
                </a:solidFill>
                <a:hlinkClick r:id="rId7"/>
              </a:rPr>
              <a:t>https://learn.microsoft.com/en-us/aspnet/core/fundamentals/middleware/?view=aspnetcore-8.0</a:t>
            </a:r>
            <a:r>
              <a:rPr lang="en-US" sz="2000" kern="0" spc="-220" dirty="0">
                <a:solidFill>
                  <a:schemeClr val="accent6"/>
                </a:solidFill>
              </a:rPr>
              <a:t> </a:t>
            </a:r>
          </a:p>
        </p:txBody>
      </p:sp>
      <p:sp>
        <p:nvSpPr>
          <p:cNvPr id="12" name="object 2">
            <a:extLst>
              <a:ext uri="{FF2B5EF4-FFF2-40B4-BE49-F238E27FC236}">
                <a16:creationId xmlns:a16="http://schemas.microsoft.com/office/drawing/2014/main" id="{237A8AF1-7D15-C696-AAE1-568E3D22515F}"/>
              </a:ext>
            </a:extLst>
          </p:cNvPr>
          <p:cNvSpPr txBox="1">
            <a:spLocks/>
          </p:cNvSpPr>
          <p:nvPr/>
        </p:nvSpPr>
        <p:spPr>
          <a:xfrm>
            <a:off x="214263" y="495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Web API Pipeline and Extensibility</a:t>
            </a:r>
          </a:p>
          <a:p>
            <a:pPr marL="12700" marR="5080"/>
            <a:r>
              <a:rPr lang="en-US" sz="2000" kern="0" spc="-220" dirty="0">
                <a:solidFill>
                  <a:schemeClr val="accent6"/>
                </a:solidFill>
              </a:rPr>
              <a:t> </a:t>
            </a:r>
            <a:r>
              <a:rPr lang="en-US" sz="2000" kern="0" spc="-220" dirty="0">
                <a:solidFill>
                  <a:schemeClr val="accent6"/>
                </a:solidFill>
                <a:hlinkClick r:id="rId8"/>
              </a:rPr>
              <a:t>https://www.asp.net/media/4071077/aspnet-web-api-poster.pdf</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16" name="object 2">
            <a:extLst>
              <a:ext uri="{FF2B5EF4-FFF2-40B4-BE49-F238E27FC236}">
                <a16:creationId xmlns:a16="http://schemas.microsoft.com/office/drawing/2014/main" id="{54A8FE0B-3C26-0D06-415F-593AD0CA8139}"/>
              </a:ext>
            </a:extLst>
          </p:cNvPr>
          <p:cNvSpPr txBox="1">
            <a:spLocks/>
          </p:cNvSpPr>
          <p:nvPr/>
        </p:nvSpPr>
        <p:spPr>
          <a:xfrm>
            <a:off x="290463" y="35814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gRPC</a:t>
            </a:r>
            <a:r>
              <a:rPr lang="en-US" sz="2400" kern="0" spc="-220" dirty="0">
                <a:solidFill>
                  <a:schemeClr val="accent6"/>
                </a:solidFill>
              </a:rPr>
              <a:t> Interceptors in .NET</a:t>
            </a:r>
          </a:p>
          <a:p>
            <a:pPr marL="12700" marR="5080"/>
            <a:r>
              <a:rPr lang="en-US" sz="2000" kern="0" spc="-220" dirty="0">
                <a:solidFill>
                  <a:schemeClr val="accent6"/>
                </a:solidFill>
                <a:hlinkClick r:id="rId9"/>
              </a:rPr>
              <a:t>https://learn.microsoft.com/en-us/aspnet/core/grpc/interceptors?view=aspnetcore-8.0</a:t>
            </a:r>
            <a:r>
              <a:rPr lang="en-US" sz="2000" kern="0" spc="-220" dirty="0">
                <a:solidFill>
                  <a:schemeClr val="accent6"/>
                </a:solidFill>
              </a:rPr>
              <a:t> </a:t>
            </a:r>
          </a:p>
        </p:txBody>
      </p:sp>
      <p:sp>
        <p:nvSpPr>
          <p:cNvPr id="2" name="object 2">
            <a:extLst>
              <a:ext uri="{FF2B5EF4-FFF2-40B4-BE49-F238E27FC236}">
                <a16:creationId xmlns:a16="http://schemas.microsoft.com/office/drawing/2014/main" id="{4160DCDF-EB2C-3507-9C81-AB9D3DB392FC}"/>
              </a:ext>
            </a:extLst>
          </p:cNvPr>
          <p:cNvSpPr txBox="1">
            <a:spLocks/>
          </p:cNvSpPr>
          <p:nvPr/>
        </p:nvSpPr>
        <p:spPr>
          <a:xfrm>
            <a:off x="304800" y="7620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In today’s Cloud enabled world, most things implemented using middleware should ideally be implemented using API Gateway (following the “Fail Fast” principle). But sometimes the requirements are pretty complex &amp; due to some technical constraints of the API Gateway(or  it might not be contextually correct to put a API Gateway before some layer e.g. </a:t>
            </a:r>
            <a:r>
              <a:rPr lang="en-US" sz="1800" kern="0" spc="-220" dirty="0" err="1">
                <a:solidFill>
                  <a:schemeClr val="accent6"/>
                </a:solidFill>
              </a:rPr>
              <a:t>gRPC</a:t>
            </a:r>
            <a:r>
              <a:rPr lang="en-US" sz="1800" kern="0" spc="-220" dirty="0">
                <a:solidFill>
                  <a:schemeClr val="accent6"/>
                </a:solidFill>
              </a:rPr>
              <a:t> layer) we should not use API Gateway &amp; in such cases its better to go with </a:t>
            </a:r>
            <a:r>
              <a:rPr lang="en-US" sz="1800" kern="0" spc="-220" dirty="0" err="1">
                <a:solidFill>
                  <a:schemeClr val="accent6"/>
                </a:solidFill>
              </a:rPr>
              <a:t>middlewares</a:t>
            </a:r>
            <a:r>
              <a:rPr lang="en-US" sz="1800" kern="0" spc="-220" dirty="0">
                <a:solidFill>
                  <a:schemeClr val="accent6"/>
                </a:solidFill>
              </a:rPr>
              <a:t>.</a:t>
            </a:r>
          </a:p>
        </p:txBody>
      </p:sp>
    </p:spTree>
    <p:extLst>
      <p:ext uri="{BB962C8B-B14F-4D97-AF65-F5344CB8AC3E}">
        <p14:creationId xmlns:p14="http://schemas.microsoft.com/office/powerpoint/2010/main" val="5882985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3" name="object 2">
            <a:extLst>
              <a:ext uri="{FF2B5EF4-FFF2-40B4-BE49-F238E27FC236}">
                <a16:creationId xmlns:a16="http://schemas.microsoft.com/office/drawing/2014/main" id="{796EF484-7501-3C0B-7841-2B8B3F932782}"/>
              </a:ext>
            </a:extLst>
          </p:cNvPr>
          <p:cNvSpPr txBox="1">
            <a:spLocks/>
          </p:cNvSpPr>
          <p:nvPr/>
        </p:nvSpPr>
        <p:spPr>
          <a:xfrm>
            <a:off x="304800" y="1295400"/>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WCF(/WWF Services) Extensibility</a:t>
            </a:r>
          </a:p>
          <a:p>
            <a:pPr marL="12700" marR="5080"/>
            <a:r>
              <a:rPr lang="en-US" sz="2000" kern="0" spc="-220" dirty="0">
                <a:solidFill>
                  <a:schemeClr val="accent6"/>
                </a:solidFill>
                <a:hlinkClick r:id="rId7"/>
              </a:rPr>
              <a:t>https://www.infoq.com/news/2011/04/WCF-Extensibility/</a:t>
            </a:r>
            <a:r>
              <a:rPr lang="en-US" sz="2000" kern="0" spc="-220" dirty="0">
                <a:solidFill>
                  <a:schemeClr val="accent6"/>
                </a:solidFill>
              </a:rPr>
              <a:t> </a:t>
            </a:r>
          </a:p>
          <a:p>
            <a:pPr marL="12700" marR="5080"/>
            <a:r>
              <a:rPr lang="en-US" sz="2000" kern="0" spc="-220" dirty="0">
                <a:solidFill>
                  <a:schemeClr val="accent6"/>
                </a:solidFill>
                <a:hlinkClick r:id="rId8"/>
              </a:rPr>
              <a:t>https://github.com/sandipray63in/DDD-Based-Enterprise-Application-Framework/tree/master/Infrastructure/WCFExtensibility</a:t>
            </a:r>
            <a:r>
              <a:rPr lang="en-US" sz="2000" kern="0" spc="-220" dirty="0">
                <a:solidFill>
                  <a:schemeClr val="accent6"/>
                </a:solidFill>
              </a:rPr>
              <a:t> </a:t>
            </a: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3355538"/>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Http(/ Web Services) Interceptors(Handlers &amp; Modules)</a:t>
            </a:r>
          </a:p>
          <a:p>
            <a:pPr marL="12700" marR="5080"/>
            <a:r>
              <a:rPr lang="en-US" sz="2000" kern="0" spc="-220" dirty="0">
                <a:solidFill>
                  <a:schemeClr val="accent6"/>
                </a:solidFill>
                <a:hlinkClick r:id="rId9"/>
              </a:rPr>
              <a:t>https://stackoverflow.com/questions/6449132/http-handler-vs-http-module</a:t>
            </a:r>
            <a:endParaRPr lang="en-US" sz="2000" kern="0" spc="-220" dirty="0">
              <a:solidFill>
                <a:schemeClr val="accent6"/>
              </a:solidFill>
            </a:endParaRPr>
          </a:p>
          <a:p>
            <a:pPr marL="12700" marR="5080"/>
            <a:r>
              <a:rPr lang="en-US" sz="2000" kern="0" spc="-220" dirty="0">
                <a:solidFill>
                  <a:schemeClr val="accent6"/>
                </a:solidFill>
                <a:hlinkClick r:id="rId10"/>
              </a:rPr>
              <a:t>https://www.codeproject.com/Articles/30907/The-Two-Interceptors-HttpModule-and-HttpHandlers</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428134193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553402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9144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Plugins in .NET Core(using </a:t>
            </a:r>
            <a:r>
              <a:rPr lang="en-US" sz="2400" kern="0" spc="-220" dirty="0" err="1">
                <a:solidFill>
                  <a:schemeClr val="tx2">
                    <a:lumMod val="60000"/>
                    <a:lumOff val="40000"/>
                  </a:schemeClr>
                </a:solidFill>
              </a:rPr>
              <a:t>AssemblyLoadContext</a:t>
            </a:r>
            <a:r>
              <a:rPr lang="en-US" sz="2400" kern="0" spc="-220" dirty="0">
                <a:solidFill>
                  <a:schemeClr val="accent6"/>
                </a:solidFill>
              </a:rPr>
              <a:t>)</a:t>
            </a:r>
          </a:p>
          <a:p>
            <a:pPr marL="12700" marR="5080"/>
            <a:r>
              <a:rPr lang="en-US" sz="2000" kern="0" spc="-220" dirty="0">
                <a:solidFill>
                  <a:schemeClr val="accent6"/>
                </a:solidFill>
                <a:hlinkClick r:id="rId7"/>
              </a:rPr>
              <a:t>https://tsuyoshiushio.medium.com/understand-advanced-assemblyloadcontext-with-c-16a9d0cfeae3</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      Also, </a:t>
            </a:r>
            <a:r>
              <a:rPr lang="en-US" sz="2000" kern="0" spc="-220" dirty="0" err="1">
                <a:solidFill>
                  <a:schemeClr val="tx2">
                    <a:lumMod val="60000"/>
                    <a:lumOff val="40000"/>
                  </a:schemeClr>
                </a:solidFill>
              </a:rPr>
              <a:t>AssemblyLoadContext</a:t>
            </a:r>
            <a:r>
              <a:rPr lang="en-US" sz="2000" kern="0" spc="-220" dirty="0">
                <a:solidFill>
                  <a:schemeClr val="accent6"/>
                </a:solidFill>
              </a:rPr>
              <a:t> actually replaces .NET Framework </a:t>
            </a:r>
            <a:r>
              <a:rPr lang="en-US" sz="2000" kern="0" spc="-220" dirty="0" err="1">
                <a:solidFill>
                  <a:schemeClr val="accent6"/>
                </a:solidFill>
              </a:rPr>
              <a:t>AppDomains</a:t>
            </a:r>
            <a:r>
              <a:rPr lang="en-US" sz="2000" kern="0" spc="-220" dirty="0">
                <a:solidFill>
                  <a:schemeClr val="accent6"/>
                </a:solidFill>
              </a:rPr>
              <a:t> in .NET Core &amp; similarly now static variables are per </a:t>
            </a:r>
            <a:r>
              <a:rPr lang="en-US" sz="2000" kern="0" spc="-220" dirty="0" err="1">
                <a:solidFill>
                  <a:schemeClr val="tx2">
                    <a:lumMod val="60000"/>
                    <a:lumOff val="40000"/>
                  </a:schemeClr>
                </a:solidFill>
              </a:rPr>
              <a:t>AssemblyLoadContext</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https://stackoverflow.com/questions/73972754/replacing-net-appdomains-with-assemblyloadcontexts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https://www.appsloveworld.com/csharp/100/257/does-assemblyloadcontext-isolate-static-variables</a:t>
            </a:r>
            <a:r>
              <a:rPr lang="en-US" sz="2000" kern="0" spc="-220" dirty="0">
                <a:solidFill>
                  <a:schemeClr val="accent6"/>
                </a:solidFill>
              </a:rPr>
              <a:t> </a:t>
            </a:r>
          </a:p>
          <a:p>
            <a:pPr marL="12700" marR="5080"/>
            <a:r>
              <a:rPr lang="en-US" sz="2000" kern="0" spc="-220" dirty="0">
                <a:solidFill>
                  <a:schemeClr val="accent6"/>
                </a:solidFill>
              </a:rPr>
              <a:t>      </a:t>
            </a:r>
          </a:p>
          <a:p>
            <a:pPr marL="12700" marR="5080"/>
            <a:r>
              <a:rPr lang="en-US" sz="2000" kern="0" spc="-220" dirty="0">
                <a:solidFill>
                  <a:schemeClr val="accent6"/>
                </a:solidFill>
              </a:rPr>
              <a:t>Developing Plugins in .NET(Core) Framework using </a:t>
            </a:r>
            <a:r>
              <a:rPr lang="en-US" sz="2000" kern="0" spc="-220" dirty="0">
                <a:solidFill>
                  <a:schemeClr val="tx2">
                    <a:lumMod val="60000"/>
                    <a:lumOff val="40000"/>
                  </a:schemeClr>
                </a:solidFill>
              </a:rPr>
              <a:t>MEF[Managed Extensibility Framework]</a:t>
            </a:r>
          </a:p>
          <a:p>
            <a:pPr marL="12700" marR="5080"/>
            <a:r>
              <a:rPr lang="en-US" sz="2000" kern="0" spc="-220" dirty="0">
                <a:solidFill>
                  <a:schemeClr val="accent6"/>
                </a:solidFill>
                <a:hlinkClick r:id="rId10"/>
              </a:rPr>
              <a:t>https://www.codeproject.com/Articles/376033/From-Zero-to-Proficient-with-MEF</a:t>
            </a:r>
            <a:r>
              <a:rPr lang="en-IN" sz="2000" kern="0" spc="-220" dirty="0">
                <a:solidFill>
                  <a:schemeClr val="accent6"/>
                </a:solidFill>
              </a:rPr>
              <a:t>  </a:t>
            </a:r>
          </a:p>
          <a:p>
            <a:pPr marL="12700" marR="5080"/>
            <a:r>
              <a:rPr lang="en-US" sz="2000" kern="0" spc="-220" dirty="0">
                <a:solidFill>
                  <a:schemeClr val="accent6"/>
                </a:solidFill>
                <a:hlinkClick r:id="rId11"/>
              </a:rPr>
              <a:t>https://dotnetthoughts.net/using-mef-in-dotnet-core/</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291930468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0" name="object 2">
            <a:extLst>
              <a:ext uri="{FF2B5EF4-FFF2-40B4-BE49-F238E27FC236}">
                <a16:creationId xmlns:a16="http://schemas.microsoft.com/office/drawing/2014/main" id="{0036A7C6-953E-2FCE-4A27-F0BEEBCCBDE7}"/>
              </a:ext>
            </a:extLst>
          </p:cNvPr>
          <p:cNvSpPr txBox="1">
            <a:spLocks/>
          </p:cNvSpPr>
          <p:nvPr/>
        </p:nvSpPr>
        <p:spPr>
          <a:xfrm>
            <a:off x="228600" y="762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A domain-specific language is somewhere between a tiny programming language and a scripting language, and is often used in a way analogous to a programming library</a:t>
            </a:r>
          </a:p>
        </p:txBody>
      </p:sp>
      <p:pic>
        <p:nvPicPr>
          <p:cNvPr id="14" name="Picture 13">
            <a:extLst>
              <a:ext uri="{FF2B5EF4-FFF2-40B4-BE49-F238E27FC236}">
                <a16:creationId xmlns:a16="http://schemas.microsoft.com/office/drawing/2014/main" id="{36921B8A-7401-7C0A-D570-97ED810BF59F}"/>
              </a:ext>
            </a:extLst>
          </p:cNvPr>
          <p:cNvPicPr>
            <a:picLocks noChangeAspect="1"/>
          </p:cNvPicPr>
          <p:nvPr/>
        </p:nvPicPr>
        <p:blipFill>
          <a:blip r:embed="rId7"/>
          <a:stretch>
            <a:fillRect/>
          </a:stretch>
        </p:blipFill>
        <p:spPr>
          <a:xfrm>
            <a:off x="138063" y="1724066"/>
            <a:ext cx="8915399" cy="4219534"/>
          </a:xfrm>
          <a:prstGeom prst="rect">
            <a:avLst/>
          </a:prstGeom>
        </p:spPr>
      </p:pic>
    </p:spTree>
    <p:extLst>
      <p:ext uri="{BB962C8B-B14F-4D97-AF65-F5344CB8AC3E}">
        <p14:creationId xmlns:p14="http://schemas.microsoft.com/office/powerpoint/2010/main" val="201131845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graphicFrame>
        <p:nvGraphicFramePr>
          <p:cNvPr id="11" name="Table 10">
            <a:extLst>
              <a:ext uri="{FF2B5EF4-FFF2-40B4-BE49-F238E27FC236}">
                <a16:creationId xmlns:a16="http://schemas.microsoft.com/office/drawing/2014/main" id="{81404AFB-B1B5-CCCF-E71B-4B2D1EEBAC5C}"/>
              </a:ext>
            </a:extLst>
          </p:cNvPr>
          <p:cNvGraphicFramePr>
            <a:graphicFrameLocks noGrp="1"/>
          </p:cNvGraphicFramePr>
          <p:nvPr>
            <p:extLst>
              <p:ext uri="{D42A27DB-BD31-4B8C-83A1-F6EECF244321}">
                <p14:modId xmlns:p14="http://schemas.microsoft.com/office/powerpoint/2010/main" val="2243906203"/>
              </p:ext>
            </p:extLst>
          </p:nvPr>
        </p:nvGraphicFramePr>
        <p:xfrm>
          <a:off x="304799" y="990600"/>
          <a:ext cx="8777337" cy="2682240"/>
        </p:xfrm>
        <a:graphic>
          <a:graphicData uri="http://schemas.openxmlformats.org/drawingml/2006/table">
            <a:tbl>
              <a:tblPr firstRow="1" bandRow="1">
                <a:tableStyleId>{5C22544A-7EE6-4342-B048-85BDC9FD1C3A}</a:tableStyleId>
              </a:tblPr>
              <a:tblGrid>
                <a:gridCol w="2925779">
                  <a:extLst>
                    <a:ext uri="{9D8B030D-6E8A-4147-A177-3AD203B41FA5}">
                      <a16:colId xmlns:a16="http://schemas.microsoft.com/office/drawing/2014/main" val="4055145749"/>
                    </a:ext>
                  </a:extLst>
                </a:gridCol>
                <a:gridCol w="2925779">
                  <a:extLst>
                    <a:ext uri="{9D8B030D-6E8A-4147-A177-3AD203B41FA5}">
                      <a16:colId xmlns:a16="http://schemas.microsoft.com/office/drawing/2014/main" val="4011962577"/>
                    </a:ext>
                  </a:extLst>
                </a:gridCol>
                <a:gridCol w="2925779">
                  <a:extLst>
                    <a:ext uri="{9D8B030D-6E8A-4147-A177-3AD203B41FA5}">
                      <a16:colId xmlns:a16="http://schemas.microsoft.com/office/drawing/2014/main" val="2543558159"/>
                    </a:ext>
                  </a:extLst>
                </a:gridCol>
              </a:tblGrid>
              <a:tr h="348844">
                <a:tc>
                  <a:txBody>
                    <a:bodyPr/>
                    <a:lstStyle/>
                    <a:p>
                      <a:r>
                        <a:rPr lang="en-US" dirty="0"/>
                        <a:t>Internal</a:t>
                      </a:r>
                      <a:endParaRPr lang="en-IN" dirty="0"/>
                    </a:p>
                  </a:txBody>
                  <a:tcPr/>
                </a:tc>
                <a:tc>
                  <a:txBody>
                    <a:bodyPr/>
                    <a:lstStyle/>
                    <a:p>
                      <a:r>
                        <a:rPr lang="en-US" dirty="0"/>
                        <a:t>External</a:t>
                      </a:r>
                      <a:endParaRPr lang="en-IN" dirty="0"/>
                    </a:p>
                  </a:txBody>
                  <a:tcPr/>
                </a:tc>
                <a:tc>
                  <a:txBody>
                    <a:bodyPr/>
                    <a:lstStyle/>
                    <a:p>
                      <a:r>
                        <a:rPr lang="en-US" dirty="0"/>
                        <a:t>Language Workbench</a:t>
                      </a:r>
                      <a:endParaRPr lang="en-IN" dirty="0"/>
                    </a:p>
                  </a:txBody>
                  <a:tcPr/>
                </a:tc>
                <a:extLst>
                  <a:ext uri="{0D108BD9-81ED-4DB2-BD59-A6C34878D82A}">
                    <a16:rowId xmlns:a16="http://schemas.microsoft.com/office/drawing/2014/main" val="2621089734"/>
                  </a:ext>
                </a:extLst>
              </a:tr>
              <a:tr h="496236">
                <a:tc>
                  <a:txBody>
                    <a:bodyPr/>
                    <a:lstStyle/>
                    <a:p>
                      <a:r>
                        <a:rPr lang="en-US" sz="1400" dirty="0"/>
                        <a:t>Host Language Grammar, Syntax &amp; Parser</a:t>
                      </a:r>
                      <a:endParaRPr lang="en-IN" sz="1400" dirty="0"/>
                    </a:p>
                  </a:txBody>
                  <a:tcPr/>
                </a:tc>
                <a:tc>
                  <a:txBody>
                    <a:bodyPr/>
                    <a:lstStyle/>
                    <a:p>
                      <a:r>
                        <a:rPr lang="en-US" sz="1400" dirty="0"/>
                        <a:t>A separate Language</a:t>
                      </a:r>
                      <a:endParaRPr lang="en-IN" sz="1400" dirty="0"/>
                    </a:p>
                  </a:txBody>
                  <a:tcPr/>
                </a:tc>
                <a:tc>
                  <a:txBody>
                    <a:bodyPr/>
                    <a:lstStyle/>
                    <a:p>
                      <a:r>
                        <a:rPr lang="en-US" sz="1400" dirty="0"/>
                        <a:t>Language tools used to develop custom languages</a:t>
                      </a:r>
                      <a:endParaRPr lang="en-IN" sz="1400" dirty="0"/>
                    </a:p>
                  </a:txBody>
                  <a:tcPr/>
                </a:tc>
                <a:extLst>
                  <a:ext uri="{0D108BD9-81ED-4DB2-BD59-A6C34878D82A}">
                    <a16:rowId xmlns:a16="http://schemas.microsoft.com/office/drawing/2014/main" val="2852363741"/>
                  </a:ext>
                </a:extLst>
              </a:tr>
              <a:tr h="1772271">
                <a:tc>
                  <a:txBody>
                    <a:bodyPr/>
                    <a:lstStyle/>
                    <a:p>
                      <a:r>
                        <a:rPr lang="en-US" sz="1400" dirty="0"/>
                        <a:t>e.g. LINQ, Fluent API</a:t>
                      </a:r>
                    </a:p>
                    <a:p>
                      <a:r>
                        <a:rPr lang="en-US" sz="1400" dirty="0"/>
                        <a:t>Previous project discussion</a:t>
                      </a:r>
                      <a:endParaRPr lang="en-IN" sz="1400" dirty="0"/>
                    </a:p>
                  </a:txBody>
                  <a:tcPr/>
                </a:tc>
                <a:tc>
                  <a:txBody>
                    <a:bodyPr/>
                    <a:lstStyle/>
                    <a:p>
                      <a:r>
                        <a:rPr lang="en-US" sz="1400" dirty="0"/>
                        <a:t>e.g. – </a:t>
                      </a:r>
                    </a:p>
                    <a:p>
                      <a:r>
                        <a:rPr lang="en-US" sz="1400" dirty="0"/>
                        <a:t>var </a:t>
                      </a:r>
                      <a:r>
                        <a:rPr lang="en-US" sz="1400" dirty="0" err="1"/>
                        <a:t>mathEvaluator</a:t>
                      </a:r>
                      <a:r>
                        <a:rPr lang="en-US" sz="1400" dirty="0"/>
                        <a:t> = new </a:t>
                      </a:r>
                      <a:r>
                        <a:rPr lang="en-US" sz="1400" dirty="0" err="1"/>
                        <a:t>MathEvaluator</a:t>
                      </a:r>
                      <a:r>
                        <a:rPr lang="en-US" sz="1400" dirty="0"/>
                        <a:t>();</a:t>
                      </a:r>
                    </a:p>
                    <a:p>
                      <a:r>
                        <a:rPr lang="en-US" sz="1400" dirty="0"/>
                        <a:t>var </a:t>
                      </a:r>
                      <a:r>
                        <a:rPr lang="en-US" sz="1400" dirty="0" err="1"/>
                        <a:t>evaluatedValue</a:t>
                      </a:r>
                      <a:r>
                        <a:rPr lang="en-US" sz="1400" dirty="0"/>
                        <a:t> = </a:t>
                      </a:r>
                      <a:r>
                        <a:rPr lang="en-US" sz="1400" dirty="0" err="1"/>
                        <a:t>mathEvaluator.Evaluate</a:t>
                      </a:r>
                      <a:r>
                        <a:rPr lang="en-US" sz="1400" dirty="0"/>
                        <a:t>(“1+2 + 3 + 3 * (8-6)”) ;</a:t>
                      </a:r>
                    </a:p>
                    <a:p>
                      <a:endParaRPr lang="en-US" sz="1400" dirty="0"/>
                    </a:p>
                    <a:p>
                      <a:r>
                        <a:rPr lang="en-US" sz="1400" dirty="0"/>
                        <a:t>Docker file </a:t>
                      </a:r>
                    </a:p>
                  </a:txBody>
                  <a:tcPr/>
                </a:tc>
                <a:tc>
                  <a:txBody>
                    <a:bodyPr/>
                    <a:lstStyle/>
                    <a:p>
                      <a:r>
                        <a:rPr lang="en-IN" sz="1400" dirty="0">
                          <a:hlinkClick r:id="rId7"/>
                        </a:rPr>
                        <a:t>https://en.wikipedia.org/wiki/Language_workbench</a:t>
                      </a:r>
                      <a:r>
                        <a:rPr lang="en-IN" sz="1400" dirty="0"/>
                        <a:t> </a:t>
                      </a:r>
                    </a:p>
                  </a:txBody>
                  <a:tcPr/>
                </a:tc>
                <a:extLst>
                  <a:ext uri="{0D108BD9-81ED-4DB2-BD59-A6C34878D82A}">
                    <a16:rowId xmlns:a16="http://schemas.microsoft.com/office/drawing/2014/main" val="3973590204"/>
                  </a:ext>
                </a:extLst>
              </a:tr>
            </a:tbl>
          </a:graphicData>
        </a:graphic>
      </p:graphicFrame>
      <p:sp>
        <p:nvSpPr>
          <p:cNvPr id="13" name="object 2">
            <a:extLst>
              <a:ext uri="{FF2B5EF4-FFF2-40B4-BE49-F238E27FC236}">
                <a16:creationId xmlns:a16="http://schemas.microsoft.com/office/drawing/2014/main" id="{D30AF103-C139-052E-D6EA-47D2E8A0295B}"/>
              </a:ext>
            </a:extLst>
          </p:cNvPr>
          <p:cNvSpPr txBox="1">
            <a:spLocks/>
          </p:cNvSpPr>
          <p:nvPr/>
        </p:nvSpPr>
        <p:spPr>
          <a:xfrm>
            <a:off x="228600" y="685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DSL Types</a:t>
            </a:r>
          </a:p>
        </p:txBody>
      </p:sp>
      <p:sp>
        <p:nvSpPr>
          <p:cNvPr id="15" name="object 2">
            <a:extLst>
              <a:ext uri="{FF2B5EF4-FFF2-40B4-BE49-F238E27FC236}">
                <a16:creationId xmlns:a16="http://schemas.microsoft.com/office/drawing/2014/main" id="{9DD56E44-1AE9-68E9-D225-FA62B876BBF9}"/>
              </a:ext>
            </a:extLst>
          </p:cNvPr>
          <p:cNvSpPr txBox="1">
            <a:spLocks/>
          </p:cNvSpPr>
          <p:nvPr/>
        </p:nvSpPr>
        <p:spPr>
          <a:xfrm>
            <a:off x="228600" y="3733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6"/>
                </a:solidFill>
              </a:rPr>
              <a:t>An External DSL Example – </a:t>
            </a:r>
          </a:p>
          <a:p>
            <a:pPr marL="12700" marR="5080"/>
            <a:r>
              <a:rPr lang="en-US" sz="1600" kern="0" spc="-80" dirty="0">
                <a:solidFill>
                  <a:schemeClr val="accent6"/>
                </a:solidFill>
                <a:hlinkClick r:id="rId8"/>
              </a:rPr>
              <a:t>https://github.com/sandipray63in/MerchantsGuideToGalaxy</a:t>
            </a:r>
            <a:r>
              <a:rPr lang="en-US" sz="1800" kern="0" spc="-80" dirty="0">
                <a:solidFill>
                  <a:schemeClr val="accent6"/>
                </a:solidFill>
              </a:rPr>
              <a:t> </a:t>
            </a:r>
          </a:p>
        </p:txBody>
      </p:sp>
      <p:sp>
        <p:nvSpPr>
          <p:cNvPr id="10" name="object 2">
            <a:extLst>
              <a:ext uri="{FF2B5EF4-FFF2-40B4-BE49-F238E27FC236}">
                <a16:creationId xmlns:a16="http://schemas.microsoft.com/office/drawing/2014/main" id="{EE40C22A-E2D0-9D22-96DD-062946E8EC1B}"/>
              </a:ext>
            </a:extLst>
          </p:cNvPr>
          <p:cNvSpPr txBox="1">
            <a:spLocks/>
          </p:cNvSpPr>
          <p:nvPr/>
        </p:nvSpPr>
        <p:spPr>
          <a:xfrm>
            <a:off x="214263" y="44196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For Further Exploration - </a:t>
            </a:r>
          </a:p>
          <a:p>
            <a:pPr marL="12700" marR="5080"/>
            <a:r>
              <a:rPr lang="en-US" sz="1600" kern="0" spc="-220" dirty="0">
                <a:solidFill>
                  <a:schemeClr val="accent6"/>
                </a:solidFill>
              </a:rPr>
              <a:t>   </a:t>
            </a:r>
            <a:r>
              <a:rPr lang="en-US" sz="1600" kern="0" spc="-220" dirty="0">
                <a:solidFill>
                  <a:schemeClr val="accent6"/>
                </a:solidFill>
                <a:hlinkClick r:id="rId9"/>
              </a:rPr>
              <a:t>https://martinfowler.com/dsl.html</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0"/>
              </a:rPr>
              <a:t>https://pragprog.com/titles/tpdsl/language-implementation-patterns/</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1"/>
              </a:rPr>
              <a:t>https://www.syncfusion.com/succinctly-free-ebooks/implementing-a-custom-language</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2"/>
              </a:rPr>
              <a:t>https://www.syncfusion.com/succinctly-free-ebooks/writing-native-mobile-apps-in-a-functional-language-succinctly</a:t>
            </a:r>
            <a:r>
              <a:rPr lang="en-US" sz="1600" kern="0" spc="-220" dirty="0">
                <a:solidFill>
                  <a:schemeClr val="accent6"/>
                </a:solidFill>
              </a:rPr>
              <a:t> </a:t>
            </a:r>
          </a:p>
        </p:txBody>
      </p:sp>
    </p:spTree>
    <p:extLst>
      <p:ext uri="{BB962C8B-B14F-4D97-AF65-F5344CB8AC3E}">
        <p14:creationId xmlns:p14="http://schemas.microsoft.com/office/powerpoint/2010/main" val="285339473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936338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Reusability (</a:t>
            </a:r>
            <a:r>
              <a:rPr lang="en-US" sz="2400" kern="0" spc="-220" dirty="0" err="1">
                <a:solidFill>
                  <a:schemeClr val="accent6"/>
                </a:solidFill>
              </a:rPr>
              <a:t>Nuget</a:t>
            </a:r>
            <a:r>
              <a:rPr lang="en-US" sz="2400" kern="0" spc="-220" dirty="0">
                <a:solidFill>
                  <a:schemeClr val="accent6"/>
                </a:solidFill>
              </a:rPr>
              <a:t> Private Repos following Cohesion &amp; Coupling principles - </a:t>
            </a:r>
            <a:r>
              <a:rPr lang="en-US" sz="2000" kern="0" spc="-220" dirty="0">
                <a:solidFill>
                  <a:schemeClr val="accent6"/>
                </a:solidFill>
                <a:hlinkClick r:id="rId7"/>
              </a:rPr>
              <a:t>https://www.syncfusion.com/succinctly-free-ebooks/nuget-in-house-succinctly</a:t>
            </a:r>
            <a:r>
              <a:rPr lang="en-US" sz="2400" kern="0" spc="-220" dirty="0">
                <a:solidFill>
                  <a:schemeClr val="accent6"/>
                </a:solidFill>
              </a:rPr>
              <a:t> )</a:t>
            </a:r>
          </a:p>
          <a:p>
            <a:pPr marL="12700" marR="5080"/>
            <a:r>
              <a:rPr lang="en-US" sz="2400" kern="0" spc="-220" dirty="0">
                <a:solidFill>
                  <a:schemeClr val="accent6"/>
                </a:solidFill>
              </a:rPr>
              <a:t>Maintainability</a:t>
            </a:r>
          </a:p>
          <a:p>
            <a:pPr marL="12700" marR="5080"/>
            <a:r>
              <a:rPr lang="en-US" sz="2400" kern="0" spc="-220" dirty="0">
                <a:solidFill>
                  <a:schemeClr val="accent6"/>
                </a:solidFill>
              </a:rPr>
              <a:t>Extensibility </a:t>
            </a:r>
          </a:p>
          <a:p>
            <a:pPr marL="12700" marR="5080"/>
            <a:r>
              <a:rPr lang="en-US" sz="2400" kern="0" spc="-220" dirty="0">
                <a:solidFill>
                  <a:schemeClr val="accent6"/>
                </a:solidFill>
              </a:rPr>
              <a:t>Reliability</a:t>
            </a:r>
            <a:r>
              <a:rPr lang="en-US" sz="2000" kern="0" spc="-220" dirty="0">
                <a:solidFill>
                  <a:schemeClr val="accent6"/>
                </a:solidFill>
              </a:rPr>
              <a:t> </a:t>
            </a:r>
          </a:p>
        </p:txBody>
      </p:sp>
    </p:spTree>
    <p:extLst>
      <p:ext uri="{BB962C8B-B14F-4D97-AF65-F5344CB8AC3E}">
        <p14:creationId xmlns:p14="http://schemas.microsoft.com/office/powerpoint/2010/main" val="123009701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041036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hlinkClick r:id="rId7"/>
              </a:rPr>
              <a:t>https://rosettacode.org/wiki/Category:Programming_Tasks</a:t>
            </a:r>
            <a:r>
              <a:rPr lang="en-US" sz="2000" kern="0" spc="-220" dirty="0">
                <a:solidFill>
                  <a:schemeClr val="accent6"/>
                </a:solidFill>
              </a:rPr>
              <a:t> </a:t>
            </a:r>
          </a:p>
          <a:p>
            <a:pPr marL="12700" marR="5080"/>
            <a:r>
              <a:rPr lang="en-US" sz="2000" kern="0" spc="-220" dirty="0">
                <a:solidFill>
                  <a:schemeClr val="accent6"/>
                </a:solidFill>
                <a:hlinkClick r:id="rId8"/>
              </a:rPr>
              <a:t>https://github.com/gamontal/awesome-katas</a:t>
            </a:r>
            <a:r>
              <a:rPr lang="en-US" sz="2000" kern="0" spc="-220" dirty="0">
                <a:solidFill>
                  <a:schemeClr val="accent6"/>
                </a:solidFill>
              </a:rPr>
              <a:t> </a:t>
            </a:r>
          </a:p>
          <a:p>
            <a:pPr marL="12700" marR="5080"/>
            <a:r>
              <a:rPr lang="en-US" sz="2000" kern="0" spc="-220" dirty="0">
                <a:solidFill>
                  <a:schemeClr val="accent6"/>
                </a:solidFill>
                <a:hlinkClick r:id="rId9"/>
              </a:rPr>
              <a:t>https://codingchallenges.substack.com/</a:t>
            </a:r>
            <a:r>
              <a:rPr lang="en-US" sz="2000" kern="0" spc="-220" dirty="0">
                <a:solidFill>
                  <a:schemeClr val="accent6"/>
                </a:solidFill>
              </a:rPr>
              <a:t> </a:t>
            </a:r>
          </a:p>
          <a:p>
            <a:pPr marL="12700" marR="5080"/>
            <a:r>
              <a:rPr lang="en-US" sz="2000" kern="0" spc="-220" dirty="0">
                <a:solidFill>
                  <a:schemeClr val="accent6"/>
                </a:solidFill>
                <a:hlinkClick r:id="rId10"/>
              </a:rPr>
              <a:t>https://github.com/ashishps1/awesome-low-level-design</a:t>
            </a:r>
            <a:r>
              <a:rPr lang="en-US" sz="2000" kern="0" spc="-220" dirty="0">
                <a:solidFill>
                  <a:schemeClr val="accent6"/>
                </a:solidFill>
              </a:rPr>
              <a:t> </a:t>
            </a:r>
          </a:p>
          <a:p>
            <a:pPr marL="12700" marR="5080"/>
            <a:r>
              <a:rPr lang="en-US" sz="2000" kern="0" spc="-220" dirty="0">
                <a:solidFill>
                  <a:schemeClr val="accent6"/>
                </a:solidFill>
                <a:hlinkClick r:id="rId11"/>
              </a:rPr>
              <a:t>https://github.com/prasadgujar/low-level-design-primer</a:t>
            </a:r>
            <a:r>
              <a:rPr lang="en-US" sz="2000" kern="0" spc="-220" dirty="0">
                <a:solidFill>
                  <a:schemeClr val="accent6"/>
                </a:solidFill>
              </a:rPr>
              <a:t> </a:t>
            </a:r>
          </a:p>
          <a:p>
            <a:pPr marL="12700" marR="5080"/>
            <a:r>
              <a:rPr lang="en-US" sz="2000" kern="0" spc="-220" dirty="0">
                <a:solidFill>
                  <a:schemeClr val="accent6"/>
                </a:solidFill>
                <a:hlinkClick r:id="rId12"/>
              </a:rPr>
              <a:t>https://daily.dev/blog/make-a-web-browser-beginners-guide</a:t>
            </a:r>
            <a:r>
              <a:rPr lang="en-US" sz="2000" kern="0" spc="-220" dirty="0">
                <a:solidFill>
                  <a:schemeClr val="accent6"/>
                </a:solidFill>
              </a:rPr>
              <a:t> </a:t>
            </a:r>
          </a:p>
          <a:p>
            <a:pPr marL="12700" marR="5080"/>
            <a:r>
              <a:rPr lang="en-US" sz="2000" kern="0" spc="-220" dirty="0">
                <a:solidFill>
                  <a:schemeClr val="accent6"/>
                </a:solidFill>
                <a:hlinkClick r:id="rId13"/>
              </a:rPr>
              <a:t>https://browser.engineering/</a:t>
            </a:r>
            <a:r>
              <a:rPr lang="en-US" sz="2000" kern="0" spc="-220" dirty="0">
                <a:solidFill>
                  <a:schemeClr val="accent6"/>
                </a:solidFill>
              </a:rPr>
              <a:t> </a:t>
            </a:r>
          </a:p>
          <a:p>
            <a:pPr marL="12700" marR="5080"/>
            <a:r>
              <a:rPr lang="en-US" sz="2000" kern="0" spc="-220" dirty="0">
                <a:solidFill>
                  <a:schemeClr val="accent6"/>
                </a:solidFill>
                <a:hlinkClick r:id="rId14"/>
              </a:rPr>
              <a:t>https://stackoverflow.com/questions/790542/replacing-net-webbrowser-control-with-a-better-browser-like-chrome</a:t>
            </a:r>
            <a:r>
              <a:rPr lang="en-US" sz="2000" kern="0" spc="-220" dirty="0">
                <a:solidFill>
                  <a:schemeClr val="accent6"/>
                </a:solidFill>
              </a:rPr>
              <a:t> </a:t>
            </a:r>
          </a:p>
          <a:p>
            <a:pPr marL="12700" marR="5080"/>
            <a:r>
              <a:rPr lang="en-US" sz="2000" kern="0" spc="-220" dirty="0">
                <a:solidFill>
                  <a:schemeClr val="accent6"/>
                </a:solidFill>
                <a:hlinkClick r:id="rId15"/>
              </a:rPr>
              <a:t>https://www.planetgeek.ch/2013/06/05/clean-code-cheat-sheet/</a:t>
            </a:r>
            <a:r>
              <a:rPr lang="en-US" sz="2000" kern="0" spc="-220" dirty="0">
                <a:solidFill>
                  <a:schemeClr val="accent6"/>
                </a:solidFill>
              </a:rPr>
              <a:t> </a:t>
            </a:r>
          </a:p>
          <a:p>
            <a:pPr marL="12700" marR="5080"/>
            <a:r>
              <a:rPr lang="en-US" sz="2000" kern="0" spc="-220" dirty="0">
                <a:solidFill>
                  <a:schemeClr val="accent6"/>
                </a:solidFill>
                <a:hlinkClick r:id="rId16"/>
              </a:rPr>
              <a:t>https://www.linkedin.com/posts/maheshma_postgresql-sql-systemdesign-activity-7167707514266996736-HqMi</a:t>
            </a:r>
            <a:r>
              <a:rPr lang="en-US" sz="2000" kern="0" spc="-220" dirty="0">
                <a:solidFill>
                  <a:schemeClr val="accent6"/>
                </a:solidFill>
              </a:rPr>
              <a:t> </a:t>
            </a:r>
          </a:p>
          <a:p>
            <a:pPr marL="12700" marR="5080"/>
            <a:r>
              <a:rPr lang="en-US" sz="2000" kern="0" spc="-220" dirty="0">
                <a:solidFill>
                  <a:schemeClr val="accent6"/>
                </a:solidFill>
                <a:hlinkClick r:id="rId17"/>
              </a:rPr>
              <a:t>https://www.linkedin.com/posts/arpit-adlakha-30691a101</a:t>
            </a:r>
            <a:r>
              <a:rPr lang="en-US" sz="2000" kern="0" spc="-220">
                <a:solidFill>
                  <a:schemeClr val="accent6"/>
                </a:solidFill>
                <a:hlinkClick r:id="rId17"/>
              </a:rPr>
              <a:t>_problem-solving-patterns-which-will-teach-activity-7179351051190374400-Zw83</a:t>
            </a:r>
            <a:r>
              <a:rPr lang="en-US" sz="2000" kern="0" spc="-220">
                <a:solidFill>
                  <a:schemeClr val="accent6"/>
                </a:solidFill>
              </a:rPr>
              <a:t> </a:t>
            </a:r>
            <a:endParaRPr lang="en-US" sz="2000" kern="0" spc="-220" dirty="0">
              <a:solidFill>
                <a:schemeClr val="accent6"/>
              </a:solidFill>
            </a:endParaRPr>
          </a:p>
        </p:txBody>
      </p:sp>
    </p:spTree>
    <p:extLst>
      <p:ext uri="{BB962C8B-B14F-4D97-AF65-F5344CB8AC3E}">
        <p14:creationId xmlns:p14="http://schemas.microsoft.com/office/powerpoint/2010/main" val="323585720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9185031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47089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220" dirty="0">
                <a:solidFill>
                  <a:schemeClr val="accent6"/>
                </a:solidFill>
              </a:rPr>
              <a:t>COM </a:t>
            </a:r>
            <a:r>
              <a:rPr lang="en-US" sz="1700" kern="0" spc="-220" dirty="0" err="1">
                <a:solidFill>
                  <a:schemeClr val="accent6"/>
                </a:solidFill>
              </a:rPr>
              <a:t>InterOperability</a:t>
            </a:r>
            <a:r>
              <a:rPr lang="en-US" sz="1700" kern="0" spc="-220" dirty="0">
                <a:solidFill>
                  <a:schemeClr val="accent6"/>
                </a:solidFill>
              </a:rPr>
              <a:t>(fetch as much data as possible from COM &amp; then do further processing)</a:t>
            </a:r>
          </a:p>
          <a:p>
            <a:pPr marL="12700" marR="5080"/>
            <a:endParaRPr lang="en-US" sz="1700" kern="0" spc="-220" dirty="0">
              <a:solidFill>
                <a:schemeClr val="accent6"/>
              </a:solidFill>
            </a:endParaRPr>
          </a:p>
          <a:p>
            <a:pPr marL="12700" marR="5080"/>
            <a:r>
              <a:rPr lang="en-US" sz="1700" kern="0" spc="-220" dirty="0" err="1">
                <a:solidFill>
                  <a:schemeClr val="accent6"/>
                </a:solidFill>
              </a:rPr>
              <a:t>NodeJs</a:t>
            </a:r>
            <a:r>
              <a:rPr lang="en-US" sz="1700" kern="0" spc="-220" dirty="0">
                <a:solidFill>
                  <a:schemeClr val="accent6"/>
                </a:solidFill>
              </a:rPr>
              <a:t>(by default async &amp; only partly STA[Single Threaded Application] – mainly used in IO intensive apps &amp; not much suitable for Compute[/CPU] intensive apps)</a:t>
            </a:r>
          </a:p>
          <a:p>
            <a:pPr marL="12700" marR="5080"/>
            <a:endParaRPr lang="en-US" sz="1700" kern="0" spc="-220" dirty="0">
              <a:solidFill>
                <a:schemeClr val="accent6"/>
              </a:solidFill>
            </a:endParaRPr>
          </a:p>
          <a:p>
            <a:pPr marL="12700" marR="5080"/>
            <a:r>
              <a:rPr lang="en-US" sz="1700" kern="0" spc="-220" dirty="0">
                <a:solidFill>
                  <a:schemeClr val="accent6"/>
                </a:solidFill>
              </a:rPr>
              <a:t>Python(check List Comprehension &amp; </a:t>
            </a:r>
            <a:r>
              <a:rPr lang="en-US" sz="1700" kern="0" spc="-220" dirty="0" err="1">
                <a:solidFill>
                  <a:schemeClr val="accent6"/>
                </a:solidFill>
              </a:rPr>
              <a:t>Numpy</a:t>
            </a:r>
            <a:r>
              <a:rPr lang="en-US" sz="1700" kern="0" spc="-220" dirty="0">
                <a:solidFill>
                  <a:schemeClr val="accent6"/>
                </a:solidFill>
              </a:rPr>
              <a:t> Multi-Dimensional Array)</a:t>
            </a:r>
          </a:p>
          <a:p>
            <a:pPr marL="12700" marR="5080"/>
            <a:endParaRPr lang="en-US" sz="1700" kern="0" spc="-220" dirty="0">
              <a:solidFill>
                <a:schemeClr val="accent6"/>
              </a:solidFill>
            </a:endParaRPr>
          </a:p>
          <a:p>
            <a:pPr marL="12700" marR="5080"/>
            <a:r>
              <a:rPr lang="en-US" sz="1700" kern="0" spc="-220" dirty="0">
                <a:solidFill>
                  <a:schemeClr val="accent6"/>
                </a:solidFill>
              </a:rPr>
              <a:t>Java(doesn’t have Exception Bubbling &amp; async-await </a:t>
            </a:r>
            <a:r>
              <a:rPr lang="en-US" sz="1700" kern="0" spc="-220" dirty="0">
                <a:solidFill>
                  <a:schemeClr val="tx2">
                    <a:lumMod val="60000"/>
                    <a:lumOff val="40000"/>
                  </a:schemeClr>
                </a:solidFill>
              </a:rPr>
              <a:t>by default</a:t>
            </a:r>
            <a:r>
              <a:rPr lang="en-US" sz="1700" kern="0" spc="-220" dirty="0">
                <a:solidFill>
                  <a:schemeClr val="accent6"/>
                </a:solidFill>
              </a:rPr>
              <a:t>). But I love 1 thing in Java compared to  .NET &amp;  that’s that Java has only one generic argument equivalent of Action&lt;T&gt; &amp; </a:t>
            </a:r>
            <a:r>
              <a:rPr lang="en-US" sz="1700" kern="0" spc="-220" dirty="0" err="1">
                <a:solidFill>
                  <a:schemeClr val="accent6"/>
                </a:solidFill>
              </a:rPr>
              <a:t>Func</a:t>
            </a:r>
            <a:r>
              <a:rPr lang="en-US" sz="1700" kern="0" spc="-220" dirty="0">
                <a:solidFill>
                  <a:schemeClr val="accent6"/>
                </a:solidFill>
              </a:rPr>
              <a:t>&lt;T&gt; while .NET has  Action&lt;T1&gt;/</a:t>
            </a:r>
            <a:r>
              <a:rPr lang="en-US" sz="1700" kern="0" spc="-220" dirty="0" err="1">
                <a:solidFill>
                  <a:schemeClr val="accent6"/>
                </a:solidFill>
              </a:rPr>
              <a:t>Func</a:t>
            </a:r>
            <a:r>
              <a:rPr lang="en-US" sz="1700" kern="0" spc="-220" dirty="0">
                <a:solidFill>
                  <a:schemeClr val="accent6"/>
                </a:solidFill>
              </a:rPr>
              <a:t>&lt;T1&gt; till Action&lt;T1, T2,…….T16&gt;/</a:t>
            </a:r>
            <a:r>
              <a:rPr lang="en-US" sz="1700" kern="0" spc="-220" dirty="0" err="1">
                <a:solidFill>
                  <a:schemeClr val="accent6"/>
                </a:solidFill>
              </a:rPr>
              <a:t>Func</a:t>
            </a:r>
            <a:r>
              <a:rPr lang="en-US" sz="1700" kern="0" spc="-220" dirty="0">
                <a:solidFill>
                  <a:schemeClr val="accent6"/>
                </a:solidFill>
              </a:rPr>
              <a:t>&lt;T1,T2,……T16.&gt;. Although Action&lt;T&gt;/</a:t>
            </a:r>
            <a:r>
              <a:rPr lang="en-US" sz="1700" kern="0" spc="-220" dirty="0" err="1">
                <a:solidFill>
                  <a:schemeClr val="accent6"/>
                </a:solidFill>
              </a:rPr>
              <a:t>Func</a:t>
            </a:r>
            <a:r>
              <a:rPr lang="en-US" sz="1700" kern="0" spc="-220" dirty="0">
                <a:solidFill>
                  <a:schemeClr val="accent6"/>
                </a:solidFill>
              </a:rPr>
              <a:t>&lt;T&gt;/Action&lt;T1&gt;/</a:t>
            </a:r>
            <a:r>
              <a:rPr lang="en-US" sz="1700" kern="0" spc="-220" dirty="0" err="1">
                <a:solidFill>
                  <a:schemeClr val="accent6"/>
                </a:solidFill>
              </a:rPr>
              <a:t>Func</a:t>
            </a:r>
            <a:r>
              <a:rPr lang="en-US" sz="1700" kern="0" spc="-220" dirty="0">
                <a:solidFill>
                  <a:schemeClr val="accent6"/>
                </a:solidFill>
              </a:rPr>
              <a:t>&lt;T1&gt; should  suffice  but not sure why the .NET Language Designers  opted to support till T16  (although tomorrow I may need T17 or more &amp; all such T1 till T16 or more can be wrapped into a single  “T” class </a:t>
            </a:r>
            <a:r>
              <a:rPr lang="en-US" sz="1700" kern="0" spc="-220">
                <a:solidFill>
                  <a:schemeClr val="accent6"/>
                </a:solidFill>
              </a:rPr>
              <a:t>as properties &amp; </a:t>
            </a:r>
            <a:r>
              <a:rPr lang="en-US" sz="1700" kern="0" spc="-220" dirty="0">
                <a:solidFill>
                  <a:schemeClr val="accent6"/>
                </a:solidFill>
              </a:rPr>
              <a:t>then processed further ).</a:t>
            </a:r>
          </a:p>
          <a:p>
            <a:pPr marL="12700" marR="5080"/>
            <a:endParaRPr lang="en-US" sz="1700" kern="0" spc="-220" dirty="0">
              <a:solidFill>
                <a:schemeClr val="accent6"/>
              </a:solidFill>
            </a:endParaRPr>
          </a:p>
          <a:p>
            <a:pPr marL="12700" marR="5080"/>
            <a:r>
              <a:rPr lang="en-US" sz="1700" kern="0" spc="-220" dirty="0">
                <a:solidFill>
                  <a:schemeClr val="accent6"/>
                </a:solidFill>
              </a:rPr>
              <a:t>C++(One might think that C++ is now obsolete but its still used like anything, for real high performance code[e.g. Financial Risk modelling] or Embedded Systems[in IoT{Internet of Things}, the “Things” are in general some nominal or full fledged Embedded </a:t>
            </a:r>
            <a:r>
              <a:rPr lang="en-US" sz="1700" kern="0" spc="-220" dirty="0" err="1">
                <a:solidFill>
                  <a:schemeClr val="accent6"/>
                </a:solidFill>
              </a:rPr>
              <a:t>Systems.A</a:t>
            </a:r>
            <a:r>
              <a:rPr lang="en-US" sz="1700" kern="0" spc="-220" dirty="0">
                <a:solidFill>
                  <a:schemeClr val="accent6"/>
                </a:solidFill>
              </a:rPr>
              <a:t> good C++ reference for .NET Developers is  </a:t>
            </a:r>
            <a:r>
              <a:rPr lang="en-US" sz="1700" kern="0" spc="-220" dirty="0">
                <a:solidFill>
                  <a:schemeClr val="accent6"/>
                </a:solidFill>
                <a:hlinkClick r:id="rId7"/>
              </a:rPr>
              <a:t>https://www.syncfusion.com/succinctly-free-ebooks/cplusplus</a:t>
            </a:r>
            <a:r>
              <a:rPr lang="en-US" sz="1700" kern="0" spc="-220" dirty="0">
                <a:solidFill>
                  <a:schemeClr val="accent6"/>
                </a:solidFill>
              </a:rPr>
              <a:t>)  </a:t>
            </a:r>
          </a:p>
        </p:txBody>
      </p:sp>
    </p:spTree>
    <p:extLst>
      <p:ext uri="{BB962C8B-B14F-4D97-AF65-F5344CB8AC3E}">
        <p14:creationId xmlns:p14="http://schemas.microsoft.com/office/powerpoint/2010/main" val="58349214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15057</TotalTime>
  <Words>8673</Words>
  <Application>Microsoft Office PowerPoint</Application>
  <PresentationFormat>Custom</PresentationFormat>
  <Paragraphs>1043</Paragraphs>
  <Slides>98</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98</vt:i4>
      </vt:variant>
    </vt:vector>
  </HeadingPairs>
  <TitlesOfParts>
    <vt:vector size="106" baseType="lpstr">
      <vt:lpstr>Aptos Narrow</vt:lpstr>
      <vt:lpstr>Arial</vt:lpstr>
      <vt:lpstr>Arial</vt:lpstr>
      <vt:lpstr>Calibri</vt:lpstr>
      <vt:lpstr>Lucida Sans</vt:lpstr>
      <vt:lpstr>Monaco</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903</cp:revision>
  <dcterms:created xsi:type="dcterms:W3CDTF">2020-11-03T17:16:52Z</dcterms:created>
  <dcterms:modified xsi:type="dcterms:W3CDTF">2024-08-05T13:32:44Z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